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b.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68" r:id="rId20"/>
    <p:sldId id="260" r:id="rId12"/>
    <p:sldId id="287" r:id="rId39"/>
    <p:sldId id="274" r:id="rId26"/>
    <p:sldId id="259" r:id="rId11"/>
    <p:sldId id="291" r:id="rIdS37"/>
    <p:sldId id="261" r:id="rId13"/>
    <p:sldId id="262" r:id="rId14"/>
    <p:sldId id="270" r:id="rId22"/>
    <p:sldId id="264" r:id="rId16"/>
    <p:sldId id="267" r:id="rId19"/>
    <p:sldId id="263" r:id="rId15"/>
    <p:sldId id="265" r:id="rId17"/>
    <p:sldId id="271" r:id="rId23"/>
    <p:sldId id="272" r:id="rId24"/>
    <p:sldId id="273" r:id="rId25"/>
    <p:sldId id="279" r:id="rId31"/>
    <p:sldId id="280" r:id="rId32"/>
    <p:sldId id="281" r:id="rId33"/>
    <p:sldId id="290" r:id="rIdS36"/>
    <p:sldId id="282" r:id="rId34"/>
    <p:sldId id="283" r:id="rId35"/>
    <p:sldId id="284" r:id="rId36"/>
    <p:sldId id="285" r:id="rId37"/>
    <p:sldId id="269" r:id="rId21"/>
    <p:sldId id="275" r:id="rId27"/>
    <p:sldId id="276" r:id="rId28"/>
    <p:sldId id="277" r:id="rId29"/>
    <p:sldId id="278" r:id="rId30"/>
    <p:sldId id="288" r:id="rIdS34"/>
    <p:sldId id="289" r:id="rIdS35"/>
    <p:sldId id="286" r:id="rId38"/>
    <p:sldId id="258" r:id="rId10"/>
    <p:sldId id="266"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 Id="rIdS37" Type="http://schemas.openxmlformats.org/officeDocument/2006/relationships/slide" Target="slides/slide3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Good morning. Today I want to talk about development with AI.</a:t>
            </a:r>
          </a:p>
          <a:p>
            <a:pPr/>
            <a:r>
              <a:t>Every developer uses it now. The tool is adopted. The process is not.</a:t>
            </a:r>
          </a:p>
          <a:p>
            <a:pPr/>
            <a:r>
              <a:t>What is not clear is how we decide what to build.</a:t>
            </a:r>
          </a:p>
          <a:p>
            <a:pPr/>
            <a:r>
              <a:t>I am going to show you how OpenSpec works, and how it helps us build the right thing and build it right. It is open source, free, and it runs inside GitHub Copilot, the assistant we already use.</a:t>
            </a:r>
          </a:p>
          <a:p>
            <a:pPr/>
            <a:r>
              <a:t>And at the end, a live demo of OpenSpec on the Watchlist migration.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Take the last feature we shipped. Where is it written what it was supposed to do?</a:t>
            </a:r>
          </a:p>
          <a:p>
            <a:pPr/>
            <a:r>
              <a:t>Look at the conversation on the right. That is where the requirements were agreed. Tomorrow, a new session, and none of it is there.</a:t>
            </a:r>
          </a:p>
          <a:p>
            <a:pPr/>
            <a:r>
              <a:t>Not reviewable. No one can check the intent before the code exists.</a:t>
            </a:r>
          </a:p>
          <a:p>
            <a:pPr/>
            <a:r>
              <a:t>Not versioned. No record of what changed, or why.</a:t>
            </a:r>
          </a:p>
          <a:p>
            <a:pPr/>
            <a:r>
              <a:t>Not shared. It stays inside one developer’s session.</a:t>
            </a:r>
          </a:p>
          <a:p>
            <a:pPr/>
            <a:r>
              <a:t>None of this is a model problem. It is a process problem.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Concretely, that means a small set of written files kept with the code, not one document. Together they state the intended behaviour and the reasoning behind it. The teams review it, the agent implements it, and neither works from anything else.</a:t>
            </a:r>
          </a:p>
          <a:p>
            <a:r>
              <a:rPr lang="en-GB" dirty="0"/>
              <a:t>Three consequences, and they answer the three problems from the problem slide — not reviewable, not versioned, not shared. One version, in the repository — not scattered across tickets and chats. The agent works from the spec, not from the last prompt it was given. And behaviour can be checked against a stated intent.</a:t>
            </a:r>
          </a:p>
          <a:p>
            <a:r>
              <a:rPr lang="en-GB" dirty="0"/>
              <a:t>The diagram is the whole point: the spec sits between the people and the agent, and both sides read the same thing.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And this is where it sits. A repository.</a:t>
            </a:r>
          </a:p>
          <a:p>
            <a:pPr/>
            <a:r>
              <a:t>The spec is versioned with the source code, not in a separate tool. Documentation beside the code stays alive; documentation elsewhere dies.</a:t>
            </a:r>
          </a:p>
          <a:p>
            <a:pPr/>
            <a:r>
              <a:t>config.yaml holds the project settings and the context we give the AI. Then two folders: specs/ is the current state, changes/ holds what is proposed.</a:t>
            </a:r>
          </a:p>
          <a:p>
            <a:pPr/>
            <a:r>
              <a:t>Six months from now, you can see what changed and why it was agreed.</a:t>
            </a:r>
          </a:p>
          <a:p>
            <a:pPr/>
            <a:r>
              <a:t>If asked about several repositories: annexe 32.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Three stages, and it is deliberately small.</a:t>
            </a:r>
          </a:p>
          <a:p>
            <a:pPr/>
            <a:r>
              <a:t>Propose: you say what you want in one sentence. The agent creates the proposal and generates the spec.</a:t>
            </a:r>
          </a:p>
          <a:p>
            <a:pPr/>
            <a:r>
              <a:t>Apply: the AI builds from that spec.</a:t>
            </a:r>
          </a:p>
          <a:p>
            <a:pPr/>
            <a:r>
              <a:t>Archive: the deltas merge into the main specs, so the knowledge stays in the repository.</a:t>
            </a:r>
          </a:p>
          <a:p>
            <a:pPr/>
            <a:r>
              <a:t>Point at the arrow between one and two. That is where a person approves. Nothing crosses from spec to code until someone says yes.</a:t>
            </a:r>
          </a:p>
          <a:p>
            <a:pPr/>
            <a:r>
              <a:t>One loop per change. The specs grow one change at a time, never one plan for the whole project. That is what makes it the opposite of waterfall.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Now the case that interests us: Watchlist.</a:t>
            </a:r>
          </a:p>
          <a:p>
            <a:pPr/>
            <a:r>
              <a:t>Every risk on the left has an answer on the right, and the arrows pair them one to one.</a:t>
            </a:r>
          </a:p>
          <a:p>
            <a:pPr/>
            <a:r>
              <a:t>Business logic hard to isolate: the rules are extracted, requirement by requirement. Documentation missing: the spec is the documentation. Nobody can say what it must do: it is written down before anything moves.</a:t>
            </a:r>
          </a:p>
          <a:p>
            <a:pPr/>
            <a:r>
              <a:t>Read the bar at the bottom out loud. Validated on the batch jobs, not yet on the screens. Say it before someone asks.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Watchlist today on the left, the target on the right, an agent in the middle.</a:t>
            </a:r>
          </a:p>
          <a:p>
            <a:pPr/>
            <a:r>
              <a:t>Point at the prompt first. That is what we type: migrate the Res08 batch job. Four words.</a:t>
            </a:r>
          </a:p>
          <a:p>
            <a:pPr/>
            <a:r>
              <a:t>One: it reads the legacy source and proposes a change. One change per batch job.</a:t>
            </a:r>
          </a:p>
          <a:p>
            <a:pPr/>
            <a:r>
              <a:t>Two: it generates the spec and the scenarios.</a:t>
            </a:r>
          </a:p>
          <a:p>
            <a:pPr/>
            <a:r>
              <a:t>Three: the team reviews and approves. Extraction is where things get lost, so that is where a person checks.</a:t>
            </a:r>
          </a:p>
          <a:p>
            <a:pPr/>
            <a:r>
              <a:t>Four: it implements from the approved spec, with the unit and integration tests derived from the scenarios.</a:t>
            </a:r>
          </a:p>
          <a:p>
            <a:pPr/>
            <a:r>
              <a:t>I am not claiming nothing can be lost. I am telling you where it would be caught.</a:t>
            </a:r>
          </a:p>
          <a:p>
            <a:pPr/>
            <a:r>
              <a:t>So far, the batch jobs only. The screens use the same workflow, and we have not done them yet.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Annexe. Pull this up if someone asks what changes in practice, day to day. None of it depends on the model getting better. It is what a team can do differently once the intent is written down.</a:t>
            </a:r>
          </a:p>
          <a:p>
            <a:r>
              <a:rPr lang="en-GB" dirty="0"/>
              <a:t>Review changes: a reviewer reads a fifty-line spec instead of reverse-engineering two thousand lines of code — and checks the intent, not the wording.</a:t>
            </a:r>
          </a:p>
          <a:p>
            <a:r>
              <a:rPr lang="en-GB" dirty="0"/>
              <a:t>Disagreement moves earlier: the cheapest moment to say no is before the code exists. A contradiction costs minutes in a document and days once it is built.</a:t>
            </a:r>
          </a:p>
          <a:p>
            <a:r>
              <a:rPr lang="en-GB" dirty="0"/>
              <a:t>Handover changes: a new joiner, or the next agent, reads what the system must do instead of inferring it from what it happens to do.</a:t>
            </a:r>
          </a:p>
          <a:p>
            <a:r>
              <a:rPr lang="en-GB" dirty="0"/>
              <a:t>And the record outlives the model: models change every few months; the spec is what stays.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Three things to take away.</a:t>
            </a:r>
          </a:p>
          <a:p>
            <a:pPr/>
            <a:r>
              <a:t>Agree before you build. The change is described and reviewed before a single line of code exists.</a:t>
            </a:r>
          </a:p>
          <a:p>
            <a:pPr/>
            <a:r>
              <a:t>The spec lives with the code. Same repository, same pull request, same history.</a:t>
            </a:r>
          </a:p>
          <a:p>
            <a:pPr/>
            <a:r>
              <a:t>A person approves before the agent builds. The order and the scope are decided by us.</a:t>
            </a:r>
          </a:p>
          <a:p>
            <a:pPr/>
            <a:r>
              <a:t>One sentence to leave them with: the spec becomes the shared language between teams and AI.</a:t>
            </a:r>
          </a:p>
          <a:p>
            <a:pPr/>
            <a:r>
              <a:t>Questions. Annexes: 17 what it costs, 18 the pilot, 16 BMAD, 25 JIRA and SharePoint, 27 what a spec looks like.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is actually wrong with just prompting.</a:t>
            </a:r>
          </a:p>
          <a:p>
            <a:r>
              <a:rPr lang="en-GB" dirty="0"/>
              <a:t>The contrast: skipping the spec means unguided guessing, scope creep and technical debt. Aligning on the target state before generation gives predictable delivery.</a:t>
            </a:r>
          </a:p>
          <a:p>
            <a:r>
              <a:rPr lang="en-GB" dirty="0"/>
              <a:t>Note that the vocabulary here is blunter than in the main deck. Use it with engineers rather than with the room at large.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OpenSpec is one implementation of that idea. Three things matter for us.</a:t>
            </a:r>
          </a:p>
          <a:p>
            <a:r>
              <a:rPr lang="en-GB" dirty="0"/>
              <a:t>It is open source under the MIT licence and free — installed with a single command, no new platform, no account, and no data leaving our repository. That last point usually answers the security question before anyone asks it.</a:t>
            </a:r>
          </a:p>
          <a:p>
            <a:r>
              <a:rPr lang="en-GB" dirty="0"/>
              <a:t>It runs inside the coding assistant the team already uses, Claude included. So this is a shared workflow, not a product we would be locked into.</a:t>
            </a:r>
          </a:p>
          <a:p>
            <a:r>
              <a:rPr lang="en-GB" dirty="0"/>
              <a:t>And it structures every change: each change gets its own folder, reviewed like any change to the code.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[Section marker. Not presented — the slides after this one are for questions.]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So here is the idea, in one sentence. Agree on what to build before any code is written. That is what spec-driven development means.</a:t>
            </a:r>
          </a:p>
          <a:p>
            <a:r>
              <a:rPr lang="en-GB" dirty="0"/>
              <a:t>And I want to be precise about the word specification, because this is not documentation produced after the fact to satisfy an audit. It is the artefact the team argues over, corrects and approves — and it is the only thing the agent is allowed to implement.</a:t>
            </a:r>
          </a:p>
          <a:p>
            <a:r>
              <a:rPr lang="en-GB" dirty="0"/>
              <a:t>Everything else I show you today is machinery in service of that one sentence.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Finally, the thing itself. At the centre of every change sits the requirements file.</a:t>
            </a:r>
          </a:p>
          <a:p>
            <a:r>
              <a:rPr lang="en-GB" dirty="0"/>
              <a:t>Three things to notice. It is written in plain English — no notation to learn, and anyone on the team can read it, correct it and sign it off.</a:t>
            </a:r>
          </a:p>
          <a:p>
            <a:r>
              <a:rPr lang="en-GB" dirty="0"/>
              <a:t>It describes behaviour, not implementation — what the system must do, not how the code goes about it.</a:t>
            </a:r>
          </a:p>
          <a:p>
            <a:r>
              <a:rPr lang="en-GB" dirty="0"/>
              <a:t>And it states only what changes: what this change adds, modifies or removes. That last point is what makes this workable for us, rather than a luxury reserved for new projects.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Rather than describe it, let me show you.</a:t>
            </a:r>
          </a:p>
          <a:p>
            <a:pPr/>
            <a:r>
              <a:t>This demo stops at the artefacts. We generate the spec, we do not implement it here. Say it now.</a:t>
            </a:r>
          </a:p>
          <a:p>
            <a:pPr/>
            <a:r>
              <a:t>Three things to watch: the prompt, the extraction, the artefacts.</a:t>
            </a:r>
          </a:p>
          <a:p>
            <a:pPr/>
            <a:r>
              <a:t>[Run the demo. Open the generated files one by one, and read one scenario out loud.]</a:t>
            </a:r>
          </a:p>
          <a:p>
            <a:pPr/>
            <a:r>
              <a:t>If it misbehaves, the same change is already archived in the repository.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this compares to BMAD, which another team here already uses.</a:t>
            </a:r>
          </a:p>
          <a:p>
            <a:r>
              <a:rPr lang="en-GB" dirty="0"/>
              <a:t>The framing matters. Both frameworks reach the same conclusion — write the intent down before the agent builds — and they differ in how much process they carry. BMAD covers the whole delivery loop, with specialised agent roles and product artefacts. OpenSpec covers one change at a time and lives in the repository.</a:t>
            </a:r>
          </a:p>
          <a:p>
            <a:r>
              <a:rPr lang="en-GB" dirty="0"/>
              <a:t>Say explicitly that the choice is one of weight, not of principle, and that neither replaces the other. Do not turn this into a competition: the other team made a reasonable choice for their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the moment anyone sounds sceptical — or better, volunteer it before they do.</a:t>
            </a:r>
          </a:p>
          <a:p>
            <a:r>
              <a:rPr lang="en-GB" dirty="0"/>
              <a:t>What it costs: someone writes the spec, usually the engineer who would have written the prompt anyway; the review adds a step; and nothing enforces the discipline but the review itself.</a:t>
            </a:r>
          </a:p>
          <a:p>
            <a:r>
              <a:rPr lang="en-GB" dirty="0"/>
              <a:t>What it does not solve: a wrong requirement stays wrong, it does not make the model better, and a one-line fix does not need a spec.</a:t>
            </a:r>
          </a:p>
          <a:p>
            <a:r>
              <a:rPr lang="en-GB" dirty="0"/>
              <a:t>The bet is simply that stating the intent costs less than discovering it was wrong once the code exists.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we would try it.</a:t>
            </a:r>
          </a:p>
          <a:p>
            <a:r>
              <a:rPr lang="en-GB" dirty="0"/>
              <a:t>One existing application, one team already using a coding agent. One month, with no tooling change beyond installing the CLI. Every change in that period goes through a spec, with no exception — that is how we learn the real cost rather than the best case.</a:t>
            </a:r>
          </a:p>
          <a:p>
            <a:r>
              <a:rPr lang="en-GB" dirty="0"/>
              <a:t>And the criteria are agreed before we start, not after. The simplest one: does the team keep doing it once the month ends?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This is the folder itself. The real path at the top, four files under it, plain markdown, in your repository.</a:t>
            </a:r>
          </a:p>
          <a:p>
            <a:pPr/>
            <a:r>
              <a:t>proposal.md, the why. specs/, the what, with the scenarios. design.md, the how. tasks.md, the order.</a:t>
            </a:r>
          </a:p>
          <a:p>
            <a:pPr/>
            <a:r>
              <a:t>The file names are clickable. I have a real example for each.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why, in business language. Notice there is nothing technical here — the problem, what changes, and explicitly what is out of scope.</a:t>
            </a:r>
          </a:p>
          <a:p>
            <a:r>
              <a:rPr lang="en-GB" dirty="0"/>
              <a:t>This is the file a non-engineer would read and correct.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delta — what this change adds or removes. Requirements, with scenarios underneath.</a:t>
            </a:r>
          </a:p>
          <a:p>
            <a:r>
              <a:rPr lang="en-GB" dirty="0"/>
              <a:t>Notice the scenarios are conditions, not test code. They can be read by anyone, and they map directly onto acceptance tests. And notice where they come from: the two scenarios are the two constraints from the request on the demo slide — expires after thirty minutes, works only once.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how, including the options that were rejected and why.</a:t>
            </a:r>
          </a:p>
          <a:p>
            <a:r>
              <a:rPr lang="en-GB" dirty="0"/>
              <a:t>This is the file that saves an argument six months later, when someone asks why we did not use a dedicated table.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execution checklist, with progress visible.</a:t>
            </a:r>
          </a:p>
          <a:p>
            <a:r>
              <a:rPr lang="en-GB" dirty="0"/>
              <a:t>The agent works through it one item at a time rather than deciding the order itself — that is what stops it wandering off.</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a business analyst or a product owner asks how this fits with the requirements they already write.</a:t>
            </a:r>
          </a:p>
          <a:p>
            <a:r>
              <a:rPr lang="en-GB" dirty="0"/>
              <a:t>The key message first: OpenSpec does not replace them. What it makes explicit is the step that comes after.</a:t>
            </a:r>
          </a:p>
          <a:p>
            <a:r>
              <a:rPr lang="en-GB" dirty="0"/>
              <a:t>Read the flow left to right. The business requirement stays exactly where it lives today — a ticket, a PRD, a Confluence page. There is no dedicated import command: you simply pass the requirement to propose, as shown. It lands in proposal.md as the why of the change, citing the original, and specs/ holds the behaviour derived from it, written so it can be tested.</a:t>
            </a:r>
          </a:p>
          <a:p>
            <a:r>
              <a:rPr lang="en-GB" dirty="0"/>
              <a:t>Note on the command: /opsx:propose is the canonical spelling. Cursor and GitHub Copilot use /opsx-propose, Amazon Q uses @opsx-propose, Codex uses $openspec-propose. Check yours before saying it out loud.</a:t>
            </a:r>
          </a:p>
          <a:p>
            <a:r>
              <a:rPr lang="en-GB" dirty="0"/>
              <a:t>The line in the middle is the point of the slide: the person who wrote the requirement reviews the behaviour derived from it, before any code exists. Today that translation happens silently, in a developer's head or in an agent's context window, and nobody checks it.</a:t>
            </a:r>
          </a:p>
          <a:p>
            <a:r>
              <a:rPr lang="en-GB" dirty="0"/>
              <a:t>Three reassurances if they push: nothing to migrate on their side, the translation stops being silent, and the traceability runs both ways.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explore actually is, or why it is not one of the three stages on the workflow slide.</a:t>
            </a:r>
          </a:p>
          <a:p>
            <a:r>
              <a:rPr lang="en-GB" dirty="0"/>
              <a:t>Start with the thing that clears up most of the confusion: OpenSpec does not run a program here. What it installs in the repository is a set of instructions for your assistant — in .claude for Claude, equivalent files for other tools. So explore is a role the agent takes, not a piece of software.</a:t>
            </a:r>
          </a:p>
          <a:p>
            <a:r>
              <a:rPr lang="en-GB" dirty="0"/>
              <a:t>The role has three rules. It writes nothing — no file, no code, no spec, which means being wrong costs nothing. It reads the repository first, so it can tell you what already exists and what contradicts it. And it converges on something scopeable: the output is not a document, it is an agreement on what the next change is.</a:t>
            </a:r>
          </a:p>
          <a:p>
            <a:r>
              <a:rPr lang="en-GB" dirty="0"/>
              <a:t>Walk through the exchange if they want detail. The point is the moment the agent flags the contradiction in section 4.2 — that is a disagreement surfacing before any code exists, which is the argument on the impact slide.</a:t>
            </a:r>
          </a:p>
          <a:p>
            <a:r>
              <a:rPr lang="en-GB" dirty="0"/>
              <a:t>And say why it is optional: nothing breaks without it. But a vague propose produces a vague change folder that you then have to fix or throw away. Explore is the free conversation before the expensive generation.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Reference slide. Use it if an engineer asks what the full command set looks like, or whether the three stages on the workflow slide are the whole story.</a:t>
            </a:r>
          </a:p>
          <a:p>
            <a:r>
              <a:rPr lang="en-GB" dirty="0"/>
              <a:t>The left column is what a team gets on day one — those six are installed by default. The right column has to be turned on with openspec config profile; say that if someone asks why they cannot see verify in their own setup. Note that sync and archive are two separate commands: sync merges the change's delta into the main specs, archive files the completed change. The workflow slide folds them together for simplicity — say so if anyone notices.</a:t>
            </a:r>
          </a:p>
          <a:p>
            <a:r>
              <a:rPr lang="en-GB" dirty="0"/>
              <a:t>The right column exists for teams that want to build the artefacts one at a time rather than all at once. Worth knowing: the openspec.dev home page draws its loop with verify in it, so someone who has just looked at the site may expect five stages. Verify is real, it simply is not switched on by default. Annexe 33 explains how the selection is changed, and how far the workflow itself can be configured. If the question is what verify is actually for, the cleanest answer is that validating and verifying are two different jobs: we validate the spec before any code exists — that is the human review — and verify checks afterwards that the implementation matches what was agreed. The review is the one we rely on; verify is a second net, not a replacement. Do not go through it item by item unless asked; the point of showing it is that the tool is not a black box with three buttons.</a:t>
            </a:r>
          </a:p>
          <a:p>
            <a:r>
              <a:rPr lang="en-GB" dirty="0"/>
              <a:t>Two practical notes at the bottom. The spelling changes by assistant, so check yours before typing it live. And the terminal CLI is a separate namespace from the slash commands — openspec init, update, list, show, validate, archive, status, config.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happens to the engineers — and expect it from managers rather than from engineers.</a:t>
            </a:r>
          </a:p>
          <a:p>
            <a:r>
              <a:rPr lang="en-GB" dirty="0"/>
              <a:t>The framing first: the work does not disappear, it moves up a level. Say that before naming the roles, otherwise the three cards sound like a reorganisation.</a:t>
            </a:r>
          </a:p>
          <a:p>
            <a:r>
              <a:rPr lang="en-GB" dirty="0"/>
              <a:t>Spec architect: states the behaviour the system must have and argues it out with the business. The line to land is that the hard part was never the syntax — it was deciding what the system should do.</a:t>
            </a:r>
          </a:p>
          <a:p>
            <a:r>
              <a:rPr lang="en-GB" dirty="0"/>
              <a:t>Agent engineer: sets up the rules, tools and context the agent works inside, so the same request produces the same shape of answer twice running.</a:t>
            </a:r>
          </a:p>
          <a:p>
            <a:r>
              <a:rPr lang="en-GB" dirty="0"/>
              <a:t>Quality guardian: owns the tests, the pipeline, the guardrails. Insist on the last clause — the volume of generated code makes this role more important, not less. That is the answer to anyone who thinks AI reduces the need for QA.</a:t>
            </a:r>
          </a:p>
          <a:p>
            <a:r>
              <a:rPr lang="en-GB" dirty="0"/>
              <a:t>And finish on the line in the dark bar. Some versions of this argument claim that code becomes disposable and can be regenerated cleanly when models improve. Do not say that in front of engineers: their code is in production, it has history, it has been debugged. The honest claim is narrower — the leverage moves, the code stays.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Alternative to the Key takeaways slide. Use this one instead if the room turns out to be more management than engineering — it closes on benefits rather than on the argument.</a:t>
            </a:r>
          </a:p>
          <a:p>
            <a:r>
              <a:rPr lang="en-GB" dirty="0"/>
              <a:t>The difference matters. Key takeaways closes on the reasoning: the problem is the process, control comes from reviewing early, it works on what we already have. This slide closes on what you get: one source of truth, a narrower context, review that scales.</a:t>
            </a:r>
          </a:p>
          <a:p>
            <a:r>
              <a:rPr lang="en-GB" dirty="0"/>
              <a:t>Do not use both. They cover the same ground from two angles and the second one would sound like a repeat.</a:t>
            </a:r>
          </a:p>
          <a:p>
            <a:r>
              <a:rPr lang="en-GB" dirty="0"/>
              <a:t>Land the line in the dark bar, because it answers the fear nobody says out loud: this will slow us down. The claim is deliberately narrow — spec-driven development does not make the AI slower, it makes what comes out of it reviewable. Avoid the stronger version some write-ups use, which promises guaranteed architectural control and code one hundred per cent aligned with the rules. Neither survives a sceptical question.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how it fits with JIRA and SharePoint. Expect it early — the first fear is another place to maintain.</a:t>
            </a:r>
          </a:p>
          <a:p>
            <a:r>
              <a:rPr lang="en-GB" dirty="0"/>
              <a:t>Be precise here, because something really does move. JIRA is untouched: it keeps the user stories, the estimates, the board. SharePoint keeps what the business writes — the requirement documents and the context. What moves into the repository is the description of how the system behaves for a given change.</a:t>
            </a:r>
          </a:p>
          <a:p>
            <a:r>
              <a:rPr lang="en-GB" dirty="0"/>
              <a:t>Say why that is worth doing, and the bottom line is the argument. A spec document in SharePoint goes stale the moment the code moves, because nothing forces the two to change together. In the repository it cannot: it is what the agent reads before implementing, and what the review checks. That is the whole difference.</a:t>
            </a:r>
          </a:p>
          <a:p>
            <a:r>
              <a:rPr lang="en-GB" dirty="0"/>
              <a:t>Do not let anyone conclude that we are duplicating. The SharePoint document says what the business wants. The spec in the repository says what the system will do about it. Two different documents, at two different levels — not two copies of one.</a:t>
            </a:r>
          </a:p>
          <a:p>
            <a:r>
              <a:rPr lang="en-GB" dirty="0"/>
              <a:t>The rule in the grey bar is the one the team will ask for: a user story that changes behaviour becomes a change; one that does not stays a plain story. Say it, because otherwise someone will put a label change through the full loop in week one, decide the process is bureaucratic, and drop it. And a change can exist without a story, when the spec itself needs correcting.</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what actually changes in the way we work.</a:t>
            </a:r>
          </a:p>
          <a:p>
            <a:r>
              <a:rPr lang="en-GB" dirty="0"/>
              <a:t>Let them look at the two rows first. The amber box is the new thing, and the bottom row has one step more than the top one — say that out loud rather than hiding it.</a:t>
            </a:r>
          </a:p>
          <a:p>
            <a:r>
              <a:rPr lang="en-GB" dirty="0"/>
              <a:t>Be explicit on the point everyone gets wrong: the code review does not disappear. Today there is one review, at the end, and the reviewer has to reconstruct the intent from the code. With OpenSpec there are two: a spec review before anything is built, and the usual code review afterwards.</a:t>
            </a:r>
          </a:p>
          <a:p>
            <a:r>
              <a:rPr lang="en-GB" dirty="0"/>
              <a:t>The argument is not that we removed work. It is that the first review is cheap — a short document, minutes to read — and it makes the second one shorter, because the reviewer finally has something to check the code against.</a:t>
            </a:r>
          </a:p>
          <a:p>
            <a:r>
              <a:rPr lang="en-GB" dirty="0"/>
              <a:t>If someone says this adds a step: yes, it does. One cheap one, to make the expensive one easier and to catch disagreements while they still cost minutes.</a:t>
            </a:r>
          </a:p>
        </p:txBody>
      </p:sp>
    </p:spTree>
  </p:cSld>
  <p:clrMapOvr>
    <a:masterClrMapping/>
  </p:clrMapOvr>
</p:notes>
</file>

<file path=ppt/notesSlides/notesSlide31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Agree on what to build before any code is written. That is the idea.</a:t>
            </a:r>
          </a:p>
          <a:p>
            <a:pPr/>
            <a:r>
              <a:t>Same thing on the left, same thing on the right. The only difference is what sits in the middle.</a:t>
            </a:r>
          </a:p>
          <a:p>
            <a:pPr/>
            <a:r>
              <a:t>Today: a prompt, typed once and gone tomorrow.</a:t>
            </a:r>
          </a:p>
          <a:p>
            <a:pPr/>
            <a:r>
              <a:t>With OpenSpec: a spec. What the system must do, and how it will be built. Reviewable. Versioned. Shared. The three problems from the last slide, answered in the same order.</a:t>
            </a:r>
          </a:p>
          <a:p>
            <a:pPr/>
            <a:r>
              <a:t>A person approves it. The agent implements that, and only that.</a:t>
            </a:r>
          </a:p>
          <a:p>
            <a:pPr/>
            <a:r>
              <a:t>Everything after this slide serves it.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The same loop, for real. Three commands in an assistant.</a:t>
            </a:r>
          </a:p>
          <a:p>
            <a:pPr/>
            <a:r>
              <a:t>Let them read it before you talk.</a:t>
            </a:r>
          </a:p>
          <a:p>
            <a:pPr/>
            <a:r>
              <a:t>Propose: the need is written in one sentence, constraints included. One command later, the folder exists. No code yet.</a:t>
            </a:r>
          </a:p>
          <a:p>
            <a:pPr/>
            <a:r>
              <a:t>The orange line is the point of the slide. That is the human decision, and it is the only one.</a:t>
            </a:r>
          </a:p>
          <a:p>
            <a:pPr/>
            <a:r>
              <a:t>Apply, then archive. The agent follows the list; the main specs are updated.</a:t>
            </a:r>
          </a:p>
          <a:p>
            <a:pPr/>
            <a:r>
              <a:t>Same three requirements they watched evaporate in the chat on slide 2. Here they are written once, and kept.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Pull this up if someone asks where the spec lives when the application is split across repositories — which is likely once Watchlist becomes a Spring Boot service and a React front end.</a:t>
            </a:r>
          </a:p>
          <a:p>
            <a:pPr/>
            <a:r>
              <a:t>The problem first: a single change touches both sides, and a plan that lives in one of the two repositories is only half a plan.</a:t>
            </a:r>
          </a:p>
          <a:p>
            <a:pPr/>
            <a:r>
              <a:t>A store is a repository that holds nothing but specs and changes. Several code repositories share it, and it is reviewed and versioned exactly like any other repository — no new tool, no new platform.</a:t>
            </a:r>
          </a:p>
          <a:p>
            <a:pPr/>
            <a:r>
              <a:t>A workset opens the store and the repositories that use it in one editor window, so the agent reads both at once.</a:t>
            </a:r>
          </a:p>
          <a:p>
            <a:pPr/>
            <a:r>
              <a:t>Be honest about the maturity: the documentation marks both as beta. If someone is uncomfortable with that, the fallback is one spec scope per repository, with each change citing the other. Say it plainly rather than overselling.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objects that the method is rigid, or asks whether we would have to work the way the tool wants.</a:t>
            </a:r>
          </a:p>
          <a:p>
            <a:pPr/>
            <a:r>
              <a:t>Three levels of configuration. The profile decides which commands are installed — six by default, more if you turn them on. It is a machine-wide setting, and a project can override it when it is initialised.</a:t>
            </a:r>
          </a:p>
          <a:p>
            <a:pPr/>
            <a:r>
              <a:t>Delivery decides how those commands reach the assistant: as skills, as commands, or both. It exists because tooling differs from team to team.</a:t>
            </a:r>
          </a:p>
          <a:p>
            <a:pPr/>
            <a:r>
              <a:t>And the schema decides which artefacts a change produces. This is the answer to the rigidity objection: the four artefacts are a default, not a rule. Forking the schema copies it into the project, where the artefacts, their order and their templates can be changed and validated.</a:t>
            </a:r>
          </a:p>
          <a:p>
            <a:pPr/>
            <a:r>
              <a:t>The note at the bottom matters for anyone who has already installed OpenSpec: openspec update regenerates the instruction files only, it never touches openspec/specs or openspec/changes — but it does overwrite generated files that were edited by hand.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has looked at openspec.dev and expects five stages, or when an engineer wants the workflow in one view.</a:t>
            </a:r>
          </a:p>
          <a:p>
            <a:pPr/>
            <a:r>
              <a:t>Read the five stages, then go straight to the two lines under the rule — they are why this slide exists rather than a screenshot of their site.</a:t>
            </a:r>
          </a:p>
          <a:p>
            <a:pPr/>
            <a:r>
              <a:t>explore is installed by default, but it writes nothing. It is a thinking step: map the problem, read the codebase. Nothing is committed to until propose.</a:t>
            </a:r>
          </a:p>
          <a:p>
            <a:pPr/>
            <a:r>
              <a:t>verify is not installed by default. It belongs to the expanded profile — annexe 33 explains how to turn it on. And the default install has two commands this diagram omits: update, which revises artefacts, and sync, which merges the delta into the main specs.</a:t>
            </a:r>
          </a:p>
          <a:p>
            <a:pPr/>
            <a:r>
              <a:t>If someone asks why our workflow slide shows three stages and this one shows five: ours is the loop a team runs every day, propose, apply, archive, with the human review between the first two. The rest are real, and optional.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One slide to place OpenSpec among the alternatives, because someone here already uses another one.</a:t>
            </a:r>
          </a:p>
          <a:p>
            <a:pPr/>
            <a:r>
              <a:t>The axis is the point. All three say the same thing: write the intent down before the agent builds. They differ in weight, not in principle.</a:t>
            </a:r>
          </a:p>
          <a:p>
            <a:pPr/>
            <a:r>
              <a:t>OpenSpec: one loop per change, four files, lightest to adopt.</a:t>
            </a:r>
          </a:p>
          <a:p>
            <a:pPr/>
            <a:r>
              <a:t>Spec Kit, from GitHub: six phases, more structure up front.</a:t>
            </a:r>
          </a:p>
          <a:p>
            <a:pPr/>
            <a:r>
              <a:t>BMAD: named agent roles, the most guidance and the most to learn.</a:t>
            </a:r>
          </a:p>
          <a:p>
            <a:pPr/>
            <a:r>
              <a:t>All three are MIT. None of them owns your code.</a:t>
            </a:r>
          </a:p>
          <a:p>
            <a:pPr/>
            <a:r>
              <a:t>Annexe 16 goes deeper on BMAD.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1b.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3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5.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6.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OPEN SOURCE  ·  MIT LICENSE</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OpenSpec</a:t>
            </a:r>
            <a:endParaRPr lang="en-US" sz="6200" dirty="0"/>
          </a:p>
        </p:txBody>
      </p:sp>
      <p:sp>
        <p:nvSpPr>
          <p:cNvPr id="8" name="Text 5"/>
          <p:cNvSpPr/>
          <p:nvPr/>
        </p:nvSpPr>
        <p:spPr>
          <a:xfrm>
            <a:off x="640080" y="2834640"/>
            <a:ext cx="9601200" cy="64008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lightweight framework for spec-driven development with AI</a:t>
            </a:r>
            <a:endParaRPr lang="en-US" sz="2200" dirty="0"/>
          </a:p>
        </p:txBody>
      </p:sp>
      <p:sp>
        <p:nvSpPr>
          <p:cNvPr id="10" name="Text 7"/>
          <p:cNvSpPr/>
          <p:nvPr/>
        </p:nvSpPr>
        <p:spPr>
          <a:xfrm>
            <a:off x="640080" y="3840480"/>
            <a:ext cx="6583680" cy="731520"/>
          </a:xfrm>
          <a:prstGeom prst="rect">
            <a:avLst/>
          </a:prstGeom>
          <a:noFill/>
          <a:ln/>
        </p:spPr>
        <p:txBody>
          <a:bodyPr wrap="square" lIns="0" tIns="0" rIns="0" bIns="0" rtlCol="0" anchor="t"/>
          <a:lstStyle/>
          <a:p>
            <a:pPr indent="0" marL="0">
              <a:buNone/>
            </a:pPr>
            <a:r>
              <a:rPr lang="en-US" sz="1500" i="1" dirty="0">
                <a:solidFill>
                  <a:srgbClr val="9AA3C0"/>
                </a:solidFill>
                <a:latin typeface="Calibri" pitchFamily="34" charset="0"/>
                <a:ea typeface="Calibri" pitchFamily="34" charset="-122"/>
                <a:cs typeface="Calibri" pitchFamily="34" charset="-120"/>
              </a:rPr>
              <a:t>Building the right thing, and building it right</a:t>
            </a:r>
            <a:endParaRPr lang="en-US" sz="15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Executive briefing  ·  openspec.dev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problem</a:t>
            </a:r>
          </a:p>
        </p:txBody>
      </p:sp>
      <p:sp>
        <p:nvSpPr>
          <p:cNvPr id="44"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45"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a:t>
            </a:r>
          </a:p>
        </p:txBody>
      </p:sp>
      <p:sp>
        <p:nvSpPr>
          <p:cNvPr id="301" name="Title"/>
          <p:cNvSpPr txBox="1"/>
          <p:nvPr/>
        </p:nvSpPr>
        <p:spPr>
          <a:xfrm>
            <a:off x="685800" y="943610"/>
            <a:ext cx="10820400" cy="489954"/>
          </a:xfrm>
          <a:prstGeom prst="rect">
            <a:avLst/>
          </a:prstGeom>
          <a:ln w="12700">
            <a:noFill/>
            <a:miter lim="400000"/>
          </a:ln>
        </p:spPr>
        <p:txBody>
          <a:bodyPr lIns="45719" rIns="45719" tIns="0" bIns="0" anchor="ctr"/>
          <a:lstStyle>
            <a:lvl1pPr algn="l">
              <a:defRPr b="1" sz="3000">
                <a:solidFill>
                  <a:srgbClr val="1E2761"/>
                </a:solidFill>
                <a:latin typeface="Cambria"/>
              </a:defRPr>
            </a:lvl1pPr>
          </a:lstStyle>
          <a:p>
            <a:pPr/>
            <a:r>
              <a:t>Your requirements live in chat history</a:t>
            </a:r>
          </a:p>
        </p:txBody>
      </p:sp>
      <p:sp>
        <p:nvSpPr>
          <p:cNvPr id="302" name="Lead"/>
          <p:cNvSpPr txBox="1"/>
          <p:nvPr/>
        </p:nvSpPr>
        <p:spPr>
          <a:xfrm>
            <a:off x="685800" y="160020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requirements were agreed in a chat window.</a:t>
            </a:r>
          </a:p>
          <a:p>
            <a:pPr/>
            <a:r>
              <a:t>A chat window is not a specification.</a:t>
            </a:r>
          </a:p>
        </p:txBody>
      </p:sp>
      <p:sp>
        <p:nvSpPr>
          <p:cNvPr id="400" name="Dot0"/>
          <p:cNvSpPr/>
          <p:nvPr/>
        </p:nvSpPr>
        <p:spPr>
          <a:xfrm>
            <a:off x="685800" y="262890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3" name="H0"/>
          <p:cNvSpPr txBox="1"/>
          <p:nvPr/>
        </p:nvSpPr>
        <p:spPr>
          <a:xfrm>
            <a:off x="1005840" y="256032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reviewable</a:t>
            </a:r>
          </a:p>
        </p:txBody>
      </p:sp>
      <p:sp>
        <p:nvSpPr>
          <p:cNvPr id="304" name="B0"/>
          <p:cNvSpPr txBox="1"/>
          <p:nvPr/>
        </p:nvSpPr>
        <p:spPr>
          <a:xfrm>
            <a:off x="1005840" y="292608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one can check the intent before the code exists.</a:t>
            </a:r>
          </a:p>
        </p:txBody>
      </p:sp>
      <p:sp>
        <p:nvSpPr>
          <p:cNvPr id="401" name="Dot1"/>
          <p:cNvSpPr/>
          <p:nvPr/>
        </p:nvSpPr>
        <p:spPr>
          <a:xfrm>
            <a:off x="685800" y="363474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5" name="H1"/>
          <p:cNvSpPr txBox="1"/>
          <p:nvPr/>
        </p:nvSpPr>
        <p:spPr>
          <a:xfrm>
            <a:off x="1005840" y="35661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versioned</a:t>
            </a:r>
          </a:p>
        </p:txBody>
      </p:sp>
      <p:sp>
        <p:nvSpPr>
          <p:cNvPr id="306" name="B1"/>
          <p:cNvSpPr txBox="1"/>
          <p:nvPr/>
        </p:nvSpPr>
        <p:spPr>
          <a:xfrm>
            <a:off x="1005840" y="393192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record of what changed, or why.</a:t>
            </a:r>
          </a:p>
        </p:txBody>
      </p:sp>
      <p:sp>
        <p:nvSpPr>
          <p:cNvPr id="402" name="Dot2"/>
          <p:cNvSpPr/>
          <p:nvPr/>
        </p:nvSpPr>
        <p:spPr>
          <a:xfrm>
            <a:off x="685800" y="464058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7" name="H2"/>
          <p:cNvSpPr txBox="1"/>
          <p:nvPr/>
        </p:nvSpPr>
        <p:spPr>
          <a:xfrm>
            <a:off x="1005840" y="45720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shared</a:t>
            </a:r>
          </a:p>
        </p:txBody>
      </p:sp>
      <p:sp>
        <p:nvSpPr>
          <p:cNvPr id="308" name="B2"/>
          <p:cNvSpPr txBox="1"/>
          <p:nvPr/>
        </p:nvSpPr>
        <p:spPr>
          <a:xfrm>
            <a:off x="1005840" y="493776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stays inside one developer’s session.</a:t>
            </a:r>
          </a:p>
        </p:txBody>
      </p:sp>
      <p:sp>
        <p:nvSpPr>
          <p:cNvPr id="450" name="Chat card"/>
          <p:cNvSpPr/>
          <p:nvPr/>
        </p:nvSpPr>
        <p:spPr>
          <a:xfrm>
            <a:off x="6217920" y="1965960"/>
            <a:ext cx="5303520" cy="4114800"/>
          </a:xfrm>
          <a:prstGeom prst="roundRect">
            <a:avLst>
              <a:gd name="adj" fmla="val 3000"/>
            </a:avLst>
          </a:prstGeom>
          <a:solidFill>
            <a:srgbClr val="EEF2FC"/>
          </a:solidFill>
          <a:ln w="12700">
            <a:noFill/>
            <a:miter lim="400000"/>
          </a:ln>
        </p:spPr>
        <p:txBody>
          <a:bodyPr lIns="45719" rIns="45719"/>
          <a:lstStyle/>
          <a:p>
            <a:pPr/>
          </a:p>
        </p:txBody>
      </p:sp>
      <p:sp>
        <p:nvSpPr>
          <p:cNvPr id="460" name="msg0"/>
          <p:cNvSpPr/>
          <p:nvPr/>
        </p:nvSpPr>
        <p:spPr>
          <a:xfrm>
            <a:off x="7726680" y="2286000"/>
            <a:ext cx="3474720" cy="502920"/>
          </a:xfrm>
          <a:prstGeom prst="roundRect">
            <a:avLst>
              <a:gd name="adj" fmla="val 20000"/>
            </a:avLst>
          </a:prstGeom>
          <a:solidFill>
            <a:srgbClr val="1E2761"/>
          </a:solidFill>
          <a:ln w="12700">
            <a:noFill/>
            <a:miter lim="400000"/>
          </a:ln>
        </p:spPr>
        <p:txBody>
          <a:bodyPr lIns="45719" rIns="45719"/>
          <a:lstStyle/>
          <a:p>
            <a:pPr/>
          </a:p>
        </p:txBody>
      </p:sp>
      <p:sp>
        <p:nvSpPr>
          <p:cNvPr id="309" name="mt0"/>
          <p:cNvSpPr txBox="1"/>
          <p:nvPr/>
        </p:nvSpPr>
        <p:spPr>
          <a:xfrm>
            <a:off x="7932420" y="228600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Add a password reset flow</a:t>
            </a:r>
          </a:p>
        </p:txBody>
      </p:sp>
      <p:sp>
        <p:nvSpPr>
          <p:cNvPr id="461" name="msg1"/>
          <p:cNvSpPr/>
          <p:nvPr/>
        </p:nvSpPr>
        <p:spPr>
          <a:xfrm>
            <a:off x="6537960" y="2880360"/>
            <a:ext cx="3474720" cy="502920"/>
          </a:xfrm>
          <a:prstGeom prst="roundRect">
            <a:avLst>
              <a:gd name="adj" fmla="val 20000"/>
            </a:avLst>
          </a:prstGeom>
          <a:solidFill>
            <a:srgbClr val="CADCFC"/>
          </a:solidFill>
          <a:ln w="12700">
            <a:noFill/>
            <a:miter lim="400000"/>
          </a:ln>
        </p:spPr>
        <p:txBody>
          <a:bodyPr lIns="45719" rIns="45719"/>
          <a:lstStyle/>
          <a:p>
            <a:pPr/>
          </a:p>
        </p:txBody>
      </p:sp>
      <p:sp>
        <p:nvSpPr>
          <p:cNvPr id="310" name="mt1"/>
          <p:cNvSpPr txBox="1"/>
          <p:nvPr/>
        </p:nvSpPr>
        <p:spPr>
          <a:xfrm>
            <a:off x="6743700" y="2880360"/>
            <a:ext cx="3063240" cy="502920"/>
          </a:xfrm>
          <a:prstGeom prst="rect">
            <a:avLst/>
          </a:prstGeom>
          <a:ln w="12700">
            <a:noFill/>
            <a:miter lim="400000"/>
          </a:ln>
        </p:spPr>
        <p:txBody>
          <a:bodyPr lIns="45719" rIns="45719" tIns="0" bIns="0" anchor="ctr"/>
          <a:lstStyle>
            <a:lvl1pPr algn="l">
              <a:defRPr sz="1000">
                <a:solidFill>
                  <a:srgbClr val="2C3352"/>
                </a:solidFill>
                <a:latin typeface="Calibri"/>
              </a:defRPr>
            </a:lvl1pPr>
          </a:lstStyle>
          <a:p>
            <a:pPr/>
            <a:r>
              <a:t>Done. Endpoint and email added.</a:t>
            </a:r>
          </a:p>
        </p:txBody>
      </p:sp>
      <p:sp>
        <p:nvSpPr>
          <p:cNvPr id="462" name="msg2"/>
          <p:cNvSpPr/>
          <p:nvPr/>
        </p:nvSpPr>
        <p:spPr>
          <a:xfrm>
            <a:off x="7726680" y="3474720"/>
            <a:ext cx="3474720" cy="502920"/>
          </a:xfrm>
          <a:prstGeom prst="roundRect">
            <a:avLst>
              <a:gd name="adj" fmla="val 20000"/>
            </a:avLst>
          </a:prstGeom>
          <a:solidFill>
            <a:srgbClr val="3B4468"/>
          </a:solidFill>
          <a:ln w="12700">
            <a:noFill/>
            <a:miter lim="400000"/>
          </a:ln>
        </p:spPr>
        <p:txBody>
          <a:bodyPr lIns="45719" rIns="45719"/>
          <a:lstStyle/>
          <a:p>
            <a:pPr/>
          </a:p>
        </p:txBody>
      </p:sp>
      <p:sp>
        <p:nvSpPr>
          <p:cNvPr id="311" name="mt2"/>
          <p:cNvSpPr txBox="1"/>
          <p:nvPr/>
        </p:nvSpPr>
        <p:spPr>
          <a:xfrm>
            <a:off x="7932420" y="347472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It should expire after 30 minutes</a:t>
            </a:r>
          </a:p>
        </p:txBody>
      </p:sp>
      <p:sp>
        <p:nvSpPr>
          <p:cNvPr id="463" name="msg3"/>
          <p:cNvSpPr/>
          <p:nvPr/>
        </p:nvSpPr>
        <p:spPr>
          <a:xfrm>
            <a:off x="6537960" y="4069080"/>
            <a:ext cx="2011680" cy="502920"/>
          </a:xfrm>
          <a:prstGeom prst="roundRect">
            <a:avLst>
              <a:gd name="adj" fmla="val 20000"/>
            </a:avLst>
          </a:prstGeom>
          <a:solidFill>
            <a:srgbClr val="DCE5FA"/>
          </a:solidFill>
          <a:ln w="12700">
            <a:noFill/>
            <a:miter lim="400000"/>
          </a:ln>
        </p:spPr>
        <p:txBody>
          <a:bodyPr lIns="45719" rIns="45719"/>
          <a:lstStyle/>
          <a:p>
            <a:pPr/>
          </a:p>
        </p:txBody>
      </p:sp>
      <p:sp>
        <p:nvSpPr>
          <p:cNvPr id="312" name="mt3"/>
          <p:cNvSpPr txBox="1"/>
          <p:nvPr/>
        </p:nvSpPr>
        <p:spPr>
          <a:xfrm>
            <a:off x="6743700" y="4069080"/>
            <a:ext cx="1600200" cy="502920"/>
          </a:xfrm>
          <a:prstGeom prst="rect">
            <a:avLst/>
          </a:prstGeom>
          <a:ln w="12700">
            <a:noFill/>
            <a:miter lim="400000"/>
          </a:ln>
        </p:spPr>
        <p:txBody>
          <a:bodyPr lIns="45719" rIns="45719" tIns="0" bIns="0" anchor="ctr"/>
          <a:lstStyle>
            <a:lvl1pPr algn="l">
              <a:defRPr sz="1000">
                <a:solidFill>
                  <a:srgbClr val="5C6484"/>
                </a:solidFill>
                <a:latin typeface="Calibri"/>
              </a:defRPr>
            </a:lvl1pPr>
          </a:lstStyle>
          <a:p>
            <a:pPr/>
            <a:r>
              <a:t>Updated.</a:t>
            </a:r>
          </a:p>
        </p:txBody>
      </p:sp>
      <p:sp>
        <p:nvSpPr>
          <p:cNvPr id="464" name="msg4"/>
          <p:cNvSpPr/>
          <p:nvPr/>
        </p:nvSpPr>
        <p:spPr>
          <a:xfrm>
            <a:off x="7726680" y="4663440"/>
            <a:ext cx="3474720" cy="502920"/>
          </a:xfrm>
          <a:prstGeom prst="roundRect">
            <a:avLst>
              <a:gd name="adj" fmla="val 20000"/>
            </a:avLst>
          </a:prstGeom>
          <a:solidFill>
            <a:srgbClr val="5C6484"/>
          </a:solidFill>
          <a:ln w="12700">
            <a:noFill/>
            <a:miter lim="400000"/>
          </a:ln>
        </p:spPr>
        <p:txBody>
          <a:bodyPr lIns="45719" rIns="45719"/>
          <a:lstStyle/>
          <a:p>
            <a:pPr/>
          </a:p>
        </p:txBody>
      </p:sp>
      <p:sp>
        <p:nvSpPr>
          <p:cNvPr id="313" name="mt4"/>
          <p:cNvSpPr txBox="1"/>
          <p:nvPr/>
        </p:nvSpPr>
        <p:spPr>
          <a:xfrm>
            <a:off x="7932420" y="4663440"/>
            <a:ext cx="3063240" cy="502920"/>
          </a:xfrm>
          <a:prstGeom prst="rect">
            <a:avLst/>
          </a:prstGeom>
          <a:ln w="12700">
            <a:noFill/>
            <a:miter lim="400000"/>
          </a:ln>
        </p:spPr>
        <p:txBody>
          <a:bodyPr lIns="45719" rIns="45719" tIns="0" bIns="0" anchor="ctr"/>
          <a:lstStyle>
            <a:lvl1pPr algn="r">
              <a:defRPr sz="1000">
                <a:solidFill>
                  <a:srgbClr val="EEF2FC"/>
                </a:solidFill>
                <a:latin typeface="Calibri"/>
              </a:defRPr>
            </a:lvl1pPr>
          </a:lstStyle>
          <a:p>
            <a:pPr/>
            <a:r>
              <a:t>and the link must work only once</a:t>
            </a:r>
          </a:p>
        </p:txBody>
      </p:sp>
      <p:sp>
        <p:nvSpPr>
          <p:cNvPr id="315" name="Chat note"/>
          <p:cNvSpPr txBox="1"/>
          <p:nvPr/>
        </p:nvSpPr>
        <p:spPr>
          <a:xfrm>
            <a:off x="6537960" y="5455920"/>
            <a:ext cx="4663440" cy="320040"/>
          </a:xfrm>
          <a:prstGeom prst="rect">
            <a:avLst/>
          </a:prstGeom>
          <a:ln w="12700">
            <a:noFill/>
            <a:miter lim="400000"/>
          </a:ln>
        </p:spPr>
        <p:txBody>
          <a:bodyPr lIns="45719" rIns="45719" tIns="0" bIns="0" anchor="t"/>
          <a:lstStyle>
            <a:lvl1pPr algn="ctr">
              <a:defRPr i="1" sz="1050">
                <a:solidFill>
                  <a:srgbClr val="5C6484"/>
                </a:solidFill>
                <a:latin typeface="Calibri"/>
              </a:defRPr>
            </a:lvl1pPr>
          </a:lstStyle>
          <a:p>
            <a:pPr/>
            <a:r>
              <a:t>Tomorrow, a new session. None of this is here.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4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contract</a:t>
            </a:r>
          </a:p>
        </p:txBody>
      </p:sp>
      <p:sp>
        <p:nvSpPr>
          <p:cNvPr id="48"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One spec, the single shared source of truth</a:t>
            </a:r>
          </a:p>
        </p:txBody>
      </p:sp>
      <p:sp>
        <p:nvSpPr>
          <p:cNvPr id="49" name="Text 2"/>
          <p:cNvSpPr txBox="1"/>
          <p:nvPr/>
        </p:nvSpPr>
        <p:spPr>
          <a:xfrm>
            <a:off x="685799" y="1691639"/>
            <a:ext cx="5760722" cy="5094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400">
                <a:solidFill>
                  <a:srgbClr val="CADCFC"/>
                </a:solidFill>
                <a:latin typeface="Calibri"/>
              </a:defRPr>
            </a:lvl1pPr>
          </a:lstStyle>
          <a:p>
            <a:pPr/>
            <a:r>
              <a:t>The spec states the intended behaviour and the reasoning behind it. Teams review it, the agent implements it, and neither works from anything else.</a:t>
            </a:r>
          </a:p>
        </p:txBody>
      </p:sp>
      <p:sp>
        <p:nvSpPr>
          <p:cNvPr id="50" name="Shape 3"/>
          <p:cNvSpPr/>
          <p:nvPr/>
        </p:nvSpPr>
        <p:spPr>
          <a:xfrm>
            <a:off x="640080" y="2650000"/>
            <a:ext cx="109729" cy="109729"/>
          </a:xfrm>
          <a:prstGeom prst="rect">
            <a:avLst/>
          </a:prstGeom>
          <a:solidFill>
            <a:srgbClr val="FF6B4A"/>
          </a:solidFill>
          <a:ln w="12700">
            <a:miter lim="400000"/>
          </a:ln>
        </p:spPr>
        <p:txBody>
          <a:bodyPr lIns="45719" rIns="45719"/>
          <a:lstStyle/>
          <a:p>
            <a:pPr/>
          </a:p>
        </p:txBody>
      </p:sp>
      <p:sp>
        <p:nvSpPr>
          <p:cNvPr id="51" name="Text 4"/>
          <p:cNvSpPr txBox="1"/>
          <p:nvPr/>
        </p:nvSpPr>
        <p:spPr>
          <a:xfrm>
            <a:off x="960119" y="25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One version, in the repository, not scattered across tickets and chats</a:t>
            </a:r>
          </a:p>
        </p:txBody>
      </p:sp>
      <p:sp>
        <p:nvSpPr>
          <p:cNvPr id="52" name="Shape 5"/>
          <p:cNvSpPr/>
          <p:nvPr/>
        </p:nvSpPr>
        <p:spPr>
          <a:xfrm>
            <a:off x="640080" y="3550000"/>
            <a:ext cx="109729" cy="109728"/>
          </a:xfrm>
          <a:prstGeom prst="rect">
            <a:avLst/>
          </a:prstGeom>
          <a:solidFill>
            <a:srgbClr val="FF6B4A"/>
          </a:solidFill>
          <a:ln w="12700">
            <a:miter lim="400000"/>
          </a:ln>
        </p:spPr>
        <p:txBody>
          <a:bodyPr lIns="45719" rIns="45719"/>
          <a:lstStyle/>
          <a:p>
            <a:pPr/>
          </a:p>
        </p:txBody>
      </p:sp>
      <p:sp>
        <p:nvSpPr>
          <p:cNvPr id="53" name="Text 6"/>
          <p:cNvSpPr txBox="1"/>
          <p:nvPr/>
        </p:nvSpPr>
        <p:spPr>
          <a:xfrm>
            <a:off x="960119" y="3466619"/>
            <a:ext cx="5394962"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The agent works from the spec, not from the last prompt</a:t>
            </a:r>
          </a:p>
        </p:txBody>
      </p:sp>
      <p:sp>
        <p:nvSpPr>
          <p:cNvPr id="54" name="Shape 7"/>
          <p:cNvSpPr/>
          <p:nvPr/>
        </p:nvSpPr>
        <p:spPr>
          <a:xfrm>
            <a:off x="640080" y="4450000"/>
            <a:ext cx="109729" cy="109729"/>
          </a:xfrm>
          <a:prstGeom prst="rect">
            <a:avLst/>
          </a:prstGeom>
          <a:solidFill>
            <a:srgbClr val="FF6B4A"/>
          </a:solidFill>
          <a:ln w="12700">
            <a:miter lim="400000"/>
          </a:ln>
        </p:spPr>
        <p:txBody>
          <a:bodyPr lIns="45719" rIns="45719"/>
          <a:lstStyle/>
          <a:p>
            <a:pPr/>
          </a:p>
        </p:txBody>
      </p:sp>
      <p:sp>
        <p:nvSpPr>
          <p:cNvPr id="55" name="Text 8"/>
          <p:cNvSpPr txBox="1"/>
          <p:nvPr/>
        </p:nvSpPr>
        <p:spPr>
          <a:xfrm>
            <a:off x="960119" y="43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Behaviour can be checked against a stated intent</a:t>
            </a:r>
          </a:p>
        </p:txBody>
      </p:sp>
      <p:sp>
        <p:nvSpPr>
          <p:cNvPr id="56" name="Shape 9"/>
          <p:cNvSpPr/>
          <p:nvPr/>
        </p:nvSpPr>
        <p:spPr>
          <a:xfrm>
            <a:off x="8092440" y="2423160"/>
            <a:ext cx="1920241" cy="1920241"/>
          </a:xfrm>
          <a:prstGeom prst="ellipse">
            <a:avLst/>
          </a:prstGeom>
          <a:solidFill>
            <a:srgbClr val="CADCFC"/>
          </a:solidFill>
          <a:ln w="12700">
            <a:miter lim="400000"/>
          </a:ln>
        </p:spPr>
        <p:txBody>
          <a:bodyPr lIns="45719" rIns="45719"/>
          <a:lstStyle/>
          <a:p>
            <a:pPr/>
          </a:p>
        </p:txBody>
      </p:sp>
      <p:sp>
        <p:nvSpPr>
          <p:cNvPr id="57" name="Text 10"/>
          <p:cNvSpPr txBox="1"/>
          <p:nvPr/>
        </p:nvSpPr>
        <p:spPr>
          <a:xfrm>
            <a:off x="8138160" y="3213189"/>
            <a:ext cx="1828801"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1E2761"/>
                </a:solidFill>
                <a:latin typeface="Cambria"/>
              </a:defRPr>
            </a:lvl1pPr>
          </a:lstStyle>
          <a:p>
            <a:pPr/>
            <a:r>
              <a:t>SPEC</a:t>
            </a:r>
          </a:p>
        </p:txBody>
      </p:sp>
      <p:sp>
        <p:nvSpPr>
          <p:cNvPr id="58" name="Shape 14"/>
          <p:cNvSpPr/>
          <p:nvPr/>
        </p:nvSpPr>
        <p:spPr>
          <a:xfrm flipV="1">
            <a:off x="9052559" y="1920239"/>
            <a:ext cx="2103121" cy="1463041"/>
          </a:xfrm>
          <a:prstGeom prst="line">
            <a:avLst/>
          </a:prstGeom>
          <a:ln w="19050">
            <a:solidFill>
              <a:srgbClr val="9AA3C0"/>
            </a:solidFill>
            <a:prstDash val="dash"/>
          </a:ln>
        </p:spPr>
        <p:txBody>
          <a:bodyPr lIns="45719" rIns="45719"/>
          <a:lstStyle/>
          <a:p>
            <a:pPr/>
          </a:p>
        </p:txBody>
      </p:sp>
      <p:sp>
        <p:nvSpPr>
          <p:cNvPr id="59" name="Shape 15"/>
          <p:cNvSpPr/>
          <p:nvPr/>
        </p:nvSpPr>
        <p:spPr>
          <a:xfrm>
            <a:off x="10652759" y="1417319"/>
            <a:ext cx="1005841" cy="1005842"/>
          </a:xfrm>
          <a:prstGeom prst="ellipse">
            <a:avLst/>
          </a:prstGeom>
          <a:solidFill>
            <a:srgbClr val="3B4468"/>
          </a:solidFill>
          <a:ln w="12700">
            <a:miter lim="400000"/>
          </a:ln>
        </p:spPr>
        <p:txBody>
          <a:bodyPr lIns="45719" rIns="45719"/>
          <a:lstStyle/>
          <a:p>
            <a:pPr/>
          </a:p>
        </p:txBody>
      </p:sp>
      <p:sp>
        <p:nvSpPr>
          <p:cNvPr id="60" name="Text 16"/>
          <p:cNvSpPr txBox="1"/>
          <p:nvPr/>
        </p:nvSpPr>
        <p:spPr>
          <a:xfrm>
            <a:off x="10515600" y="18517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Dev teams</a:t>
            </a:r>
          </a:p>
        </p:txBody>
      </p:sp>
      <p:sp>
        <p:nvSpPr>
          <p:cNvPr id="61" name="Shape 17"/>
          <p:cNvSpPr/>
          <p:nvPr/>
        </p:nvSpPr>
        <p:spPr>
          <a:xfrm>
            <a:off x="9052559" y="3383279"/>
            <a:ext cx="9145" cy="1737361"/>
          </a:xfrm>
          <a:prstGeom prst="line">
            <a:avLst/>
          </a:prstGeom>
          <a:ln w="19050">
            <a:solidFill>
              <a:srgbClr val="9AA3C0"/>
            </a:solidFill>
            <a:prstDash val="dash"/>
          </a:ln>
        </p:spPr>
        <p:txBody>
          <a:bodyPr lIns="45719" rIns="45719"/>
          <a:lstStyle/>
          <a:p>
            <a:pPr/>
          </a:p>
        </p:txBody>
      </p:sp>
      <p:sp>
        <p:nvSpPr>
          <p:cNvPr id="62" name="Shape 18"/>
          <p:cNvSpPr/>
          <p:nvPr/>
        </p:nvSpPr>
        <p:spPr>
          <a:xfrm>
            <a:off x="8549640" y="4617720"/>
            <a:ext cx="1005841" cy="1005841"/>
          </a:xfrm>
          <a:prstGeom prst="ellipse">
            <a:avLst/>
          </a:prstGeom>
          <a:solidFill>
            <a:srgbClr val="3B4468"/>
          </a:solidFill>
          <a:ln w="12700">
            <a:miter lim="400000"/>
          </a:ln>
        </p:spPr>
        <p:txBody>
          <a:bodyPr lIns="45719" rIns="45719"/>
          <a:lstStyle/>
          <a:p>
            <a:pPr/>
          </a:p>
        </p:txBody>
      </p:sp>
      <p:sp>
        <p:nvSpPr>
          <p:cNvPr id="63" name="Text 19"/>
          <p:cNvSpPr txBox="1"/>
          <p:nvPr/>
        </p:nvSpPr>
        <p:spPr>
          <a:xfrm>
            <a:off x="8412479" y="50521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AI / Agents</a:t>
            </a:r>
          </a:p>
        </p:txBody>
      </p:sp>
      <p:sp>
        <p:nvSpPr>
          <p:cNvPr id="66" name="Text 20"/>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67" name="Text 21"/>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35</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Where the spec lives</a:t>
            </a:r>
          </a:p>
        </p:txBody>
      </p:sp>
      <p:sp>
        <p:nvSpPr>
          <p:cNvPr id="70"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spec lives in the repository, next to the code</a:t>
            </a:r>
          </a:p>
        </p:txBody>
      </p:sp>
      <p:sp>
        <p:nvSpPr>
          <p:cNvPr id="71" name="Shape 2"/>
          <p:cNvSpPr/>
          <p:nvPr/>
        </p:nvSpPr>
        <p:spPr>
          <a:xfrm>
            <a:off x="640080" y="2103120"/>
            <a:ext cx="502921" cy="502921"/>
          </a:xfrm>
          <a:prstGeom prst="ellipse">
            <a:avLst/>
          </a:prstGeom>
          <a:solidFill>
            <a:srgbClr val="FF6B4A"/>
          </a:solidFill>
          <a:ln w="12700">
            <a:miter lim="400000"/>
          </a:ln>
        </p:spPr>
        <p:txBody>
          <a:bodyPr lIns="45719" rIns="45719"/>
          <a:lstStyle/>
          <a:p>
            <a:pPr/>
          </a:p>
        </p:txBody>
      </p:sp>
      <p:sp>
        <p:nvSpPr>
          <p:cNvPr id="72" name="Text 3"/>
          <p:cNvSpPr txBox="1"/>
          <p:nvPr/>
        </p:nvSpPr>
        <p:spPr>
          <a:xfrm>
            <a:off x="685800" y="221558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1</a:t>
            </a:r>
          </a:p>
        </p:txBody>
      </p:sp>
      <p:sp>
        <p:nvSpPr>
          <p:cNvPr id="73" name="Text 4"/>
          <p:cNvSpPr txBox="1"/>
          <p:nvPr/>
        </p:nvSpPr>
        <p:spPr>
          <a:xfrm>
            <a:off x="1417320" y="2101281"/>
            <a:ext cx="4206240" cy="2779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Integrated in the source code</a:t>
            </a:r>
          </a:p>
        </p:txBody>
      </p:sp>
      <p:sp>
        <p:nvSpPr>
          <p:cNvPr id="74" name="Text 5"/>
          <p:cNvSpPr txBox="1"/>
          <p:nvPr/>
        </p:nvSpPr>
        <p:spPr>
          <a:xfrm>
            <a:off x="1417320" y="256951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The spec is versioned in the same Git repository as the source code, not in a separate tool.</a:t>
            </a:r>
          </a:p>
        </p:txBody>
      </p:sp>
      <p:sp>
        <p:nvSpPr>
          <p:cNvPr id="75" name="Shape 6"/>
          <p:cNvSpPr/>
          <p:nvPr/>
        </p:nvSpPr>
        <p:spPr>
          <a:xfrm>
            <a:off x="640080" y="3337559"/>
            <a:ext cx="502921" cy="502921"/>
          </a:xfrm>
          <a:prstGeom prst="ellipse">
            <a:avLst/>
          </a:prstGeom>
          <a:solidFill>
            <a:srgbClr val="FF6B4A"/>
          </a:solidFill>
          <a:ln w="12700">
            <a:miter lim="400000"/>
          </a:ln>
        </p:spPr>
        <p:txBody>
          <a:bodyPr lIns="45719" rIns="45719"/>
          <a:lstStyle/>
          <a:p>
            <a:pPr/>
          </a:p>
        </p:txBody>
      </p:sp>
      <p:sp>
        <p:nvSpPr>
          <p:cNvPr id="76" name="Text 7"/>
          <p:cNvSpPr txBox="1"/>
          <p:nvPr/>
        </p:nvSpPr>
        <p:spPr>
          <a:xfrm>
            <a:off x="685800" y="345002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2</a:t>
            </a:r>
          </a:p>
        </p:txBody>
      </p:sp>
      <p:sp>
        <p:nvSpPr>
          <p:cNvPr id="77" name="Text 8"/>
          <p:cNvSpPr txBox="1"/>
          <p:nvPr/>
        </p:nvSpPr>
        <p:spPr>
          <a:xfrm>
            <a:off x="1417320" y="3335722"/>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Evolves with every change</a:t>
            </a:r>
          </a:p>
        </p:txBody>
      </p:sp>
      <p:sp>
        <p:nvSpPr>
          <p:cNvPr id="78" name="Text 9"/>
          <p:cNvSpPr txBox="1"/>
          <p:nvPr/>
        </p:nvSpPr>
        <p:spPr>
          <a:xfrm>
            <a:off x="1417320" y="380395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Any behaviour change goes through a spec update, reviewed like any change to the code.</a:t>
            </a:r>
          </a:p>
        </p:txBody>
      </p:sp>
      <p:sp>
        <p:nvSpPr>
          <p:cNvPr id="79" name="Shape 10"/>
          <p:cNvSpPr/>
          <p:nvPr/>
        </p:nvSpPr>
        <p:spPr>
          <a:xfrm>
            <a:off x="640080" y="4571999"/>
            <a:ext cx="502921" cy="502922"/>
          </a:xfrm>
          <a:prstGeom prst="ellipse">
            <a:avLst/>
          </a:prstGeom>
          <a:solidFill>
            <a:srgbClr val="FF6B4A"/>
          </a:solidFill>
          <a:ln w="12700">
            <a:miter lim="400000"/>
          </a:ln>
        </p:spPr>
        <p:txBody>
          <a:bodyPr lIns="45719" rIns="45719"/>
          <a:lstStyle/>
          <a:p>
            <a:pPr/>
          </a:p>
        </p:txBody>
      </p:sp>
      <p:sp>
        <p:nvSpPr>
          <p:cNvPr id="80" name="Text 11"/>
          <p:cNvSpPr txBox="1"/>
          <p:nvPr/>
        </p:nvSpPr>
        <p:spPr>
          <a:xfrm>
            <a:off x="685800" y="468446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3</a:t>
            </a:r>
          </a:p>
        </p:txBody>
      </p:sp>
      <p:sp>
        <p:nvSpPr>
          <p:cNvPr id="81" name="Text 12"/>
          <p:cNvSpPr txBox="1"/>
          <p:nvPr/>
        </p:nvSpPr>
        <p:spPr>
          <a:xfrm>
            <a:off x="1417320" y="4570161"/>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Traceable decisions</a:t>
            </a:r>
          </a:p>
        </p:txBody>
      </p:sp>
      <p:sp>
        <p:nvSpPr>
          <p:cNvPr id="82" name="Text 13"/>
          <p:cNvSpPr txBox="1"/>
          <p:nvPr/>
        </p:nvSpPr>
        <p:spPr>
          <a:xfrm>
            <a:off x="1417320" y="503839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Six months on, you can see what changed and why it was agreed.</a:t>
            </a:r>
          </a:p>
        </p:txBody>
      </p:sp>
      <p:sp>
        <p:nvSpPr>
          <p:cNvPr id="83" name="Shape 14"/>
          <p:cNvSpPr/>
          <p:nvPr/>
        </p:nvSpPr>
        <p:spPr>
          <a:xfrm>
            <a:off x="6492240" y="2103120"/>
            <a:ext cx="5029201" cy="3977641"/>
          </a:xfrm>
          <a:prstGeom prst="roundRect">
            <a:avLst>
              <a:gd name="adj" fmla="val 2299"/>
            </a:avLst>
          </a:prstGeom>
          <a:solidFill>
            <a:srgbClr val="EEF2FC"/>
          </a:solidFill>
          <a:ln w="12700">
            <a:solidFill>
              <a:srgbClr val="CADCFC"/>
            </a:solidFill>
          </a:ln>
        </p:spPr>
        <p:txBody>
          <a:bodyPr lIns="45719" rIns="45719"/>
          <a:lstStyle/>
          <a:p>
            <a:pPr/>
          </a:p>
        </p:txBody>
      </p:sp>
      <p:sp>
        <p:nvSpPr>
          <p:cNvPr id="84" name="Text 15"/>
          <p:cNvSpPr txBox="1"/>
          <p:nvPr/>
        </p:nvSpPr>
        <p:spPr>
          <a:xfrm>
            <a:off x="6858000" y="2350770"/>
            <a:ext cx="265176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761"/>
                </a:solidFill>
                <a:latin typeface="Courier New"/>
                <a:ea typeface="Courier New"/>
                <a:cs typeface="Courier New"/>
                <a:sym typeface="Courier New"/>
              </a:defRPr>
            </a:lvl1pPr>
          </a:lstStyle>
          <a:p>
            <a:pPr/>
            <a:r>
              <a:t>repo/</a:t>
            </a:r>
          </a:p>
        </p:txBody>
      </p:sp>
      <p:sp>
        <p:nvSpPr>
          <p:cNvPr id="85" name="Text 16"/>
          <p:cNvSpPr txBox="1"/>
          <p:nvPr/>
        </p:nvSpPr>
        <p:spPr>
          <a:xfrm>
            <a:off x="7040879" y="2606039"/>
            <a:ext cx="4023361" cy="27432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ts val="1600"/>
              </a:lnSpc>
              <a:defRPr sz="1100">
                <a:solidFill>
                  <a:srgbClr val="2C3352"/>
                </a:solidFill>
                <a:latin typeface="Courier New"/>
                <a:ea typeface="Courier New"/>
                <a:cs typeface="Courier New"/>
                <a:sym typeface="Courier New"/>
              </a:defRPr>
            </a:pPr>
            <a:r>
              <a:t>├─ openspec/</a:t>
            </a:r>
          </a:p>
          <a:p>
            <a:pPr>
              <a:lnSpc>
                <a:spcPts val="1600"/>
              </a:lnSpc>
              <a:defRPr sz="1100">
                <a:solidFill>
                  <a:srgbClr val="2C3352"/>
                </a:solidFill>
                <a:latin typeface="Courier New"/>
                <a:ea typeface="Courier New"/>
                <a:cs typeface="Courier New"/>
                <a:sym typeface="Courier New"/>
              </a:defRPr>
            </a:pPr>
            <a:r>
              <a:t>│   ├─ config.yaml       # settings</a:t>
            </a:r>
          </a:p>
          <a:p>
            <a:pPr>
              <a:lnSpc>
                <a:spcPts val="1600"/>
              </a:lnSpc>
              <a:defRPr sz="1100">
                <a:solidFill>
                  <a:srgbClr val="2C3352"/>
                </a:solidFill>
                <a:latin typeface="Courier New"/>
                <a:ea typeface="Courier New"/>
                <a:cs typeface="Courier New"/>
                <a:sym typeface="Courier New"/>
              </a:defRPr>
            </a:pPr>
            <a:r>
              <a:t>│   ├─ specs/            # main</a:t>
            </a:r>
          </a:p>
          <a:p>
            <a:pPr>
              <a:lnSpc>
                <a:spcPts val="1600"/>
              </a:lnSpc>
              <a:defRPr sz="1100">
                <a:solidFill>
                  <a:srgbClr val="2C3352"/>
                </a:solidFill>
                <a:latin typeface="Courier New"/>
                <a:ea typeface="Courier New"/>
                <a:cs typeface="Courier New"/>
                <a:sym typeface="Courier New"/>
              </a:defRPr>
            </a:pPr>
            <a:r>
              <a:t>│   │   └─ &lt;domain&gt;/spec.md</a:t>
            </a:r>
          </a:p>
          <a:p>
            <a:pPr>
              <a:lnSpc>
                <a:spcPts val="1600"/>
              </a:lnSpc>
              <a:defRPr sz="1100">
                <a:solidFill>
                  <a:srgbClr val="2C3352"/>
                </a:solidFill>
                <a:latin typeface="Courier New"/>
                <a:ea typeface="Courier New"/>
                <a:cs typeface="Courier New"/>
                <a:sym typeface="Courier New"/>
              </a:defRPr>
            </a:pPr>
            <a:r>
              <a:t>│   ├─ changes/          # proposed</a:t>
            </a:r>
          </a:p>
          <a:p>
            <a:pPr>
              <a:lnSpc>
                <a:spcPts val="1600"/>
              </a:lnSpc>
              <a:defRPr sz="1100">
                <a:solidFill>
                  <a:srgbClr val="2C3352"/>
                </a:solidFill>
                <a:latin typeface="Courier New"/>
                <a:ea typeface="Courier New"/>
                <a:cs typeface="Courier New"/>
                <a:sym typeface="Courier New"/>
              </a:defRPr>
            </a:pPr>
            <a:r>
              <a:t>│   │   └─ &lt;change&gt;/</a:t>
            </a:r>
          </a:p>
          <a:p>
            <a:pPr>
              <a:lnSpc>
                <a:spcPts val="1600"/>
              </a:lnSpc>
              <a:defRPr sz="1100">
                <a:solidFill>
                  <a:srgbClr val="2C3352"/>
                </a:solidFill>
                <a:latin typeface="Courier New"/>
                <a:ea typeface="Courier New"/>
                <a:cs typeface="Courier New"/>
                <a:sym typeface="Courier New"/>
              </a:defRPr>
            </a:pPr>
            <a:r>
              <a:t>│   │       ├─ proposal.md</a:t>
            </a:r>
          </a:p>
          <a:p>
            <a:pPr>
              <a:lnSpc>
                <a:spcPts val="1600"/>
              </a:lnSpc>
              <a:defRPr sz="1100">
                <a:solidFill>
                  <a:srgbClr val="2C3352"/>
                </a:solidFill>
                <a:latin typeface="Courier New"/>
                <a:ea typeface="Courier New"/>
                <a:cs typeface="Courier New"/>
                <a:sym typeface="Courier New"/>
              </a:defRPr>
            </a:pPr>
            <a:r>
              <a:t>│   │       ├─ design.md</a:t>
            </a:r>
          </a:p>
          <a:p>
            <a:pPr>
              <a:lnSpc>
                <a:spcPts val="1600"/>
              </a:lnSpc>
              <a:defRPr sz="1100">
                <a:solidFill>
                  <a:srgbClr val="2C3352"/>
                </a:solidFill>
                <a:latin typeface="Courier New"/>
                <a:ea typeface="Courier New"/>
                <a:cs typeface="Courier New"/>
                <a:sym typeface="Courier New"/>
              </a:defRPr>
            </a:pPr>
            <a:r>
              <a:t>│   │       ├─ tasks.md</a:t>
            </a:r>
          </a:p>
          <a:p>
            <a:pPr>
              <a:lnSpc>
                <a:spcPts val="1600"/>
              </a:lnSpc>
              <a:defRPr sz="1100">
                <a:solidFill>
                  <a:srgbClr val="2C3352"/>
                </a:solidFill>
                <a:latin typeface="Courier New"/>
                <a:ea typeface="Courier New"/>
                <a:cs typeface="Courier New"/>
                <a:sym typeface="Courier New"/>
              </a:defRPr>
            </a:pPr>
            <a:r>
              <a:t>│   │       └─ specs/    # delta</a:t>
            </a:r>
          </a:p>
          <a:p>
            <a:pPr>
              <a:lnSpc>
                <a:spcPts val="1600"/>
              </a:lnSpc>
              <a:defRPr sz="1100">
                <a:solidFill>
                  <a:srgbClr val="2C3352"/>
                </a:solidFill>
                <a:latin typeface="Courier New"/>
                <a:ea typeface="Courier New"/>
                <a:cs typeface="Courier New"/>
                <a:sym typeface="Courier New"/>
              </a:defRPr>
            </a:pPr>
            <a:r>
              <a:t>│   │           └─ &lt;domain&gt;/</a:t>
            </a:r>
          </a:p>
          <a:p>
            <a:pPr>
              <a:lnSpc>
                <a:spcPts val="1600"/>
              </a:lnSpc>
              <a:defRPr sz="1100">
                <a:solidFill>
                  <a:srgbClr val="2C3352"/>
                </a:solidFill>
                <a:latin typeface="Courier New"/>
                <a:ea typeface="Courier New"/>
                <a:cs typeface="Courier New"/>
                <a:sym typeface="Courier New"/>
              </a:defRPr>
            </a:pPr>
            <a:r>
              <a:t>│   │               └─ spec.md</a:t>
            </a:r>
          </a:p>
          <a:p>
            <a:pPr>
              <a:lnSpc>
                <a:spcPts val="1600"/>
              </a:lnSpc>
              <a:defRPr sz="1100">
                <a:solidFill>
                  <a:srgbClr val="2C3352"/>
                </a:solidFill>
                <a:latin typeface="Courier New"/>
                <a:ea typeface="Courier New"/>
                <a:cs typeface="Courier New"/>
                <a:sym typeface="Courier New"/>
              </a:defRPr>
            </a:pPr>
            <a:r>
              <a:t>└─ src/</a:t>
            </a:r>
          </a:p>
        </p:txBody>
      </p:sp>
      <p:sp>
        <p:nvSpPr>
          <p:cNvPr id="86" name="Shape 17"/>
          <p:cNvSpPr/>
          <p:nvPr/>
        </p:nvSpPr>
        <p:spPr>
          <a:xfrm>
            <a:off x="6812280" y="5440679"/>
            <a:ext cx="4389121" cy="411481"/>
          </a:xfrm>
          <a:prstGeom prst="roundRect">
            <a:avLst>
              <a:gd name="adj" fmla="val 17778"/>
            </a:avLst>
          </a:prstGeom>
          <a:solidFill>
            <a:srgbClr val="1E2761"/>
          </a:solidFill>
          <a:ln w="12700">
            <a:miter lim="400000"/>
          </a:ln>
        </p:spPr>
        <p:txBody>
          <a:bodyPr lIns="45719" rIns="45719"/>
          <a:lstStyle/>
          <a:p>
            <a:pPr/>
          </a:p>
        </p:txBody>
      </p:sp>
      <p:sp>
        <p:nvSpPr>
          <p:cNvPr id="87" name="Text 18"/>
          <p:cNvSpPr txBox="1"/>
          <p:nvPr/>
        </p:nvSpPr>
        <p:spPr>
          <a:xfrm>
            <a:off x="6949439" y="5449614"/>
            <a:ext cx="411480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specs/ = main specs   ·   changes/ = proposed updates</a:t>
            </a:r>
          </a:p>
        </p:txBody>
      </p:sp>
      <p:sp>
        <p:nvSpPr>
          <p:cNvPr id="88" name="Text 19"/>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89" name="Text 20"/>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7</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workflow</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simple loop, per change</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4</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Three commands, one human decision, and the specification is current again.</a:t>
            </a:r>
          </a:p>
        </p:txBody>
      </p:sp>
      <p:sp>
        <p:nvSpPr>
          <p:cNvPr id="900" name="C0"/>
          <p:cNvSpPr/>
          <p:nvPr/>
        </p:nvSpPr>
        <p:spPr>
          <a:xfrm>
            <a:off x="64008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1" name="N0"/>
          <p:cNvSpPr txBox="1"/>
          <p:nvPr/>
        </p:nvSpPr>
        <p:spPr>
          <a:xfrm>
            <a:off x="96012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1</a:t>
            </a:r>
          </a:p>
        </p:txBody>
      </p:sp>
      <p:sp>
        <p:nvSpPr>
          <p:cNvPr id="902" name="T0"/>
          <p:cNvSpPr txBox="1"/>
          <p:nvPr/>
        </p:nvSpPr>
        <p:spPr>
          <a:xfrm>
            <a:off x="96012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Propose</a:t>
            </a:r>
          </a:p>
        </p:txBody>
      </p:sp>
      <p:sp>
        <p:nvSpPr>
          <p:cNvPr id="903" name="M0"/>
          <p:cNvSpPr txBox="1"/>
          <p:nvPr/>
        </p:nvSpPr>
        <p:spPr>
          <a:xfrm>
            <a:off x="96012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/opsx:propose</a:t>
            </a:r>
          </a:p>
        </p:txBody>
      </p:sp>
      <p:sp>
        <p:nvSpPr>
          <p:cNvPr id="904" name="S0"/>
          <p:cNvSpPr txBox="1"/>
          <p:nvPr/>
        </p:nvSpPr>
        <p:spPr>
          <a:xfrm>
            <a:off x="96012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Create a change proposal and generate the spec</a:t>
            </a:r>
          </a:p>
        </p:txBody>
      </p:sp>
      <p:sp>
        <p:nvSpPr>
          <p:cNvPr id="905" name="B0"/>
          <p:cNvSpPr txBox="1"/>
          <p:nvPr/>
        </p:nvSpPr>
        <p:spPr>
          <a:xfrm>
            <a:off x="960120" y="4343400"/>
            <a:ext cx="2697480" cy="822960"/>
          </a:xfrm>
          <a:prstGeom prst="rect">
            <a:avLst/>
          </a:prstGeom>
          <a:ln w="12700">
            <a:noFill/>
            <a:miter lim="400000"/>
          </a:ln>
        </p:spPr>
        <p:txBody>
          <a:bodyPr lIns="45719" rIns="45719" tIns="0" bIns="0" anchor="t"/>
          <a:lstStyle>
            <a:lvl1pPr algn="l">
              <a:defRPr b="0" sz="1100">
                <a:solidFill>
                  <a:srgbClr val="2C3352"/>
                </a:solidFill>
                <a:latin typeface="Calibri"/>
              </a:defRPr>
            </a:lvl1pPr>
          </a:lstStyle>
          <a:p>
            <a:pPr/>
            <a:r>
              <a:t>proposal.md  ·  why</a:t>
            </a:r>
          </a:p>
          <a:p>
            <a:pPr/>
            <a:r>
              <a:t>specs/  ·  the delta</a:t>
            </a:r>
          </a:p>
          <a:p>
            <a:pPr/>
            <a:r>
              <a:t>design.md  ·  how</a:t>
            </a:r>
          </a:p>
          <a:p>
            <a:pPr/>
            <a:r>
              <a:t>tasks.md  ·  in what order</a:t>
            </a:r>
          </a:p>
        </p:txBody>
      </p:sp>
      <p:sp>
        <p:nvSpPr>
          <p:cNvPr id="905" name="C1"/>
          <p:cNvSpPr/>
          <p:nvPr/>
        </p:nvSpPr>
        <p:spPr>
          <a:xfrm>
            <a:off x="468630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6" name="N1"/>
          <p:cNvSpPr txBox="1"/>
          <p:nvPr/>
        </p:nvSpPr>
        <p:spPr>
          <a:xfrm>
            <a:off x="500634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2</a:t>
            </a:r>
          </a:p>
        </p:txBody>
      </p:sp>
      <p:sp>
        <p:nvSpPr>
          <p:cNvPr id="907" name="T1"/>
          <p:cNvSpPr txBox="1"/>
          <p:nvPr/>
        </p:nvSpPr>
        <p:spPr>
          <a:xfrm>
            <a:off x="500634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Apply</a:t>
            </a:r>
          </a:p>
        </p:txBody>
      </p:sp>
      <p:sp>
        <p:nvSpPr>
          <p:cNvPr id="908" name="M1"/>
          <p:cNvSpPr txBox="1"/>
          <p:nvPr/>
        </p:nvSpPr>
        <p:spPr>
          <a:xfrm>
            <a:off x="500634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/opsx:apply</a:t>
            </a:r>
          </a:p>
        </p:txBody>
      </p:sp>
      <p:sp>
        <p:nvSpPr>
          <p:cNvPr id="909" name="S1"/>
          <p:cNvSpPr txBox="1"/>
          <p:nvPr/>
        </p:nvSpPr>
        <p:spPr>
          <a:xfrm>
            <a:off x="500634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AI builds from the spec</a:t>
            </a:r>
          </a:p>
        </p:txBody>
      </p:sp>
      <p:sp>
        <p:nvSpPr>
          <p:cNvPr id="910" name="B1"/>
          <p:cNvSpPr txBox="1"/>
          <p:nvPr/>
        </p:nvSpPr>
        <p:spPr>
          <a:xfrm>
            <a:off x="5006340" y="4343400"/>
            <a:ext cx="2697480" cy="822960"/>
          </a:xfrm>
          <a:prstGeom prst="rect">
            <a:avLst/>
          </a:prstGeom>
          <a:ln w="12700">
            <a:noFill/>
            <a:miter lim="400000"/>
          </a:ln>
        </p:spPr>
        <p:txBody>
          <a:bodyPr lIns="45719" rIns="45719" tIns="0" bIns="0" anchor="t"/>
          <a:lstStyle>
            <a:lvl1pPr algn="l">
              <a:defRPr b="0" sz="1100">
                <a:solidFill>
                  <a:srgbClr val="2C3352"/>
                </a:solidFill>
                <a:latin typeface="Calibri"/>
              </a:defRPr>
            </a:lvl1pPr>
          </a:lstStyle>
          <a:p>
            <a:pPr/>
            <a:r>
              <a:t>One task at a time.</a:t>
            </a:r>
          </a:p>
          <a:p>
            <a:pPr/>
            <a:r>
              <a:t>The order and the scope</a:t>
            </a:r>
          </a:p>
          <a:p>
            <a:pPr/>
            <a:r>
              <a:t>were fixed at the review.</a:t>
            </a:r>
          </a:p>
        </p:txBody>
      </p:sp>
      <p:sp>
        <p:nvSpPr>
          <p:cNvPr id="910" name="C2"/>
          <p:cNvSpPr/>
          <p:nvPr/>
        </p:nvSpPr>
        <p:spPr>
          <a:xfrm>
            <a:off x="827532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11" name="N2"/>
          <p:cNvSpPr txBox="1"/>
          <p:nvPr/>
        </p:nvSpPr>
        <p:spPr>
          <a:xfrm>
            <a:off x="859536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3</a:t>
            </a:r>
          </a:p>
        </p:txBody>
      </p:sp>
      <p:sp>
        <p:nvSpPr>
          <p:cNvPr id="912" name="T2"/>
          <p:cNvSpPr txBox="1"/>
          <p:nvPr/>
        </p:nvSpPr>
        <p:spPr>
          <a:xfrm>
            <a:off x="859536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Archive</a:t>
            </a:r>
          </a:p>
        </p:txBody>
      </p:sp>
      <p:sp>
        <p:nvSpPr>
          <p:cNvPr id="913" name="M2"/>
          <p:cNvSpPr txBox="1"/>
          <p:nvPr/>
        </p:nvSpPr>
        <p:spPr>
          <a:xfrm>
            <a:off x="859536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/opsx:archive</a:t>
            </a:r>
          </a:p>
        </p:txBody>
      </p:sp>
      <p:sp>
        <p:nvSpPr>
          <p:cNvPr id="914" name="S2"/>
          <p:cNvSpPr txBox="1"/>
          <p:nvPr/>
        </p:nvSpPr>
        <p:spPr>
          <a:xfrm>
            <a:off x="859536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Complete the change: merge its deltas into the main specs</a:t>
            </a:r>
          </a:p>
        </p:txBody>
      </p:sp>
      <p:sp>
        <p:nvSpPr>
          <p:cNvPr id="915" name="B2"/>
          <p:cNvSpPr txBox="1"/>
          <p:nvPr/>
        </p:nvSpPr>
        <p:spPr>
          <a:xfrm>
            <a:off x="8595360" y="4343400"/>
            <a:ext cx="2697480" cy="822960"/>
          </a:xfrm>
          <a:prstGeom prst="rect">
            <a:avLst/>
          </a:prstGeom>
          <a:ln w="12700">
            <a:noFill/>
            <a:miter lim="400000"/>
          </a:ln>
        </p:spPr>
        <p:txBody>
          <a:bodyPr lIns="45719" rIns="45719" tIns="0" bIns="0" anchor="t"/>
          <a:lstStyle>
            <a:lvl1pPr algn="l">
              <a:defRPr b="0" sz="1100">
                <a:solidFill>
                  <a:srgbClr val="2C3352"/>
                </a:solidFill>
                <a:latin typeface="Courier New"/>
              </a:defRPr>
            </a:lvl1pPr>
          </a:lstStyle>
          <a:p>
            <a:pPr/>
            <a:r>
              <a:t>specs/ (delta)</a:t>
            </a:r>
          </a:p>
          <a:p>
            <a:pPr/>
            <a:r>
              <a:t>     ↓  merged into</a:t>
            </a:r>
          </a:p>
          <a:p>
            <a:pPr/>
            <a:r>
              <a:t>openspec/specs/</a:t>
            </a:r>
          </a:p>
        </p:txBody>
      </p:sp>
      <p:sp>
        <p:nvSpPr>
          <p:cNvPr id="916" name="Gate arrow"/>
          <p:cNvSpPr txBox="1"/>
          <p:nvPr/>
        </p:nvSpPr>
        <p:spPr>
          <a:xfrm>
            <a:off x="3886200" y="3429000"/>
            <a:ext cx="800100" cy="320040"/>
          </a:xfrm>
          <a:prstGeom prst="rect">
            <a:avLst/>
          </a:prstGeom>
          <a:ln w="12700">
            <a:noFill/>
            <a:miter lim="400000"/>
          </a:ln>
        </p:spPr>
        <p:txBody>
          <a:bodyPr lIns="45719" rIns="45719" tIns="0" bIns="0" anchor="t"/>
          <a:lstStyle>
            <a:lvl1pPr algn="ctr">
              <a:defRPr b="0" sz="1800">
                <a:solidFill>
                  <a:srgbClr val="FF6B4A"/>
                </a:solidFill>
                <a:latin typeface="Calibri"/>
              </a:defRPr>
            </a:lvl1pPr>
          </a:lstStyle>
          <a:p>
            <a:pPr/>
            <a:r>
              <a:t>→</a:t>
            </a:r>
          </a:p>
        </p:txBody>
      </p:sp>
      <p:sp>
        <p:nvSpPr>
          <p:cNvPr id="917" name="Gate label"/>
          <p:cNvSpPr txBox="1"/>
          <p:nvPr/>
        </p:nvSpPr>
        <p:spPr>
          <a:xfrm>
            <a:off x="3886200" y="3794760"/>
            <a:ext cx="800100" cy="205740"/>
          </a:xfrm>
          <a:prstGeom prst="rect">
            <a:avLst/>
          </a:prstGeom>
          <a:ln w="12700">
            <a:noFill/>
            <a:miter lim="400000"/>
          </a:ln>
        </p:spPr>
        <p:txBody>
          <a:bodyPr lIns="45719" rIns="45719" tIns="0" bIns="0" anchor="t"/>
          <a:lstStyle>
            <a:lvl1pPr algn="ctr">
              <a:defRPr spc="80" b="1" sz="850">
                <a:solidFill>
                  <a:srgbClr val="FF6B4A"/>
                </a:solidFill>
                <a:latin typeface="Calibri"/>
              </a:defRPr>
            </a:lvl1pPr>
          </a:lstStyle>
          <a:p>
            <a:pPr/>
            <a:r>
              <a:t>HUMAN</a:t>
            </a:r>
          </a:p>
        </p:txBody>
      </p:sp>
      <p:sp>
        <p:nvSpPr>
          <p:cNvPr id="918" name="Gate label2"/>
          <p:cNvSpPr txBox="1"/>
          <p:nvPr/>
        </p:nvSpPr>
        <p:spPr>
          <a:xfrm>
            <a:off x="3886200" y="4000500"/>
            <a:ext cx="800100" cy="205740"/>
          </a:xfrm>
          <a:prstGeom prst="rect">
            <a:avLst/>
          </a:prstGeom>
          <a:ln w="12700">
            <a:noFill/>
            <a:miter lim="400000"/>
          </a:ln>
        </p:spPr>
        <p:txBody>
          <a:bodyPr lIns="45719" rIns="45719" tIns="0" bIns="0" anchor="t"/>
          <a:lstStyle>
            <a:lvl1pPr algn="ctr">
              <a:defRPr spc="80" b="1" sz="850">
                <a:solidFill>
                  <a:srgbClr val="FF6B4A"/>
                </a:solidFill>
                <a:latin typeface="Calibri"/>
              </a:defRPr>
            </a:lvl1pPr>
          </a:lstStyle>
          <a:p>
            <a:pPr/>
            <a:r>
              <a:t>REVIEW</a:t>
            </a:r>
          </a:p>
        </p:txBody>
      </p:sp>
      <p:sp>
        <p:nvSpPr>
          <p:cNvPr id="919" name="Arrow 2"/>
          <p:cNvSpPr txBox="1"/>
          <p:nvPr/>
        </p:nvSpPr>
        <p:spPr>
          <a:xfrm>
            <a:off x="7932420" y="3429000"/>
            <a:ext cx="342900" cy="320040"/>
          </a:xfrm>
          <a:prstGeom prst="rect">
            <a:avLst/>
          </a:prstGeom>
          <a:ln w="12700">
            <a:noFill/>
            <a:miter lim="400000"/>
          </a:ln>
        </p:spPr>
        <p:txBody>
          <a:bodyPr lIns="45719" rIns="45719" tIns="0" bIns="0" anchor="t"/>
          <a:lstStyle>
            <a:lvl1pPr algn="ctr">
              <a:defRPr b="0" sz="1800">
                <a:solidFill>
                  <a:srgbClr val="9AA3C0"/>
                </a:solidFill>
                <a:latin typeface="Calibri"/>
              </a:defRPr>
            </a:lvl1pPr>
          </a:lstStyle>
          <a:p>
            <a:pPr/>
            <a:r>
              <a:t>→</a:t>
            </a:r>
          </a:p>
        </p:txBody>
      </p:sp>
      <p:sp>
        <p:nvSpPr>
          <p:cNvPr id="920" name="Loop label"/>
          <p:cNvSpPr txBox="1"/>
          <p:nvPr/>
        </p:nvSpPr>
        <p:spPr>
          <a:xfrm>
            <a:off x="640080" y="5486400"/>
            <a:ext cx="10881360" cy="228600"/>
          </a:xfrm>
          <a:prstGeom prst="rect">
            <a:avLst/>
          </a:prstGeom>
          <a:ln w="12700">
            <a:noFill/>
            <a:miter lim="400000"/>
          </a:ln>
        </p:spPr>
        <p:txBody>
          <a:bodyPr lIns="45719" rIns="45719" tIns="0" bIns="0" anchor="t"/>
          <a:lstStyle>
            <a:lvl1pPr algn="ctr">
              <a:defRPr b="1" sz="1200">
                <a:solidFill>
                  <a:srgbClr val="1E2761"/>
                </a:solidFill>
                <a:latin typeface="Calibri"/>
              </a:defRPr>
            </a:lvl1pPr>
          </a:lstStyle>
          <a:p>
            <a:pPr/>
            <a:r>
              <a:t>One loop per change. The specs grow one change at a time.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Use case: Watchlist</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Legacy modernisation, migrated with confidence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9</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spec states the business behaviour to preserve, independently of technology. Every risk on the left has an answer on the right. That is the whole migration argument.</a:t>
            </a:r>
          </a:p>
        </p:txBody>
      </p:sp>
      <p:sp>
        <p:nvSpPr>
          <p:cNvPr id="900" name="bc"/>
          <p:cNvSpPr/>
          <p:nvPr/>
        </p:nvSpPr>
        <p:spPr>
          <a:xfrm>
            <a:off x="640080" y="2606040"/>
            <a:ext cx="4937760" cy="2926080"/>
          </a:xfrm>
          <a:prstGeom prst="roundRect">
            <a:avLst>
              <a:gd name="adj" fmla="val 3000"/>
            </a:avLst>
          </a:prstGeom>
          <a:solidFill>
            <a:srgbClr val="F1F2F7"/>
          </a:solidFill>
          <a:ln w="12700">
            <a:solidFill>
              <a:srgbClr val="DCDFEA"/>
            </a:solidFill>
            <a:miter lim="400000"/>
          </a:ln>
        </p:spPr>
        <p:txBody>
          <a:bodyPr lIns="45719" rIns="45719"/>
          <a:lstStyle/>
          <a:p>
            <a:pPr/>
          </a:p>
        </p:txBody>
      </p:sp>
      <p:sp>
        <p:nvSpPr>
          <p:cNvPr id="900" name="ac"/>
          <p:cNvSpPr/>
          <p:nvPr/>
        </p:nvSpPr>
        <p:spPr>
          <a:xfrm>
            <a:off x="6583680" y="2606040"/>
            <a:ext cx="4937760" cy="29260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0" name="abar"/>
          <p:cNvSpPr/>
          <p:nvPr/>
        </p:nvSpPr>
        <p:spPr>
          <a:xfrm>
            <a:off x="6583680" y="2606040"/>
            <a:ext cx="45720" cy="2926080"/>
          </a:xfrm>
          <a:prstGeom prst="rect">
            <a:avLst/>
          </a:prstGeom>
          <a:solidFill>
            <a:srgbClr val="FF6B4A"/>
          </a:solidFill>
          <a:ln w="12700">
            <a:noFill/>
            <a:miter lim="400000"/>
          </a:ln>
        </p:spPr>
        <p:txBody>
          <a:bodyPr lIns="45719" rIns="45719"/>
          <a:lstStyle/>
          <a:p>
            <a:pPr/>
          </a:p>
        </p:txBody>
      </p:sp>
      <p:sp>
        <p:nvSpPr>
          <p:cNvPr id="901" name="bl"/>
          <p:cNvSpPr txBox="1"/>
          <p:nvPr/>
        </p:nvSpPr>
        <p:spPr>
          <a:xfrm>
            <a:off x="960120" y="2834640"/>
            <a:ext cx="4297680" cy="251460"/>
          </a:xfrm>
          <a:prstGeom prst="rect">
            <a:avLst/>
          </a:prstGeom>
          <a:ln w="12700">
            <a:noFill/>
            <a:miter lim="400000"/>
          </a:ln>
        </p:spPr>
        <p:txBody>
          <a:bodyPr lIns="45719" rIns="45719" tIns="0" bIns="0" anchor="t"/>
          <a:lstStyle>
            <a:lvl1pPr algn="l">
              <a:defRPr spc="150" b="1" sz="900">
                <a:solidFill>
                  <a:srgbClr val="9AA3C0"/>
                </a:solidFill>
                <a:latin typeface="Calibri"/>
              </a:defRPr>
            </a:lvl1pPr>
          </a:lstStyle>
          <a:p>
            <a:pPr/>
            <a:r>
              <a:t>THE RISK</a:t>
            </a:r>
          </a:p>
        </p:txBody>
      </p:sp>
      <p:sp>
        <p:nvSpPr>
          <p:cNvPr id="902" name="al"/>
          <p:cNvSpPr txBox="1"/>
          <p:nvPr/>
        </p:nvSpPr>
        <p:spPr>
          <a:xfrm>
            <a:off x="6903720" y="2834640"/>
            <a:ext cx="4297680" cy="251460"/>
          </a:xfrm>
          <a:prstGeom prst="rect">
            <a:avLst/>
          </a:prstGeom>
          <a:ln w="12700">
            <a:noFill/>
            <a:miter lim="400000"/>
          </a:ln>
        </p:spPr>
        <p:txBody>
          <a:bodyPr lIns="45719" rIns="45719" tIns="0" bIns="0" anchor="t"/>
          <a:lstStyle>
            <a:lvl1pPr algn="l">
              <a:defRPr spc="150" b="1" sz="900">
                <a:solidFill>
                  <a:srgbClr val="FF6B4A"/>
                </a:solidFill>
                <a:latin typeface="Calibri"/>
              </a:defRPr>
            </a:lvl1pPr>
          </a:lstStyle>
          <a:p>
            <a:pPr/>
            <a:r>
              <a:t>WITH A WRITTEN SPEC</a:t>
            </a:r>
          </a:p>
        </p:txBody>
      </p:sp>
      <p:sp>
        <p:nvSpPr>
          <p:cNvPr id="903" name="bs"/>
          <p:cNvSpPr txBox="1"/>
          <p:nvPr/>
        </p:nvSpPr>
        <p:spPr>
          <a:xfrm>
            <a:off x="960120" y="3200400"/>
            <a:ext cx="4297680" cy="320040"/>
          </a:xfrm>
          <a:prstGeom prst="rect">
            <a:avLst/>
          </a:prstGeom>
          <a:ln w="12700">
            <a:noFill/>
            <a:miter lim="400000"/>
          </a:ln>
        </p:spPr>
        <p:txBody>
          <a:bodyPr lIns="45719" rIns="45719" tIns="0" bIns="0" anchor="t"/>
          <a:lstStyle>
            <a:lvl1pPr algn="l">
              <a:defRPr b="1" sz="1050">
                <a:solidFill>
                  <a:srgbClr val="5C6484"/>
                </a:solidFill>
                <a:latin typeface="Calibri"/>
              </a:defRPr>
            </a:lvl1pPr>
          </a:lstStyle>
          <a:p>
            <a:pPr/>
            <a:r>
              <a:t>Watchlist today: ASP.NET WebForms and C# batch jobs</a:t>
            </a:r>
          </a:p>
        </p:txBody>
      </p:sp>
      <p:sp>
        <p:nvSpPr>
          <p:cNvPr id="904" name="as"/>
          <p:cNvSpPr txBox="1"/>
          <p:nvPr/>
        </p:nvSpPr>
        <p:spPr>
          <a:xfrm>
            <a:off x="6903720" y="3200400"/>
            <a:ext cx="4297680" cy="32004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Watchlist tomorrow: Spring Boot, Spring Batch and ReactJS</a:t>
            </a:r>
          </a:p>
        </p:txBody>
      </p:sp>
      <p:sp>
        <p:nvSpPr>
          <p:cNvPr id="905" name="L0"/>
          <p:cNvSpPr txBox="1"/>
          <p:nvPr/>
        </p:nvSpPr>
        <p:spPr>
          <a:xfrm>
            <a:off x="960120" y="37033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Business logic hard to isolate</a:t>
            </a:r>
          </a:p>
        </p:txBody>
      </p:sp>
      <p:sp>
        <p:nvSpPr>
          <p:cNvPr id="906" name="R0"/>
          <p:cNvSpPr txBox="1"/>
          <p:nvPr/>
        </p:nvSpPr>
        <p:spPr>
          <a:xfrm>
            <a:off x="6903720" y="37033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The rules are extracted, requirement by requirement</a:t>
            </a:r>
          </a:p>
        </p:txBody>
      </p:sp>
      <p:sp>
        <p:nvSpPr>
          <p:cNvPr id="907" name="cn0"/>
          <p:cNvSpPr/>
          <p:nvPr/>
        </p:nvSpPr>
        <p:spPr>
          <a:xfrm>
            <a:off x="5486400" y="37170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07" name="hb1"/>
          <p:cNvSpPr/>
          <p:nvPr/>
        </p:nvSpPr>
        <p:spPr>
          <a:xfrm>
            <a:off x="960120" y="4251960"/>
            <a:ext cx="4297680" cy="12700"/>
          </a:xfrm>
          <a:prstGeom prst="rect">
            <a:avLst/>
          </a:prstGeom>
          <a:solidFill>
            <a:srgbClr val="DCDFEA"/>
          </a:solidFill>
          <a:ln w="12700">
            <a:noFill/>
            <a:miter lim="400000"/>
          </a:ln>
        </p:spPr>
        <p:txBody>
          <a:bodyPr lIns="45719" rIns="45719"/>
          <a:lstStyle/>
          <a:p>
            <a:pPr/>
          </a:p>
        </p:txBody>
      </p:sp>
      <p:sp>
        <p:nvSpPr>
          <p:cNvPr id="907" name="ha1"/>
          <p:cNvSpPr/>
          <p:nvPr/>
        </p:nvSpPr>
        <p:spPr>
          <a:xfrm>
            <a:off x="6903720" y="4251960"/>
            <a:ext cx="4297680" cy="12700"/>
          </a:xfrm>
          <a:prstGeom prst="rect">
            <a:avLst/>
          </a:prstGeom>
          <a:solidFill>
            <a:srgbClr val="CADCFC"/>
          </a:solidFill>
          <a:ln w="12700">
            <a:noFill/>
            <a:miter lim="400000"/>
          </a:ln>
        </p:spPr>
        <p:txBody>
          <a:bodyPr lIns="45719" rIns="45719"/>
          <a:lstStyle/>
          <a:p>
            <a:pPr/>
          </a:p>
        </p:txBody>
      </p:sp>
      <p:sp>
        <p:nvSpPr>
          <p:cNvPr id="908" name="L1"/>
          <p:cNvSpPr txBox="1"/>
          <p:nvPr/>
        </p:nvSpPr>
        <p:spPr>
          <a:xfrm>
            <a:off x="960120" y="43891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Documentation outdated or missing</a:t>
            </a:r>
          </a:p>
        </p:txBody>
      </p:sp>
      <p:sp>
        <p:nvSpPr>
          <p:cNvPr id="909" name="R1"/>
          <p:cNvSpPr txBox="1"/>
          <p:nvPr/>
        </p:nvSpPr>
        <p:spPr>
          <a:xfrm>
            <a:off x="6903720" y="43891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The spec is the documentation, versioned with the code</a:t>
            </a:r>
          </a:p>
        </p:txBody>
      </p:sp>
      <p:sp>
        <p:nvSpPr>
          <p:cNvPr id="910" name="cn1"/>
          <p:cNvSpPr/>
          <p:nvPr/>
        </p:nvSpPr>
        <p:spPr>
          <a:xfrm>
            <a:off x="5486400" y="44028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10" name="hb2"/>
          <p:cNvSpPr/>
          <p:nvPr/>
        </p:nvSpPr>
        <p:spPr>
          <a:xfrm>
            <a:off x="960120" y="4937760"/>
            <a:ext cx="4297680" cy="12700"/>
          </a:xfrm>
          <a:prstGeom prst="rect">
            <a:avLst/>
          </a:prstGeom>
          <a:solidFill>
            <a:srgbClr val="DCDFEA"/>
          </a:solidFill>
          <a:ln w="12700">
            <a:noFill/>
            <a:miter lim="400000"/>
          </a:ln>
        </p:spPr>
        <p:txBody>
          <a:bodyPr lIns="45719" rIns="45719"/>
          <a:lstStyle/>
          <a:p>
            <a:pPr/>
          </a:p>
        </p:txBody>
      </p:sp>
      <p:sp>
        <p:nvSpPr>
          <p:cNvPr id="910" name="ha2"/>
          <p:cNvSpPr/>
          <p:nvPr/>
        </p:nvSpPr>
        <p:spPr>
          <a:xfrm>
            <a:off x="6903720" y="4937760"/>
            <a:ext cx="4297680" cy="12700"/>
          </a:xfrm>
          <a:prstGeom prst="rect">
            <a:avLst/>
          </a:prstGeom>
          <a:solidFill>
            <a:srgbClr val="CADCFC"/>
          </a:solidFill>
          <a:ln w="12700">
            <a:noFill/>
            <a:miter lim="400000"/>
          </a:ln>
        </p:spPr>
        <p:txBody>
          <a:bodyPr lIns="45719" rIns="45719"/>
          <a:lstStyle/>
          <a:p>
            <a:pPr/>
          </a:p>
        </p:txBody>
      </p:sp>
      <p:sp>
        <p:nvSpPr>
          <p:cNvPr id="911" name="L2"/>
          <p:cNvSpPr txBox="1"/>
          <p:nvPr/>
        </p:nvSpPr>
        <p:spPr>
          <a:xfrm>
            <a:off x="960120" y="50749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No one can say what the screens and the jobs must do</a:t>
            </a:r>
          </a:p>
        </p:txBody>
      </p:sp>
      <p:sp>
        <p:nvSpPr>
          <p:cNvPr id="912" name="R2"/>
          <p:cNvSpPr txBox="1"/>
          <p:nvPr/>
        </p:nvSpPr>
        <p:spPr>
          <a:xfrm>
            <a:off x="6903720" y="50749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What must be preserved is written down before anything moves</a:t>
            </a:r>
          </a:p>
        </p:txBody>
      </p:sp>
      <p:sp>
        <p:nvSpPr>
          <p:cNvPr id="913" name="cn2"/>
          <p:cNvSpPr/>
          <p:nvPr/>
        </p:nvSpPr>
        <p:spPr>
          <a:xfrm>
            <a:off x="5486400" y="50886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13" name="sb"/>
          <p:cNvSpPr/>
          <p:nvPr/>
        </p:nvSpPr>
        <p:spPr>
          <a:xfrm>
            <a:off x="640080" y="5943600"/>
            <a:ext cx="10911840" cy="457200"/>
          </a:xfrm>
          <a:prstGeom prst="roundRect">
            <a:avLst>
              <a:gd name="adj" fmla="val 14000"/>
            </a:avLst>
          </a:prstGeom>
          <a:solidFill>
            <a:srgbClr val="EEF2FC"/>
          </a:solidFill>
          <a:ln w="12700">
            <a:noFill/>
            <a:miter lim="400000"/>
          </a:ln>
        </p:spPr>
        <p:txBody>
          <a:bodyPr lIns="45719" rIns="45719"/>
          <a:lstStyle/>
          <a:p>
            <a:pPr/>
          </a:p>
        </p:txBody>
      </p:sp>
      <p:sp>
        <p:nvSpPr>
          <p:cNvPr id="913" name="sd"/>
          <p:cNvSpPr/>
          <p:nvPr/>
        </p:nvSpPr>
        <p:spPr>
          <a:xfrm>
            <a:off x="960120" y="6117336"/>
            <a:ext cx="109729" cy="109729"/>
          </a:xfrm>
          <a:prstGeom prst="rect">
            <a:avLst/>
          </a:prstGeom>
          <a:solidFill>
            <a:srgbClr val="FF6B4A"/>
          </a:solidFill>
          <a:ln w="12700">
            <a:noFill/>
            <a:miter lim="400000"/>
          </a:ln>
        </p:spPr>
        <p:txBody>
          <a:bodyPr lIns="45719" rIns="45719"/>
          <a:lstStyle/>
          <a:p>
            <a:pPr/>
          </a:p>
        </p:txBody>
      </p:sp>
      <p:sp>
        <p:nvSpPr>
          <p:cNvPr id="914" name="sc"/>
          <p:cNvSpPr txBox="1"/>
          <p:nvPr/>
        </p:nvSpPr>
        <p:spPr>
          <a:xfrm>
            <a:off x="1280160" y="5943600"/>
            <a:ext cx="10058400" cy="457200"/>
          </a:xfrm>
          <a:prstGeom prst="rect">
            <a:avLst/>
          </a:prstGeom>
          <a:ln w="12700">
            <a:noFill/>
            <a:miter lim="400000"/>
          </a:ln>
        </p:spPr>
        <p:txBody>
          <a:bodyPr lIns="45719" rIns="45719" tIns="0" bIns="0" anchor="ctr"/>
          <a:lstStyle>
            <a:lvl1pPr algn="l">
              <a:defRPr b="0" sz="1050">
                <a:solidFill>
                  <a:srgbClr val="2C3352"/>
                </a:solidFill>
                <a:latin typeface="Calibri"/>
              </a:defRPr>
            </a:lvl1pPr>
          </a:lstStyle>
          <a:p>
            <a:pPr/>
            <a:r>
              <a:t>Validated so far on the batch jobs. The screens follow. WebForms is the harder half, and we are not claiming it yet.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900" name="PromptBox"/>
          <p:cNvSpPr/>
          <p:nvPr/>
        </p:nvSpPr>
        <p:spPr>
          <a:xfrm>
            <a:off x="640080" y="3497580"/>
            <a:ext cx="10561680" cy="320040"/>
          </a:xfrm>
          <a:prstGeom prst="roundRect">
            <a:avLst>
              <a:gd name="adj" fmla="val 22000"/>
            </a:avLst>
          </a:prstGeom>
          <a:solidFill>
            <a:srgbClr val="171C48"/>
          </a:solidFill>
          <a:ln w="12700">
            <a:solidFill>
              <a:srgbClr val="3A4590"/>
            </a:solidFill>
            <a:miter lim="400000"/>
          </a:ln>
        </p:spPr>
        <p:txBody>
          <a:bodyPr lIns="45719" rIns="45719"/>
          <a:lstStyle/>
          <a:p>
            <a:pPr/>
          </a:p>
        </p:txBody>
      </p:sp>
      <p:sp>
        <p:nvSpPr>
          <p:cNvPr id="901" name="PromptLbl"/>
          <p:cNvSpPr txBox="1"/>
          <p:nvPr/>
        </p:nvSpPr>
        <p:spPr>
          <a:xfrm>
            <a:off x="822960" y="3543300"/>
            <a:ext cx="914400" cy="251460"/>
          </a:xfrm>
          <a:prstGeom prst="rect">
            <a:avLst/>
          </a:prstGeom>
          <a:ln w="12700">
            <a:noFill/>
            <a:miter lim="400000"/>
          </a:ln>
        </p:spPr>
        <p:txBody>
          <a:bodyPr lIns="45719" rIns="45719" tIns="0" bIns="0" anchor="t"/>
          <a:lstStyle>
            <a:lvl1pPr algn="l">
              <a:defRPr b="1" sz="850">
                <a:solidFill>
                  <a:srgbClr val="9AA3C0"/>
                </a:solidFill>
                <a:latin typeface="Courier New"/>
              </a:defRPr>
            </a:lvl1pPr>
          </a:lstStyle>
          <a:p>
            <a:pPr/>
            <a:r>
              <a:t>Prompt</a:t>
            </a:r>
          </a:p>
        </p:txBody>
      </p:sp>
      <p:sp>
        <p:nvSpPr>
          <p:cNvPr id="902" name="PromptTxt"/>
          <p:cNvSpPr txBox="1"/>
          <p:nvPr/>
        </p:nvSpPr>
        <p:spPr>
          <a:xfrm>
            <a:off x="1737360" y="3543300"/>
            <a:ext cx="8686800" cy="251460"/>
          </a:xfrm>
          <a:prstGeom prst="rect">
            <a:avLst/>
          </a:prstGeom>
          <a:ln w="12700">
            <a:noFill/>
            <a:miter lim="400000"/>
          </a:ln>
        </p:spPr>
        <p:txBody>
          <a:bodyPr lIns="45719" rIns="45719" tIns="0" bIns="0" anchor="t"/>
          <a:lstStyle>
            <a:lvl1pPr algn="l">
              <a:defRPr b="1" sz="1000">
                <a:solidFill>
                  <a:srgbClr val="FFFFFF"/>
                </a:solidFill>
                <a:latin typeface="Courier New"/>
              </a:defRPr>
            </a:lvl1pPr>
          </a:lstStyle>
          <a:p>
            <a:pPr/>
            <a:r>
              <a:t>Migrate the Res08 batch job</a:t>
            </a:r>
          </a:p>
        </p:txBody>
      </p:sp>
      <p:sp>
        <p:nvSpPr>
          <p:cNvPr id="135"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Automation</a:t>
            </a:r>
          </a:p>
        </p:txBody>
      </p:sp>
      <p:sp>
        <p:nvSpPr>
          <p:cNvPr id="136"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A migration agent driven by the spec</a:t>
            </a:r>
          </a:p>
        </p:txBody>
      </p:sp>
      <p:sp>
        <p:nvSpPr>
          <p:cNvPr id="158" name="Text 25"/>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59" name="Text 26"/>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10</a:t>
            </a:r>
          </a:p>
        </p:txBody>
      </p:sp>
      <p:sp>
        <p:nvSpPr>
          <p:cNvPr id="301" name="Flow 640080"/>
          <p:cNvSpPr/>
          <p:nvPr/>
        </p:nvSpPr>
        <p:spPr>
          <a:xfrm>
            <a:off x="640080" y="1965960"/>
            <a:ext cx="3246121" cy="1371601"/>
          </a:xfrm>
          <a:prstGeom prst="roundRect">
            <a:avLst>
              <a:gd name="adj" fmla="val 5000"/>
            </a:avLst>
          </a:prstGeom>
          <a:solidFill>
            <a:srgbClr val="3A4590"/>
          </a:solidFill>
          <a:ln w="12700">
            <a:noFill/>
            <a:miter lim="400000"/>
          </a:ln>
        </p:spPr>
        <p:txBody>
          <a:bodyPr lIns="45719" rIns="45719"/>
          <a:lstStyle/>
          <a:p>
            <a:pPr/>
          </a:p>
        </p:txBody>
      </p:sp>
      <p:sp>
        <p:nvSpPr>
          <p:cNvPr id="302" name="Flow t640080"/>
          <p:cNvSpPr txBox="1"/>
          <p:nvPr/>
        </p:nvSpPr>
        <p:spPr>
          <a:xfrm>
            <a:off x="7772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ASP.NET WebForms</a:t>
            </a:r>
          </a:p>
          <a:p>
            <a:pPr/>
            <a:r>
              <a:t>and C# batch jobs</a:t>
            </a:r>
          </a:p>
        </p:txBody>
      </p:sp>
      <p:sp>
        <p:nvSpPr>
          <p:cNvPr id="303" name="Flow s640080"/>
          <p:cNvSpPr txBox="1"/>
          <p:nvPr/>
        </p:nvSpPr>
        <p:spPr>
          <a:xfrm>
            <a:off x="7772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today</a:t>
            </a:r>
          </a:p>
        </p:txBody>
      </p:sp>
      <p:sp>
        <p:nvSpPr>
          <p:cNvPr id="304" name="Arr1"/>
          <p:cNvSpPr txBox="1"/>
          <p:nvPr/>
        </p:nvSpPr>
        <p:spPr>
          <a:xfrm>
            <a:off x="39319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5" name="Flow 4297679"/>
          <p:cNvSpPr/>
          <p:nvPr/>
        </p:nvSpPr>
        <p:spPr>
          <a:xfrm>
            <a:off x="4297679" y="1965960"/>
            <a:ext cx="3246121" cy="1371601"/>
          </a:xfrm>
          <a:prstGeom prst="roundRect">
            <a:avLst>
              <a:gd name="adj" fmla="val 5000"/>
            </a:avLst>
          </a:prstGeom>
          <a:solidFill>
            <a:srgbClr val="FF6B4A"/>
          </a:solidFill>
          <a:ln w="12700">
            <a:noFill/>
            <a:miter lim="400000"/>
          </a:ln>
        </p:spPr>
        <p:txBody>
          <a:bodyPr lIns="45719" rIns="45719"/>
          <a:lstStyle/>
          <a:p>
            <a:pPr/>
          </a:p>
        </p:txBody>
      </p:sp>
      <p:sp>
        <p:nvSpPr>
          <p:cNvPr id="306" name="Flow t4297679"/>
          <p:cNvSpPr txBox="1"/>
          <p:nvPr/>
        </p:nvSpPr>
        <p:spPr>
          <a:xfrm>
            <a:off x="4434838" y="2237040"/>
            <a:ext cx="2971803" cy="509400"/>
          </a:xfrm>
          <a:prstGeom prst="rect">
            <a:avLst/>
          </a:prstGeom>
          <a:ln w="12700">
            <a:noFill/>
            <a:miter lim="400000"/>
          </a:ln>
        </p:spPr>
        <p:txBody>
          <a:bodyPr lIns="45719" rIns="45719" tIns="0" bIns="0" anchor="t"/>
          <a:lstStyle>
            <a:lvl1pPr algn="ctr">
              <a:defRPr b="1" sz="1600">
                <a:solidFill>
                  <a:srgbClr val="1E2761"/>
                </a:solidFill>
                <a:latin typeface="Calibri"/>
              </a:defRPr>
            </a:lvl1pPr>
          </a:lstStyle>
          <a:p>
            <a:pPr/>
            <a:r>
              <a:t>AI migration agent</a:t>
            </a:r>
          </a:p>
        </p:txBody>
      </p:sp>
      <p:sp>
        <p:nvSpPr>
          <p:cNvPr id="307" name="Flow s4297679"/>
          <p:cNvSpPr txBox="1"/>
          <p:nvPr/>
        </p:nvSpPr>
        <p:spPr>
          <a:xfrm>
            <a:off x="4434838" y="2948984"/>
            <a:ext cx="2971803" cy="228512"/>
          </a:xfrm>
          <a:prstGeom prst="rect">
            <a:avLst/>
          </a:prstGeom>
          <a:ln w="12700">
            <a:noFill/>
            <a:miter lim="400000"/>
          </a:ln>
        </p:spPr>
        <p:txBody>
          <a:bodyPr lIns="45719" rIns="45719" tIns="0" bIns="0" anchor="t"/>
          <a:lstStyle>
            <a:lvl1pPr algn="ctr">
              <a:defRPr sz="1200">
                <a:solidFill>
                  <a:srgbClr val="5A1A0A"/>
                </a:solidFill>
                <a:latin typeface="Calibri"/>
              </a:defRPr>
            </a:lvl1pPr>
          </a:lstStyle>
          <a:p>
            <a:pPr/>
            <a:r>
              <a:t>runs the OpenSpec workflow</a:t>
            </a:r>
          </a:p>
        </p:txBody>
      </p:sp>
      <p:sp>
        <p:nvSpPr>
          <p:cNvPr id="308" name="Arr2"/>
          <p:cNvSpPr txBox="1"/>
          <p:nvPr/>
        </p:nvSpPr>
        <p:spPr>
          <a:xfrm>
            <a:off x="75895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9" name="Flow 7955280"/>
          <p:cNvSpPr/>
          <p:nvPr/>
        </p:nvSpPr>
        <p:spPr>
          <a:xfrm>
            <a:off x="7955280" y="1965960"/>
            <a:ext cx="3246121" cy="1371601"/>
          </a:xfrm>
          <a:prstGeom prst="roundRect">
            <a:avLst>
              <a:gd name="adj" fmla="val 5000"/>
            </a:avLst>
          </a:prstGeom>
          <a:solidFill>
            <a:srgbClr val="3A4590"/>
          </a:solidFill>
          <a:ln w="12700">
            <a:noFill/>
            <a:miter lim="400000"/>
          </a:ln>
        </p:spPr>
        <p:txBody>
          <a:bodyPr lIns="45719" rIns="45719"/>
          <a:lstStyle/>
          <a:p>
            <a:pPr/>
          </a:p>
        </p:txBody>
      </p:sp>
      <p:sp>
        <p:nvSpPr>
          <p:cNvPr id="310" name="Flow t7955280"/>
          <p:cNvSpPr txBox="1"/>
          <p:nvPr/>
        </p:nvSpPr>
        <p:spPr>
          <a:xfrm>
            <a:off x="80924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Spring Boot, Spring Batch</a:t>
            </a:r>
          </a:p>
          <a:p>
            <a:pPr/>
            <a:r>
              <a:t>and ReactJS</a:t>
            </a:r>
          </a:p>
        </p:txBody>
      </p:sp>
      <p:sp>
        <p:nvSpPr>
          <p:cNvPr id="311" name="Flow s7955280"/>
          <p:cNvSpPr txBox="1"/>
          <p:nvPr/>
        </p:nvSpPr>
        <p:spPr>
          <a:xfrm>
            <a:off x="80924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target</a:t>
            </a:r>
          </a:p>
        </p:txBody>
      </p:sp>
      <p:sp>
        <p:nvSpPr>
          <p:cNvPr id="900" name="Pastille0"/>
          <p:cNvSpPr/>
          <p:nvPr/>
        </p:nvSpPr>
        <p:spPr>
          <a:xfrm>
            <a:off x="640080" y="3954780"/>
            <a:ext cx="297180" cy="297180"/>
          </a:xfrm>
          <a:prstGeom prst="ellipse">
            <a:avLst/>
          </a:prstGeom>
          <a:solidFill>
            <a:srgbClr val="FF6B4A"/>
          </a:solidFill>
          <a:ln w="12700">
            <a:noFill/>
            <a:miter lim="400000"/>
          </a:ln>
        </p:spPr>
        <p:txBody>
          <a:bodyPr lIns="45719" rIns="45719"/>
          <a:lstStyle/>
          <a:p>
            <a:pPr/>
          </a:p>
        </p:txBody>
      </p:sp>
      <p:sp>
        <p:nvSpPr>
          <p:cNvPr id="901" name="Num0"/>
          <p:cNvSpPr txBox="1"/>
          <p:nvPr/>
        </p:nvSpPr>
        <p:spPr>
          <a:xfrm>
            <a:off x="640080" y="400050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1</a:t>
            </a:r>
          </a:p>
        </p:txBody>
      </p:sp>
      <p:sp>
        <p:nvSpPr>
          <p:cNvPr id="313" name="H 0"/>
          <p:cNvSpPr txBox="1"/>
          <p:nvPr/>
        </p:nvSpPr>
        <p:spPr>
          <a:xfrm>
            <a:off x="96011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Reads the legacy code, proposes a change</a:t>
            </a:r>
          </a:p>
        </p:txBody>
      </p:sp>
      <p:sp>
        <p:nvSpPr>
          <p:cNvPr id="314" name="B 0"/>
          <p:cNvSpPr txBox="1"/>
          <p:nvPr/>
        </p:nvSpPr>
        <p:spPr>
          <a:xfrm>
            <a:off x="96011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One change per batch job. The agent reads the existing source and drafts the proposal.</a:t>
            </a:r>
          </a:p>
        </p:txBody>
      </p:sp>
      <p:sp>
        <p:nvSpPr>
          <p:cNvPr id="901" name="Pastille1"/>
          <p:cNvSpPr/>
          <p:nvPr/>
        </p:nvSpPr>
        <p:spPr>
          <a:xfrm>
            <a:off x="6217920" y="3954780"/>
            <a:ext cx="297180" cy="297180"/>
          </a:xfrm>
          <a:prstGeom prst="ellipse">
            <a:avLst/>
          </a:prstGeom>
          <a:solidFill>
            <a:srgbClr val="FF6B4A"/>
          </a:solidFill>
          <a:ln w="12700">
            <a:noFill/>
            <a:miter lim="400000"/>
          </a:ln>
        </p:spPr>
        <p:txBody>
          <a:bodyPr lIns="45719" rIns="45719"/>
          <a:lstStyle/>
          <a:p>
            <a:pPr/>
          </a:p>
        </p:txBody>
      </p:sp>
      <p:sp>
        <p:nvSpPr>
          <p:cNvPr id="902" name="Num1"/>
          <p:cNvSpPr txBox="1"/>
          <p:nvPr/>
        </p:nvSpPr>
        <p:spPr>
          <a:xfrm>
            <a:off x="6217920" y="400050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2</a:t>
            </a:r>
          </a:p>
        </p:txBody>
      </p:sp>
      <p:sp>
        <p:nvSpPr>
          <p:cNvPr id="316" name="H 1"/>
          <p:cNvSpPr txBox="1"/>
          <p:nvPr/>
        </p:nvSpPr>
        <p:spPr>
          <a:xfrm>
            <a:off x="653795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Generates the spec and its scenarios</a:t>
            </a:r>
          </a:p>
        </p:txBody>
      </p:sp>
      <p:sp>
        <p:nvSpPr>
          <p:cNvPr id="317" name="B 1"/>
          <p:cNvSpPr txBox="1"/>
          <p:nvPr/>
        </p:nvSpPr>
        <p:spPr>
          <a:xfrm>
            <a:off x="653795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The requirements it found, each with the scenarios that state the expected behaviour.</a:t>
            </a:r>
          </a:p>
        </p:txBody>
      </p:sp>
      <p:sp>
        <p:nvSpPr>
          <p:cNvPr id="902" name="Pastille2"/>
          <p:cNvSpPr/>
          <p:nvPr/>
        </p:nvSpPr>
        <p:spPr>
          <a:xfrm>
            <a:off x="640080" y="5143500"/>
            <a:ext cx="297180" cy="297180"/>
          </a:xfrm>
          <a:prstGeom prst="ellipse">
            <a:avLst/>
          </a:prstGeom>
          <a:solidFill>
            <a:srgbClr val="FF6B4A"/>
          </a:solidFill>
          <a:ln w="12700">
            <a:noFill/>
            <a:miter lim="400000"/>
          </a:ln>
        </p:spPr>
        <p:txBody>
          <a:bodyPr lIns="45719" rIns="45719"/>
          <a:lstStyle/>
          <a:p>
            <a:pPr/>
          </a:p>
        </p:txBody>
      </p:sp>
      <p:sp>
        <p:nvSpPr>
          <p:cNvPr id="903" name="Num2"/>
          <p:cNvSpPr txBox="1"/>
          <p:nvPr/>
        </p:nvSpPr>
        <p:spPr>
          <a:xfrm>
            <a:off x="640080" y="518922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3</a:t>
            </a:r>
          </a:p>
        </p:txBody>
      </p:sp>
      <p:sp>
        <p:nvSpPr>
          <p:cNvPr id="319" name="H 2"/>
          <p:cNvSpPr txBox="1"/>
          <p:nvPr/>
        </p:nvSpPr>
        <p:spPr>
          <a:xfrm>
            <a:off x="96011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team reviews and approves</a:t>
            </a:r>
          </a:p>
        </p:txBody>
      </p:sp>
      <p:sp>
        <p:nvSpPr>
          <p:cNvPr id="320" name="B 2"/>
          <p:cNvSpPr txBox="1"/>
          <p:nvPr/>
        </p:nvSpPr>
        <p:spPr>
          <a:xfrm>
            <a:off x="96011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Extraction is where things get lost, so that is where a person checks, not at the end.</a:t>
            </a:r>
          </a:p>
        </p:txBody>
      </p:sp>
      <p:sp>
        <p:nvSpPr>
          <p:cNvPr id="903" name="Pastille3"/>
          <p:cNvSpPr/>
          <p:nvPr/>
        </p:nvSpPr>
        <p:spPr>
          <a:xfrm>
            <a:off x="6217920" y="5143500"/>
            <a:ext cx="297180" cy="297180"/>
          </a:xfrm>
          <a:prstGeom prst="ellipse">
            <a:avLst/>
          </a:prstGeom>
          <a:solidFill>
            <a:srgbClr val="FF6B4A"/>
          </a:solidFill>
          <a:ln w="12700">
            <a:noFill/>
            <a:miter lim="400000"/>
          </a:ln>
        </p:spPr>
        <p:txBody>
          <a:bodyPr lIns="45719" rIns="45719"/>
          <a:lstStyle/>
          <a:p>
            <a:pPr/>
          </a:p>
        </p:txBody>
      </p:sp>
      <p:sp>
        <p:nvSpPr>
          <p:cNvPr id="904" name="Num3"/>
          <p:cNvSpPr txBox="1"/>
          <p:nvPr/>
        </p:nvSpPr>
        <p:spPr>
          <a:xfrm>
            <a:off x="6217920" y="518922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4</a:t>
            </a:r>
          </a:p>
        </p:txBody>
      </p:sp>
      <p:sp>
        <p:nvSpPr>
          <p:cNvPr id="322" name="H 3"/>
          <p:cNvSpPr txBox="1"/>
          <p:nvPr/>
        </p:nvSpPr>
        <p:spPr>
          <a:xfrm>
            <a:off x="653795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Implements from the approved spec</a:t>
            </a:r>
          </a:p>
        </p:txBody>
      </p:sp>
      <p:sp>
        <p:nvSpPr>
          <p:cNvPr id="323" name="B 3"/>
          <p:cNvSpPr txBox="1"/>
          <p:nvPr/>
        </p:nvSpPr>
        <p:spPr>
          <a:xfrm>
            <a:off x="653795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Task by task, with the unit and integration tests derived from the scenarios.</a:t>
            </a:r>
          </a:p>
        </p:txBody>
      </p:sp>
      <p:sp>
        <p:nvSpPr>
          <p:cNvPr id="304" name="Scope2"/>
          <p:cNvSpPr txBox="1"/>
          <p:nvPr/>
        </p:nvSpPr>
        <p:spPr>
          <a:xfrm>
            <a:off x="640080" y="6172200"/>
            <a:ext cx="10881360" cy="228600"/>
          </a:xfrm>
          <a:prstGeom prst="rect">
            <a:avLst/>
          </a:prstGeom>
          <a:ln w="12700">
            <a:noFill/>
            <a:miter lim="400000"/>
          </a:ln>
        </p:spPr>
        <p:txBody>
          <a:bodyPr lIns="45719" rIns="45719" tIns="0" bIns="0" anchor="t"/>
          <a:lstStyle>
            <a:lvl1pPr algn="l">
              <a:defRPr i="1" sz="1000">
                <a:solidFill>
                  <a:srgbClr val="9AA3C0"/>
                </a:solidFill>
                <a:latin typeface="Calibri"/>
              </a:defRPr>
            </a:lvl1pPr>
          </a:lstStyle>
          <a:p>
            <a:pPr/>
            <a:r>
              <a:t>Proven on the batch jobs. The WebForms screens are next: the same workflow, a harder extraction.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impact</a:t>
            </a:r>
          </a:p>
        </p:txBody>
      </p:sp>
      <p:sp>
        <p:nvSpPr>
          <p:cNvPr id="16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actually changes</a:t>
            </a:r>
          </a:p>
        </p:txBody>
      </p:sp>
      <p:sp>
        <p:nvSpPr>
          <p:cNvPr id="179" name="Text 18"/>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80" name="Text 19"/>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14</a:t>
            </a:r>
          </a:p>
        </p:txBody>
      </p:sp>
      <p:sp>
        <p:nvSpPr>
          <p:cNvPr id="301" name="Lead"/>
          <p:cNvSpPr txBox="1"/>
          <p:nvPr/>
        </p:nvSpPr>
        <p:spPr>
          <a:xfrm>
            <a:off x="685800" y="1600200"/>
            <a:ext cx="10607042"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None of this depends on the model getting better. It is what a team can do differently once the intent is written down.</a:t>
            </a:r>
          </a:p>
        </p:txBody>
      </p:sp>
      <p:sp>
        <p:nvSpPr>
          <p:cNvPr id="302" name="Dot 0"/>
          <p:cNvSpPr/>
          <p:nvPr/>
        </p:nvSpPr>
        <p:spPr>
          <a:xfrm>
            <a:off x="640080" y="283464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100584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Review changes</a:t>
            </a:r>
          </a:p>
        </p:txBody>
      </p:sp>
      <p:sp>
        <p:nvSpPr>
          <p:cNvPr id="304" name="B 0"/>
          <p:cNvSpPr txBox="1"/>
          <p:nvPr/>
        </p:nvSpPr>
        <p:spPr>
          <a:xfrm>
            <a:off x="100584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reviewer reads a 50-line spec instead of reverse-engineering 2,000 lines of code, and checks the intent, not the wording.</a:t>
            </a:r>
          </a:p>
        </p:txBody>
      </p:sp>
      <p:sp>
        <p:nvSpPr>
          <p:cNvPr id="305" name="Dot 1"/>
          <p:cNvSpPr/>
          <p:nvPr/>
        </p:nvSpPr>
        <p:spPr>
          <a:xfrm>
            <a:off x="6217920" y="28346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658368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Disagreement moves earlier</a:t>
            </a:r>
          </a:p>
        </p:txBody>
      </p:sp>
      <p:sp>
        <p:nvSpPr>
          <p:cNvPr id="307" name="B 1"/>
          <p:cNvSpPr txBox="1"/>
          <p:nvPr/>
        </p:nvSpPr>
        <p:spPr>
          <a:xfrm>
            <a:off x="658368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The cheapest moment to say no is before the code exists. A contradiction costs minutes in a document, days once it is built.</a:t>
            </a:r>
          </a:p>
        </p:txBody>
      </p:sp>
      <p:sp>
        <p:nvSpPr>
          <p:cNvPr id="308" name="Dot 2"/>
          <p:cNvSpPr/>
          <p:nvPr/>
        </p:nvSpPr>
        <p:spPr>
          <a:xfrm>
            <a:off x="640080" y="438912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100584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Handover changes</a:t>
            </a:r>
          </a:p>
        </p:txBody>
      </p:sp>
      <p:sp>
        <p:nvSpPr>
          <p:cNvPr id="310" name="B 2"/>
          <p:cNvSpPr txBox="1"/>
          <p:nvPr/>
        </p:nvSpPr>
        <p:spPr>
          <a:xfrm>
            <a:off x="100584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new joiner, or the next agent, reads what the system must do instead of inferring it from what it happens to do.</a:t>
            </a:r>
          </a:p>
        </p:txBody>
      </p:sp>
      <p:sp>
        <p:nvSpPr>
          <p:cNvPr id="311" name="Dot 3"/>
          <p:cNvSpPr/>
          <p:nvPr/>
        </p:nvSpPr>
        <p:spPr>
          <a:xfrm>
            <a:off x="6217920" y="4389120"/>
            <a:ext cx="137160" cy="137160"/>
          </a:xfrm>
          <a:prstGeom prst="ellipse">
            <a:avLst/>
          </a:prstGeom>
          <a:solidFill>
            <a:srgbClr val="FF6B4A"/>
          </a:solidFill>
          <a:ln w="12700">
            <a:noFill/>
            <a:miter lim="400000"/>
          </a:ln>
        </p:spPr>
        <p:txBody>
          <a:bodyPr lIns="45719" rIns="45719"/>
          <a:lstStyle/>
          <a:p>
            <a:pPr/>
          </a:p>
        </p:txBody>
      </p:sp>
      <p:sp>
        <p:nvSpPr>
          <p:cNvPr id="312" name="H 3"/>
          <p:cNvSpPr txBox="1"/>
          <p:nvPr/>
        </p:nvSpPr>
        <p:spPr>
          <a:xfrm>
            <a:off x="658368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The record outlives the model</a:t>
            </a:r>
          </a:p>
        </p:txBody>
      </p:sp>
      <p:sp>
        <p:nvSpPr>
          <p:cNvPr id="313" name="B 3"/>
          <p:cNvSpPr txBox="1"/>
          <p:nvPr/>
        </p:nvSpPr>
        <p:spPr>
          <a:xfrm>
            <a:off x="658368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Models change every few months. The spec is what stays, and what the next agent starts from.</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240" name="Shape 0"/>
          <p:cNvSpPr/>
          <p:nvPr/>
        </p:nvSpPr>
        <p:spPr>
          <a:xfrm>
            <a:off x="9601200" y="-2743200"/>
            <a:ext cx="5120640" cy="5120640"/>
          </a:xfrm>
          <a:prstGeom prst="roundRect">
            <a:avLst>
              <a:gd name="adj" fmla="val 8929"/>
            </a:avLst>
          </a:prstGeom>
          <a:solidFill>
            <a:srgbClr val="2A3070"/>
          </a:solidFill>
          <a:ln w="12700">
            <a:solidFill>
              <a:srgbClr val="3B4468"/>
            </a:solidFill>
            <a:prstDash val="solid"/>
          </a:ln>
        </p:spPr>
      </p:sp>
      <p:sp>
        <p:nvSpPr>
          <p:cNvPr id="183" name="Text 1"/>
          <p:cNvSpPr txBox="1"/>
          <p:nvPr/>
        </p:nvSpPr>
        <p:spPr>
          <a:xfrm>
            <a:off x="868680" y="1260236"/>
            <a:ext cx="9052561" cy="49704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FFFFFF"/>
                </a:solidFill>
                <a:latin typeface="Cambria"/>
              </a:defRPr>
            </a:lvl1pPr>
          </a:lstStyle>
          <a:p>
            <a:pPr/>
            <a:r>
              <a:t>Key takeaways</a:t>
            </a:r>
          </a:p>
        </p:txBody>
      </p:sp>
      <p:sp>
        <p:nvSpPr>
          <p:cNvPr id="901" name="Lead"/>
          <p:cNvSpPr txBox="1"/>
          <p:nvPr/>
        </p:nvSpPr>
        <p:spPr>
          <a:xfrm>
            <a:off x="868680" y="1874520"/>
            <a:ext cx="10241282"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Three things to take away.</a:t>
            </a:r>
          </a:p>
        </p:txBody>
      </p:sp>
      <p:sp>
        <p:nvSpPr>
          <p:cNvPr id="901" name="Pastille0"/>
          <p:cNvSpPr/>
          <p:nvPr/>
        </p:nvSpPr>
        <p:spPr>
          <a:xfrm>
            <a:off x="822960" y="2652713"/>
            <a:ext cx="457201" cy="457200"/>
          </a:xfrm>
          <a:prstGeom prst="ellipse">
            <a:avLst/>
          </a:prstGeom>
          <a:solidFill>
            <a:srgbClr val="FF6B4A"/>
          </a:solidFill>
          <a:ln w="12700">
            <a:noFill/>
            <a:miter lim="400000"/>
          </a:ln>
        </p:spPr>
        <p:txBody>
          <a:bodyPr lIns="45719" rIns="45719"/>
          <a:lstStyle/>
          <a:p>
            <a:pPr/>
          </a:p>
        </p:txBody>
      </p:sp>
      <p:sp>
        <p:nvSpPr>
          <p:cNvPr id="902" name="Num0"/>
          <p:cNvSpPr txBox="1"/>
          <p:nvPr/>
        </p:nvSpPr>
        <p:spPr>
          <a:xfrm>
            <a:off x="822960" y="2721293"/>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1</a:t>
            </a:r>
          </a:p>
        </p:txBody>
      </p:sp>
      <p:sp>
        <p:nvSpPr>
          <p:cNvPr id="903" name="H0"/>
          <p:cNvSpPr txBox="1"/>
          <p:nvPr/>
        </p:nvSpPr>
        <p:spPr>
          <a:xfrm>
            <a:off x="1554480" y="2675573"/>
            <a:ext cx="9601200" cy="365760"/>
          </a:xfrm>
          <a:prstGeom prst="rect">
            <a:avLst/>
          </a:prstGeom>
          <a:ln w="12700">
            <a:noFill/>
            <a:miter lim="400000"/>
          </a:ln>
        </p:spPr>
        <p:txBody>
          <a:bodyPr lIns="45719" rIns="45719" tIns="0" bIns="0" anchor="t"/>
          <a:lstStyle>
            <a:lvl1pPr algn="l">
              <a:defRPr b="1" sz="1800">
                <a:solidFill>
                  <a:srgbClr val="FFFFFF"/>
                </a:solidFill>
                <a:latin typeface="Cambria"/>
              </a:defRPr>
            </a:lvl1pPr>
          </a:lstStyle>
          <a:p>
            <a:pPr/>
            <a:r>
              <a:t>Agree before you build.</a:t>
            </a:r>
          </a:p>
        </p:txBody>
      </p:sp>
      <p:sp>
        <p:nvSpPr>
          <p:cNvPr id="904" name="B0"/>
          <p:cNvSpPr txBox="1"/>
          <p:nvPr/>
        </p:nvSpPr>
        <p:spPr>
          <a:xfrm>
            <a:off x="1554480" y="3155633"/>
            <a:ext cx="8686800" cy="365760"/>
          </a:xfrm>
          <a:prstGeom prst="rect">
            <a:avLst/>
          </a:prstGeom>
          <a:ln w="12700">
            <a:noFill/>
            <a:miter lim="400000"/>
          </a:ln>
        </p:spPr>
        <p:txBody>
          <a:bodyPr lIns="45719" rIns="45719" tIns="0" bIns="0" anchor="t"/>
          <a:lstStyle>
            <a:lvl1pPr algn="l">
              <a:defRPr b="0" sz="1100">
                <a:solidFill>
                  <a:srgbClr val="CADCFC"/>
                </a:solidFill>
                <a:latin typeface="Calibri"/>
              </a:defRPr>
            </a:lvl1pPr>
          </a:lstStyle>
          <a:p>
            <a:pPr/>
            <a:r>
              <a:t>The change is described and reviewed before a single line of code exists.</a:t>
            </a:r>
          </a:p>
        </p:txBody>
      </p:sp>
      <p:sp>
        <p:nvSpPr>
          <p:cNvPr id="904" name="Pastille1"/>
          <p:cNvSpPr/>
          <p:nvPr/>
        </p:nvSpPr>
        <p:spPr>
          <a:xfrm>
            <a:off x="822960" y="3658553"/>
            <a:ext cx="457201" cy="457200"/>
          </a:xfrm>
          <a:prstGeom prst="ellipse">
            <a:avLst/>
          </a:prstGeom>
          <a:solidFill>
            <a:srgbClr val="FF6B4A"/>
          </a:solidFill>
          <a:ln w="12700">
            <a:noFill/>
            <a:miter lim="400000"/>
          </a:ln>
        </p:spPr>
        <p:txBody>
          <a:bodyPr lIns="45719" rIns="45719"/>
          <a:lstStyle/>
          <a:p>
            <a:pPr/>
          </a:p>
        </p:txBody>
      </p:sp>
      <p:sp>
        <p:nvSpPr>
          <p:cNvPr id="905" name="Num1"/>
          <p:cNvSpPr txBox="1"/>
          <p:nvPr/>
        </p:nvSpPr>
        <p:spPr>
          <a:xfrm>
            <a:off x="822960" y="3727133"/>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2</a:t>
            </a:r>
          </a:p>
        </p:txBody>
      </p:sp>
      <p:sp>
        <p:nvSpPr>
          <p:cNvPr id="906" name="H1"/>
          <p:cNvSpPr txBox="1"/>
          <p:nvPr/>
        </p:nvSpPr>
        <p:spPr>
          <a:xfrm>
            <a:off x="1554480" y="3681413"/>
            <a:ext cx="9601200" cy="365760"/>
          </a:xfrm>
          <a:prstGeom prst="rect">
            <a:avLst/>
          </a:prstGeom>
          <a:ln w="12700">
            <a:noFill/>
            <a:miter lim="400000"/>
          </a:ln>
        </p:spPr>
        <p:txBody>
          <a:bodyPr lIns="45719" rIns="45719" tIns="0" bIns="0" anchor="t"/>
          <a:lstStyle>
            <a:lvl1pPr algn="l">
              <a:defRPr b="1" sz="1800">
                <a:solidFill>
                  <a:srgbClr val="FFFFFF"/>
                </a:solidFill>
                <a:latin typeface="Cambria"/>
              </a:defRPr>
            </a:lvl1pPr>
          </a:lstStyle>
          <a:p>
            <a:pPr/>
            <a:r>
              <a:t>The spec lives with the code.</a:t>
            </a:r>
          </a:p>
        </p:txBody>
      </p:sp>
      <p:sp>
        <p:nvSpPr>
          <p:cNvPr id="907" name="B1"/>
          <p:cNvSpPr txBox="1"/>
          <p:nvPr/>
        </p:nvSpPr>
        <p:spPr>
          <a:xfrm>
            <a:off x="1554480" y="4161473"/>
            <a:ext cx="8686800" cy="365760"/>
          </a:xfrm>
          <a:prstGeom prst="rect">
            <a:avLst/>
          </a:prstGeom>
          <a:ln w="12700">
            <a:noFill/>
            <a:miter lim="400000"/>
          </a:ln>
        </p:spPr>
        <p:txBody>
          <a:bodyPr lIns="45719" rIns="45719" tIns="0" bIns="0" anchor="t"/>
          <a:lstStyle>
            <a:lvl1pPr algn="l">
              <a:defRPr b="0" sz="1100">
                <a:solidFill>
                  <a:srgbClr val="CADCFC"/>
                </a:solidFill>
                <a:latin typeface="Calibri"/>
              </a:defRPr>
            </a:lvl1pPr>
          </a:lstStyle>
          <a:p>
            <a:pPr/>
            <a:r>
              <a:t>Same repository, same pull request, same history. It cannot go stale on its own.</a:t>
            </a:r>
          </a:p>
        </p:txBody>
      </p:sp>
      <p:sp>
        <p:nvSpPr>
          <p:cNvPr id="907" name="Pastille2"/>
          <p:cNvSpPr/>
          <p:nvPr/>
        </p:nvSpPr>
        <p:spPr>
          <a:xfrm>
            <a:off x="822960" y="4664393"/>
            <a:ext cx="457201" cy="457200"/>
          </a:xfrm>
          <a:prstGeom prst="ellipse">
            <a:avLst/>
          </a:prstGeom>
          <a:solidFill>
            <a:srgbClr val="FF6B4A"/>
          </a:solidFill>
          <a:ln w="12700">
            <a:noFill/>
            <a:miter lim="400000"/>
          </a:ln>
        </p:spPr>
        <p:txBody>
          <a:bodyPr lIns="45719" rIns="45719"/>
          <a:lstStyle/>
          <a:p>
            <a:pPr/>
          </a:p>
        </p:txBody>
      </p:sp>
      <p:sp>
        <p:nvSpPr>
          <p:cNvPr id="908" name="Num2"/>
          <p:cNvSpPr txBox="1"/>
          <p:nvPr/>
        </p:nvSpPr>
        <p:spPr>
          <a:xfrm>
            <a:off x="822960" y="4732973"/>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3</a:t>
            </a:r>
          </a:p>
        </p:txBody>
      </p:sp>
      <p:sp>
        <p:nvSpPr>
          <p:cNvPr id="909" name="H2"/>
          <p:cNvSpPr txBox="1"/>
          <p:nvPr/>
        </p:nvSpPr>
        <p:spPr>
          <a:xfrm>
            <a:off x="1554480" y="4687253"/>
            <a:ext cx="9601200" cy="365760"/>
          </a:xfrm>
          <a:prstGeom prst="rect">
            <a:avLst/>
          </a:prstGeom>
          <a:ln w="12700">
            <a:noFill/>
            <a:miter lim="400000"/>
          </a:ln>
        </p:spPr>
        <p:txBody>
          <a:bodyPr lIns="45719" rIns="45719" tIns="0" bIns="0" anchor="t"/>
          <a:lstStyle>
            <a:lvl1pPr algn="l">
              <a:defRPr b="1" sz="1800">
                <a:solidFill>
                  <a:srgbClr val="FFFFFF"/>
                </a:solidFill>
                <a:latin typeface="Cambria"/>
              </a:defRPr>
            </a:lvl1pPr>
          </a:lstStyle>
          <a:p>
            <a:pPr/>
            <a:r>
              <a:t>A person approves before the agent builds.</a:t>
            </a:r>
          </a:p>
        </p:txBody>
      </p:sp>
      <p:sp>
        <p:nvSpPr>
          <p:cNvPr id="910" name="B2"/>
          <p:cNvSpPr txBox="1"/>
          <p:nvPr/>
        </p:nvSpPr>
        <p:spPr>
          <a:xfrm>
            <a:off x="1554480" y="5167313"/>
            <a:ext cx="8686800" cy="365760"/>
          </a:xfrm>
          <a:prstGeom prst="rect">
            <a:avLst/>
          </a:prstGeom>
          <a:ln w="12700">
            <a:noFill/>
            <a:miter lim="400000"/>
          </a:ln>
        </p:spPr>
        <p:txBody>
          <a:bodyPr lIns="45719" rIns="45719" tIns="0" bIns="0" anchor="t"/>
          <a:lstStyle>
            <a:lvl1pPr algn="l">
              <a:defRPr b="0" sz="1100">
                <a:solidFill>
                  <a:srgbClr val="CADCFC"/>
                </a:solidFill>
                <a:latin typeface="Calibri"/>
              </a:defRPr>
            </a:lvl1pPr>
          </a:lstStyle>
          <a:p>
            <a:pPr/>
            <a:r>
              <a:t>The order and the scope are decided by us. The agent implements that, and only that.</a:t>
            </a:r>
          </a:p>
        </p:txBody>
      </p:sp>
      <p:sp>
        <p:nvSpPr>
          <p:cNvPr id="910" name="rule"/>
          <p:cNvSpPr/>
          <p:nvPr/>
        </p:nvSpPr>
        <p:spPr>
          <a:xfrm>
            <a:off x="868680" y="5943600"/>
            <a:ext cx="10241282" cy="12700"/>
          </a:xfrm>
          <a:prstGeom prst="rect">
            <a:avLst/>
          </a:prstGeom>
          <a:solidFill>
            <a:srgbClr val="3A4590"/>
          </a:solidFill>
          <a:ln w="12700">
            <a:noFill/>
            <a:miter lim="400000"/>
          </a:ln>
        </p:spPr>
        <p:txBody>
          <a:bodyPr lIns="45719" rIns="45719"/>
          <a:lstStyle/>
          <a:p>
            <a:pPr/>
          </a:p>
        </p:txBody>
      </p:sp>
      <p:sp>
        <p:nvSpPr>
          <p:cNvPr id="911" name="Close"/>
          <p:cNvSpPr txBox="1"/>
          <p:nvPr/>
        </p:nvSpPr>
        <p:spPr>
          <a:xfrm>
            <a:off x="868680" y="6126480"/>
            <a:ext cx="10241282" cy="36576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spec becomes the shared language between teams and AI.</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Mindset</a:t>
            </a:r>
          </a:p>
        </p:txBody>
      </p:sp>
      <p:sp>
        <p:nvSpPr>
          <p:cNvPr id="197"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Define intent before building</a:t>
            </a:r>
          </a:p>
        </p:txBody>
      </p:sp>
      <p:sp>
        <p:nvSpPr>
          <p:cNvPr id="198" name="Vibe Trap card"/>
          <p:cNvSpPr/>
          <p:nvPr/>
        </p:nvSpPr>
        <p:spPr>
          <a:xfrm>
            <a:off x="640080" y="2011679"/>
            <a:ext cx="5257801" cy="2560321"/>
          </a:xfrm>
          <a:prstGeom prst="roundRect">
            <a:avLst>
              <a:gd name="adj" fmla="val 3158"/>
            </a:avLst>
          </a:prstGeom>
          <a:solidFill>
            <a:srgbClr val="EEF2FC"/>
          </a:solidFill>
          <a:ln w="19050">
            <a:solidFill>
              <a:srgbClr val="9AA3C0"/>
            </a:solidFill>
            <a:prstDash val="dash"/>
          </a:ln>
        </p:spPr>
        <p:txBody>
          <a:bodyPr lIns="45719" rIns="45719"/>
          <a:lstStyle/>
          <a:p>
            <a:pPr/>
          </a:p>
        </p:txBody>
      </p:sp>
      <p:sp>
        <p:nvSpPr>
          <p:cNvPr id="199" name="Badge circle"/>
          <p:cNvSpPr/>
          <p:nvPr/>
        </p:nvSpPr>
        <p:spPr>
          <a:xfrm>
            <a:off x="365759" y="1737360"/>
            <a:ext cx="548641" cy="548641"/>
          </a:xfrm>
          <a:prstGeom prst="ellipse">
            <a:avLst/>
          </a:prstGeom>
          <a:solidFill>
            <a:srgbClr val="B8422A"/>
          </a:solidFill>
          <a:ln w="12700">
            <a:miter lim="400000"/>
          </a:ln>
        </p:spPr>
        <p:txBody>
          <a:bodyPr lIns="45719" rIns="45719"/>
          <a:lstStyle/>
          <a:p>
            <a:pPr/>
          </a:p>
        </p:txBody>
      </p:sp>
      <p:sp>
        <p:nvSpPr>
          <p:cNvPr id="200" name="Badge glyph"/>
          <p:cNvSpPr txBox="1"/>
          <p:nvPr/>
        </p:nvSpPr>
        <p:spPr>
          <a:xfrm>
            <a:off x="411479" y="1858010"/>
            <a:ext cx="4572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1" name="Trap title"/>
          <p:cNvSpPr txBox="1"/>
          <p:nvPr/>
        </p:nvSpPr>
        <p:spPr>
          <a:xfrm>
            <a:off x="1005839" y="2382214"/>
            <a:ext cx="452628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Vibe Trap</a:t>
            </a:r>
          </a:p>
        </p:txBody>
      </p:sp>
      <p:sp>
        <p:nvSpPr>
          <p:cNvPr id="202" name="Trap subtitle"/>
          <p:cNvSpPr txBox="1"/>
          <p:nvPr/>
        </p:nvSpPr>
        <p:spPr>
          <a:xfrm>
            <a:off x="1005839" y="2847647"/>
            <a:ext cx="45262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5C6484"/>
                </a:solidFill>
                <a:latin typeface="Calibri"/>
              </a:defRPr>
            </a:pPr>
            <a:r>
              <a:t>Idea </a:t>
            </a:r>
            <a:r>
              <a:rPr>
                <a:solidFill>
                  <a:srgbClr val="5C6484"/>
                </a:solidFill>
              </a:rPr>
              <a:t>→  </a:t>
            </a:r>
            <a:r>
              <a:rPr b="1">
                <a:solidFill>
                  <a:srgbClr val="B8422A"/>
                </a:solidFill>
              </a:rPr>
              <a:t>AI Chaos</a:t>
            </a:r>
          </a:p>
        </p:txBody>
      </p:sp>
      <p:sp>
        <p:nvSpPr>
          <p:cNvPr id="203" name="Trap description"/>
          <p:cNvSpPr txBox="1"/>
          <p:nvPr/>
        </p:nvSpPr>
        <p:spPr>
          <a:xfrm>
            <a:off x="1005839" y="3246120"/>
            <a:ext cx="4526282"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Skipping the spec leads to unguided guessing, scope creep and technical debt.</a:t>
            </a:r>
          </a:p>
        </p:txBody>
      </p:sp>
      <p:sp>
        <p:nvSpPr>
          <p:cNvPr id="204" name="OpenSpec Way card"/>
          <p:cNvSpPr/>
          <p:nvPr/>
        </p:nvSpPr>
        <p:spPr>
          <a:xfrm>
            <a:off x="6263640" y="2011679"/>
            <a:ext cx="5257801" cy="2560321"/>
          </a:xfrm>
          <a:prstGeom prst="roundRect">
            <a:avLst>
              <a:gd name="adj" fmla="val 3158"/>
            </a:avLst>
          </a:prstGeom>
          <a:solidFill>
            <a:srgbClr val="EEF2FC"/>
          </a:solidFill>
          <a:ln w="19050">
            <a:solidFill>
              <a:srgbClr val="9EE7D5"/>
            </a:solidFill>
          </a:ln>
          <a:effectLst>
            <a:outerShdw sx="100000" sy="100000" kx="0" ky="0" algn="b" rotWithShape="0" blurRad="101600" dist="38100" dir="5400000">
              <a:srgbClr val="1E2761">
                <a:alpha val="12000"/>
              </a:srgbClr>
            </a:outerShdw>
          </a:effectLst>
        </p:spPr>
        <p:txBody>
          <a:bodyPr lIns="45719" rIns="45719"/>
          <a:lstStyle/>
          <a:p>
            <a:pPr/>
          </a:p>
        </p:txBody>
      </p:sp>
      <p:sp>
        <p:nvSpPr>
          <p:cNvPr id="205" name="Badge circle"/>
          <p:cNvSpPr/>
          <p:nvPr/>
        </p:nvSpPr>
        <p:spPr>
          <a:xfrm>
            <a:off x="5989320" y="1737360"/>
            <a:ext cx="548641" cy="548641"/>
          </a:xfrm>
          <a:prstGeom prst="ellipse">
            <a:avLst/>
          </a:prstGeom>
          <a:solidFill>
            <a:srgbClr val="9EE7D5"/>
          </a:solidFill>
          <a:ln w="12700">
            <a:miter lim="400000"/>
          </a:ln>
        </p:spPr>
        <p:txBody>
          <a:bodyPr lIns="45719" rIns="45719"/>
          <a:lstStyle/>
          <a:p>
            <a:pPr/>
          </a:p>
        </p:txBody>
      </p:sp>
      <p:sp>
        <p:nvSpPr>
          <p:cNvPr id="206" name="Badge glyph"/>
          <p:cNvSpPr txBox="1"/>
          <p:nvPr/>
        </p:nvSpPr>
        <p:spPr>
          <a:xfrm>
            <a:off x="6035040" y="1838960"/>
            <a:ext cx="45720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7" name="Way title"/>
          <p:cNvSpPr txBox="1"/>
          <p:nvPr/>
        </p:nvSpPr>
        <p:spPr>
          <a:xfrm>
            <a:off x="6629400" y="2382214"/>
            <a:ext cx="452628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OpenSpec Way</a:t>
            </a:r>
          </a:p>
        </p:txBody>
      </p:sp>
      <p:sp>
        <p:nvSpPr>
          <p:cNvPr id="208" name="Way idea+arrow"/>
          <p:cNvSpPr txBox="1"/>
          <p:nvPr/>
        </p:nvSpPr>
        <p:spPr>
          <a:xfrm>
            <a:off x="6583680" y="2893367"/>
            <a:ext cx="521321"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Idea </a:t>
            </a:r>
            <a:r>
              <a:rPr>
                <a:solidFill>
                  <a:srgbClr val="5C6484"/>
                </a:solidFill>
              </a:rPr>
              <a:t>→  </a:t>
            </a:r>
          </a:p>
        </p:txBody>
      </p:sp>
      <p:sp>
        <p:nvSpPr>
          <p:cNvPr id="209" name="Spec pill bg"/>
          <p:cNvSpPr/>
          <p:nvPr/>
        </p:nvSpPr>
        <p:spPr>
          <a:xfrm>
            <a:off x="7112672" y="2811779"/>
            <a:ext cx="568604" cy="320041"/>
          </a:xfrm>
          <a:prstGeom prst="roundRect">
            <a:avLst>
              <a:gd name="adj" fmla="val 30000"/>
            </a:avLst>
          </a:prstGeom>
          <a:solidFill>
            <a:srgbClr val="1E2761"/>
          </a:solidFill>
          <a:ln w="12700">
            <a:miter lim="400000"/>
          </a:ln>
        </p:spPr>
        <p:txBody>
          <a:bodyPr lIns="45719" rIns="45719"/>
          <a:lstStyle/>
          <a:p>
            <a:pPr/>
          </a:p>
        </p:txBody>
      </p:sp>
      <p:sp>
        <p:nvSpPr>
          <p:cNvPr id="210" name="Spec pill text"/>
          <p:cNvSpPr txBox="1"/>
          <p:nvPr/>
        </p:nvSpPr>
        <p:spPr>
          <a:xfrm>
            <a:off x="7243469" y="2893367"/>
            <a:ext cx="307009"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200">
                <a:solidFill>
                  <a:srgbClr val="FFFFFF"/>
                </a:solidFill>
                <a:latin typeface="Calibri"/>
              </a:defRPr>
            </a:lvl1pPr>
          </a:lstStyle>
          <a:p>
            <a:pPr/>
            <a:r>
              <a:t>Spec</a:t>
            </a:r>
          </a:p>
        </p:txBody>
      </p:sp>
      <p:sp>
        <p:nvSpPr>
          <p:cNvPr id="211" name="Way arrow+cleancode"/>
          <p:cNvSpPr txBox="1"/>
          <p:nvPr/>
        </p:nvSpPr>
        <p:spPr>
          <a:xfrm>
            <a:off x="7681275" y="2893367"/>
            <a:ext cx="926952"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  </a:t>
            </a:r>
            <a:r>
              <a:rPr b="1">
                <a:solidFill>
                  <a:srgbClr val="9EE7D5"/>
                </a:solidFill>
              </a:rPr>
              <a:t>Clean Code</a:t>
            </a:r>
          </a:p>
        </p:txBody>
      </p:sp>
      <p:sp>
        <p:nvSpPr>
          <p:cNvPr id="212" name="Way description"/>
          <p:cNvSpPr txBox="1"/>
          <p:nvPr/>
        </p:nvSpPr>
        <p:spPr>
          <a:xfrm>
            <a:off x="6629400" y="3246120"/>
            <a:ext cx="4526281"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Aligning precisely on the target state before generation guarantees predictable delivery.</a:t>
            </a:r>
          </a:p>
        </p:txBody>
      </p:sp>
      <p:sp>
        <p:nvSpPr>
          <p:cNvPr id="21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1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15</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is OpenSpec?</a:t>
            </a:r>
          </a:p>
        </p:txBody>
      </p:sp>
      <p:sp>
        <p:nvSpPr>
          <p:cNvPr id="217" name="Text 1"/>
          <p:cNvSpPr txBox="1"/>
          <p:nvPr/>
        </p:nvSpPr>
        <p:spPr>
          <a:xfrm>
            <a:off x="640080" y="1215183"/>
            <a:ext cx="10881360"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E2761"/>
                </a:solidFill>
                <a:latin typeface="Cambria"/>
              </a:defRPr>
            </a:lvl1pPr>
          </a:lstStyle>
          <a:p>
            <a:pPr/>
            <a:r>
              <a:t>A lightweight, open-source framework for spec-driven development with AI agents</a:t>
            </a:r>
          </a:p>
        </p:txBody>
      </p:sp>
      <p:sp>
        <p:nvSpPr>
          <p:cNvPr id="218" name="Shape 2"/>
          <p:cNvSpPr/>
          <p:nvPr/>
        </p:nvSpPr>
        <p:spPr>
          <a:xfrm>
            <a:off x="64008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19" name="Shape 3"/>
          <p:cNvSpPr/>
          <p:nvPr/>
        </p:nvSpPr>
        <p:spPr>
          <a:xfrm>
            <a:off x="960119" y="2377439"/>
            <a:ext cx="640081" cy="640081"/>
          </a:xfrm>
          <a:prstGeom prst="ellipse">
            <a:avLst/>
          </a:prstGeom>
          <a:solidFill>
            <a:srgbClr val="1E2761"/>
          </a:solidFill>
          <a:ln w="12700">
            <a:miter lim="400000"/>
          </a:ln>
        </p:spPr>
        <p:txBody>
          <a:bodyPr lIns="45719" rIns="45719"/>
          <a:lstStyle/>
          <a:p>
            <a:pPr/>
          </a:p>
        </p:txBody>
      </p:sp>
      <p:sp>
        <p:nvSpPr>
          <p:cNvPr id="220" name="Text 4"/>
          <p:cNvSpPr txBox="1"/>
          <p:nvPr/>
        </p:nvSpPr>
        <p:spPr>
          <a:xfrm>
            <a:off x="100583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&gt;</a:t>
            </a:r>
          </a:p>
        </p:txBody>
      </p:sp>
      <p:sp>
        <p:nvSpPr>
          <p:cNvPr id="221" name="Text 5"/>
          <p:cNvSpPr txBox="1"/>
          <p:nvPr/>
        </p:nvSpPr>
        <p:spPr>
          <a:xfrm>
            <a:off x="960119" y="3365194"/>
            <a:ext cx="283464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Open source and free</a:t>
            </a:r>
          </a:p>
        </p:txBody>
      </p:sp>
      <p:sp>
        <p:nvSpPr>
          <p:cNvPr id="222" name="Text 6"/>
          <p:cNvSpPr txBox="1"/>
          <p:nvPr/>
        </p:nvSpPr>
        <p:spPr>
          <a:xfrm>
            <a:off x="960119" y="3840479"/>
            <a:ext cx="2834642" cy="4388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MIT-licensed, installed with a single command. No new platform, no account, no data leaving your repository.</a:t>
            </a:r>
          </a:p>
        </p:txBody>
      </p:sp>
      <p:sp>
        <p:nvSpPr>
          <p:cNvPr id="223" name="Shape 7"/>
          <p:cNvSpPr/>
          <p:nvPr/>
        </p:nvSpPr>
        <p:spPr>
          <a:xfrm>
            <a:off x="443484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4" name="Shape 8"/>
          <p:cNvSpPr/>
          <p:nvPr/>
        </p:nvSpPr>
        <p:spPr>
          <a:xfrm>
            <a:off x="4754879" y="2377439"/>
            <a:ext cx="640081" cy="640081"/>
          </a:xfrm>
          <a:prstGeom prst="ellipse">
            <a:avLst/>
          </a:prstGeom>
          <a:solidFill>
            <a:srgbClr val="1E2761"/>
          </a:solidFill>
          <a:ln w="12700">
            <a:miter lim="400000"/>
          </a:ln>
        </p:spPr>
        <p:txBody>
          <a:bodyPr lIns="45719" rIns="45719"/>
          <a:lstStyle/>
          <a:p>
            <a:pPr/>
          </a:p>
        </p:txBody>
      </p:sp>
      <p:sp>
        <p:nvSpPr>
          <p:cNvPr id="225" name="Text 9"/>
          <p:cNvSpPr txBox="1"/>
          <p:nvPr/>
        </p:nvSpPr>
        <p:spPr>
          <a:xfrm>
            <a:off x="480059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26" name="Text 10"/>
          <p:cNvSpPr txBox="1"/>
          <p:nvPr/>
        </p:nvSpPr>
        <p:spPr>
          <a:xfrm>
            <a:off x="475487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Works with any AI agent</a:t>
            </a:r>
          </a:p>
        </p:txBody>
      </p:sp>
      <p:sp>
        <p:nvSpPr>
          <p:cNvPr id="227" name="Text 11"/>
          <p:cNvSpPr txBox="1"/>
          <p:nvPr/>
        </p:nvSpPr>
        <p:spPr>
          <a:xfrm>
            <a:off x="475487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Runs inside the coding assistant your team already uses, Claude included. A shared workflow, not a specific product.</a:t>
            </a:r>
          </a:p>
        </p:txBody>
      </p:sp>
      <p:sp>
        <p:nvSpPr>
          <p:cNvPr id="228" name="Shape 12"/>
          <p:cNvSpPr/>
          <p:nvPr/>
        </p:nvSpPr>
        <p:spPr>
          <a:xfrm>
            <a:off x="822960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9" name="Shape 13"/>
          <p:cNvSpPr/>
          <p:nvPr/>
        </p:nvSpPr>
        <p:spPr>
          <a:xfrm>
            <a:off x="8549640" y="2377439"/>
            <a:ext cx="640081" cy="640081"/>
          </a:xfrm>
          <a:prstGeom prst="ellipse">
            <a:avLst/>
          </a:prstGeom>
          <a:solidFill>
            <a:srgbClr val="1E2761"/>
          </a:solidFill>
          <a:ln w="12700">
            <a:miter lim="400000"/>
          </a:ln>
        </p:spPr>
        <p:txBody>
          <a:bodyPr lIns="45719" rIns="45719"/>
          <a:lstStyle/>
          <a:p>
            <a:pPr/>
          </a:p>
        </p:txBody>
      </p:sp>
      <p:sp>
        <p:nvSpPr>
          <p:cNvPr id="230" name="Text 14"/>
          <p:cNvSpPr txBox="1"/>
          <p:nvPr/>
        </p:nvSpPr>
        <p:spPr>
          <a:xfrm>
            <a:off x="8595360" y="2512059"/>
            <a:ext cx="54864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31" name="Text 15"/>
          <p:cNvSpPr txBox="1"/>
          <p:nvPr/>
        </p:nvSpPr>
        <p:spPr>
          <a:xfrm>
            <a:off x="854963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Structures every change</a:t>
            </a:r>
          </a:p>
        </p:txBody>
      </p:sp>
      <p:sp>
        <p:nvSpPr>
          <p:cNvPr id="232" name="Text 16"/>
          <p:cNvSpPr txBox="1"/>
          <p:nvPr/>
        </p:nvSpPr>
        <p:spPr>
          <a:xfrm>
            <a:off x="854963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Each change gets its own folder holding the proposal, the spec and the tasks, reviewed like any change to the code.</a:t>
            </a:r>
          </a:p>
        </p:txBody>
      </p:sp>
      <p:sp>
        <p:nvSpPr>
          <p:cNvPr id="23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3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36</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ANNEXES</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Reference material</a:t>
            </a:r>
            <a:endParaRPr lang="en-US" sz="6200" dirty="0"/>
          </a:p>
        </p:txBody>
      </p:sp>
      <p:sp>
        <p:nvSpPr>
          <p:cNvPr id="8" name="Text 5"/>
          <p:cNvSpPr/>
          <p:nvPr/>
        </p:nvSpPr>
        <p:spPr>
          <a:xfrm>
            <a:off x="640080" y="3200400"/>
            <a:ext cx="9144000" cy="822960"/>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Mindset  ·  BMAD  ·  Limits  ·  Pilot  ·  Business requirements  ·  Explore  ·  Commands  ·  The workflow  ·  Roles  ·  Alt. conclusion  ·  JIRA and SharePoint  ·  Old vs new process  ·  What a spec looks like  ·  The four artefacts  ·  Several repositories  ·  Making it fit your process  ·  Earlier versions</a:t>
            </a:r>
            <a:endParaRPr lang="en-US" sz="22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OpenSpec · Spec-Driven Development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01" name="Eyebrow"/>
          <p:cNvSpPr txBox="1"/>
          <p:nvPr/>
        </p:nvSpPr>
        <p:spPr>
          <a:xfrm>
            <a:off x="640080" y="100584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The idea</a:t>
            </a:r>
          </a:p>
        </p:txBody>
      </p:sp>
      <p:sp>
        <p:nvSpPr>
          <p:cNvPr id="903" name="Lead"/>
          <p:cNvSpPr txBox="1"/>
          <p:nvPr/>
        </p:nvSpPr>
        <p:spPr>
          <a:xfrm>
            <a:off x="640080" y="2011680"/>
            <a:ext cx="9144000"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Agree on what to build before any code is written.</a:t>
            </a:r>
          </a:p>
        </p:txBody>
      </p:sp>
      <p:sp>
        <p:nvSpPr>
          <p:cNvPr id="302" name="Title"/>
          <p:cNvSpPr txBox="1"/>
          <p:nvPr/>
        </p:nvSpPr>
        <p:spPr>
          <a:xfrm>
            <a:off x="640080" y="1417320"/>
            <a:ext cx="9144000" cy="1188720"/>
          </a:xfrm>
          <a:prstGeom prst="rect">
            <a:avLst/>
          </a:prstGeom>
          <a:ln w="12700">
            <a:noFill/>
            <a:miter lim="400000"/>
          </a:ln>
        </p:spPr>
        <p:txBody>
          <a:bodyPr lIns="45719" rIns="45719" tIns="0" bIns="0" anchor="t"/>
          <a:lstStyle>
            <a:lvl1pPr algn="l">
              <a:defRPr b="1" sz="3400">
                <a:solidFill>
                  <a:srgbClr val="FFFFFF"/>
                </a:solidFill>
                <a:latin typeface="Cambria"/>
              </a:defRPr>
            </a:lvl1pPr>
          </a:lstStyle>
          <a:p>
            <a:pPr/>
            <a:r>
              <a:t>A spec layer between your intent and the code</a:t>
            </a:r>
          </a:p>
        </p:txBody>
      </p:sp>
      <p:sp>
        <p:nvSpPr>
          <p:cNvPr id="303" name="labTODAY"/>
          <p:cNvSpPr txBox="1"/>
          <p:nvPr/>
        </p:nvSpPr>
        <p:spPr>
          <a:xfrm>
            <a:off x="640080" y="2606040"/>
            <a:ext cx="10881360" cy="251460"/>
          </a:xfrm>
          <a:prstGeom prst="rect">
            <a:avLst/>
          </a:prstGeom>
          <a:ln w="12700">
            <a:noFill/>
            <a:miter lim="400000"/>
          </a:ln>
        </p:spPr>
        <p:txBody>
          <a:bodyPr lIns="45719" rIns="45719" tIns="0" bIns="0" anchor="t"/>
          <a:lstStyle>
            <a:lvl1pPr algn="l">
              <a:defRPr b="1" sz="1000" spc="160">
                <a:solidFill>
                  <a:srgbClr val="CADCFC"/>
                </a:solidFill>
                <a:latin typeface="Calibri"/>
              </a:defRPr>
            </a:lvl1pPr>
          </a:lstStyle>
          <a:p>
            <a:pPr/>
            <a:r>
              <a:t>TODAY</a:t>
            </a:r>
          </a:p>
        </p:txBody>
      </p:sp>
      <p:sp>
        <p:nvSpPr>
          <p:cNvPr id="301" name="bTODAY0"/>
          <p:cNvSpPr/>
          <p:nvPr/>
        </p:nvSpPr>
        <p:spPr>
          <a:xfrm>
            <a:off x="640080" y="29718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04" name="tTODAY0"/>
          <p:cNvSpPr txBox="1"/>
          <p:nvPr/>
        </p:nvSpPr>
        <p:spPr>
          <a:xfrm>
            <a:off x="77724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05" name="aTODAY0"/>
          <p:cNvSpPr txBox="1"/>
          <p:nvPr/>
        </p:nvSpPr>
        <p:spPr>
          <a:xfrm>
            <a:off x="384048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2" name="bTODAY1"/>
          <p:cNvSpPr/>
          <p:nvPr/>
        </p:nvSpPr>
        <p:spPr>
          <a:xfrm>
            <a:off x="4480560" y="2971800"/>
            <a:ext cx="3200400" cy="1005840"/>
          </a:xfrm>
          <a:prstGeom prst="roundRect">
            <a:avLst>
              <a:gd name="adj" fmla="val 9000"/>
            </a:avLst>
          </a:prstGeom>
          <a:noFill/>
          <a:ln w="19050">
            <a:solidFill>
              <a:srgbClr val="6C74A0"/>
            </a:solidFill>
            <a:prstDash val="dash"/>
            <a:miter lim="400000"/>
          </a:ln>
        </p:spPr>
        <p:txBody>
          <a:bodyPr lIns="45719" rIns="45719"/>
          <a:lstStyle/>
          <a:p>
            <a:pPr/>
          </a:p>
        </p:txBody>
      </p:sp>
      <p:sp>
        <p:nvSpPr>
          <p:cNvPr id="306" name="tTODAY1"/>
          <p:cNvSpPr txBox="1"/>
          <p:nvPr/>
        </p:nvSpPr>
        <p:spPr>
          <a:xfrm>
            <a:off x="4617720" y="324612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prompt</a:t>
            </a:r>
          </a:p>
        </p:txBody>
      </p:sp>
      <p:sp>
        <p:nvSpPr>
          <p:cNvPr id="307" name="sTODAY1"/>
          <p:cNvSpPr txBox="1"/>
          <p:nvPr/>
        </p:nvSpPr>
        <p:spPr>
          <a:xfrm>
            <a:off x="4617720" y="3611880"/>
            <a:ext cx="2926080" cy="251460"/>
          </a:xfrm>
          <a:prstGeom prst="rect">
            <a:avLst/>
          </a:prstGeom>
          <a:ln w="12700">
            <a:noFill/>
            <a:miter lim="400000"/>
          </a:ln>
        </p:spPr>
        <p:txBody>
          <a:bodyPr lIns="45719" rIns="45719" tIns="0" bIns="0" anchor="t"/>
          <a:lstStyle>
            <a:lvl1pPr algn="ctr">
              <a:defRPr sz="1000">
                <a:solidFill>
                  <a:srgbClr val="5C6484"/>
                </a:solidFill>
                <a:latin typeface="Calibri"/>
              </a:defRPr>
            </a:lvl1pPr>
          </a:lstStyle>
          <a:p>
            <a:pPr/>
            <a:r>
              <a:t>typed once, gone tomorrow</a:t>
            </a:r>
          </a:p>
        </p:txBody>
      </p:sp>
      <p:sp>
        <p:nvSpPr>
          <p:cNvPr id="308" name="aTODAY1"/>
          <p:cNvSpPr txBox="1"/>
          <p:nvPr/>
        </p:nvSpPr>
        <p:spPr>
          <a:xfrm>
            <a:off x="768096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3" name="bTODAY2"/>
          <p:cNvSpPr/>
          <p:nvPr/>
        </p:nvSpPr>
        <p:spPr>
          <a:xfrm>
            <a:off x="8321040" y="29718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09" name="tTODAY2"/>
          <p:cNvSpPr txBox="1"/>
          <p:nvPr/>
        </p:nvSpPr>
        <p:spPr>
          <a:xfrm>
            <a:off x="845820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0" name="fTODAY"/>
          <p:cNvSpPr txBox="1"/>
          <p:nvPr/>
        </p:nvSpPr>
        <p:spPr>
          <a:xfrm>
            <a:off x="640080" y="4137660"/>
            <a:ext cx="10881360" cy="251460"/>
          </a:xfrm>
          <a:prstGeom prst="rect">
            <a:avLst/>
          </a:prstGeom>
          <a:ln w="12700">
            <a:noFill/>
            <a:miter lim="400000"/>
          </a:ln>
        </p:spPr>
        <p:txBody>
          <a:bodyPr lIns="45719" rIns="45719" tIns="0" bIns="0" anchor="t"/>
          <a:lstStyle>
            <a:lvl1pPr algn="l">
              <a:defRPr i="1" sz="1150">
                <a:solidFill>
                  <a:srgbClr val="9AA3C0"/>
                </a:solidFill>
                <a:latin typeface="Calibri"/>
              </a:defRPr>
            </a:lvl1pPr>
          </a:lstStyle>
          <a:p>
            <a:pPr/>
            <a:r>
              <a:t>Nothing between them but a conversation.</a:t>
            </a:r>
          </a:p>
        </p:txBody>
      </p:sp>
      <p:sp>
        <p:nvSpPr>
          <p:cNvPr id="311" name="labWITH OPENSPEC"/>
          <p:cNvSpPr txBox="1"/>
          <p:nvPr/>
        </p:nvSpPr>
        <p:spPr>
          <a:xfrm>
            <a:off x="640080" y="46634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04" name="bWITH OPENSPEC0"/>
          <p:cNvSpPr/>
          <p:nvPr/>
        </p:nvSpPr>
        <p:spPr>
          <a:xfrm>
            <a:off x="640080" y="50292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12" name="tWITH OPENSPEC0"/>
          <p:cNvSpPr txBox="1"/>
          <p:nvPr/>
        </p:nvSpPr>
        <p:spPr>
          <a:xfrm>
            <a:off x="77724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13" name="aWITH OPENSPEC0"/>
          <p:cNvSpPr txBox="1"/>
          <p:nvPr/>
        </p:nvSpPr>
        <p:spPr>
          <a:xfrm>
            <a:off x="384048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900" name="specCard"/>
          <p:cNvSpPr/>
          <p:nvPr/>
        </p:nvSpPr>
        <p:spPr>
          <a:xfrm>
            <a:off x="4480560" y="5029200"/>
            <a:ext cx="3200400" cy="1005840"/>
          </a:xfrm>
          <a:prstGeom prst="roundRect">
            <a:avLst>
              <a:gd name="adj" fmla="val 9000"/>
            </a:avLst>
          </a:prstGeom>
          <a:solidFill>
            <a:srgbClr val="FF6B4A"/>
          </a:solidFill>
          <a:ln w="12700">
            <a:noFill/>
            <a:miter lim="400000"/>
          </a:ln>
        </p:spPr>
        <p:txBody>
          <a:bodyPr lIns="45719" rIns="45719"/>
          <a:lstStyle/>
          <a:p>
            <a:pPr/>
          </a:p>
        </p:txBody>
      </p:sp>
      <p:sp>
        <p:nvSpPr>
          <p:cNvPr id="901" name="specH"/>
          <p:cNvSpPr txBox="1"/>
          <p:nvPr/>
        </p:nvSpPr>
        <p:spPr>
          <a:xfrm>
            <a:off x="4617720" y="5257800"/>
            <a:ext cx="2926080"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a:t>
            </a:r>
          </a:p>
        </p:txBody>
      </p:sp>
      <p:sp>
        <p:nvSpPr>
          <p:cNvPr id="902" name="specS"/>
          <p:cNvSpPr txBox="1"/>
          <p:nvPr/>
        </p:nvSpPr>
        <p:spPr>
          <a:xfrm>
            <a:off x="4617720" y="5623560"/>
            <a:ext cx="2926080" cy="251460"/>
          </a:xfrm>
          <a:prstGeom prst="rect">
            <a:avLst/>
          </a:prstGeom>
          <a:ln w="12700">
            <a:noFill/>
            <a:miter lim="400000"/>
          </a:ln>
        </p:spPr>
        <p:txBody>
          <a:bodyPr lIns="45719" rIns="45719" tIns="0" bIns="0" anchor="t"/>
          <a:lstStyle>
            <a:lvl1pPr algn="ctr">
              <a:defRPr b="0" sz="950">
                <a:solidFill>
                  <a:srgbClr val="5A1A0A"/>
                </a:solidFill>
                <a:latin typeface="Calibri"/>
              </a:defRPr>
            </a:lvl1pPr>
          </a:lstStyle>
          <a:p>
            <a:pPr/>
            <a:r>
              <a:t>reviewable  ·  versioned  ·  shared</a:t>
            </a:r>
          </a:p>
        </p:txBody>
      </p:sp>
      <p:sp>
        <p:nvSpPr>
          <p:cNvPr id="316" name="aWITH OPENSPEC1"/>
          <p:cNvSpPr txBox="1"/>
          <p:nvPr/>
        </p:nvSpPr>
        <p:spPr>
          <a:xfrm>
            <a:off x="768096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6" name="bWITH OPENSPEC2"/>
          <p:cNvSpPr/>
          <p:nvPr/>
        </p:nvSpPr>
        <p:spPr>
          <a:xfrm>
            <a:off x="8321040" y="50292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17" name="tWITH OPENSPEC2"/>
          <p:cNvSpPr txBox="1"/>
          <p:nvPr/>
        </p:nvSpPr>
        <p:spPr>
          <a:xfrm>
            <a:off x="845820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8" name="fWITH OPENSPEC"/>
          <p:cNvSpPr txBox="1"/>
          <p:nvPr/>
        </p:nvSpPr>
        <p:spPr>
          <a:xfrm>
            <a:off x="640080" y="6195060"/>
            <a:ext cx="10881360" cy="251460"/>
          </a:xfrm>
          <a:prstGeom prst="rect">
            <a:avLst/>
          </a:prstGeom>
          <a:ln w="12700">
            <a:noFill/>
            <a:miter lim="400000"/>
          </a:ln>
        </p:spPr>
        <p:txBody>
          <a:bodyPr lIns="45719" rIns="45719" tIns="0" bIns="0" anchor="t"/>
          <a:lstStyle>
            <a:lvl1pPr algn="l">
              <a:defRPr i="1" sz="1150">
                <a:solidFill>
                  <a:srgbClr val="9EE7D5"/>
                </a:solidFill>
                <a:latin typeface="Calibri"/>
              </a:defRPr>
            </a:lvl1pPr>
          </a:lstStyle>
          <a:p>
            <a:pPr/>
            <a:r>
              <a:t>A person approves it. The agent implements that, and only that.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a spec looks like</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A spec anyone can read</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27</a:t>
            </a:r>
          </a:p>
        </p:txBody>
      </p:sp>
      <p:sp>
        <p:nvSpPr>
          <p:cNvPr id="301" name="Lead"/>
          <p:cNvSpPr txBox="1"/>
          <p:nvPr/>
        </p:nvSpPr>
        <p:spPr>
          <a:xfrm>
            <a:off x="640080" y="1691640"/>
            <a:ext cx="5029200"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At the centre of every change sits the requirements file: what the system must do, agreed before anything is built. This is what it looks like.</a:t>
            </a:r>
          </a:p>
        </p:txBody>
      </p:sp>
      <p:sp>
        <p:nvSpPr>
          <p:cNvPr id="302" name="Dot 0"/>
          <p:cNvSpPr/>
          <p:nvPr/>
        </p:nvSpPr>
        <p:spPr>
          <a:xfrm>
            <a:off x="640080" y="274320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960120" y="26517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Written in plain English</a:t>
            </a:r>
          </a:p>
        </p:txBody>
      </p:sp>
      <p:sp>
        <p:nvSpPr>
          <p:cNvPr id="304" name="B 0"/>
          <p:cNvSpPr txBox="1"/>
          <p:nvPr/>
        </p:nvSpPr>
        <p:spPr>
          <a:xfrm>
            <a:off x="960120" y="306324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No notation to learn. Anyone on the team can read it, correct it and sign it off.</a:t>
            </a:r>
          </a:p>
        </p:txBody>
      </p:sp>
      <p:sp>
        <p:nvSpPr>
          <p:cNvPr id="305" name="Dot 1"/>
          <p:cNvSpPr/>
          <p:nvPr/>
        </p:nvSpPr>
        <p:spPr>
          <a:xfrm>
            <a:off x="640080" y="37490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960120" y="36576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Behaviour, not implementation</a:t>
            </a:r>
          </a:p>
        </p:txBody>
      </p:sp>
      <p:sp>
        <p:nvSpPr>
          <p:cNvPr id="307" name="B 1"/>
          <p:cNvSpPr txBox="1"/>
          <p:nvPr/>
        </p:nvSpPr>
        <p:spPr>
          <a:xfrm>
            <a:off x="960120" y="406908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What the system must do, not how the code goes about it.</a:t>
            </a:r>
          </a:p>
        </p:txBody>
      </p:sp>
      <p:sp>
        <p:nvSpPr>
          <p:cNvPr id="308" name="Dot 2"/>
          <p:cNvSpPr/>
          <p:nvPr/>
        </p:nvSpPr>
        <p:spPr>
          <a:xfrm>
            <a:off x="640080" y="475488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960120" y="466344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Only what changes</a:t>
            </a:r>
          </a:p>
        </p:txBody>
      </p:sp>
      <p:sp>
        <p:nvSpPr>
          <p:cNvPr id="310" name="B 2"/>
          <p:cNvSpPr txBox="1"/>
          <p:nvPr/>
        </p:nvSpPr>
        <p:spPr>
          <a:xfrm>
            <a:off x="960120" y="507492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A change states what it adds, modifies or removes, so an existing application needs no rewrite.</a:t>
            </a:r>
          </a:p>
        </p:txBody>
      </p:sp>
      <p:sp>
        <p:nvSpPr>
          <p:cNvPr id="311" name="Code card"/>
          <p:cNvSpPr/>
          <p:nvPr/>
        </p:nvSpPr>
        <p:spPr>
          <a:xfrm>
            <a:off x="6217920" y="1691640"/>
            <a:ext cx="5303520" cy="4114800"/>
          </a:xfrm>
          <a:prstGeom prst="roundRect">
            <a:avLst>
              <a:gd name="adj" fmla="val 3158"/>
            </a:avLst>
          </a:prstGeom>
          <a:solidFill>
            <a:srgbClr val="EEF2FC"/>
          </a:solidFill>
          <a:ln w="12700">
            <a:solidFill>
              <a:srgbClr val="CADCFC"/>
            </a:solidFill>
            <a:miter lim="400000"/>
          </a:ln>
        </p:spPr>
        <p:txBody>
          <a:bodyPr lIns="45719" rIns="45719"/>
          <a:lstStyle/>
          <a:p>
            <a:pPr/>
          </a:p>
        </p:txBody>
      </p:sp>
      <p:sp>
        <p:nvSpPr>
          <p:cNvPr id="312" name="Code path"/>
          <p:cNvSpPr txBox="1"/>
          <p:nvPr/>
        </p:nvSpPr>
        <p:spPr>
          <a:xfrm>
            <a:off x="6537960" y="1965960"/>
            <a:ext cx="4663440" cy="205740"/>
          </a:xfrm>
          <a:prstGeom prst="rect">
            <a:avLst/>
          </a:prstGeom>
          <a:ln w="12700">
            <a:noFill/>
            <a:miter lim="400000"/>
          </a:ln>
        </p:spPr>
        <p:txBody>
          <a:bodyPr lIns="45719" rIns="45719" tIns="0" bIns="0" anchor="t"/>
          <a:lstStyle>
            <a:lvl1pPr algn="l">
              <a:defRPr sz="800">
                <a:solidFill>
                  <a:srgbClr val="5C6484"/>
                </a:solidFill>
                <a:latin typeface="Courier New"/>
              </a:defRPr>
            </a:lvl1pPr>
          </a:lstStyle>
          <a:p>
            <a:pPr/>
            <a:r>
              <a:t>changes/add-password-reset/specs/auth/spec.md</a:t>
            </a:r>
          </a:p>
        </p:txBody>
      </p:sp>
      <p:sp>
        <p:nvSpPr>
          <p:cNvPr id="313" name="Code body"/>
          <p:cNvSpPr txBox="1"/>
          <p:nvPr/>
        </p:nvSpPr>
        <p:spPr>
          <a:xfrm>
            <a:off x="6537960" y="2331720"/>
            <a:ext cx="4663440" cy="3017520"/>
          </a:xfrm>
          <a:prstGeom prst="rect">
            <a:avLst/>
          </a:prstGeom>
          <a:ln w="12700">
            <a:noFill/>
            <a:miter lim="400000"/>
          </a:ln>
        </p:spPr>
        <p:txBody>
          <a:bodyPr lIns="45719" rIns="45719" tIns="0" bIns="0" anchor="t"/>
          <a:lstStyle>
            <a:lvl1pPr algn="l">
              <a:defRPr sz="950">
                <a:solidFill>
                  <a:srgbClr val="1E2761"/>
                </a:solidFill>
                <a:latin typeface="Courier New"/>
              </a:defRPr>
            </a:lvl1pPr>
          </a:lstStyle>
          <a:p>
            <a:pPr/>
            <a:r>
              <a:t>## ADDED Requirements</a:t>
            </a:r>
          </a:p>
          <a:p>
            <a:pPr/>
          </a:p>
          <a:p>
            <a:pPr/>
            <a:r>
              <a:t>### Requirement: Password reset</a:t>
            </a:r>
          </a:p>
          <a:p>
            <a:pPr/>
            <a:r>
              <a:t>The system MUST let a user request a</a:t>
            </a:r>
          </a:p>
          <a:p>
            <a:pPr/>
            <a:r>
              <a:t>reset link by email.</a:t>
            </a:r>
          </a:p>
          <a:p>
            <a:pPr/>
          </a:p>
          <a:p>
            <a:pPr/>
            <a:r>
              <a:t>#### Scenario: Link has expired</a:t>
            </a:r>
          </a:p>
          <a:p>
            <a:pPr/>
            <a:r>
              <a:t>- WHEN the link is older than 30 minutes</a:t>
            </a:r>
          </a:p>
          <a:p>
            <a:pPr/>
            <a:r>
              <a:t>- THEN the system MUST refuse it</a:t>
            </a:r>
          </a:p>
          <a:p>
            <a:pPr/>
          </a:p>
          <a:p>
            <a:pPr/>
            <a:r>
              <a:t>## REMOVED Requirements</a:t>
            </a:r>
          </a:p>
          <a:p>
            <a:pPr/>
          </a:p>
          <a:p>
            <a:pPr/>
            <a:r>
              <a:t>### Requirement: Legacy SSO login</a:t>
            </a:r>
          </a:p>
        </p:txBody>
      </p:sp>
      <p:sp>
        <p:nvSpPr>
          <p:cNvPr id="314" name="Code note"/>
          <p:cNvSpPr txBox="1"/>
          <p:nvPr/>
        </p:nvSpPr>
        <p:spPr>
          <a:xfrm>
            <a:off x="640080" y="5943600"/>
            <a:ext cx="10881360" cy="2057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example.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301" name="Eyebrow"/>
          <p:cNvSpPr txBox="1"/>
          <p:nvPr/>
        </p:nvSpPr>
        <p:spPr>
          <a:xfrm>
            <a:off x="640080" y="137160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DEMO</a:t>
            </a:r>
          </a:p>
        </p:txBody>
      </p:sp>
      <p:sp>
        <p:nvSpPr>
          <p:cNvPr id="302" name="Title"/>
          <p:cNvSpPr txBox="1"/>
          <p:nvPr/>
        </p:nvSpPr>
        <p:spPr>
          <a:xfrm>
            <a:off x="640080" y="1783080"/>
            <a:ext cx="9144000" cy="731520"/>
          </a:xfrm>
          <a:prstGeom prst="rect">
            <a:avLst/>
          </a:prstGeom>
          <a:ln w="12700">
            <a:noFill/>
            <a:miter lim="400000"/>
          </a:ln>
        </p:spPr>
        <p:txBody>
          <a:bodyPr lIns="45719" rIns="45719" tIns="0" bIns="0" anchor="t"/>
          <a:lstStyle>
            <a:lvl1pPr algn="l">
              <a:defRPr b="1" sz="3600">
                <a:solidFill>
                  <a:srgbClr val="FFFFFF"/>
                </a:solidFill>
                <a:latin typeface="Cambria"/>
              </a:defRPr>
            </a:lvl1pPr>
          </a:lstStyle>
          <a:p>
            <a:pPr/>
            <a:r>
              <a:t>From a batch job to a written spec</a:t>
            </a:r>
          </a:p>
        </p:txBody>
      </p:sp>
      <p:sp>
        <p:nvSpPr>
          <p:cNvPr id="303" name="Lead"/>
          <p:cNvSpPr txBox="1"/>
          <p:nvPr/>
        </p:nvSpPr>
        <p:spPr>
          <a:xfrm>
            <a:off x="640080" y="2834640"/>
            <a:ext cx="7315200" cy="548640"/>
          </a:xfrm>
          <a:prstGeom prst="rect">
            <a:avLst/>
          </a:prstGeom>
          <a:ln w="12700">
            <a:noFill/>
            <a:miter lim="400000"/>
          </a:ln>
        </p:spPr>
        <p:txBody>
          <a:bodyPr lIns="45719" rIns="45719" tIns="0" bIns="0" anchor="t"/>
          <a:lstStyle>
            <a:lvl1pPr algn="l">
              <a:defRPr sz="1550">
                <a:solidFill>
                  <a:srgbClr val="CADCFC"/>
                </a:solidFill>
                <a:latin typeface="Calibri"/>
              </a:defRPr>
            </a:lvl1pPr>
          </a:lstStyle>
          <a:p>
            <a:pPr/>
            <a:r>
              <a:t>The migration agent running propose on a real Watchlist batch job.</a:t>
            </a:r>
          </a:p>
        </p:txBody>
      </p:sp>
      <p:sp>
        <p:nvSpPr>
          <p:cNvPr id="304" name="Dot 0"/>
          <p:cNvSpPr/>
          <p:nvPr/>
        </p:nvSpPr>
        <p:spPr>
          <a:xfrm>
            <a:off x="640080" y="4023360"/>
            <a:ext cx="137160" cy="137160"/>
          </a:xfrm>
          <a:prstGeom prst="ellipse">
            <a:avLst/>
          </a:prstGeom>
          <a:solidFill>
            <a:srgbClr val="FF6B4A"/>
          </a:solidFill>
          <a:ln w="12700">
            <a:noFill/>
            <a:miter lim="400000"/>
          </a:ln>
        </p:spPr>
        <p:txBody>
          <a:bodyPr lIns="45719" rIns="45719"/>
          <a:lstStyle/>
          <a:p>
            <a:pPr/>
          </a:p>
        </p:txBody>
      </p:sp>
      <p:sp>
        <p:nvSpPr>
          <p:cNvPr id="305" name="H 0"/>
          <p:cNvSpPr txBox="1"/>
          <p:nvPr/>
        </p:nvSpPr>
        <p:spPr>
          <a:xfrm>
            <a:off x="960120" y="393192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The prompt</a:t>
            </a:r>
          </a:p>
        </p:txBody>
      </p:sp>
      <p:sp>
        <p:nvSpPr>
          <p:cNvPr id="306" name="B 0"/>
          <p:cNvSpPr txBox="1"/>
          <p:nvPr/>
        </p:nvSpPr>
        <p:spPr>
          <a:xfrm>
            <a:off x="2926080" y="393192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Migrate the Res08 batch job. Four words, and nothing else is typed.</a:t>
            </a:r>
          </a:p>
        </p:txBody>
      </p:sp>
      <p:sp>
        <p:nvSpPr>
          <p:cNvPr id="307" name="Dot 1"/>
          <p:cNvSpPr/>
          <p:nvPr/>
        </p:nvSpPr>
        <p:spPr>
          <a:xfrm>
            <a:off x="640080" y="4663440"/>
            <a:ext cx="137160" cy="137160"/>
          </a:xfrm>
          <a:prstGeom prst="ellipse">
            <a:avLst/>
          </a:prstGeom>
          <a:solidFill>
            <a:srgbClr val="FF6B4A"/>
          </a:solidFill>
          <a:ln w="12700">
            <a:noFill/>
            <a:miter lim="400000"/>
          </a:ln>
        </p:spPr>
        <p:txBody>
          <a:bodyPr lIns="45719" rIns="45719"/>
          <a:lstStyle/>
          <a:p>
            <a:pPr/>
          </a:p>
        </p:txBody>
      </p:sp>
      <p:sp>
        <p:nvSpPr>
          <p:cNvPr id="308" name="H 1"/>
          <p:cNvSpPr txBox="1"/>
          <p:nvPr/>
        </p:nvSpPr>
        <p:spPr>
          <a:xfrm>
            <a:off x="960120" y="457200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Extraction</a:t>
            </a:r>
          </a:p>
        </p:txBody>
      </p:sp>
      <p:sp>
        <p:nvSpPr>
          <p:cNvPr id="309" name="B 1"/>
          <p:cNvSpPr txBox="1"/>
          <p:nvPr/>
        </p:nvSpPr>
        <p:spPr>
          <a:xfrm>
            <a:off x="2926080" y="457200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the agent reads the existing job and drafts the rules it actually implements</a:t>
            </a:r>
          </a:p>
        </p:txBody>
      </p:sp>
      <p:sp>
        <p:nvSpPr>
          <p:cNvPr id="310" name="Dot 2"/>
          <p:cNvSpPr/>
          <p:nvPr/>
        </p:nvSpPr>
        <p:spPr>
          <a:xfrm>
            <a:off x="640080" y="5303520"/>
            <a:ext cx="137160" cy="137160"/>
          </a:xfrm>
          <a:prstGeom prst="ellipse">
            <a:avLst/>
          </a:prstGeom>
          <a:solidFill>
            <a:srgbClr val="FF6B4A"/>
          </a:solidFill>
          <a:ln w="12700">
            <a:noFill/>
            <a:miter lim="400000"/>
          </a:ln>
        </p:spPr>
        <p:txBody>
          <a:bodyPr lIns="45719" rIns="45719"/>
          <a:lstStyle/>
          <a:p>
            <a:pPr/>
          </a:p>
        </p:txBody>
      </p:sp>
      <p:sp>
        <p:nvSpPr>
          <p:cNvPr id="311" name="H 2"/>
          <p:cNvSpPr txBox="1"/>
          <p:nvPr/>
        </p:nvSpPr>
        <p:spPr>
          <a:xfrm>
            <a:off x="960120" y="521208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The artefacts</a:t>
            </a:r>
          </a:p>
        </p:txBody>
      </p:sp>
      <p:sp>
        <p:nvSpPr>
          <p:cNvPr id="312" name="B 2"/>
          <p:cNvSpPr txBox="1"/>
          <p:nvPr/>
        </p:nvSpPr>
        <p:spPr>
          <a:xfrm>
            <a:off x="2926080" y="521208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proposal, spec with its scenarios, design and task list, written into the repository</a:t>
            </a:r>
          </a:p>
        </p:txBody>
      </p:sp>
      <p:sp>
        <p:nvSpPr>
          <p:cNvPr id="313" name="Fallback"/>
          <p:cNvSpPr txBox="1"/>
          <p:nvPr/>
        </p:nvSpPr>
        <p:spPr>
          <a:xfrm>
            <a:off x="640080" y="5943600"/>
            <a:ext cx="9144000" cy="228600"/>
          </a:xfrm>
          <a:prstGeom prst="rect">
            <a:avLst/>
          </a:prstGeom>
          <a:ln w="12700">
            <a:noFill/>
            <a:miter lim="400000"/>
          </a:ln>
        </p:spPr>
        <p:txBody>
          <a:bodyPr lIns="45719" rIns="45719" tIns="0" bIns="0" anchor="t"/>
          <a:lstStyle>
            <a:lvl1pPr algn="l">
              <a:defRPr i="1" sz="1000">
                <a:solidFill>
                  <a:srgbClr val="6C74A0"/>
                </a:solidFill>
                <a:latin typeface="Calibri"/>
              </a:defRPr>
            </a:lvl1pPr>
          </a:lstStyle>
          <a:p>
            <a:pPr/>
            <a:r>
              <a:t>Implementation is not part of this demo. The same change is in the repository, already archived.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landscape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Two roads to the same principle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16</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Another team here uses BMAD. Both frameworks reach the same conclusion: write the intent down before the agent builds. They differ in how much process they carry.</a:t>
            </a:r>
          </a:p>
        </p:txBody>
      </p:sp>
      <p:sp>
        <p:nvSpPr>
          <p:cNvPr id="302" name="Card BMAD-METHOD"/>
          <p:cNvSpPr/>
          <p:nvPr/>
        </p:nvSpPr>
        <p:spPr>
          <a:xfrm>
            <a:off x="6400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BMAD-METHOD"/>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ame BMAD-METHOD"/>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BMAD-METHOD</a:t>
            </a:r>
          </a:p>
        </p:txBody>
      </p:sp>
      <p:sp>
        <p:nvSpPr>
          <p:cNvPr id="305" name="BBMAD-METHOD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BMAD-METHOD0"/>
          <p:cNvSpPr txBox="1"/>
          <p:nvPr/>
        </p:nvSpPr>
        <p:spPr>
          <a:xfrm>
            <a:off x="11887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the whole delivery loop: clarify, plan, build, learn</a:t>
            </a:r>
          </a:p>
        </p:txBody>
      </p:sp>
      <p:sp>
        <p:nvSpPr>
          <p:cNvPr id="307" name="BBMAD-METHOD1"/>
          <p:cNvSpPr/>
          <p:nvPr/>
        </p:nvSpPr>
        <p:spPr>
          <a:xfrm>
            <a:off x="960120" y="3909060"/>
            <a:ext cx="91440" cy="91440"/>
          </a:xfrm>
          <a:prstGeom prst="rect">
            <a:avLst/>
          </a:prstGeom>
          <a:solidFill>
            <a:srgbClr val="FF6B4A"/>
          </a:solidFill>
          <a:ln w="12700">
            <a:noFill/>
            <a:miter lim="400000"/>
          </a:ln>
        </p:spPr>
        <p:txBody>
          <a:bodyPr lIns="45719" rIns="45719"/>
          <a:lstStyle/>
          <a:p>
            <a:pPr/>
          </a:p>
        </p:txBody>
      </p:sp>
      <p:sp>
        <p:nvSpPr>
          <p:cNvPr id="308" name="TBMAD-METHOD1"/>
          <p:cNvSpPr txBox="1"/>
          <p:nvPr/>
        </p:nvSpPr>
        <p:spPr>
          <a:xfrm>
            <a:off x="11887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Specialised agents for product, architecture, UX, dev and testing</a:t>
            </a:r>
          </a:p>
        </p:txBody>
      </p:sp>
      <p:sp>
        <p:nvSpPr>
          <p:cNvPr id="309" name="BBMAD-METHOD2"/>
          <p:cNvSpPr/>
          <p:nvPr/>
        </p:nvSpPr>
        <p:spPr>
          <a:xfrm>
            <a:off x="960120" y="4366260"/>
            <a:ext cx="91440" cy="91440"/>
          </a:xfrm>
          <a:prstGeom prst="rect">
            <a:avLst/>
          </a:prstGeom>
          <a:solidFill>
            <a:srgbClr val="FF6B4A"/>
          </a:solidFill>
          <a:ln w="12700">
            <a:noFill/>
            <a:miter lim="400000"/>
          </a:ln>
        </p:spPr>
        <p:txBody>
          <a:bodyPr lIns="45719" rIns="45719"/>
          <a:lstStyle/>
          <a:p>
            <a:pPr/>
          </a:p>
        </p:txBody>
      </p:sp>
      <p:sp>
        <p:nvSpPr>
          <p:cNvPr id="310" name="TBMAD-METHOD2"/>
          <p:cNvSpPr txBox="1"/>
          <p:nvPr/>
        </p:nvSpPr>
        <p:spPr>
          <a:xfrm>
            <a:off x="11887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briefs, specifications and architecture documents</a:t>
            </a:r>
          </a:p>
        </p:txBody>
      </p:sp>
      <p:sp>
        <p:nvSpPr>
          <p:cNvPr id="311" name="BBMAD-METHOD3"/>
          <p:cNvSpPr/>
          <p:nvPr/>
        </p:nvSpPr>
        <p:spPr>
          <a:xfrm>
            <a:off x="960120" y="4823460"/>
            <a:ext cx="91440" cy="91440"/>
          </a:xfrm>
          <a:prstGeom prst="rect">
            <a:avLst/>
          </a:prstGeom>
          <a:solidFill>
            <a:srgbClr val="FF6B4A"/>
          </a:solidFill>
          <a:ln w="12700">
            <a:noFill/>
            <a:miter lim="400000"/>
          </a:ln>
        </p:spPr>
        <p:txBody>
          <a:bodyPr lIns="45719" rIns="45719"/>
          <a:lstStyle/>
          <a:p>
            <a:pPr/>
          </a:p>
        </p:txBody>
      </p:sp>
      <p:sp>
        <p:nvSpPr>
          <p:cNvPr id="312" name="TBMAD-METHOD3"/>
          <p:cNvSpPr txBox="1"/>
          <p:nvPr/>
        </p:nvSpPr>
        <p:spPr>
          <a:xfrm>
            <a:off x="11887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Planning can start in a web assistant, then move to the editor</a:t>
            </a:r>
          </a:p>
        </p:txBody>
      </p:sp>
      <p:sp>
        <p:nvSpPr>
          <p:cNvPr id="313" name="BBMAD-METHOD4"/>
          <p:cNvSpPr/>
          <p:nvPr/>
        </p:nvSpPr>
        <p:spPr>
          <a:xfrm>
            <a:off x="960120" y="5280660"/>
            <a:ext cx="91440" cy="91440"/>
          </a:xfrm>
          <a:prstGeom prst="rect">
            <a:avLst/>
          </a:prstGeom>
          <a:solidFill>
            <a:srgbClr val="FF6B4A"/>
          </a:solidFill>
          <a:ln w="12700">
            <a:noFill/>
            <a:miter lim="400000"/>
          </a:ln>
        </p:spPr>
        <p:txBody>
          <a:bodyPr lIns="45719" rIns="45719"/>
          <a:lstStyle/>
          <a:p>
            <a:pPr/>
          </a:p>
        </p:txBody>
      </p:sp>
      <p:sp>
        <p:nvSpPr>
          <p:cNvPr id="314" name="TBMAD-METHOD4"/>
          <p:cNvSpPr txBox="1"/>
          <p:nvPr/>
        </p:nvSpPr>
        <p:spPr>
          <a:xfrm>
            <a:off x="11887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npx bmad-method install</a:t>
            </a:r>
          </a:p>
        </p:txBody>
      </p:sp>
      <p:sp>
        <p:nvSpPr>
          <p:cNvPr id="315" name="Card OpenSpec"/>
          <p:cNvSpPr/>
          <p:nvPr/>
        </p:nvSpPr>
        <p:spPr>
          <a:xfrm>
            <a:off x="65836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6" name="Head OpenSpec"/>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7" name="Name OpenSpec"/>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OpenSpec</a:t>
            </a:r>
          </a:p>
        </p:txBody>
      </p:sp>
      <p:sp>
        <p:nvSpPr>
          <p:cNvPr id="318" name="BOpenSpec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9" name="TOpenSpec0"/>
          <p:cNvSpPr txBox="1"/>
          <p:nvPr/>
        </p:nvSpPr>
        <p:spPr>
          <a:xfrm>
            <a:off x="71323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one change at a time: propose, apply, archive</a:t>
            </a:r>
          </a:p>
        </p:txBody>
      </p:sp>
      <p:sp>
        <p:nvSpPr>
          <p:cNvPr id="320" name="BOpenSpec1"/>
          <p:cNvSpPr/>
          <p:nvPr/>
        </p:nvSpPr>
        <p:spPr>
          <a:xfrm>
            <a:off x="6903720" y="3909060"/>
            <a:ext cx="91440" cy="91440"/>
          </a:xfrm>
          <a:prstGeom prst="rect">
            <a:avLst/>
          </a:prstGeom>
          <a:solidFill>
            <a:srgbClr val="FF6B4A"/>
          </a:solidFill>
          <a:ln w="12700">
            <a:noFill/>
            <a:miter lim="400000"/>
          </a:ln>
        </p:spPr>
        <p:txBody>
          <a:bodyPr lIns="45719" rIns="45719"/>
          <a:lstStyle/>
          <a:p>
            <a:pPr/>
          </a:p>
        </p:txBody>
      </p:sp>
      <p:sp>
        <p:nvSpPr>
          <p:cNvPr id="321" name="TOpenSpec1"/>
          <p:cNvSpPr txBox="1"/>
          <p:nvPr/>
        </p:nvSpPr>
        <p:spPr>
          <a:xfrm>
            <a:off x="71323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roles: the spec is the interface between people and the agent</a:t>
            </a:r>
          </a:p>
        </p:txBody>
      </p:sp>
      <p:sp>
        <p:nvSpPr>
          <p:cNvPr id="322" name="BOpenSpec2"/>
          <p:cNvSpPr/>
          <p:nvPr/>
        </p:nvSpPr>
        <p:spPr>
          <a:xfrm>
            <a:off x="6903720" y="4366260"/>
            <a:ext cx="91440" cy="91440"/>
          </a:xfrm>
          <a:prstGeom prst="rect">
            <a:avLst/>
          </a:prstGeom>
          <a:solidFill>
            <a:srgbClr val="FF6B4A"/>
          </a:solidFill>
          <a:ln w="12700">
            <a:noFill/>
            <a:miter lim="400000"/>
          </a:ln>
        </p:spPr>
        <p:txBody>
          <a:bodyPr lIns="45719" rIns="45719"/>
          <a:lstStyle/>
          <a:p>
            <a:pPr/>
          </a:p>
        </p:txBody>
      </p:sp>
      <p:sp>
        <p:nvSpPr>
          <p:cNvPr id="323" name="TOpenSpec2"/>
          <p:cNvSpPr txBox="1"/>
          <p:nvPr/>
        </p:nvSpPr>
        <p:spPr>
          <a:xfrm>
            <a:off x="71323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a proposal, a spec and a task list, in the repository</a:t>
            </a:r>
          </a:p>
        </p:txBody>
      </p:sp>
      <p:sp>
        <p:nvSpPr>
          <p:cNvPr id="324" name="BOpenSpec3"/>
          <p:cNvSpPr/>
          <p:nvPr/>
        </p:nvSpPr>
        <p:spPr>
          <a:xfrm>
            <a:off x="6903720" y="4823460"/>
            <a:ext cx="91440" cy="91440"/>
          </a:xfrm>
          <a:prstGeom prst="rect">
            <a:avLst/>
          </a:prstGeom>
          <a:solidFill>
            <a:srgbClr val="FF6B4A"/>
          </a:solidFill>
          <a:ln w="12700">
            <a:noFill/>
            <a:miter lim="400000"/>
          </a:ln>
        </p:spPr>
        <p:txBody>
          <a:bodyPr lIns="45719" rIns="45719"/>
          <a:lstStyle/>
          <a:p>
            <a:pPr/>
          </a:p>
        </p:txBody>
      </p:sp>
      <p:sp>
        <p:nvSpPr>
          <p:cNvPr id="325" name="TOpenSpec3"/>
          <p:cNvSpPr txBox="1"/>
          <p:nvPr/>
        </p:nvSpPr>
        <p:spPr>
          <a:xfrm>
            <a:off x="71323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Runs inside the coding assistant the team already uses</a:t>
            </a:r>
          </a:p>
        </p:txBody>
      </p:sp>
      <p:sp>
        <p:nvSpPr>
          <p:cNvPr id="326" name="BOpenSpec4"/>
          <p:cNvSpPr/>
          <p:nvPr/>
        </p:nvSpPr>
        <p:spPr>
          <a:xfrm>
            <a:off x="6903720" y="5280660"/>
            <a:ext cx="91440" cy="91440"/>
          </a:xfrm>
          <a:prstGeom prst="rect">
            <a:avLst/>
          </a:prstGeom>
          <a:solidFill>
            <a:srgbClr val="FF6B4A"/>
          </a:solidFill>
          <a:ln w="12700">
            <a:noFill/>
            <a:miter lim="400000"/>
          </a:ln>
        </p:spPr>
        <p:txBody>
          <a:bodyPr lIns="45719" rIns="45719"/>
          <a:lstStyle/>
          <a:p>
            <a:pPr/>
          </a:p>
        </p:txBody>
      </p:sp>
      <p:sp>
        <p:nvSpPr>
          <p:cNvPr id="327" name="TOpenSpec4"/>
          <p:cNvSpPr txBox="1"/>
          <p:nvPr/>
        </p:nvSpPr>
        <p:spPr>
          <a:xfrm>
            <a:off x="71323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npm i -g @fission-ai/openspec</a:t>
            </a:r>
          </a:p>
        </p:txBody>
      </p:sp>
      <p:sp>
        <p:nvSpPr>
          <p:cNvPr id="328" name="Close"/>
          <p:cNvSpPr txBox="1"/>
          <p:nvPr/>
        </p:nvSpPr>
        <p:spPr>
          <a:xfrm>
            <a:off x="685800" y="5943600"/>
            <a:ext cx="10607042" cy="22860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choice is one of weight, not of principle. Neither replaces the other.</a:t>
            </a:r>
          </a:p>
        </p:txBody>
      </p:sp>
      <p:sp>
        <p:nvSpPr>
          <p:cNvPr id="329" name="Src"/>
          <p:cNvSpPr txBox="1"/>
          <p:nvPr/>
        </p:nvSpPr>
        <p:spPr>
          <a:xfrm>
            <a:off x="685800" y="6248400"/>
            <a:ext cx="10607042" cy="205740"/>
          </a:xfrm>
          <a:prstGeom prst="rect">
            <a:avLst/>
          </a:prstGeom>
          <a:ln w="12700">
            <a:noFill/>
            <a:miter lim="400000"/>
          </a:ln>
        </p:spPr>
        <p:txBody>
          <a:bodyPr lIns="45719" rIns="45719" tIns="0" bIns="0" anchor="t"/>
          <a:lstStyle>
            <a:lvl1pPr algn="l">
              <a:defRPr i="1" sz="850">
                <a:solidFill>
                  <a:srgbClr val="5C6484"/>
                </a:solidFill>
                <a:latin typeface="Calibri"/>
              </a:defRPr>
            </a:lvl1pPr>
          </a:lstStyle>
          <a:p>
            <a:pPr/>
            <a:r>
              <a:t>Sources: github.com/bmad-code-org/BMAD-METHOD · openspec.dev · checked August 2026.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Honest limits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it costs, and what it does not solve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17</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Every method has a bill. Here is this one, stated before anyone has to discover it.</a:t>
            </a:r>
          </a:p>
        </p:txBody>
      </p:sp>
      <p:sp>
        <p:nvSpPr>
          <p:cNvPr id="302" name="Card WHAT IT COSTS"/>
          <p:cNvSpPr/>
          <p:nvPr/>
        </p:nvSpPr>
        <p:spPr>
          <a:xfrm>
            <a:off x="6400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WHAT IT COSTS"/>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 WHAT IT COSTS"/>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COSTS</a:t>
            </a:r>
          </a:p>
        </p:txBody>
      </p:sp>
      <p:sp>
        <p:nvSpPr>
          <p:cNvPr id="305" name="bWHAT IT COSTS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WHAT IT COSTS0"/>
          <p:cNvSpPr txBox="1"/>
          <p:nvPr/>
        </p:nvSpPr>
        <p:spPr>
          <a:xfrm>
            <a:off x="11887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Someone writes the spec, usually the engineer who would have written the prompt, before writing it</a:t>
            </a:r>
          </a:p>
        </p:txBody>
      </p:sp>
      <p:sp>
        <p:nvSpPr>
          <p:cNvPr id="307" name="bWHAT IT COSTS1"/>
          <p:cNvSpPr/>
          <p:nvPr/>
        </p:nvSpPr>
        <p:spPr>
          <a:xfrm>
            <a:off x="960120" y="4183380"/>
            <a:ext cx="91440" cy="91440"/>
          </a:xfrm>
          <a:prstGeom prst="rect">
            <a:avLst/>
          </a:prstGeom>
          <a:solidFill>
            <a:srgbClr val="FF6B4A"/>
          </a:solidFill>
          <a:ln w="12700">
            <a:noFill/>
            <a:miter lim="400000"/>
          </a:ln>
        </p:spPr>
        <p:txBody>
          <a:bodyPr lIns="45719" rIns="45719"/>
          <a:lstStyle/>
          <a:p>
            <a:pPr/>
          </a:p>
        </p:txBody>
      </p:sp>
      <p:sp>
        <p:nvSpPr>
          <p:cNvPr id="308" name="tWHAT IT COSTS1"/>
          <p:cNvSpPr txBox="1"/>
          <p:nvPr/>
        </p:nvSpPr>
        <p:spPr>
          <a:xfrm>
            <a:off x="11887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The review adds a step: minutes on a small change, longer on a large one</a:t>
            </a:r>
          </a:p>
        </p:txBody>
      </p:sp>
      <p:sp>
        <p:nvSpPr>
          <p:cNvPr id="309" name="bWHAT IT COSTS2"/>
          <p:cNvSpPr/>
          <p:nvPr/>
        </p:nvSpPr>
        <p:spPr>
          <a:xfrm>
            <a:off x="960120" y="4914900"/>
            <a:ext cx="91440" cy="91440"/>
          </a:xfrm>
          <a:prstGeom prst="rect">
            <a:avLst/>
          </a:prstGeom>
          <a:solidFill>
            <a:srgbClr val="FF6B4A"/>
          </a:solidFill>
          <a:ln w="12700">
            <a:noFill/>
            <a:miter lim="400000"/>
          </a:ln>
        </p:spPr>
        <p:txBody>
          <a:bodyPr lIns="45719" rIns="45719"/>
          <a:lstStyle/>
          <a:p>
            <a:pPr/>
          </a:p>
        </p:txBody>
      </p:sp>
      <p:sp>
        <p:nvSpPr>
          <p:cNvPr id="310" name="tWHAT IT COSTS2"/>
          <p:cNvSpPr txBox="1"/>
          <p:nvPr/>
        </p:nvSpPr>
        <p:spPr>
          <a:xfrm>
            <a:off x="11887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Nothing enforces the discipline but the review itself</a:t>
            </a:r>
          </a:p>
        </p:txBody>
      </p:sp>
      <p:sp>
        <p:nvSpPr>
          <p:cNvPr id="311" name="Card WHAT IT DOES NOT SOLVE"/>
          <p:cNvSpPr/>
          <p:nvPr/>
        </p:nvSpPr>
        <p:spPr>
          <a:xfrm>
            <a:off x="65836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ead WHAT IT DOES NOT SOLVE"/>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3" name="N WHAT IT DOES NOT SOLVE"/>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DOES NOT SOLVE</a:t>
            </a:r>
          </a:p>
        </p:txBody>
      </p:sp>
      <p:sp>
        <p:nvSpPr>
          <p:cNvPr id="314" name="bWHAT IT DOES NOT SOLVE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5" name="tWHAT IT DOES NOT SOLVE0"/>
          <p:cNvSpPr txBox="1"/>
          <p:nvPr/>
        </p:nvSpPr>
        <p:spPr>
          <a:xfrm>
            <a:off x="71323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wrong requirement stays wrong. A spec makes intent explicit, not correct</a:t>
            </a:r>
          </a:p>
        </p:txBody>
      </p:sp>
      <p:sp>
        <p:nvSpPr>
          <p:cNvPr id="316" name="bWHAT IT DOES NOT SOLVE1"/>
          <p:cNvSpPr/>
          <p:nvPr/>
        </p:nvSpPr>
        <p:spPr>
          <a:xfrm>
            <a:off x="6903720" y="4183380"/>
            <a:ext cx="91440" cy="91440"/>
          </a:xfrm>
          <a:prstGeom prst="rect">
            <a:avLst/>
          </a:prstGeom>
          <a:solidFill>
            <a:srgbClr val="FF6B4A"/>
          </a:solidFill>
          <a:ln w="12700">
            <a:noFill/>
            <a:miter lim="400000"/>
          </a:ln>
        </p:spPr>
        <p:txBody>
          <a:bodyPr lIns="45719" rIns="45719"/>
          <a:lstStyle/>
          <a:p>
            <a:pPr/>
          </a:p>
        </p:txBody>
      </p:sp>
      <p:sp>
        <p:nvSpPr>
          <p:cNvPr id="317" name="tWHAT IT DOES NOT SOLVE1"/>
          <p:cNvSpPr txBox="1"/>
          <p:nvPr/>
        </p:nvSpPr>
        <p:spPr>
          <a:xfrm>
            <a:off x="71323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does not make the model better; it changes what the model is told</a:t>
            </a:r>
          </a:p>
        </p:txBody>
      </p:sp>
      <p:sp>
        <p:nvSpPr>
          <p:cNvPr id="318" name="bWHAT IT DOES NOT SOLVE2"/>
          <p:cNvSpPr/>
          <p:nvPr/>
        </p:nvSpPr>
        <p:spPr>
          <a:xfrm>
            <a:off x="6903720" y="4914900"/>
            <a:ext cx="91440" cy="91440"/>
          </a:xfrm>
          <a:prstGeom prst="rect">
            <a:avLst/>
          </a:prstGeom>
          <a:solidFill>
            <a:srgbClr val="FF6B4A"/>
          </a:solidFill>
          <a:ln w="12700">
            <a:noFill/>
            <a:miter lim="400000"/>
          </a:ln>
        </p:spPr>
        <p:txBody>
          <a:bodyPr lIns="45719" rIns="45719"/>
          <a:lstStyle/>
          <a:p>
            <a:pPr/>
          </a:p>
        </p:txBody>
      </p:sp>
      <p:sp>
        <p:nvSpPr>
          <p:cNvPr id="319" name="tWHAT IT DOES NOT SOLVE2"/>
          <p:cNvSpPr txBox="1"/>
          <p:nvPr/>
        </p:nvSpPr>
        <p:spPr>
          <a:xfrm>
            <a:off x="71323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one-line fix does not need a spec. Forcing it through the loop is waste</a:t>
            </a:r>
          </a:p>
        </p:txBody>
      </p:sp>
      <p:sp>
        <p:nvSpPr>
          <p:cNvPr id="320" name="Close"/>
          <p:cNvSpPr txBox="1"/>
          <p:nvPr/>
        </p:nvSpPr>
        <p:spPr>
          <a:xfrm>
            <a:off x="685800" y="5806440"/>
            <a:ext cx="10607042"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bet: stating the intent costs less than discovering it was wrong once the code exists.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If we wanted to try</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team, one application, one month</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18</a:t>
            </a:r>
          </a:p>
        </p:txBody>
      </p:sp>
      <p:sp>
        <p:nvSpPr>
          <p:cNvPr id="32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Nothing to procure, nothing to migrate. The cost of finding out is one team’s discipline for a month.</a:t>
            </a:r>
          </a:p>
        </p:txBody>
      </p:sp>
      <p:sp>
        <p:nvSpPr>
          <p:cNvPr id="322" name="C0"/>
          <p:cNvSpPr/>
          <p:nvPr/>
        </p:nvSpPr>
        <p:spPr>
          <a:xfrm>
            <a:off x="64008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3" name="D0"/>
          <p:cNvSpPr/>
          <p:nvPr/>
        </p:nvSpPr>
        <p:spPr>
          <a:xfrm>
            <a:off x="960120" y="2971800"/>
            <a:ext cx="457200" cy="457200"/>
          </a:xfrm>
          <a:prstGeom prst="ellipse">
            <a:avLst/>
          </a:prstGeom>
          <a:solidFill>
            <a:srgbClr val="FF6B4A"/>
          </a:solidFill>
          <a:ln w="12700">
            <a:noFill/>
            <a:miter lim="400000"/>
          </a:ln>
        </p:spPr>
        <p:txBody>
          <a:bodyPr lIns="45719" rIns="45719"/>
          <a:lstStyle/>
          <a:p>
            <a:pPr/>
          </a:p>
        </p:txBody>
      </p:sp>
      <p:sp>
        <p:nvSpPr>
          <p:cNvPr id="324" name="N0"/>
          <p:cNvSpPr txBox="1"/>
          <p:nvPr/>
        </p:nvSpPr>
        <p:spPr>
          <a:xfrm>
            <a:off x="96012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25" name="H0"/>
          <p:cNvSpPr txBox="1"/>
          <p:nvPr/>
        </p:nvSpPr>
        <p:spPr>
          <a:xfrm>
            <a:off x="96012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Scope</a:t>
            </a:r>
          </a:p>
        </p:txBody>
      </p:sp>
      <p:sp>
        <p:nvSpPr>
          <p:cNvPr id="326" name="B0"/>
          <p:cNvSpPr txBox="1"/>
          <p:nvPr/>
        </p:nvSpPr>
        <p:spPr>
          <a:xfrm>
            <a:off x="96012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existing application, one team already using a coding agent.</a:t>
            </a:r>
          </a:p>
        </p:txBody>
      </p:sp>
      <p:sp>
        <p:nvSpPr>
          <p:cNvPr id="327" name="C1"/>
          <p:cNvSpPr/>
          <p:nvPr/>
        </p:nvSpPr>
        <p:spPr>
          <a:xfrm>
            <a:off x="342900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8" name="D1"/>
          <p:cNvSpPr/>
          <p:nvPr/>
        </p:nvSpPr>
        <p:spPr>
          <a:xfrm>
            <a:off x="3749040" y="2971800"/>
            <a:ext cx="457200" cy="457200"/>
          </a:xfrm>
          <a:prstGeom prst="ellipse">
            <a:avLst/>
          </a:prstGeom>
          <a:solidFill>
            <a:srgbClr val="FF6B4A"/>
          </a:solidFill>
          <a:ln w="12700">
            <a:noFill/>
            <a:miter lim="400000"/>
          </a:ln>
        </p:spPr>
        <p:txBody>
          <a:bodyPr lIns="45719" rIns="45719"/>
          <a:lstStyle/>
          <a:p>
            <a:pPr/>
          </a:p>
        </p:txBody>
      </p:sp>
      <p:sp>
        <p:nvSpPr>
          <p:cNvPr id="329" name="N1"/>
          <p:cNvSpPr txBox="1"/>
          <p:nvPr/>
        </p:nvSpPr>
        <p:spPr>
          <a:xfrm>
            <a:off x="374904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30" name="H1"/>
          <p:cNvSpPr txBox="1"/>
          <p:nvPr/>
        </p:nvSpPr>
        <p:spPr>
          <a:xfrm>
            <a:off x="374904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Duration</a:t>
            </a:r>
          </a:p>
        </p:txBody>
      </p:sp>
      <p:sp>
        <p:nvSpPr>
          <p:cNvPr id="331" name="B1"/>
          <p:cNvSpPr txBox="1"/>
          <p:nvPr/>
        </p:nvSpPr>
        <p:spPr>
          <a:xfrm>
            <a:off x="374904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month. No tooling change beyond installing the CLI.</a:t>
            </a:r>
          </a:p>
        </p:txBody>
      </p:sp>
      <p:sp>
        <p:nvSpPr>
          <p:cNvPr id="332" name="C2"/>
          <p:cNvSpPr/>
          <p:nvPr/>
        </p:nvSpPr>
        <p:spPr>
          <a:xfrm>
            <a:off x="621792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3" name="D2"/>
          <p:cNvSpPr/>
          <p:nvPr/>
        </p:nvSpPr>
        <p:spPr>
          <a:xfrm>
            <a:off x="6537960" y="2971800"/>
            <a:ext cx="457200" cy="457200"/>
          </a:xfrm>
          <a:prstGeom prst="ellipse">
            <a:avLst/>
          </a:prstGeom>
          <a:solidFill>
            <a:srgbClr val="FF6B4A"/>
          </a:solidFill>
          <a:ln w="12700">
            <a:noFill/>
            <a:miter lim="400000"/>
          </a:ln>
        </p:spPr>
        <p:txBody>
          <a:bodyPr lIns="45719" rIns="45719"/>
          <a:lstStyle/>
          <a:p>
            <a:pPr/>
          </a:p>
        </p:txBody>
      </p:sp>
      <p:sp>
        <p:nvSpPr>
          <p:cNvPr id="334" name="N2"/>
          <p:cNvSpPr txBox="1"/>
          <p:nvPr/>
        </p:nvSpPr>
        <p:spPr>
          <a:xfrm>
            <a:off x="653796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35" name="H2"/>
          <p:cNvSpPr txBox="1"/>
          <p:nvPr/>
        </p:nvSpPr>
        <p:spPr>
          <a:xfrm>
            <a:off x="653796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rule</a:t>
            </a:r>
          </a:p>
        </p:txBody>
      </p:sp>
      <p:sp>
        <p:nvSpPr>
          <p:cNvPr id="336" name="B2"/>
          <p:cNvSpPr txBox="1"/>
          <p:nvPr/>
        </p:nvSpPr>
        <p:spPr>
          <a:xfrm>
            <a:off x="653796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Every change in that period goes through a spec, with no exception, so we learn the real cost.</a:t>
            </a:r>
          </a:p>
        </p:txBody>
      </p:sp>
      <p:sp>
        <p:nvSpPr>
          <p:cNvPr id="337" name="C3"/>
          <p:cNvSpPr/>
          <p:nvPr/>
        </p:nvSpPr>
        <p:spPr>
          <a:xfrm>
            <a:off x="900684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8" name="D3"/>
          <p:cNvSpPr/>
          <p:nvPr/>
        </p:nvSpPr>
        <p:spPr>
          <a:xfrm>
            <a:off x="9326880" y="2971800"/>
            <a:ext cx="457200" cy="457200"/>
          </a:xfrm>
          <a:prstGeom prst="ellipse">
            <a:avLst/>
          </a:prstGeom>
          <a:solidFill>
            <a:srgbClr val="FF6B4A"/>
          </a:solidFill>
          <a:ln w="12700">
            <a:noFill/>
            <a:miter lim="400000"/>
          </a:ln>
        </p:spPr>
        <p:txBody>
          <a:bodyPr lIns="45719" rIns="45719"/>
          <a:lstStyle/>
          <a:p>
            <a:pPr/>
          </a:p>
        </p:txBody>
      </p:sp>
      <p:sp>
        <p:nvSpPr>
          <p:cNvPr id="339" name="N3"/>
          <p:cNvSpPr txBox="1"/>
          <p:nvPr/>
        </p:nvSpPr>
        <p:spPr>
          <a:xfrm>
            <a:off x="932688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4</a:t>
            </a:r>
          </a:p>
        </p:txBody>
      </p:sp>
      <p:sp>
        <p:nvSpPr>
          <p:cNvPr id="340" name="H3"/>
          <p:cNvSpPr txBox="1"/>
          <p:nvPr/>
        </p:nvSpPr>
        <p:spPr>
          <a:xfrm>
            <a:off x="932688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verdict</a:t>
            </a:r>
          </a:p>
        </p:txBody>
      </p:sp>
      <p:sp>
        <p:nvSpPr>
          <p:cNvPr id="341" name="B3"/>
          <p:cNvSpPr txBox="1"/>
          <p:nvPr/>
        </p:nvSpPr>
        <p:spPr>
          <a:xfrm>
            <a:off x="932688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Criteria agreed before we start. The simplest one: does the team keep doing it once the month ends?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artefacts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one change produces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6</a:t>
            </a:r>
          </a:p>
        </p:txBody>
      </p:sp>
      <p:sp>
        <p:nvSpPr>
          <p:cNvPr id="342"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folder per change, in plain markdown, in your repository.</a:t>
            </a:r>
          </a:p>
        </p:txBody>
      </p:sp>
      <p:sp>
        <p:nvSpPr>
          <p:cNvPr id="916" name="cB"/>
          <p:cNvSpPr/>
          <p:nvPr/>
        </p:nvSpPr>
        <p:spPr>
          <a:xfrm>
            <a:off x="640080" y="2377440"/>
            <a:ext cx="10911840" cy="29260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17" name="hB"/>
          <p:cNvSpPr txBox="1"/>
          <p:nvPr/>
        </p:nvSpPr>
        <p:spPr>
          <a:xfrm>
            <a:off x="960120" y="2651760"/>
            <a:ext cx="640080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openspec/changes/add-password-reset/</a:t>
            </a:r>
          </a:p>
        </p:txBody>
      </p:sp>
      <p:sp>
        <p:nvSpPr>
          <p:cNvPr id="918" name="nB0"/>
          <p:cNvSpPr txBox="1"/>
          <p:nvPr/>
        </p:nvSpPr>
        <p:spPr>
          <a:xfrm>
            <a:off x="960120" y="306324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1</a:t>
            </a:r>
          </a:p>
        </p:txBody>
      </p:sp>
      <p:sp>
        <p:nvSpPr>
          <p:cNvPr id="919" name="fB0">
            <a:hlinkClick xmlns:r="http://schemas.openxmlformats.org/officeDocument/2006/relationships" r:id="rIdArt0" action="ppaction://hlinksldjump"/>
          </p:cNvPr>
          <p:cNvSpPr txBox="1"/>
          <p:nvPr/>
        </p:nvSpPr>
        <p:spPr>
          <a:xfrm>
            <a:off x="1280160" y="306324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proposal.md</a:t>
            </a:r>
          </a:p>
        </p:txBody>
      </p:sp>
      <p:sp>
        <p:nvSpPr>
          <p:cNvPr id="920" name="lB0"/>
          <p:cNvSpPr txBox="1"/>
          <p:nvPr/>
        </p:nvSpPr>
        <p:spPr>
          <a:xfrm>
            <a:off x="4023360" y="308610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WHY</a:t>
            </a:r>
          </a:p>
        </p:txBody>
      </p:sp>
      <p:sp>
        <p:nvSpPr>
          <p:cNvPr id="921" name="eB0"/>
          <p:cNvSpPr txBox="1"/>
          <p:nvPr/>
        </p:nvSpPr>
        <p:spPr>
          <a:xfrm>
            <a:off x="5943600" y="307467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problem this change exists to solve, in language a non-author can follow.</a:t>
            </a:r>
          </a:p>
        </p:txBody>
      </p:sp>
      <p:sp>
        <p:nvSpPr>
          <p:cNvPr id="922" name="nB1"/>
          <p:cNvSpPr txBox="1"/>
          <p:nvPr/>
        </p:nvSpPr>
        <p:spPr>
          <a:xfrm>
            <a:off x="960120" y="361188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2</a:t>
            </a:r>
          </a:p>
        </p:txBody>
      </p:sp>
      <p:sp>
        <p:nvSpPr>
          <p:cNvPr id="923" name="fB1">
            <a:hlinkClick xmlns:r="http://schemas.openxmlformats.org/officeDocument/2006/relationships" r:id="rIdArt1" action="ppaction://hlinksldjump"/>
          </p:cNvPr>
          <p:cNvSpPr txBox="1"/>
          <p:nvPr/>
        </p:nvSpPr>
        <p:spPr>
          <a:xfrm>
            <a:off x="1280160" y="361188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specs/</a:t>
            </a:r>
          </a:p>
        </p:txBody>
      </p:sp>
      <p:sp>
        <p:nvSpPr>
          <p:cNvPr id="924" name="lB1"/>
          <p:cNvSpPr txBox="1"/>
          <p:nvPr/>
        </p:nvSpPr>
        <p:spPr>
          <a:xfrm>
            <a:off x="4023360" y="363474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WHAT</a:t>
            </a:r>
          </a:p>
        </p:txBody>
      </p:sp>
      <p:sp>
        <p:nvSpPr>
          <p:cNvPr id="925" name="eB1"/>
          <p:cNvSpPr txBox="1"/>
          <p:nvPr/>
        </p:nvSpPr>
        <p:spPr>
          <a:xfrm>
            <a:off x="5943600" y="362331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requirements it adds, modifies or removes, with their scenarios.</a:t>
            </a:r>
          </a:p>
        </p:txBody>
      </p:sp>
      <p:sp>
        <p:nvSpPr>
          <p:cNvPr id="926" name="nB2"/>
          <p:cNvSpPr txBox="1"/>
          <p:nvPr/>
        </p:nvSpPr>
        <p:spPr>
          <a:xfrm>
            <a:off x="960120" y="416052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3</a:t>
            </a:r>
          </a:p>
        </p:txBody>
      </p:sp>
      <p:sp>
        <p:nvSpPr>
          <p:cNvPr id="927" name="fB2">
            <a:hlinkClick xmlns:r="http://schemas.openxmlformats.org/officeDocument/2006/relationships" r:id="rIdArt2" action="ppaction://hlinksldjump"/>
          </p:cNvPr>
          <p:cNvSpPr txBox="1"/>
          <p:nvPr/>
        </p:nvSpPr>
        <p:spPr>
          <a:xfrm>
            <a:off x="1280160" y="416052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design.md</a:t>
            </a:r>
          </a:p>
        </p:txBody>
      </p:sp>
      <p:sp>
        <p:nvSpPr>
          <p:cNvPr id="928" name="lB2"/>
          <p:cNvSpPr txBox="1"/>
          <p:nvPr/>
        </p:nvSpPr>
        <p:spPr>
          <a:xfrm>
            <a:off x="4023360" y="418338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HOW</a:t>
            </a:r>
          </a:p>
        </p:txBody>
      </p:sp>
      <p:sp>
        <p:nvSpPr>
          <p:cNvPr id="929" name="eB2"/>
          <p:cNvSpPr txBox="1"/>
          <p:nvPr/>
        </p:nvSpPr>
        <p:spPr>
          <a:xfrm>
            <a:off x="5943600" y="417195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technical approach and the decisions taken, including options rejected.</a:t>
            </a:r>
          </a:p>
        </p:txBody>
      </p:sp>
      <p:sp>
        <p:nvSpPr>
          <p:cNvPr id="930" name="nB3"/>
          <p:cNvSpPr txBox="1"/>
          <p:nvPr/>
        </p:nvSpPr>
        <p:spPr>
          <a:xfrm>
            <a:off x="960120" y="470916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4</a:t>
            </a:r>
          </a:p>
        </p:txBody>
      </p:sp>
      <p:sp>
        <p:nvSpPr>
          <p:cNvPr id="931" name="fB3">
            <a:hlinkClick xmlns:r="http://schemas.openxmlformats.org/officeDocument/2006/relationships" r:id="rIdArt3" action="ppaction://hlinksldjump"/>
          </p:cNvPr>
          <p:cNvSpPr txBox="1"/>
          <p:nvPr/>
        </p:nvSpPr>
        <p:spPr>
          <a:xfrm>
            <a:off x="1280160" y="470916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tasks.md</a:t>
            </a:r>
          </a:p>
        </p:txBody>
      </p:sp>
      <p:sp>
        <p:nvSpPr>
          <p:cNvPr id="932" name="lB3"/>
          <p:cNvSpPr txBox="1"/>
          <p:nvPr/>
        </p:nvSpPr>
        <p:spPr>
          <a:xfrm>
            <a:off x="4023360" y="473202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IN WHAT ORDER</a:t>
            </a:r>
          </a:p>
        </p:txBody>
      </p:sp>
      <p:sp>
        <p:nvSpPr>
          <p:cNvPr id="933" name="eB3"/>
          <p:cNvSpPr txBox="1"/>
          <p:nvPr/>
        </p:nvSpPr>
        <p:spPr>
          <a:xfrm>
            <a:off x="5943600" y="472059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checklist the agent works through, one item at a time.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proposal.md</a:t>
            </a:r>
          </a:p>
        </p:txBody>
      </p:sp>
      <p:sp>
        <p:nvSpPr>
          <p:cNvPr id="301"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WHY the change exists</a:t>
            </a:r>
          </a:p>
        </p:txBody>
      </p:sp>
      <p:sp>
        <p:nvSpPr>
          <p:cNvPr id="302"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3"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openspec/changes/add-password-reset/proposal.md</a:t>
            </a:r>
          </a:p>
        </p:txBody>
      </p:sp>
      <p:sp>
        <p:nvSpPr>
          <p:cNvPr id="304"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 password reset</a:t>
            </a:r>
          </a:p>
          <a:p>
            <a:pPr/>
          </a:p>
          <a:p>
            <a:pPr/>
            <a:r>
              <a:t>## Why</a:t>
            </a:r>
          </a:p>
          <a:p>
            <a:pPr/>
            <a:r>
              <a:t>Users who forget their password contact support today.</a:t>
            </a:r>
          </a:p>
          <a:p>
            <a:pPr/>
            <a:r>
              <a:t>Every reset is a ticket and a wait of up to a day.</a:t>
            </a:r>
          </a:p>
          <a:p>
            <a:pPr/>
          </a:p>
          <a:p>
            <a:pPr/>
            <a:r>
              <a:t>## What changes</a:t>
            </a:r>
          </a:p>
          <a:p>
            <a:pPr/>
            <a:r>
              <a:t>A self-service flow: the user requests a link by email</a:t>
            </a:r>
          </a:p>
          <a:p>
            <a:pPr/>
            <a:r>
              <a:t>and sets a new password. The link expires after 30</a:t>
            </a:r>
          </a:p>
          <a:p>
            <a:pPr/>
            <a:r>
              <a:t>minutes and works only once.</a:t>
            </a:r>
          </a:p>
          <a:p>
            <a:pPr/>
          </a:p>
          <a:p>
            <a:pPr/>
            <a:r>
              <a:t>## Out of scope</a:t>
            </a:r>
          </a:p>
          <a:p>
            <a:pPr/>
            <a:r>
              <a:t>- The password policy itself</a:t>
            </a:r>
          </a:p>
          <a:p>
            <a:pPr/>
            <a:r>
              <a:t>- Recovery for social logins</a:t>
            </a:r>
          </a:p>
        </p:txBody>
      </p:sp>
      <p:sp>
        <p:nvSpPr>
          <p:cNvPr id="305"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06"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28</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specs/</a:t>
            </a:r>
          </a:p>
        </p:txBody>
      </p:sp>
      <p:sp>
        <p:nvSpPr>
          <p:cNvPr id="307"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WHAT this change adds or removes</a:t>
            </a:r>
          </a:p>
        </p:txBody>
      </p:sp>
      <p:sp>
        <p:nvSpPr>
          <p:cNvPr id="308"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9"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openspec/changes/add-password-reset/specs/auth/spec.md</a:t>
            </a:r>
          </a:p>
        </p:txBody>
      </p:sp>
      <p:sp>
        <p:nvSpPr>
          <p:cNvPr id="310"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ADDED Requirements</a:t>
            </a:r>
          </a:p>
          <a:p>
            <a:pPr/>
          </a:p>
          <a:p>
            <a:pPr/>
            <a:r>
              <a:t>### Requirement: Password reset</a:t>
            </a:r>
          </a:p>
          <a:p>
            <a:pPr/>
            <a:r>
              <a:t>The system MUST let a user request a reset</a:t>
            </a:r>
          </a:p>
          <a:p>
            <a:pPr/>
            <a:r>
              <a:t>link by email.</a:t>
            </a:r>
          </a:p>
          <a:p>
            <a:pPr/>
          </a:p>
          <a:p>
            <a:pPr/>
            <a:r>
              <a:t>#### Scenario: Link has expired</a:t>
            </a:r>
          </a:p>
          <a:p>
            <a:pPr/>
            <a:r>
              <a:t>- WHEN the link is older than 30 minutes</a:t>
            </a:r>
          </a:p>
          <a:p>
            <a:pPr/>
            <a:r>
              <a:t>- THEN the system MUST refuse it</a:t>
            </a:r>
          </a:p>
          <a:p>
            <a:pPr/>
          </a:p>
          <a:p>
            <a:pPr/>
            <a:r>
              <a:t>#### Scenario: Link already used</a:t>
            </a:r>
          </a:p>
          <a:p>
            <a:pPr/>
            <a:r>
              <a:t>- WHEN the link has been used once</a:t>
            </a:r>
          </a:p>
          <a:p>
            <a:pPr/>
            <a:r>
              <a:t>- THEN the system MUST refuse it</a:t>
            </a:r>
          </a:p>
        </p:txBody>
      </p:sp>
      <p:sp>
        <p:nvSpPr>
          <p:cNvPr id="311"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2"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29</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design.md</a:t>
            </a:r>
          </a:p>
        </p:txBody>
      </p:sp>
      <p:sp>
        <p:nvSpPr>
          <p:cNvPr id="313"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HOW it will be built</a:t>
            </a:r>
          </a:p>
        </p:txBody>
      </p:sp>
      <p:sp>
        <p:nvSpPr>
          <p:cNvPr id="314"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15"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openspec/changes/add-password-reset/design.md</a:t>
            </a:r>
          </a:p>
        </p:txBody>
      </p:sp>
      <p:sp>
        <p:nvSpPr>
          <p:cNvPr id="316"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Design</a:t>
            </a:r>
          </a:p>
          <a:p>
            <a:pPr/>
          </a:p>
          <a:p>
            <a:pPr/>
            <a:r>
              <a:t>## Approach</a:t>
            </a:r>
          </a:p>
          <a:p>
            <a:pPr/>
            <a:r>
              <a:t>Reuse the existing mail service. Store a single-use</a:t>
            </a:r>
          </a:p>
          <a:p>
            <a:pPr/>
            <a:r>
              <a:t>token, hashed, on the user record. No new table.</a:t>
            </a:r>
          </a:p>
          <a:p>
            <a:pPr/>
          </a:p>
          <a:p>
            <a:pPr/>
            <a:r>
              <a:t>## Options considered</a:t>
            </a:r>
          </a:p>
          <a:p>
            <a:pPr/>
            <a:r>
              <a:t>- A dedicated tokens table</a:t>
            </a:r>
          </a:p>
          <a:p>
            <a:pPr/>
            <a:r>
              <a:t>  rejected: one row per user is enough</a:t>
            </a:r>
          </a:p>
          <a:p>
            <a:pPr/>
            <a:r>
              <a:t>- A signed token in the link</a:t>
            </a:r>
          </a:p>
          <a:p>
            <a:pPr/>
            <a:r>
              <a:t>  rejected: cannot be revoked once issued</a:t>
            </a:r>
          </a:p>
          <a:p>
            <a:pPr/>
          </a:p>
          <a:p>
            <a:pPr/>
            <a:r>
              <a:t>## Risk</a:t>
            </a:r>
          </a:p>
          <a:p>
            <a:pPr/>
            <a:r>
              <a:t>Token guessing, mitigated by expiry and rate limiting.</a:t>
            </a:r>
          </a:p>
        </p:txBody>
      </p:sp>
      <p:sp>
        <p:nvSpPr>
          <p:cNvPr id="317"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8"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30</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tasks.md</a:t>
            </a:r>
          </a:p>
        </p:txBody>
      </p:sp>
      <p:sp>
        <p:nvSpPr>
          <p:cNvPr id="319"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IN WHAT ORDER it gets done</a:t>
            </a:r>
          </a:p>
        </p:txBody>
      </p:sp>
      <p:sp>
        <p:nvSpPr>
          <p:cNvPr id="320"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21"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openspec/changes/add-password-reset/tasks.md</a:t>
            </a:r>
          </a:p>
        </p:txBody>
      </p:sp>
      <p:sp>
        <p:nvSpPr>
          <p:cNvPr id="322"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Tasks</a:t>
            </a:r>
          </a:p>
          <a:p>
            <a:pPr/>
          </a:p>
          <a:p>
            <a:pPr/>
            <a:r>
              <a:t>- [x] Add reset_token to the user record</a:t>
            </a:r>
          </a:p>
          <a:p>
            <a:pPr/>
            <a:r>
              <a:t>- [x] Request endpoint sends the link</a:t>
            </a:r>
          </a:p>
          <a:p>
            <a:pPr/>
            <a:r>
              <a:t>- [ ] Validate the link and expire it on use</a:t>
            </a:r>
          </a:p>
          <a:p>
            <a:pPr/>
            <a:r>
              <a:t>- [ ] Set the new password</a:t>
            </a:r>
          </a:p>
          <a:p>
            <a:pPr/>
            <a:r>
              <a:t>- [ ] Rate limit the request endpoint</a:t>
            </a:r>
          </a:p>
          <a:p>
            <a:pPr/>
            <a:r>
              <a:t>- [ ] Add "Forgot password" to the login page</a:t>
            </a:r>
          </a:p>
        </p:txBody>
      </p:sp>
      <p:sp>
        <p:nvSpPr>
          <p:cNvPr id="323"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24"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31</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Working with the business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When the business already writes the requirements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19</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OpenSpec does not replace the requirements you already write. It makes the step after them explicit.</a:t>
            </a:r>
          </a:p>
        </p:txBody>
      </p:sp>
      <p:sp>
        <p:nvSpPr>
          <p:cNvPr id="302" name="Box0"/>
          <p:cNvSpPr/>
          <p:nvPr/>
        </p:nvSpPr>
        <p:spPr>
          <a:xfrm>
            <a:off x="640080" y="2377440"/>
            <a:ext cx="3246121" cy="1371601"/>
          </a:xfrm>
          <a:prstGeom prst="roundRect">
            <a:avLst>
              <a:gd name="adj" fmla="val 5000"/>
            </a:avLst>
          </a:prstGeom>
          <a:solidFill>
            <a:srgbClr val="2A3070"/>
          </a:solidFill>
          <a:ln w="12700">
            <a:noFill/>
            <a:miter lim="400000"/>
          </a:ln>
        </p:spPr>
        <p:txBody>
          <a:bodyPr lIns="45719" rIns="45719"/>
          <a:lstStyle/>
          <a:p>
            <a:pPr/>
          </a:p>
        </p:txBody>
      </p:sp>
      <p:sp>
        <p:nvSpPr>
          <p:cNvPr id="303" name="BT0"/>
          <p:cNvSpPr txBox="1"/>
          <p:nvPr/>
        </p:nvSpPr>
        <p:spPr>
          <a:xfrm>
            <a:off x="777239" y="2697480"/>
            <a:ext cx="2971803" cy="320040"/>
          </a:xfrm>
          <a:prstGeom prst="rect">
            <a:avLst/>
          </a:prstGeom>
          <a:ln w="12700">
            <a:noFill/>
            <a:miter lim="400000"/>
          </a:ln>
        </p:spPr>
        <p:txBody>
          <a:bodyPr lIns="45719" rIns="45719" tIns="0" bIns="0" anchor="t"/>
          <a:lstStyle>
            <a:lvl1pPr algn="ctr">
              <a:defRPr b="1" sz="1500">
                <a:solidFill>
                  <a:srgbClr val="FFFFFF"/>
                </a:solidFill>
                <a:latin typeface="Calibri"/>
              </a:defRPr>
            </a:lvl1pPr>
          </a:lstStyle>
          <a:p>
            <a:pPr/>
            <a:r>
              <a:t>Business requirement</a:t>
            </a:r>
          </a:p>
        </p:txBody>
      </p:sp>
      <p:sp>
        <p:nvSpPr>
          <p:cNvPr id="304" name="BS0"/>
          <p:cNvSpPr txBox="1"/>
          <p:nvPr/>
        </p:nvSpPr>
        <p:spPr>
          <a:xfrm>
            <a:off x="868679" y="3108960"/>
            <a:ext cx="2788923" cy="411480"/>
          </a:xfrm>
          <a:prstGeom prst="rect">
            <a:avLst/>
          </a:prstGeom>
          <a:ln w="12700">
            <a:noFill/>
            <a:miter lim="400000"/>
          </a:ln>
        </p:spPr>
        <p:txBody>
          <a:bodyPr lIns="45719" rIns="45719" tIns="0" bIns="0" anchor="t"/>
          <a:lstStyle>
            <a:lvl1pPr algn="ctr">
              <a:defRPr sz="1150">
                <a:solidFill>
                  <a:srgbClr val="9AA3C0"/>
                </a:solidFill>
                <a:latin typeface="Calibri"/>
              </a:defRPr>
            </a:lvl1pPr>
          </a:lstStyle>
          <a:p>
            <a:pPr/>
            <a:r>
              <a:t>a ticket, a PRD, a Confluence page</a:t>
            </a:r>
          </a:p>
        </p:txBody>
      </p:sp>
      <p:sp>
        <p:nvSpPr>
          <p:cNvPr id="305" name="Ar0"/>
          <p:cNvSpPr txBox="1"/>
          <p:nvPr/>
        </p:nvSpPr>
        <p:spPr>
          <a:xfrm>
            <a:off x="3931919"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06" name="Box1"/>
          <p:cNvSpPr/>
          <p:nvPr/>
        </p:nvSpPr>
        <p:spPr>
          <a:xfrm>
            <a:off x="4297679"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07" name="BT1"/>
          <p:cNvSpPr txBox="1"/>
          <p:nvPr/>
        </p:nvSpPr>
        <p:spPr>
          <a:xfrm>
            <a:off x="4434838"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proposal.md</a:t>
            </a:r>
          </a:p>
        </p:txBody>
      </p:sp>
      <p:sp>
        <p:nvSpPr>
          <p:cNvPr id="308" name="BS1"/>
          <p:cNvSpPr txBox="1"/>
          <p:nvPr/>
        </p:nvSpPr>
        <p:spPr>
          <a:xfrm>
            <a:off x="4526278"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why of this change, citing that requirement</a:t>
            </a:r>
          </a:p>
        </p:txBody>
      </p:sp>
      <p:sp>
        <p:nvSpPr>
          <p:cNvPr id="309" name="Ar1"/>
          <p:cNvSpPr txBox="1"/>
          <p:nvPr/>
        </p:nvSpPr>
        <p:spPr>
          <a:xfrm>
            <a:off x="7589518"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10" name="Box2"/>
          <p:cNvSpPr/>
          <p:nvPr/>
        </p:nvSpPr>
        <p:spPr>
          <a:xfrm>
            <a:off x="7955280"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11" name="BT2"/>
          <p:cNvSpPr txBox="1"/>
          <p:nvPr/>
        </p:nvSpPr>
        <p:spPr>
          <a:xfrm>
            <a:off x="8092439"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specs/</a:t>
            </a:r>
          </a:p>
        </p:txBody>
      </p:sp>
      <p:sp>
        <p:nvSpPr>
          <p:cNvPr id="312" name="BS2"/>
          <p:cNvSpPr txBox="1"/>
          <p:nvPr/>
        </p:nvSpPr>
        <p:spPr>
          <a:xfrm>
            <a:off x="8183879"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behaviour derived from it, testable</a:t>
            </a:r>
          </a:p>
        </p:txBody>
      </p:sp>
      <p:sp>
        <p:nvSpPr>
          <p:cNvPr id="313" name="Callout"/>
          <p:cNvSpPr/>
          <p:nvPr/>
        </p:nvSpPr>
        <p:spPr>
          <a:xfrm>
            <a:off x="640080" y="42976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4" name="CalloutT"/>
          <p:cNvSpPr txBox="1"/>
          <p:nvPr/>
        </p:nvSpPr>
        <p:spPr>
          <a:xfrm>
            <a:off x="960120" y="42976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The person who wrote the requirement reviews the behaviour derived from it, before any code exists.</a:t>
            </a:r>
          </a:p>
        </p:txBody>
      </p:sp>
      <p:sp>
        <p:nvSpPr>
          <p:cNvPr id="315" name="D0"/>
          <p:cNvSpPr/>
          <p:nvPr/>
        </p:nvSpPr>
        <p:spPr>
          <a:xfrm>
            <a:off x="640080" y="5326380"/>
            <a:ext cx="109729" cy="109729"/>
          </a:xfrm>
          <a:prstGeom prst="rect">
            <a:avLst/>
          </a:prstGeom>
          <a:solidFill>
            <a:srgbClr val="FF6B4A"/>
          </a:solidFill>
          <a:ln w="12700">
            <a:noFill/>
            <a:miter lim="400000"/>
          </a:ln>
        </p:spPr>
        <p:txBody>
          <a:bodyPr lIns="45719" rIns="45719"/>
          <a:lstStyle/>
          <a:p>
            <a:pPr/>
          </a:p>
        </p:txBody>
      </p:sp>
      <p:sp>
        <p:nvSpPr>
          <p:cNvPr id="316" name="H0"/>
          <p:cNvSpPr txBox="1"/>
          <p:nvPr/>
        </p:nvSpPr>
        <p:spPr>
          <a:xfrm>
            <a:off x="96011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Nothing to migrate</a:t>
            </a:r>
          </a:p>
        </p:txBody>
      </p:sp>
      <p:sp>
        <p:nvSpPr>
          <p:cNvPr id="317" name="B0"/>
          <p:cNvSpPr txBox="1"/>
          <p:nvPr/>
        </p:nvSpPr>
        <p:spPr>
          <a:xfrm>
            <a:off x="96011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business keeps writing requirements where it writes them today. No new tool to adopt on their side.</a:t>
            </a:r>
          </a:p>
        </p:txBody>
      </p:sp>
      <p:sp>
        <p:nvSpPr>
          <p:cNvPr id="318" name="D1"/>
          <p:cNvSpPr/>
          <p:nvPr/>
        </p:nvSpPr>
        <p:spPr>
          <a:xfrm>
            <a:off x="4389120" y="5326380"/>
            <a:ext cx="109729" cy="109729"/>
          </a:xfrm>
          <a:prstGeom prst="rect">
            <a:avLst/>
          </a:prstGeom>
          <a:solidFill>
            <a:srgbClr val="FF6B4A"/>
          </a:solidFill>
          <a:ln w="12700">
            <a:noFill/>
            <a:miter lim="400000"/>
          </a:ln>
        </p:spPr>
        <p:txBody>
          <a:bodyPr lIns="45719" rIns="45719"/>
          <a:lstStyle/>
          <a:p>
            <a:pPr/>
          </a:p>
        </p:txBody>
      </p:sp>
      <p:sp>
        <p:nvSpPr>
          <p:cNvPr id="319" name="H1"/>
          <p:cNvSpPr txBox="1"/>
          <p:nvPr/>
        </p:nvSpPr>
        <p:spPr>
          <a:xfrm>
            <a:off x="470915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translation stops being silent</a:t>
            </a:r>
          </a:p>
        </p:txBody>
      </p:sp>
      <p:sp>
        <p:nvSpPr>
          <p:cNvPr id="320" name="B1"/>
          <p:cNvSpPr txBox="1"/>
          <p:nvPr/>
        </p:nvSpPr>
        <p:spPr>
          <a:xfrm>
            <a:off x="470915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Today a requirement is interpreted in a developer's head, or in an agent's context window. Here it is written down and checked.</a:t>
            </a:r>
          </a:p>
        </p:txBody>
      </p:sp>
      <p:sp>
        <p:nvSpPr>
          <p:cNvPr id="321" name="D2"/>
          <p:cNvSpPr/>
          <p:nvPr/>
        </p:nvSpPr>
        <p:spPr>
          <a:xfrm>
            <a:off x="8138160" y="5326380"/>
            <a:ext cx="109729" cy="109729"/>
          </a:xfrm>
          <a:prstGeom prst="rect">
            <a:avLst/>
          </a:prstGeom>
          <a:solidFill>
            <a:srgbClr val="FF6B4A"/>
          </a:solidFill>
          <a:ln w="12700">
            <a:noFill/>
            <a:miter lim="400000"/>
          </a:ln>
        </p:spPr>
        <p:txBody>
          <a:bodyPr lIns="45719" rIns="45719"/>
          <a:lstStyle/>
          <a:p>
            <a:pPr/>
          </a:p>
        </p:txBody>
      </p:sp>
      <p:sp>
        <p:nvSpPr>
          <p:cNvPr id="322" name="H2"/>
          <p:cNvSpPr txBox="1"/>
          <p:nvPr/>
        </p:nvSpPr>
        <p:spPr>
          <a:xfrm>
            <a:off x="845819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Traceable both ways</a:t>
            </a:r>
          </a:p>
        </p:txBody>
      </p:sp>
      <p:sp>
        <p:nvSpPr>
          <p:cNvPr id="323" name="B2"/>
          <p:cNvSpPr txBox="1"/>
          <p:nvPr/>
        </p:nvSpPr>
        <p:spPr>
          <a:xfrm>
            <a:off x="845819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change cites the requirement; the requirement can be traced to the behaviour that satisfies it.</a:t>
            </a:r>
          </a:p>
        </p:txBody>
      </p:sp>
      <p:sp>
        <p:nvSpPr>
          <p:cNvPr id="301" name="CmdLabel"/>
          <p:cNvSpPr txBox="1"/>
          <p:nvPr/>
        </p:nvSpPr>
        <p:spPr>
          <a:xfrm>
            <a:off x="640080" y="3840480"/>
            <a:ext cx="2560320" cy="251460"/>
          </a:xfrm>
          <a:prstGeom prst="rect">
            <a:avLst/>
          </a:prstGeom>
          <a:ln w="12700">
            <a:noFill/>
            <a:miter lim="400000"/>
          </a:ln>
        </p:spPr>
        <p:txBody>
          <a:bodyPr lIns="45719" rIns="45719" tIns="0" bIns="0" anchor="t"/>
          <a:lstStyle>
            <a:lvl1pPr algn="l">
              <a:defRPr i="1" sz="1050">
                <a:solidFill>
                  <a:srgbClr val="5C6484"/>
                </a:solidFill>
                <a:latin typeface="Calibri"/>
              </a:defRPr>
            </a:lvl1pPr>
          </a:lstStyle>
          <a:p>
            <a:pPr/>
            <a:r>
              <a:t>How it starts:</a:t>
            </a:r>
          </a:p>
        </p:txBody>
      </p:sp>
      <p:sp>
        <p:nvSpPr>
          <p:cNvPr id="302" name="Cmd"/>
          <p:cNvSpPr txBox="1"/>
          <p:nvPr/>
        </p:nvSpPr>
        <p:spPr>
          <a:xfrm>
            <a:off x="2194560" y="3840480"/>
            <a:ext cx="9326880" cy="251460"/>
          </a:xfrm>
          <a:prstGeom prst="rect">
            <a:avLst/>
          </a:prstGeom>
          <a:ln w="12700">
            <a:noFill/>
            <a:miter lim="400000"/>
          </a:ln>
        </p:spPr>
        <p:txBody>
          <a:bodyPr lIns="45719" rIns="45719" tIns="0" bIns="0" anchor="t"/>
          <a:lstStyle>
            <a:lvl1pPr algn="l">
              <a:defRPr sz="1050">
                <a:solidFill>
                  <a:srgbClr val="1E2761"/>
                </a:solidFill>
                <a:latin typeface="Courier New"/>
              </a:defRPr>
            </a:lvl1pPr>
          </a:lstStyle>
          <a:p>
            <a:pPr/>
            <a:r>
              <a:t>/opsx:propose "JIRA-1234: users must reset their password without contacting support"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Before the loop</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Explore: the conversation before the commitment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20</a:t>
            </a:r>
          </a:p>
        </p:txBody>
      </p:sp>
      <p:sp>
        <p:nvSpPr>
          <p:cNvPr id="301" name="Lead"/>
          <p:cNvSpPr txBox="1"/>
          <p:nvPr/>
        </p:nvSpPr>
        <p:spPr>
          <a:xfrm>
            <a:off x="685800" y="169164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OpenSpec installs instructions, not a program. /opsx:explore tells the agent to take a specific role.</a:t>
            </a:r>
          </a:p>
        </p:txBody>
      </p:sp>
      <p:sp>
        <p:nvSpPr>
          <p:cNvPr id="302" name="D0"/>
          <p:cNvSpPr/>
          <p:nvPr/>
        </p:nvSpPr>
        <p:spPr>
          <a:xfrm>
            <a:off x="640080" y="2628900"/>
            <a:ext cx="137160" cy="137160"/>
          </a:xfrm>
          <a:prstGeom prst="ellipse">
            <a:avLst/>
          </a:prstGeom>
          <a:solidFill>
            <a:srgbClr val="FF6B4A"/>
          </a:solidFill>
          <a:ln w="12700">
            <a:noFill/>
            <a:miter lim="400000"/>
          </a:ln>
        </p:spPr>
        <p:txBody>
          <a:bodyPr lIns="45719" rIns="45719"/>
          <a:lstStyle/>
          <a:p>
            <a:pPr/>
          </a:p>
        </p:txBody>
      </p:sp>
      <p:sp>
        <p:nvSpPr>
          <p:cNvPr id="303" name="H0"/>
          <p:cNvSpPr txBox="1"/>
          <p:nvPr/>
        </p:nvSpPr>
        <p:spPr>
          <a:xfrm>
            <a:off x="960120" y="256032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writes nothing</a:t>
            </a:r>
          </a:p>
        </p:txBody>
      </p:sp>
      <p:sp>
        <p:nvSpPr>
          <p:cNvPr id="304" name="B0"/>
          <p:cNvSpPr txBox="1"/>
          <p:nvPr/>
        </p:nvSpPr>
        <p:spPr>
          <a:xfrm>
            <a:off x="960120" y="292608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No file, no code, no spec. You can be wrong for free, and change your mind twice.</a:t>
            </a:r>
          </a:p>
        </p:txBody>
      </p:sp>
      <p:sp>
        <p:nvSpPr>
          <p:cNvPr id="305" name="D1"/>
          <p:cNvSpPr/>
          <p:nvPr/>
        </p:nvSpPr>
        <p:spPr>
          <a:xfrm>
            <a:off x="640080" y="3589020"/>
            <a:ext cx="137160" cy="137160"/>
          </a:xfrm>
          <a:prstGeom prst="ellipse">
            <a:avLst/>
          </a:prstGeom>
          <a:solidFill>
            <a:srgbClr val="FF6B4A"/>
          </a:solidFill>
          <a:ln w="12700">
            <a:noFill/>
            <a:miter lim="400000"/>
          </a:ln>
        </p:spPr>
        <p:txBody>
          <a:bodyPr lIns="45719" rIns="45719"/>
          <a:lstStyle/>
          <a:p>
            <a:pPr/>
          </a:p>
        </p:txBody>
      </p:sp>
      <p:sp>
        <p:nvSpPr>
          <p:cNvPr id="306" name="H1"/>
          <p:cNvSpPr txBox="1"/>
          <p:nvPr/>
        </p:nvSpPr>
        <p:spPr>
          <a:xfrm>
            <a:off x="960120" y="352044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reads the repository first</a:t>
            </a:r>
          </a:p>
        </p:txBody>
      </p:sp>
      <p:sp>
        <p:nvSpPr>
          <p:cNvPr id="307" name="B1"/>
          <p:cNvSpPr txBox="1"/>
          <p:nvPr/>
        </p:nvSpPr>
        <p:spPr>
          <a:xfrm>
            <a:off x="960120" y="388620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checks the idea against the specs and the code that already exist, instead of reasoning in the void.</a:t>
            </a:r>
          </a:p>
        </p:txBody>
      </p:sp>
      <p:sp>
        <p:nvSpPr>
          <p:cNvPr id="308" name="D2"/>
          <p:cNvSpPr/>
          <p:nvPr/>
        </p:nvSpPr>
        <p:spPr>
          <a:xfrm>
            <a:off x="640080" y="4549140"/>
            <a:ext cx="137160" cy="137160"/>
          </a:xfrm>
          <a:prstGeom prst="ellipse">
            <a:avLst/>
          </a:prstGeom>
          <a:solidFill>
            <a:srgbClr val="FF6B4A"/>
          </a:solidFill>
          <a:ln w="12700">
            <a:noFill/>
            <a:miter lim="400000"/>
          </a:ln>
        </p:spPr>
        <p:txBody>
          <a:bodyPr lIns="45719" rIns="45719"/>
          <a:lstStyle/>
          <a:p>
            <a:pPr/>
          </a:p>
        </p:txBody>
      </p:sp>
      <p:sp>
        <p:nvSpPr>
          <p:cNvPr id="309" name="H2"/>
          <p:cNvSpPr txBox="1"/>
          <p:nvPr/>
        </p:nvSpPr>
        <p:spPr>
          <a:xfrm>
            <a:off x="960120" y="448056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converges on a scopeable change</a:t>
            </a:r>
          </a:p>
        </p:txBody>
      </p:sp>
      <p:sp>
        <p:nvSpPr>
          <p:cNvPr id="310" name="B2"/>
          <p:cNvSpPr txBox="1"/>
          <p:nvPr/>
        </p:nvSpPr>
        <p:spPr>
          <a:xfrm>
            <a:off x="960120" y="484632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output is not a document. It is an agreement on what the next change actually is.</a:t>
            </a:r>
          </a:p>
        </p:txBody>
      </p:sp>
      <p:sp>
        <p:nvSpPr>
          <p:cNvPr id="311" name="Card"/>
          <p:cNvSpPr/>
          <p:nvPr/>
        </p:nvSpPr>
        <p:spPr>
          <a:xfrm>
            <a:off x="6217920" y="2103120"/>
            <a:ext cx="5303520" cy="38404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312" name="Dlg"/>
          <p:cNvSpPr txBox="1"/>
          <p:nvPr/>
        </p:nvSpPr>
        <p:spPr>
          <a:xfrm>
            <a:off x="6492240" y="2377440"/>
            <a:ext cx="4754880" cy="3291840"/>
          </a:xfrm>
          <a:prstGeom prst="rect">
            <a:avLst/>
          </a:prstGeom>
          <a:ln w="12700">
            <a:noFill/>
            <a:miter lim="400000"/>
          </a:ln>
        </p:spPr>
        <p:txBody>
          <a:bodyPr lIns="45719" rIns="45719" tIns="0" bIns="0" anchor="t"/>
          <a:lstStyle>
            <a:lvl1pPr algn="l">
              <a:defRPr sz="900">
                <a:solidFill>
                  <a:srgbClr val="1E2761"/>
                </a:solidFill>
                <a:latin typeface="Courier New"/>
              </a:defRPr>
            </a:lvl1pPr>
          </a:lstStyle>
          <a:p>
            <a:pPr/>
            <a:r>
              <a:t>You:  /opsx:explore</a:t>
            </a:r>
          </a:p>
          <a:p>
            <a:pPr/>
          </a:p>
          <a:p>
            <a:pPr/>
            <a:r>
              <a:t>AI:   What would you like to explore?</a:t>
            </a:r>
          </a:p>
          <a:p>
            <a:pPr/>
          </a:p>
          <a:p>
            <a:pPr/>
            <a:r>
              <a:t>You:  Read openspec/input/PRD-portal.md, the</a:t>
            </a:r>
          </a:p>
          <a:p>
            <a:pPr/>
            <a:r>
              <a:t>      business requirements. How many changes</a:t>
            </a:r>
          </a:p>
          <a:p>
            <a:pPr/>
            <a:r>
              <a:t>      is this, and where does it conflict with</a:t>
            </a:r>
          </a:p>
          <a:p>
            <a:pPr/>
            <a:r>
              <a:t>      what we already have?</a:t>
            </a:r>
          </a:p>
          <a:p>
            <a:pPr/>
          </a:p>
          <a:p>
            <a:pPr/>
            <a:r>
              <a:t>AI:   Eight capabilities. Five are covered by</a:t>
            </a:r>
          </a:p>
          <a:p>
            <a:pPr/>
            <a:r>
              <a:t>      existing specs, three are new.</a:t>
            </a:r>
          </a:p>
          <a:p>
            <a:pPr/>
            <a:r>
              <a:t>      Section 4.2 says invoices are available</a:t>
            </a:r>
          </a:p>
          <a:p>
            <a:pPr/>
            <a:r>
              <a:t>      immediately; our billing spec says nightly.</a:t>
            </a:r>
          </a:p>
          <a:p>
            <a:pPr/>
            <a:r>
              <a:t>      Which wins?</a:t>
            </a:r>
          </a:p>
          <a:p>
            <a:pPr/>
            <a:r>
              <a:t>      Sections 6 and 7 are the mobile app,</a:t>
            </a:r>
          </a:p>
          <a:p>
            <a:pPr/>
            <a:r>
              <a:t>      another repository.</a:t>
            </a:r>
          </a:p>
          <a:p>
            <a:pPr/>
          </a:p>
          <a:p>
            <a:pPr/>
            <a:r>
              <a:t>You:  Billing stays nightly. Skip 6 and 7.</a:t>
            </a:r>
          </a:p>
          <a:p>
            <a:pPr/>
            <a:r>
              <a:t>      Start with password reset.</a:t>
            </a:r>
          </a:p>
          <a:p>
            <a:pPr/>
          </a:p>
          <a:p>
            <a:pPr/>
            <a:r>
              <a:t>You:  /opsx:propose add-password-reset</a:t>
            </a:r>
          </a:p>
        </p:txBody>
      </p:sp>
      <p:sp>
        <p:nvSpPr>
          <p:cNvPr id="313" name="Close"/>
          <p:cNvSpPr txBox="1"/>
          <p:nvPr/>
        </p:nvSpPr>
        <p:spPr>
          <a:xfrm>
            <a:off x="640080" y="5943600"/>
            <a:ext cx="5029200" cy="320040"/>
          </a:xfrm>
          <a:prstGeom prst="rect">
            <a:avLst/>
          </a:prstGeom>
          <a:ln w="12700">
            <a:noFill/>
            <a:miter lim="400000"/>
          </a:ln>
        </p:spPr>
        <p:txBody>
          <a:bodyPr lIns="45719" rIns="45719" tIns="0" bIns="0" anchor="t"/>
          <a:lstStyle>
            <a:lvl1pPr algn="l">
              <a:defRPr b="1" sz="1250">
                <a:solidFill>
                  <a:srgbClr val="1E2761"/>
                </a:solidFill>
                <a:latin typeface="Cambria"/>
              </a:defRPr>
            </a:lvl1pPr>
          </a:lstStyle>
          <a:p>
            <a:pPr/>
            <a:r>
              <a:t>Optional, and the habit that pays most.</a:t>
            </a:r>
          </a:p>
        </p:txBody>
      </p:sp>
      <p:sp>
        <p:nvSpPr>
          <p:cNvPr id="314" name="Note"/>
          <p:cNvSpPr txBox="1"/>
          <p:nvPr/>
        </p:nvSpPr>
        <p:spPr>
          <a:xfrm>
            <a:off x="6217920" y="5943600"/>
            <a:ext cx="5303520" cy="3200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exchange. Explore creates no artefacts.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/opsx commands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21</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Six commands are installed by default. The rest come with the expanded profile, enabled by openspec config profile.</a:t>
            </a:r>
          </a:p>
        </p:txBody>
      </p:sp>
      <p:sp>
        <p:nvSpPr>
          <p:cNvPr id="302" name="CTHE NORMAL WORKFLOW"/>
          <p:cNvSpPr/>
          <p:nvPr/>
        </p:nvSpPr>
        <p:spPr>
          <a:xfrm>
            <a:off x="6400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THE NORMAL WORKFLOW"/>
          <p:cNvSpPr/>
          <p:nvPr/>
        </p:nvSpPr>
        <p:spPr>
          <a:xfrm>
            <a:off x="6400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LTHE NORMAL WORKFLOW"/>
          <p:cNvSpPr txBox="1"/>
          <p:nvPr/>
        </p:nvSpPr>
        <p:spPr>
          <a:xfrm>
            <a:off x="6400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DEFAULT PROFILE</a:t>
            </a:r>
          </a:p>
        </p:txBody>
      </p:sp>
      <p:sp>
        <p:nvSpPr>
          <p:cNvPr id="305" name="NTHE NORMAL WORKFLOW0"/>
          <p:cNvSpPr txBox="1"/>
          <p:nvPr/>
        </p:nvSpPr>
        <p:spPr>
          <a:xfrm>
            <a:off x="9144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/opsx:propose</a:t>
            </a:r>
          </a:p>
        </p:txBody>
      </p:sp>
      <p:sp>
        <p:nvSpPr>
          <p:cNvPr id="306" name="DTHE NORMAL WORKFLOW0"/>
          <p:cNvSpPr txBox="1"/>
          <p:nvPr/>
        </p:nvSpPr>
        <p:spPr>
          <a:xfrm>
            <a:off x="27432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a change and its planning artefacts</a:t>
            </a:r>
          </a:p>
        </p:txBody>
      </p:sp>
      <p:sp>
        <p:nvSpPr>
          <p:cNvPr id="307" name="NTHE NORMAL WORKFLOW1"/>
          <p:cNvSpPr txBox="1"/>
          <p:nvPr/>
        </p:nvSpPr>
        <p:spPr>
          <a:xfrm>
            <a:off x="9144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/opsx:explore</a:t>
            </a:r>
          </a:p>
        </p:txBody>
      </p:sp>
      <p:sp>
        <p:nvSpPr>
          <p:cNvPr id="308" name="DTHE NORMAL WORKFLOW1"/>
          <p:cNvSpPr txBox="1"/>
          <p:nvPr/>
        </p:nvSpPr>
        <p:spPr>
          <a:xfrm>
            <a:off x="27432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think it through before committing</a:t>
            </a:r>
          </a:p>
        </p:txBody>
      </p:sp>
      <p:sp>
        <p:nvSpPr>
          <p:cNvPr id="309" name="NTHE NORMAL WORKFLOW2"/>
          <p:cNvSpPr txBox="1"/>
          <p:nvPr/>
        </p:nvSpPr>
        <p:spPr>
          <a:xfrm>
            <a:off x="9144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/opsx:apply</a:t>
            </a:r>
          </a:p>
        </p:txBody>
      </p:sp>
      <p:sp>
        <p:nvSpPr>
          <p:cNvPr id="310" name="DTHE NORMAL WORKFLOW2"/>
          <p:cNvSpPr txBox="1"/>
          <p:nvPr/>
        </p:nvSpPr>
        <p:spPr>
          <a:xfrm>
            <a:off x="27432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implement the tasks, one at a time</a:t>
            </a:r>
          </a:p>
        </p:txBody>
      </p:sp>
      <p:sp>
        <p:nvSpPr>
          <p:cNvPr id="311" name="NTHE NORMAL WORKFLOW3"/>
          <p:cNvSpPr txBox="1"/>
          <p:nvPr/>
        </p:nvSpPr>
        <p:spPr>
          <a:xfrm>
            <a:off x="9144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/opsx:update</a:t>
            </a:r>
          </a:p>
        </p:txBody>
      </p:sp>
      <p:sp>
        <p:nvSpPr>
          <p:cNvPr id="312" name="DTHE NORMAL WORKFLOW3"/>
          <p:cNvSpPr txBox="1"/>
          <p:nvPr/>
        </p:nvSpPr>
        <p:spPr>
          <a:xfrm>
            <a:off x="27432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revise existing artefacts, keeping them coherent</a:t>
            </a:r>
          </a:p>
        </p:txBody>
      </p:sp>
      <p:sp>
        <p:nvSpPr>
          <p:cNvPr id="313" name="NTHE NORMAL WORKFLOW4"/>
          <p:cNvSpPr txBox="1"/>
          <p:nvPr/>
        </p:nvSpPr>
        <p:spPr>
          <a:xfrm>
            <a:off x="9144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/opsx:sync</a:t>
            </a:r>
          </a:p>
        </p:txBody>
      </p:sp>
      <p:sp>
        <p:nvSpPr>
          <p:cNvPr id="314" name="DTHE NORMAL WORKFLOW4"/>
          <p:cNvSpPr txBox="1"/>
          <p:nvPr/>
        </p:nvSpPr>
        <p:spPr>
          <a:xfrm>
            <a:off x="27432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merge the delta into the main specs</a:t>
            </a:r>
          </a:p>
        </p:txBody>
      </p:sp>
      <p:sp>
        <p:nvSpPr>
          <p:cNvPr id="315" name="NTHE NORMAL WORKFLOW5"/>
          <p:cNvSpPr txBox="1"/>
          <p:nvPr/>
        </p:nvSpPr>
        <p:spPr>
          <a:xfrm>
            <a:off x="9144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/opsx:archive</a:t>
            </a:r>
          </a:p>
        </p:txBody>
      </p:sp>
      <p:sp>
        <p:nvSpPr>
          <p:cNvPr id="316" name="DTHE NORMAL WORKFLOW5"/>
          <p:cNvSpPr txBox="1"/>
          <p:nvPr/>
        </p:nvSpPr>
        <p:spPr>
          <a:xfrm>
            <a:off x="27432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file the completed change</a:t>
            </a:r>
          </a:p>
        </p:txBody>
      </p:sp>
      <p:sp>
        <p:nvSpPr>
          <p:cNvPr id="317" name="CFINER CONTROL"/>
          <p:cNvSpPr/>
          <p:nvPr/>
        </p:nvSpPr>
        <p:spPr>
          <a:xfrm>
            <a:off x="65836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8" name="HFINER CONTROL"/>
          <p:cNvSpPr/>
          <p:nvPr/>
        </p:nvSpPr>
        <p:spPr>
          <a:xfrm>
            <a:off x="65836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9" name="LFINER CONTROL"/>
          <p:cNvSpPr txBox="1"/>
          <p:nvPr/>
        </p:nvSpPr>
        <p:spPr>
          <a:xfrm>
            <a:off x="65836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EXPANDED PROFILE</a:t>
            </a:r>
          </a:p>
        </p:txBody>
      </p:sp>
      <p:sp>
        <p:nvSpPr>
          <p:cNvPr id="320" name="NFINER CONTROL0"/>
          <p:cNvSpPr txBox="1"/>
          <p:nvPr/>
        </p:nvSpPr>
        <p:spPr>
          <a:xfrm>
            <a:off x="68580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/opsx:new</a:t>
            </a:r>
          </a:p>
        </p:txBody>
      </p:sp>
      <p:sp>
        <p:nvSpPr>
          <p:cNvPr id="321" name="DFINER CONTROL0"/>
          <p:cNvSpPr txBox="1"/>
          <p:nvPr/>
        </p:nvSpPr>
        <p:spPr>
          <a:xfrm>
            <a:off x="86868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scaffold a change, artefacts to come</a:t>
            </a:r>
          </a:p>
        </p:txBody>
      </p:sp>
      <p:sp>
        <p:nvSpPr>
          <p:cNvPr id="322" name="NFINER CONTROL1"/>
          <p:cNvSpPr txBox="1"/>
          <p:nvPr/>
        </p:nvSpPr>
        <p:spPr>
          <a:xfrm>
            <a:off x="68580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/opsx:continue</a:t>
            </a:r>
          </a:p>
        </p:txBody>
      </p:sp>
      <p:sp>
        <p:nvSpPr>
          <p:cNvPr id="323" name="DFINER CONTROL1"/>
          <p:cNvSpPr txBox="1"/>
          <p:nvPr/>
        </p:nvSpPr>
        <p:spPr>
          <a:xfrm>
            <a:off x="86868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the next artefact in the chain</a:t>
            </a:r>
          </a:p>
        </p:txBody>
      </p:sp>
      <p:sp>
        <p:nvSpPr>
          <p:cNvPr id="324" name="NFINER CONTROL2"/>
          <p:cNvSpPr txBox="1"/>
          <p:nvPr/>
        </p:nvSpPr>
        <p:spPr>
          <a:xfrm>
            <a:off x="68580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/opsx:ff</a:t>
            </a:r>
          </a:p>
        </p:txBody>
      </p:sp>
      <p:sp>
        <p:nvSpPr>
          <p:cNvPr id="325" name="DFINER CONTROL2"/>
          <p:cNvSpPr txBox="1"/>
          <p:nvPr/>
        </p:nvSpPr>
        <p:spPr>
          <a:xfrm>
            <a:off x="86868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generate all planning artefacts at once</a:t>
            </a:r>
          </a:p>
        </p:txBody>
      </p:sp>
      <p:sp>
        <p:nvSpPr>
          <p:cNvPr id="326" name="NFINER CONTROL3"/>
          <p:cNvSpPr txBox="1"/>
          <p:nvPr/>
        </p:nvSpPr>
        <p:spPr>
          <a:xfrm>
            <a:off x="68580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/opsx:verify</a:t>
            </a:r>
          </a:p>
        </p:txBody>
      </p:sp>
      <p:sp>
        <p:nvSpPr>
          <p:cNvPr id="327" name="DFINER CONTROL3"/>
          <p:cNvSpPr txBox="1"/>
          <p:nvPr/>
        </p:nvSpPr>
        <p:spPr>
          <a:xfrm>
            <a:off x="86868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check the implementation matches the artefacts</a:t>
            </a:r>
          </a:p>
        </p:txBody>
      </p:sp>
      <p:sp>
        <p:nvSpPr>
          <p:cNvPr id="328" name="NFINER CONTROL4"/>
          <p:cNvSpPr txBox="1"/>
          <p:nvPr/>
        </p:nvSpPr>
        <p:spPr>
          <a:xfrm>
            <a:off x="68580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/opsx:bulk-archive</a:t>
            </a:r>
          </a:p>
        </p:txBody>
      </p:sp>
      <p:sp>
        <p:nvSpPr>
          <p:cNvPr id="329" name="DFINER CONTROL4"/>
          <p:cNvSpPr txBox="1"/>
          <p:nvPr/>
        </p:nvSpPr>
        <p:spPr>
          <a:xfrm>
            <a:off x="86868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archive several changes, resolving conflicts</a:t>
            </a:r>
          </a:p>
        </p:txBody>
      </p:sp>
      <p:sp>
        <p:nvSpPr>
          <p:cNvPr id="330" name="NFINER CONTROL5"/>
          <p:cNvSpPr txBox="1"/>
          <p:nvPr/>
        </p:nvSpPr>
        <p:spPr>
          <a:xfrm>
            <a:off x="68580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/opsx:onboard</a:t>
            </a:r>
          </a:p>
        </p:txBody>
      </p:sp>
      <p:sp>
        <p:nvSpPr>
          <p:cNvPr id="331" name="DFINER CONTROL5"/>
          <p:cNvSpPr txBox="1"/>
          <p:nvPr/>
        </p:nvSpPr>
        <p:spPr>
          <a:xfrm>
            <a:off x="86868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 guided run on your own codebase</a:t>
            </a:r>
          </a:p>
        </p:txBody>
      </p:sp>
      <p:sp>
        <p:nvSpPr>
          <p:cNvPr id="332" name="Note"/>
          <p:cNvSpPr txBox="1"/>
          <p:nvPr/>
        </p:nvSpPr>
        <p:spPr>
          <a:xfrm>
            <a:off x="640080" y="5852160"/>
            <a:ext cx="10881360" cy="251460"/>
          </a:xfrm>
          <a:prstGeom prst="rect">
            <a:avLst/>
          </a:prstGeom>
          <a:ln w="12700">
            <a:noFill/>
            <a:miter lim="400000"/>
          </a:ln>
        </p:spPr>
        <p:txBody>
          <a:bodyPr lIns="45719" rIns="45719" tIns="0" bIns="0" anchor="t"/>
          <a:lstStyle>
            <a:lvl1pPr algn="l">
              <a:defRPr i="1" sz="950">
                <a:solidFill>
                  <a:srgbClr val="5C6484"/>
                </a:solidFill>
                <a:latin typeface="Calibri"/>
              </a:defRPr>
            </a:lvl1pPr>
          </a:lstStyle>
          <a:p>
            <a:pPr/>
            <a:r>
              <a:t>Canonical spelling. Cursor and GitHub Copilot use /opsx-propose, Amazon Q @opsx-propose, Codex $openspec-propose. The terminal CLI is separate: openspec init, update, list, show, validate, archive, status, config.</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teams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happens to the engineers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23</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work does not disappear. It moves up a level, and that shift is worth naming before someone else does.</a:t>
            </a:r>
          </a:p>
        </p:txBody>
      </p:sp>
      <p:sp>
        <p:nvSpPr>
          <p:cNvPr id="302" name="C0"/>
          <p:cNvSpPr/>
          <p:nvPr/>
        </p:nvSpPr>
        <p:spPr>
          <a:xfrm>
            <a:off x="64008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D0"/>
          <p:cNvSpPr/>
          <p:nvPr/>
        </p:nvSpPr>
        <p:spPr>
          <a:xfrm>
            <a:off x="960120" y="2880360"/>
            <a:ext cx="457200" cy="457200"/>
          </a:xfrm>
          <a:prstGeom prst="ellipse">
            <a:avLst/>
          </a:prstGeom>
          <a:solidFill>
            <a:srgbClr val="FF6B4A"/>
          </a:solidFill>
          <a:ln w="12700">
            <a:noFill/>
            <a:miter lim="400000"/>
          </a:ln>
        </p:spPr>
        <p:txBody>
          <a:bodyPr lIns="45719" rIns="45719"/>
          <a:lstStyle/>
          <a:p>
            <a:pPr/>
          </a:p>
        </p:txBody>
      </p:sp>
      <p:sp>
        <p:nvSpPr>
          <p:cNvPr id="304" name="N0"/>
          <p:cNvSpPr txBox="1"/>
          <p:nvPr/>
        </p:nvSpPr>
        <p:spPr>
          <a:xfrm>
            <a:off x="96012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05" name="H0"/>
          <p:cNvSpPr txBox="1"/>
          <p:nvPr/>
        </p:nvSpPr>
        <p:spPr>
          <a:xfrm>
            <a:off x="96012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Spec architect</a:t>
            </a:r>
          </a:p>
        </p:txBody>
      </p:sp>
      <p:sp>
        <p:nvSpPr>
          <p:cNvPr id="306" name="B0"/>
          <p:cNvSpPr txBox="1"/>
          <p:nvPr/>
        </p:nvSpPr>
        <p:spPr>
          <a:xfrm>
            <a:off x="96012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States the behaviour the system must have, and argues it out with the business before it is built. The hard part was never the syntax. It was deciding what the system should do.</a:t>
            </a:r>
          </a:p>
        </p:txBody>
      </p:sp>
      <p:sp>
        <p:nvSpPr>
          <p:cNvPr id="307" name="C1"/>
          <p:cNvSpPr/>
          <p:nvPr/>
        </p:nvSpPr>
        <p:spPr>
          <a:xfrm>
            <a:off x="438150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8" name="D1"/>
          <p:cNvSpPr/>
          <p:nvPr/>
        </p:nvSpPr>
        <p:spPr>
          <a:xfrm>
            <a:off x="4701540" y="2880360"/>
            <a:ext cx="457200" cy="457200"/>
          </a:xfrm>
          <a:prstGeom prst="ellipse">
            <a:avLst/>
          </a:prstGeom>
          <a:solidFill>
            <a:srgbClr val="FF6B4A"/>
          </a:solidFill>
          <a:ln w="12700">
            <a:noFill/>
            <a:miter lim="400000"/>
          </a:ln>
        </p:spPr>
        <p:txBody>
          <a:bodyPr lIns="45719" rIns="45719"/>
          <a:lstStyle/>
          <a:p>
            <a:pPr/>
          </a:p>
        </p:txBody>
      </p:sp>
      <p:sp>
        <p:nvSpPr>
          <p:cNvPr id="309" name="N1"/>
          <p:cNvSpPr txBox="1"/>
          <p:nvPr/>
        </p:nvSpPr>
        <p:spPr>
          <a:xfrm>
            <a:off x="470154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10" name="H1"/>
          <p:cNvSpPr txBox="1"/>
          <p:nvPr/>
        </p:nvSpPr>
        <p:spPr>
          <a:xfrm>
            <a:off x="470154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Agent engineer</a:t>
            </a:r>
          </a:p>
        </p:txBody>
      </p:sp>
      <p:sp>
        <p:nvSpPr>
          <p:cNvPr id="311" name="B1"/>
          <p:cNvSpPr txBox="1"/>
          <p:nvPr/>
        </p:nvSpPr>
        <p:spPr>
          <a:xfrm>
            <a:off x="470154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Sets up the rules, the tools and the context the agent works inside, so that the same request produces the same shape of answer twice running.</a:t>
            </a:r>
          </a:p>
        </p:txBody>
      </p:sp>
      <p:sp>
        <p:nvSpPr>
          <p:cNvPr id="312" name="C2"/>
          <p:cNvSpPr/>
          <p:nvPr/>
        </p:nvSpPr>
        <p:spPr>
          <a:xfrm>
            <a:off x="812292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3" name="D2"/>
          <p:cNvSpPr/>
          <p:nvPr/>
        </p:nvSpPr>
        <p:spPr>
          <a:xfrm>
            <a:off x="8442960" y="2880360"/>
            <a:ext cx="457200" cy="457200"/>
          </a:xfrm>
          <a:prstGeom prst="ellipse">
            <a:avLst/>
          </a:prstGeom>
          <a:solidFill>
            <a:srgbClr val="FF6B4A"/>
          </a:solidFill>
          <a:ln w="12700">
            <a:noFill/>
            <a:miter lim="400000"/>
          </a:ln>
        </p:spPr>
        <p:txBody>
          <a:bodyPr lIns="45719" rIns="45719"/>
          <a:lstStyle/>
          <a:p>
            <a:pPr/>
          </a:p>
        </p:txBody>
      </p:sp>
      <p:sp>
        <p:nvSpPr>
          <p:cNvPr id="314" name="N2"/>
          <p:cNvSpPr txBox="1"/>
          <p:nvPr/>
        </p:nvSpPr>
        <p:spPr>
          <a:xfrm>
            <a:off x="844296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15" name="H2"/>
          <p:cNvSpPr txBox="1"/>
          <p:nvPr/>
        </p:nvSpPr>
        <p:spPr>
          <a:xfrm>
            <a:off x="844296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Quality guardian</a:t>
            </a:r>
          </a:p>
        </p:txBody>
      </p:sp>
      <p:sp>
        <p:nvSpPr>
          <p:cNvPr id="316" name="B2"/>
          <p:cNvSpPr txBox="1"/>
          <p:nvPr/>
        </p:nvSpPr>
        <p:spPr>
          <a:xfrm>
            <a:off x="844296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Owns the tests, the pipeline and the guardrails. The volume of generated code makes this role more important, not less.</a:t>
            </a:r>
          </a:p>
        </p:txBody>
      </p:sp>
      <p:sp>
        <p:nvSpPr>
          <p:cNvPr id="317" name="Callout"/>
          <p:cNvSpPr/>
          <p:nvPr/>
        </p:nvSpPr>
        <p:spPr>
          <a:xfrm>
            <a:off x="640080" y="56692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8" name="CalloutT"/>
          <p:cNvSpPr txBox="1"/>
          <p:nvPr/>
        </p:nvSpPr>
        <p:spPr>
          <a:xfrm>
            <a:off x="960120" y="56692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None of this makes existing code disposable. It changes where the leverage is.</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Alternative conclusion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Three things a written spec gives you</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24</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 benefits-first close, if the room is more management than engineering.</a:t>
            </a:r>
          </a:p>
        </p:txBody>
      </p:sp>
      <p:sp>
        <p:nvSpPr>
          <p:cNvPr id="302" name="C0"/>
          <p:cNvSpPr/>
          <p:nvPr/>
        </p:nvSpPr>
        <p:spPr>
          <a:xfrm>
            <a:off x="64008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L0"/>
          <p:cNvSpPr txBox="1"/>
          <p:nvPr/>
        </p:nvSpPr>
        <p:spPr>
          <a:xfrm>
            <a:off x="64008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ONE SOURCE OF TRUTH</a:t>
            </a:r>
          </a:p>
        </p:txBody>
      </p:sp>
      <p:sp>
        <p:nvSpPr>
          <p:cNvPr id="305" name="d00"/>
          <p:cNvSpPr/>
          <p:nvPr/>
        </p:nvSpPr>
        <p:spPr>
          <a:xfrm>
            <a:off x="914400" y="3268980"/>
            <a:ext cx="91440" cy="91440"/>
          </a:xfrm>
          <a:prstGeom prst="rect">
            <a:avLst/>
          </a:prstGeom>
          <a:solidFill>
            <a:srgbClr val="FF6B4A"/>
          </a:solidFill>
          <a:ln w="12700">
            <a:noFill/>
            <a:miter lim="400000"/>
          </a:ln>
        </p:spPr>
        <p:txBody>
          <a:bodyPr lIns="45719" rIns="45719"/>
          <a:lstStyle/>
          <a:p>
            <a:pPr/>
          </a:p>
        </p:txBody>
      </p:sp>
      <p:sp>
        <p:nvSpPr>
          <p:cNvPr id="306" name="t00"/>
          <p:cNvSpPr txBox="1"/>
          <p:nvPr/>
        </p:nvSpPr>
        <p:spPr>
          <a:xfrm>
            <a:off x="114300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Specs versioned in Git, beside the code</a:t>
            </a:r>
          </a:p>
        </p:txBody>
      </p:sp>
      <p:sp>
        <p:nvSpPr>
          <p:cNvPr id="307" name="d01"/>
          <p:cNvSpPr/>
          <p:nvPr/>
        </p:nvSpPr>
        <p:spPr>
          <a:xfrm>
            <a:off x="914400" y="3954780"/>
            <a:ext cx="91440" cy="91440"/>
          </a:xfrm>
          <a:prstGeom prst="rect">
            <a:avLst/>
          </a:prstGeom>
          <a:solidFill>
            <a:srgbClr val="FF6B4A"/>
          </a:solidFill>
          <a:ln w="12700">
            <a:noFill/>
            <a:miter lim="400000"/>
          </a:ln>
        </p:spPr>
        <p:txBody>
          <a:bodyPr lIns="45719" rIns="45719"/>
          <a:lstStyle/>
          <a:p>
            <a:pPr/>
          </a:p>
        </p:txBody>
      </p:sp>
      <p:sp>
        <p:nvSpPr>
          <p:cNvPr id="308" name="t01"/>
          <p:cNvSpPr txBox="1"/>
          <p:nvPr/>
        </p:nvSpPr>
        <p:spPr>
          <a:xfrm>
            <a:off x="114300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Documentation that cannot go stale: it is what the agent reads</a:t>
            </a:r>
          </a:p>
        </p:txBody>
      </p:sp>
      <p:sp>
        <p:nvSpPr>
          <p:cNvPr id="309" name="d02"/>
          <p:cNvSpPr/>
          <p:nvPr/>
        </p:nvSpPr>
        <p:spPr>
          <a:xfrm>
            <a:off x="914400" y="4640580"/>
            <a:ext cx="91440" cy="91440"/>
          </a:xfrm>
          <a:prstGeom prst="rect">
            <a:avLst/>
          </a:prstGeom>
          <a:solidFill>
            <a:srgbClr val="FF6B4A"/>
          </a:solidFill>
          <a:ln w="12700">
            <a:noFill/>
            <a:miter lim="400000"/>
          </a:ln>
        </p:spPr>
        <p:txBody>
          <a:bodyPr lIns="45719" rIns="45719"/>
          <a:lstStyle/>
          <a:p>
            <a:pPr/>
          </a:p>
        </p:txBody>
      </p:sp>
      <p:sp>
        <p:nvSpPr>
          <p:cNvPr id="310" name="t02"/>
          <p:cNvSpPr txBox="1"/>
          <p:nvPr/>
        </p:nvSpPr>
        <p:spPr>
          <a:xfrm>
            <a:off x="114300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An architectural history you can go back through</a:t>
            </a:r>
          </a:p>
        </p:txBody>
      </p:sp>
      <p:sp>
        <p:nvSpPr>
          <p:cNvPr id="311" name="C1"/>
          <p:cNvSpPr/>
          <p:nvPr/>
        </p:nvSpPr>
        <p:spPr>
          <a:xfrm>
            <a:off x="438150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3" name="L1"/>
          <p:cNvSpPr txBox="1"/>
          <p:nvPr/>
        </p:nvSpPr>
        <p:spPr>
          <a:xfrm>
            <a:off x="438150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A NARROWER CONTEXT</a:t>
            </a:r>
          </a:p>
        </p:txBody>
      </p:sp>
      <p:sp>
        <p:nvSpPr>
          <p:cNvPr id="314" name="d10"/>
          <p:cNvSpPr/>
          <p:nvPr/>
        </p:nvSpPr>
        <p:spPr>
          <a:xfrm>
            <a:off x="4655820" y="3268980"/>
            <a:ext cx="91440" cy="91440"/>
          </a:xfrm>
          <a:prstGeom prst="rect">
            <a:avLst/>
          </a:prstGeom>
          <a:solidFill>
            <a:srgbClr val="FF6B4A"/>
          </a:solidFill>
          <a:ln w="12700">
            <a:noFill/>
            <a:miter lim="400000"/>
          </a:ln>
        </p:spPr>
        <p:txBody>
          <a:bodyPr lIns="45719" rIns="45719"/>
          <a:lstStyle/>
          <a:p>
            <a:pPr/>
          </a:p>
        </p:txBody>
      </p:sp>
      <p:sp>
        <p:nvSpPr>
          <p:cNvPr id="315" name="t10"/>
          <p:cNvSpPr txBox="1"/>
          <p:nvPr/>
        </p:nvSpPr>
        <p:spPr>
          <a:xfrm>
            <a:off x="488442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works from the spec, not from a scrolling chat</a:t>
            </a:r>
          </a:p>
        </p:txBody>
      </p:sp>
      <p:sp>
        <p:nvSpPr>
          <p:cNvPr id="316" name="d11"/>
          <p:cNvSpPr/>
          <p:nvPr/>
        </p:nvSpPr>
        <p:spPr>
          <a:xfrm>
            <a:off x="4655820" y="3954780"/>
            <a:ext cx="91440" cy="91440"/>
          </a:xfrm>
          <a:prstGeom prst="rect">
            <a:avLst/>
          </a:prstGeom>
          <a:solidFill>
            <a:srgbClr val="FF6B4A"/>
          </a:solidFill>
          <a:ln w="12700">
            <a:noFill/>
            <a:miter lim="400000"/>
          </a:ln>
        </p:spPr>
        <p:txBody>
          <a:bodyPr lIns="45719" rIns="45719"/>
          <a:lstStyle/>
          <a:p>
            <a:pPr/>
          </a:p>
        </p:txBody>
      </p:sp>
      <p:sp>
        <p:nvSpPr>
          <p:cNvPr id="317" name="t11"/>
          <p:cNvSpPr txBox="1"/>
          <p:nvPr/>
        </p:nvSpPr>
        <p:spPr>
          <a:xfrm>
            <a:off x="488442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Drift and invention are caught against a stated intent</a:t>
            </a:r>
          </a:p>
        </p:txBody>
      </p:sp>
      <p:sp>
        <p:nvSpPr>
          <p:cNvPr id="318" name="d12"/>
          <p:cNvSpPr/>
          <p:nvPr/>
        </p:nvSpPr>
        <p:spPr>
          <a:xfrm>
            <a:off x="4655820" y="4640580"/>
            <a:ext cx="91440" cy="91440"/>
          </a:xfrm>
          <a:prstGeom prst="rect">
            <a:avLst/>
          </a:prstGeom>
          <a:solidFill>
            <a:srgbClr val="FF6B4A"/>
          </a:solidFill>
          <a:ln w="12700">
            <a:noFill/>
            <a:miter lim="400000"/>
          </a:ln>
        </p:spPr>
        <p:txBody>
          <a:bodyPr lIns="45719" rIns="45719"/>
          <a:lstStyle/>
          <a:p>
            <a:pPr/>
          </a:p>
        </p:txBody>
      </p:sp>
      <p:sp>
        <p:nvSpPr>
          <p:cNvPr id="319" name="t12"/>
          <p:cNvSpPr txBox="1"/>
          <p:nvPr/>
        </p:nvSpPr>
        <p:spPr>
          <a:xfrm>
            <a:off x="488442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What ships can be compared to what was agreed</a:t>
            </a:r>
          </a:p>
        </p:txBody>
      </p:sp>
      <p:sp>
        <p:nvSpPr>
          <p:cNvPr id="320" name="C2"/>
          <p:cNvSpPr/>
          <p:nvPr/>
        </p:nvSpPr>
        <p:spPr>
          <a:xfrm>
            <a:off x="812292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21" name="H2"/>
          <p:cNvSpPr/>
          <p:nvPr/>
        </p:nvSpPr>
        <p:spPr>
          <a:xfrm>
            <a:off x="812292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22" name="L2"/>
          <p:cNvSpPr txBox="1"/>
          <p:nvPr/>
        </p:nvSpPr>
        <p:spPr>
          <a:xfrm>
            <a:off x="812292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REVIEW THAT SCALES</a:t>
            </a:r>
          </a:p>
        </p:txBody>
      </p:sp>
      <p:sp>
        <p:nvSpPr>
          <p:cNvPr id="323" name="d20"/>
          <p:cNvSpPr/>
          <p:nvPr/>
        </p:nvSpPr>
        <p:spPr>
          <a:xfrm>
            <a:off x="8397240" y="3268980"/>
            <a:ext cx="91440" cy="91440"/>
          </a:xfrm>
          <a:prstGeom prst="rect">
            <a:avLst/>
          </a:prstGeom>
          <a:solidFill>
            <a:srgbClr val="FF6B4A"/>
          </a:solidFill>
          <a:ln w="12700">
            <a:noFill/>
            <a:miter lim="400000"/>
          </a:ln>
        </p:spPr>
        <p:txBody>
          <a:bodyPr lIns="45719" rIns="45719"/>
          <a:lstStyle/>
          <a:p>
            <a:pPr/>
          </a:p>
        </p:txBody>
      </p:sp>
      <p:sp>
        <p:nvSpPr>
          <p:cNvPr id="324" name="t20"/>
          <p:cNvSpPr txBox="1"/>
          <p:nvPr/>
        </p:nvSpPr>
        <p:spPr>
          <a:xfrm>
            <a:off x="862584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Intent validated before the code exists</a:t>
            </a:r>
          </a:p>
        </p:txBody>
      </p:sp>
      <p:sp>
        <p:nvSpPr>
          <p:cNvPr id="325" name="d21"/>
          <p:cNvSpPr/>
          <p:nvPr/>
        </p:nvSpPr>
        <p:spPr>
          <a:xfrm>
            <a:off x="8397240" y="3954780"/>
            <a:ext cx="91440" cy="91440"/>
          </a:xfrm>
          <a:prstGeom prst="rect">
            <a:avLst/>
          </a:prstGeom>
          <a:solidFill>
            <a:srgbClr val="FF6B4A"/>
          </a:solidFill>
          <a:ln w="12700">
            <a:noFill/>
            <a:miter lim="400000"/>
          </a:ln>
        </p:spPr>
        <p:txBody>
          <a:bodyPr lIns="45719" rIns="45719"/>
          <a:lstStyle/>
          <a:p>
            <a:pPr/>
          </a:p>
        </p:txBody>
      </p:sp>
      <p:sp>
        <p:nvSpPr>
          <p:cNvPr id="326" name="t21"/>
          <p:cNvSpPr txBox="1"/>
          <p:nvPr/>
        </p:nvSpPr>
        <p:spPr>
          <a:xfrm>
            <a:off x="862584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Reviews read a spec, not hundreds of lines of code</a:t>
            </a:r>
          </a:p>
        </p:txBody>
      </p:sp>
      <p:sp>
        <p:nvSpPr>
          <p:cNvPr id="327" name="d22"/>
          <p:cNvSpPr/>
          <p:nvPr/>
        </p:nvSpPr>
        <p:spPr>
          <a:xfrm>
            <a:off x="8397240" y="4640580"/>
            <a:ext cx="91440" cy="91440"/>
          </a:xfrm>
          <a:prstGeom prst="rect">
            <a:avLst/>
          </a:prstGeom>
          <a:solidFill>
            <a:srgbClr val="FF6B4A"/>
          </a:solidFill>
          <a:ln w="12700">
            <a:noFill/>
            <a:miter lim="400000"/>
          </a:ln>
        </p:spPr>
        <p:txBody>
          <a:bodyPr lIns="45719" rIns="45719"/>
          <a:lstStyle/>
          <a:p>
            <a:pPr/>
          </a:p>
        </p:txBody>
      </p:sp>
      <p:sp>
        <p:nvSpPr>
          <p:cNvPr id="328" name="t22"/>
          <p:cNvSpPr txBox="1"/>
          <p:nvPr/>
        </p:nvSpPr>
        <p:spPr>
          <a:xfrm>
            <a:off x="862584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One artefact the business, the developers and the agent all read</a:t>
            </a:r>
          </a:p>
        </p:txBody>
      </p:sp>
      <p:sp>
        <p:nvSpPr>
          <p:cNvPr id="329" name="Callout"/>
          <p:cNvSpPr/>
          <p:nvPr/>
        </p:nvSpPr>
        <p:spPr>
          <a:xfrm>
            <a:off x="640080" y="557784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30" name="CalloutT"/>
          <p:cNvSpPr txBox="1"/>
          <p:nvPr/>
        </p:nvSpPr>
        <p:spPr>
          <a:xfrm>
            <a:off x="960120" y="557784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Spec-driven development does not make the AI slower. It makes what comes out of it reviewable.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stays where it is, and what moves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25</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JIRA and SharePoint keep their jobs. One thing moves: the description of how the system behaves.</a:t>
            </a:r>
          </a:p>
        </p:txBody>
      </p:sp>
      <p:sp>
        <p:nvSpPr>
          <p:cNvPr id="302" name="C0"/>
          <p:cNvSpPr/>
          <p:nvPr/>
        </p:nvSpPr>
        <p:spPr>
          <a:xfrm>
            <a:off x="64008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N0"/>
          <p:cNvSpPr txBox="1"/>
          <p:nvPr/>
        </p:nvSpPr>
        <p:spPr>
          <a:xfrm>
            <a:off x="64008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JIRA</a:t>
            </a:r>
          </a:p>
        </p:txBody>
      </p:sp>
      <p:sp>
        <p:nvSpPr>
          <p:cNvPr id="305" name="R0"/>
          <p:cNvSpPr txBox="1"/>
          <p:nvPr/>
        </p:nvSpPr>
        <p:spPr>
          <a:xfrm>
            <a:off x="64008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the user stories</a:t>
            </a:r>
          </a:p>
        </p:txBody>
      </p:sp>
      <p:sp>
        <p:nvSpPr>
          <p:cNvPr id="306" name="D0"/>
          <p:cNvSpPr txBox="1"/>
          <p:nvPr/>
        </p:nvSpPr>
        <p:spPr>
          <a:xfrm>
            <a:off x="96012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Still where work is tracked, estimated and assigned. Nothing about the board changes.</a:t>
            </a:r>
          </a:p>
        </p:txBody>
      </p:sp>
      <p:sp>
        <p:nvSpPr>
          <p:cNvPr id="307" name="W0"/>
          <p:cNvSpPr/>
          <p:nvPr/>
        </p:nvSpPr>
        <p:spPr>
          <a:xfrm>
            <a:off x="960120" y="4389120"/>
            <a:ext cx="109729" cy="109729"/>
          </a:xfrm>
          <a:prstGeom prst="rect">
            <a:avLst/>
          </a:prstGeom>
          <a:solidFill>
            <a:srgbClr val="FF6B4A"/>
          </a:solidFill>
          <a:ln w="12700">
            <a:noFill/>
            <a:miter lim="400000"/>
          </a:ln>
        </p:spPr>
        <p:txBody>
          <a:bodyPr lIns="45719" rIns="45719"/>
          <a:lstStyle/>
          <a:p>
            <a:pPr/>
          </a:p>
        </p:txBody>
      </p:sp>
      <p:sp>
        <p:nvSpPr>
          <p:cNvPr id="308" name="T0"/>
          <p:cNvSpPr txBox="1"/>
          <p:nvPr/>
        </p:nvSpPr>
        <p:spPr>
          <a:xfrm>
            <a:off x="123444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The story ID travels into proposal.md</a:t>
            </a:r>
          </a:p>
        </p:txBody>
      </p:sp>
      <p:sp>
        <p:nvSpPr>
          <p:cNvPr id="309" name="C1"/>
          <p:cNvSpPr/>
          <p:nvPr/>
        </p:nvSpPr>
        <p:spPr>
          <a:xfrm>
            <a:off x="438150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0"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1" name="N1"/>
          <p:cNvSpPr txBox="1"/>
          <p:nvPr/>
        </p:nvSpPr>
        <p:spPr>
          <a:xfrm>
            <a:off x="438150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SharePoint</a:t>
            </a:r>
          </a:p>
        </p:txBody>
      </p:sp>
      <p:sp>
        <p:nvSpPr>
          <p:cNvPr id="312" name="R1"/>
          <p:cNvSpPr txBox="1"/>
          <p:nvPr/>
        </p:nvSpPr>
        <p:spPr>
          <a:xfrm>
            <a:off x="438150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what the business asks for</a:t>
            </a:r>
          </a:p>
        </p:txBody>
      </p:sp>
      <p:sp>
        <p:nvSpPr>
          <p:cNvPr id="313" name="D1"/>
          <p:cNvSpPr txBox="1"/>
          <p:nvPr/>
        </p:nvSpPr>
        <p:spPr>
          <a:xfrm>
            <a:off x="470154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Requirement documents and business context, written by the business, in the place it already writes.</a:t>
            </a:r>
          </a:p>
        </p:txBody>
      </p:sp>
      <p:sp>
        <p:nvSpPr>
          <p:cNvPr id="314" name="W1"/>
          <p:cNvSpPr/>
          <p:nvPr/>
        </p:nvSpPr>
        <p:spPr>
          <a:xfrm>
            <a:off x="4701540" y="4389120"/>
            <a:ext cx="109729" cy="109729"/>
          </a:xfrm>
          <a:prstGeom prst="rect">
            <a:avLst/>
          </a:prstGeom>
          <a:solidFill>
            <a:srgbClr val="FF6B4A"/>
          </a:solidFill>
          <a:ln w="12700">
            <a:noFill/>
            <a:miter lim="400000"/>
          </a:ln>
        </p:spPr>
        <p:txBody>
          <a:bodyPr lIns="45719" rIns="45719"/>
          <a:lstStyle/>
          <a:p>
            <a:pPr/>
          </a:p>
        </p:txBody>
      </p:sp>
      <p:sp>
        <p:nvSpPr>
          <p:cNvPr id="315" name="T1"/>
          <p:cNvSpPr txBox="1"/>
          <p:nvPr/>
        </p:nvSpPr>
        <p:spPr>
          <a:xfrm>
            <a:off x="497586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Stays the source: the change cites it</a:t>
            </a:r>
          </a:p>
        </p:txBody>
      </p:sp>
      <p:sp>
        <p:nvSpPr>
          <p:cNvPr id="316" name="C2"/>
          <p:cNvSpPr/>
          <p:nvPr/>
        </p:nvSpPr>
        <p:spPr>
          <a:xfrm>
            <a:off x="812292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7" name="H2"/>
          <p:cNvSpPr/>
          <p:nvPr/>
        </p:nvSpPr>
        <p:spPr>
          <a:xfrm>
            <a:off x="8122920" y="2377440"/>
            <a:ext cx="3398520" cy="548641"/>
          </a:xfrm>
          <a:prstGeom prst="roundRect">
            <a:avLst>
              <a:gd name="adj" fmla="val 19000"/>
            </a:avLst>
          </a:prstGeom>
          <a:solidFill>
            <a:srgbClr val="FF6B4A"/>
          </a:solidFill>
          <a:ln w="12700">
            <a:noFill/>
            <a:miter lim="400000"/>
          </a:ln>
        </p:spPr>
        <p:txBody>
          <a:bodyPr lIns="45719" rIns="45719"/>
          <a:lstStyle/>
          <a:p>
            <a:pPr/>
          </a:p>
        </p:txBody>
      </p:sp>
      <p:sp>
        <p:nvSpPr>
          <p:cNvPr id="318" name="N2"/>
          <p:cNvSpPr txBox="1"/>
          <p:nvPr/>
        </p:nvSpPr>
        <p:spPr>
          <a:xfrm>
            <a:off x="8122920" y="2491740"/>
            <a:ext cx="3398520" cy="25146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The repository</a:t>
            </a:r>
          </a:p>
        </p:txBody>
      </p:sp>
      <p:sp>
        <p:nvSpPr>
          <p:cNvPr id="319" name="R2"/>
          <p:cNvSpPr txBox="1"/>
          <p:nvPr/>
        </p:nvSpPr>
        <p:spPr>
          <a:xfrm>
            <a:off x="8122920" y="2743200"/>
            <a:ext cx="3398520" cy="205740"/>
          </a:xfrm>
          <a:prstGeom prst="rect">
            <a:avLst/>
          </a:prstGeom>
          <a:ln w="12700">
            <a:noFill/>
            <a:miter lim="400000"/>
          </a:ln>
        </p:spPr>
        <p:txBody>
          <a:bodyPr lIns="45719" rIns="45719" tIns="0" bIns="0" anchor="t"/>
          <a:lstStyle>
            <a:lvl1pPr algn="ctr">
              <a:defRPr sz="950" spc="80">
                <a:solidFill>
                  <a:srgbClr val="5A1A0A"/>
                </a:solidFill>
                <a:latin typeface="Calibri"/>
              </a:defRPr>
            </a:lvl1pPr>
          </a:lstStyle>
          <a:p>
            <a:pPr/>
            <a:r>
              <a:t>what the system will do</a:t>
            </a:r>
          </a:p>
        </p:txBody>
      </p:sp>
      <p:sp>
        <p:nvSpPr>
          <p:cNvPr id="320" name="D2"/>
          <p:cNvSpPr txBox="1"/>
          <p:nvPr/>
        </p:nvSpPr>
        <p:spPr>
          <a:xfrm>
            <a:off x="844296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behaviour agreed for this change, derived from those documents and reviewed with the code.</a:t>
            </a:r>
          </a:p>
        </p:txBody>
      </p:sp>
      <p:sp>
        <p:nvSpPr>
          <p:cNvPr id="321" name="W2"/>
          <p:cNvSpPr/>
          <p:nvPr/>
        </p:nvSpPr>
        <p:spPr>
          <a:xfrm>
            <a:off x="8442960" y="4389120"/>
            <a:ext cx="109729" cy="109729"/>
          </a:xfrm>
          <a:prstGeom prst="rect">
            <a:avLst/>
          </a:prstGeom>
          <a:solidFill>
            <a:srgbClr val="FF6B4A"/>
          </a:solidFill>
          <a:ln w="12700">
            <a:noFill/>
            <a:miter lim="400000"/>
          </a:ln>
        </p:spPr>
        <p:txBody>
          <a:bodyPr lIns="45719" rIns="45719"/>
          <a:lstStyle/>
          <a:p>
            <a:pPr/>
          </a:p>
        </p:txBody>
      </p:sp>
      <p:sp>
        <p:nvSpPr>
          <p:cNvPr id="322" name="T2"/>
          <p:cNvSpPr txBox="1"/>
          <p:nvPr/>
        </p:nvSpPr>
        <p:spPr>
          <a:xfrm>
            <a:off x="871728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Testable, versioned, and it cannot go stale</a:t>
            </a:r>
          </a:p>
        </p:txBody>
      </p:sp>
      <p:sp>
        <p:nvSpPr>
          <p:cNvPr id="323" name="Callout"/>
          <p:cNvSpPr/>
          <p:nvPr/>
        </p:nvSpPr>
        <p:spPr>
          <a:xfrm>
            <a:off x="640080" y="5486400"/>
            <a:ext cx="10881360" cy="685800"/>
          </a:xfrm>
          <a:prstGeom prst="roundRect">
            <a:avLst>
              <a:gd name="adj" fmla="val 11000"/>
            </a:avLst>
          </a:prstGeom>
          <a:solidFill>
            <a:srgbClr val="1E2761"/>
          </a:solidFill>
          <a:ln w="12700">
            <a:noFill/>
            <a:miter lim="400000"/>
          </a:ln>
        </p:spPr>
        <p:txBody>
          <a:bodyPr lIns="45719" rIns="45719"/>
          <a:lstStyle/>
          <a:p>
            <a:pPr/>
          </a:p>
        </p:txBody>
      </p:sp>
      <p:sp>
        <p:nvSpPr>
          <p:cNvPr id="324" name="CalloutT"/>
          <p:cNvSpPr txBox="1"/>
          <p:nvPr/>
        </p:nvSpPr>
        <p:spPr>
          <a:xfrm>
            <a:off x="960120" y="5486400"/>
            <a:ext cx="10241280" cy="685800"/>
          </a:xfrm>
          <a:prstGeom prst="rect">
            <a:avLst/>
          </a:prstGeom>
          <a:ln w="12700">
            <a:noFill/>
            <a:miter lim="400000"/>
          </a:ln>
        </p:spPr>
        <p:txBody>
          <a:bodyPr lIns="45719" rIns="45719" tIns="0" bIns="0" anchor="ctr"/>
          <a:lstStyle>
            <a:lvl1pPr algn="l">
              <a:defRPr b="1" sz="1350">
                <a:solidFill>
                  <a:srgbClr val="FFFFFF"/>
                </a:solidFill>
                <a:latin typeface="Cambria"/>
              </a:defRPr>
            </a:lvl1pPr>
          </a:lstStyle>
          <a:p>
            <a:pPr/>
            <a:r>
              <a:t>A spec document in SharePoint goes stale the moment the code moves. In the repository it cannot: it is what the agent reads and what the review checks.</a:t>
            </a:r>
          </a:p>
        </p:txBody>
      </p:sp>
      <p:sp>
        <p:nvSpPr>
          <p:cNvPr id="301" name="Rule bar"/>
          <p:cNvSpPr/>
          <p:nvPr/>
        </p:nvSpPr>
        <p:spPr>
          <a:xfrm>
            <a:off x="640080" y="4983480"/>
            <a:ext cx="10881360" cy="320040"/>
          </a:xfrm>
          <a:prstGeom prst="roundRect">
            <a:avLst>
              <a:gd name="adj" fmla="val 25000"/>
            </a:avLst>
          </a:prstGeom>
          <a:solidFill>
            <a:srgbClr val="EEF2FC"/>
          </a:solidFill>
          <a:ln w="12700">
            <a:solidFill>
              <a:srgbClr val="CADCFC"/>
            </a:solidFill>
            <a:miter lim="400000"/>
          </a:ln>
        </p:spPr>
        <p:txBody>
          <a:bodyPr lIns="45719" rIns="45719"/>
          <a:lstStyle/>
          <a:p>
            <a:pPr/>
          </a:p>
        </p:txBody>
      </p:sp>
      <p:sp>
        <p:nvSpPr>
          <p:cNvPr id="302" name="Rule dot"/>
          <p:cNvSpPr/>
          <p:nvPr/>
        </p:nvSpPr>
        <p:spPr>
          <a:xfrm>
            <a:off x="960120" y="5088491"/>
            <a:ext cx="109729" cy="109729"/>
          </a:xfrm>
          <a:prstGeom prst="rect">
            <a:avLst/>
          </a:prstGeom>
          <a:solidFill>
            <a:srgbClr val="FF6B4A"/>
          </a:solidFill>
          <a:ln w="12700">
            <a:noFill/>
            <a:miter lim="400000"/>
          </a:ln>
        </p:spPr>
        <p:txBody>
          <a:bodyPr lIns="45719" rIns="45719"/>
          <a:lstStyle/>
          <a:p>
            <a:pPr/>
          </a:p>
        </p:txBody>
      </p:sp>
      <p:sp>
        <p:nvSpPr>
          <p:cNvPr id="303" name="Rule"/>
          <p:cNvSpPr txBox="1"/>
          <p:nvPr/>
        </p:nvSpPr>
        <p:spPr>
          <a:xfrm>
            <a:off x="1280160" y="4983480"/>
            <a:ext cx="10058400" cy="320040"/>
          </a:xfrm>
          <a:prstGeom prst="rect">
            <a:avLst/>
          </a:prstGeom>
          <a:ln w="12700">
            <a:noFill/>
            <a:miter lim="400000"/>
          </a:ln>
        </p:spPr>
        <p:txBody>
          <a:bodyPr lIns="45719" rIns="45719" tIns="0" bIns="0" anchor="ctr"/>
          <a:lstStyle>
            <a:lvl1pPr algn="l">
              <a:defRPr sz="1050">
                <a:solidFill>
                  <a:srgbClr val="2C3352"/>
                </a:solidFill>
                <a:latin typeface="Calibri"/>
              </a:defRPr>
            </a:lvl1pPr>
          </a:lstStyle>
          <a:p>
            <a:pPr/>
            <a:r>
              <a:t>A user story that changes behaviour becomes a change. One that does not stays a plain story. A change can exist without a story, when the spec itself needs fixing.</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Where the review sits, before and after</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26</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review is added, early and cheap. The one at the end gets shorter, because the intent is already agreed.</a:t>
            </a:r>
          </a:p>
        </p:txBody>
      </p:sp>
      <p:sp>
        <p:nvSpPr>
          <p:cNvPr id="302" name="labTODAY"/>
          <p:cNvSpPr txBox="1"/>
          <p:nvPr/>
        </p:nvSpPr>
        <p:spPr>
          <a:xfrm>
            <a:off x="640080" y="224028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TODAY</a:t>
            </a:r>
          </a:p>
        </p:txBody>
      </p:sp>
      <p:sp>
        <p:nvSpPr>
          <p:cNvPr id="303" name="bTODAY0"/>
          <p:cNvSpPr/>
          <p:nvPr/>
        </p:nvSpPr>
        <p:spPr>
          <a:xfrm>
            <a:off x="64008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4" name="tTODAY0"/>
          <p:cNvSpPr txBox="1"/>
          <p:nvPr/>
        </p:nvSpPr>
        <p:spPr>
          <a:xfrm>
            <a:off x="70866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05" name="sTODAY0"/>
          <p:cNvSpPr txBox="1"/>
          <p:nvPr/>
        </p:nvSpPr>
        <p:spPr>
          <a:xfrm>
            <a:off x="70866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06" name="aTODAY0"/>
          <p:cNvSpPr txBox="1"/>
          <p:nvPr/>
        </p:nvSpPr>
        <p:spPr>
          <a:xfrm>
            <a:off x="226314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07" name="bTODAY1"/>
          <p:cNvSpPr/>
          <p:nvPr/>
        </p:nvSpPr>
        <p:spPr>
          <a:xfrm>
            <a:off x="249174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8" name="tTODAY1"/>
          <p:cNvSpPr txBox="1"/>
          <p:nvPr/>
        </p:nvSpPr>
        <p:spPr>
          <a:xfrm>
            <a:off x="256032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09" name="sTODAY1"/>
          <p:cNvSpPr txBox="1"/>
          <p:nvPr/>
        </p:nvSpPr>
        <p:spPr>
          <a:xfrm>
            <a:off x="256032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10" name="aTODAY1"/>
          <p:cNvSpPr txBox="1"/>
          <p:nvPr/>
        </p:nvSpPr>
        <p:spPr>
          <a:xfrm>
            <a:off x="411480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1" name="bTODAY2"/>
          <p:cNvSpPr/>
          <p:nvPr/>
        </p:nvSpPr>
        <p:spPr>
          <a:xfrm>
            <a:off x="434340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2" name="tTODAY2"/>
          <p:cNvSpPr txBox="1"/>
          <p:nvPr/>
        </p:nvSpPr>
        <p:spPr>
          <a:xfrm>
            <a:off x="441198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Prompt</a:t>
            </a:r>
          </a:p>
        </p:txBody>
      </p:sp>
      <p:sp>
        <p:nvSpPr>
          <p:cNvPr id="313" name="sTODAY2"/>
          <p:cNvSpPr txBox="1"/>
          <p:nvPr/>
        </p:nvSpPr>
        <p:spPr>
          <a:xfrm>
            <a:off x="441198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the agent</a:t>
            </a:r>
          </a:p>
        </p:txBody>
      </p:sp>
      <p:sp>
        <p:nvSpPr>
          <p:cNvPr id="314" name="aTODAY2"/>
          <p:cNvSpPr txBox="1"/>
          <p:nvPr/>
        </p:nvSpPr>
        <p:spPr>
          <a:xfrm>
            <a:off x="596646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5" name="bTODAY3"/>
          <p:cNvSpPr/>
          <p:nvPr/>
        </p:nvSpPr>
        <p:spPr>
          <a:xfrm>
            <a:off x="619506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6" name="tTODAY3"/>
          <p:cNvSpPr txBox="1"/>
          <p:nvPr/>
        </p:nvSpPr>
        <p:spPr>
          <a:xfrm>
            <a:off x="626364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a:t>
            </a:r>
          </a:p>
        </p:txBody>
      </p:sp>
      <p:sp>
        <p:nvSpPr>
          <p:cNvPr id="317" name="sTODAY3"/>
          <p:cNvSpPr txBox="1"/>
          <p:nvPr/>
        </p:nvSpPr>
        <p:spPr>
          <a:xfrm>
            <a:off x="626364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is written</a:t>
            </a:r>
          </a:p>
        </p:txBody>
      </p:sp>
      <p:sp>
        <p:nvSpPr>
          <p:cNvPr id="318" name="aTODAY3"/>
          <p:cNvSpPr txBox="1"/>
          <p:nvPr/>
        </p:nvSpPr>
        <p:spPr>
          <a:xfrm>
            <a:off x="781812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9" name="bTODAY4"/>
          <p:cNvSpPr/>
          <p:nvPr/>
        </p:nvSpPr>
        <p:spPr>
          <a:xfrm>
            <a:off x="8046720" y="256032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20" name="tTODAY4"/>
          <p:cNvSpPr txBox="1"/>
          <p:nvPr/>
        </p:nvSpPr>
        <p:spPr>
          <a:xfrm>
            <a:off x="811530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21" name="sTODAY4"/>
          <p:cNvSpPr txBox="1"/>
          <p:nvPr/>
        </p:nvSpPr>
        <p:spPr>
          <a:xfrm>
            <a:off x="8115300" y="313182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on the result</a:t>
            </a:r>
          </a:p>
        </p:txBody>
      </p:sp>
      <p:sp>
        <p:nvSpPr>
          <p:cNvPr id="322" name="subTODAY"/>
          <p:cNvSpPr txBox="1"/>
          <p:nvPr/>
        </p:nvSpPr>
        <p:spPr>
          <a:xfrm>
            <a:off x="640080" y="3680460"/>
            <a:ext cx="10881360" cy="251460"/>
          </a:xfrm>
          <a:prstGeom prst="rect">
            <a:avLst/>
          </a:prstGeom>
          <a:ln w="12700">
            <a:noFill/>
            <a:miter lim="400000"/>
          </a:ln>
        </p:spPr>
        <p:txBody>
          <a:bodyPr lIns="45719" rIns="45719" tIns="0" bIns="0" anchor="t"/>
          <a:lstStyle>
            <a:lvl1pPr algn="l">
              <a:defRPr i="1" sz="1050">
                <a:solidFill>
                  <a:srgbClr val="B8422A"/>
                </a:solidFill>
                <a:latin typeface="Calibri"/>
              </a:defRPr>
            </a:lvl1pPr>
          </a:lstStyle>
          <a:p>
            <a:pPr/>
            <a:r>
              <a:t>One review, at the end. The reviewer reconstructs the intent from the code, and the spec document quietly drifts.</a:t>
            </a:r>
          </a:p>
        </p:txBody>
      </p:sp>
      <p:sp>
        <p:nvSpPr>
          <p:cNvPr id="323" name="labWITH OPENSPEC"/>
          <p:cNvSpPr txBox="1"/>
          <p:nvPr/>
        </p:nvSpPr>
        <p:spPr>
          <a:xfrm>
            <a:off x="640080" y="42062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24" name="bWITH OPENSPEC0"/>
          <p:cNvSpPr/>
          <p:nvPr/>
        </p:nvSpPr>
        <p:spPr>
          <a:xfrm>
            <a:off x="6400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5" name="tWITH OPENSPEC0"/>
          <p:cNvSpPr txBox="1"/>
          <p:nvPr/>
        </p:nvSpPr>
        <p:spPr>
          <a:xfrm>
            <a:off x="7086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26" name="sWITH OPENSPEC0"/>
          <p:cNvSpPr txBox="1"/>
          <p:nvPr/>
        </p:nvSpPr>
        <p:spPr>
          <a:xfrm>
            <a:off x="7086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27" name="aWITH OPENSPEC0"/>
          <p:cNvSpPr txBox="1"/>
          <p:nvPr/>
        </p:nvSpPr>
        <p:spPr>
          <a:xfrm>
            <a:off x="226314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28" name="bWITH OPENSPEC1"/>
          <p:cNvSpPr/>
          <p:nvPr/>
        </p:nvSpPr>
        <p:spPr>
          <a:xfrm>
            <a:off x="249174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9" name="tWITH OPENSPEC1"/>
          <p:cNvSpPr txBox="1"/>
          <p:nvPr/>
        </p:nvSpPr>
        <p:spPr>
          <a:xfrm>
            <a:off x="256032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30" name="sWITH OPENSPEC1"/>
          <p:cNvSpPr txBox="1"/>
          <p:nvPr/>
        </p:nvSpPr>
        <p:spPr>
          <a:xfrm>
            <a:off x="256032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31" name="aWITH OPENSPEC1"/>
          <p:cNvSpPr txBox="1"/>
          <p:nvPr/>
        </p:nvSpPr>
        <p:spPr>
          <a:xfrm>
            <a:off x="411480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2" name="bWITH OPENSPEC2"/>
          <p:cNvSpPr/>
          <p:nvPr/>
        </p:nvSpPr>
        <p:spPr>
          <a:xfrm>
            <a:off x="4343400" y="452628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33" name="tWITH OPENSPEC2"/>
          <p:cNvSpPr txBox="1"/>
          <p:nvPr/>
        </p:nvSpPr>
        <p:spPr>
          <a:xfrm>
            <a:off x="441198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Spec review</a:t>
            </a:r>
          </a:p>
        </p:txBody>
      </p:sp>
      <p:sp>
        <p:nvSpPr>
          <p:cNvPr id="334" name="sWITH OPENSPEC2"/>
          <p:cNvSpPr txBox="1"/>
          <p:nvPr/>
        </p:nvSpPr>
        <p:spPr>
          <a:xfrm>
            <a:off x="4411980" y="509778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before any code</a:t>
            </a:r>
          </a:p>
        </p:txBody>
      </p:sp>
      <p:sp>
        <p:nvSpPr>
          <p:cNvPr id="335" name="aWITH OPENSPEC2"/>
          <p:cNvSpPr txBox="1"/>
          <p:nvPr/>
        </p:nvSpPr>
        <p:spPr>
          <a:xfrm>
            <a:off x="596646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6" name="bWITH OPENSPEC3"/>
          <p:cNvSpPr/>
          <p:nvPr/>
        </p:nvSpPr>
        <p:spPr>
          <a:xfrm>
            <a:off x="619506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37" name="tWITH OPENSPEC3"/>
          <p:cNvSpPr txBox="1"/>
          <p:nvPr/>
        </p:nvSpPr>
        <p:spPr>
          <a:xfrm>
            <a:off x="626364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Agent</a:t>
            </a:r>
          </a:p>
        </p:txBody>
      </p:sp>
      <p:sp>
        <p:nvSpPr>
          <p:cNvPr id="338" name="sWITH OPENSPEC3"/>
          <p:cNvSpPr txBox="1"/>
          <p:nvPr/>
        </p:nvSpPr>
        <p:spPr>
          <a:xfrm>
            <a:off x="626364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implements it</a:t>
            </a:r>
          </a:p>
        </p:txBody>
      </p:sp>
      <p:sp>
        <p:nvSpPr>
          <p:cNvPr id="339" name="aWITH OPENSPEC3"/>
          <p:cNvSpPr txBox="1"/>
          <p:nvPr/>
        </p:nvSpPr>
        <p:spPr>
          <a:xfrm>
            <a:off x="781812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0" name="bWITH OPENSPEC4"/>
          <p:cNvSpPr/>
          <p:nvPr/>
        </p:nvSpPr>
        <p:spPr>
          <a:xfrm>
            <a:off x="804672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1" name="tWITH OPENSPEC4"/>
          <p:cNvSpPr txBox="1"/>
          <p:nvPr/>
        </p:nvSpPr>
        <p:spPr>
          <a:xfrm>
            <a:off x="811530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42" name="sWITH OPENSPEC4"/>
          <p:cNvSpPr txBox="1"/>
          <p:nvPr/>
        </p:nvSpPr>
        <p:spPr>
          <a:xfrm>
            <a:off x="811530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against the spec</a:t>
            </a:r>
          </a:p>
        </p:txBody>
      </p:sp>
      <p:sp>
        <p:nvSpPr>
          <p:cNvPr id="343" name="aWITH OPENSPEC4"/>
          <p:cNvSpPr txBox="1"/>
          <p:nvPr/>
        </p:nvSpPr>
        <p:spPr>
          <a:xfrm>
            <a:off x="966978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4" name="bWITH OPENSPEC5"/>
          <p:cNvSpPr/>
          <p:nvPr/>
        </p:nvSpPr>
        <p:spPr>
          <a:xfrm>
            <a:off x="98983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5" name="tWITH OPENSPEC5"/>
          <p:cNvSpPr txBox="1"/>
          <p:nvPr/>
        </p:nvSpPr>
        <p:spPr>
          <a:xfrm>
            <a:off x="99669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Delta merges</a:t>
            </a:r>
          </a:p>
        </p:txBody>
      </p:sp>
      <p:sp>
        <p:nvSpPr>
          <p:cNvPr id="346" name="sWITH OPENSPEC5"/>
          <p:cNvSpPr txBox="1"/>
          <p:nvPr/>
        </p:nvSpPr>
        <p:spPr>
          <a:xfrm>
            <a:off x="99669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into specs/</a:t>
            </a:r>
          </a:p>
        </p:txBody>
      </p:sp>
      <p:sp>
        <p:nvSpPr>
          <p:cNvPr id="347" name="subWITH OPENSPEC"/>
          <p:cNvSpPr txBox="1"/>
          <p:nvPr/>
        </p:nvSpPr>
        <p:spPr>
          <a:xfrm>
            <a:off x="640080" y="5646420"/>
            <a:ext cx="10881360" cy="251460"/>
          </a:xfrm>
          <a:prstGeom prst="rect">
            <a:avLst/>
          </a:prstGeom>
          <a:ln w="12700">
            <a:noFill/>
            <a:miter lim="400000"/>
          </a:ln>
        </p:spPr>
        <p:txBody>
          <a:bodyPr lIns="45719" rIns="45719" tIns="0" bIns="0" anchor="t"/>
          <a:lstStyle>
            <a:lvl1pPr algn="l">
              <a:defRPr i="1" sz="1050">
                <a:solidFill>
                  <a:srgbClr val="9EE7D5"/>
                </a:solidFill>
                <a:latin typeface="Calibri"/>
              </a:defRPr>
            </a:lvl1pPr>
          </a:lstStyle>
          <a:p>
            <a:pPr/>
            <a:r>
              <a:t>Two reviews. The first is cheap and decides the intent; the second is shorter, because it now has something to check against.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4" name="Text 1"/>
          <p:cNvSpPr/>
          <p:nvPr/>
        </p:nvSpPr>
        <p:spPr>
          <a:xfrm>
            <a:off x="640080" y="1691640"/>
            <a:ext cx="8229600" cy="292608"/>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SPEC-DRIVEN DEVELOPMENT</a:t>
            </a:r>
            <a:endParaRPr lang="en-US" sz="1150" dirty="0"/>
          </a:p>
        </p:txBody>
      </p:sp>
      <p:sp>
        <p:nvSpPr>
          <p:cNvPr id="5" name="Text 2"/>
          <p:cNvSpPr/>
          <p:nvPr/>
        </p:nvSpPr>
        <p:spPr>
          <a:xfrm>
            <a:off x="640080" y="2194560"/>
            <a:ext cx="9692640" cy="1828800"/>
          </a:xfrm>
          <a:prstGeom prst="rect">
            <a:avLst/>
          </a:prstGeom>
          <a:noFill/>
          <a:ln/>
        </p:spPr>
        <p:txBody>
          <a:bodyPr wrap="square" lIns="0" tIns="0" rIns="0" bIns="0" rtlCol="0" anchor="ctr"/>
          <a:lstStyle/>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“Agree on what to build</a:t>
            </a:r>
            <a:endParaRPr lang="en-US" sz="4200" dirty="0"/>
          </a:p>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before any code is written.”</a:t>
            </a:r>
            <a:endParaRPr lang="en-US" sz="4200" dirty="0"/>
          </a:p>
        </p:txBody>
      </p:sp>
      <p:sp>
        <p:nvSpPr>
          <p:cNvPr id="6" name="Text 3"/>
          <p:cNvSpPr/>
          <p:nvPr/>
        </p:nvSpPr>
        <p:spPr>
          <a:xfrm>
            <a:off x="640080" y="4206240"/>
            <a:ext cx="8595360" cy="914400"/>
          </a:xfrm>
          <a:prstGeom prst="rect">
            <a:avLst/>
          </a:prstGeom>
          <a:noFill/>
          <a:ln/>
        </p:spPr>
        <p:txBody>
          <a:bodyPr wrap="square" lIns="0" tIns="0" rIns="0" bIns="0" rtlCol="0" anchor="t"/>
          <a:lstStyle/>
          <a:p>
            <a:pPr indent="0" marL="0">
              <a:lnSpc>
                <a:spcPts val="2500"/>
              </a:lnSpc>
              <a:buNone/>
            </a:pPr>
            <a:r>
              <a:rPr lang="en-US" sz="1600" dirty="0">
                <a:solidFill>
                  <a:srgbClr val="9AA3C0"/>
                </a:solidFill>
                <a:latin typeface="Calibri" pitchFamily="34" charset="0"/>
                <a:ea typeface="Calibri" pitchFamily="34" charset="-122"/>
                <a:cs typeface="Calibri" pitchFamily="34" charset="-120"/>
              </a:rPr>
              <a:t>The specification is not documentation produced after the fact. It is the artefact the team argues over, corrects and approves. It is the only thing the agent is allowed to implement.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See it in action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change, end to end</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same loop, as it actually runs in the assistant: three commands and one human decision.</a:t>
            </a:r>
          </a:p>
        </p:txBody>
      </p:sp>
      <p:sp>
        <p:nvSpPr>
          <p:cNvPr id="306" name="Note"/>
          <p:cNvSpPr txBox="1"/>
          <p:nvPr/>
        </p:nvSpPr>
        <p:spPr>
          <a:xfrm>
            <a:off x="640080" y="6126480"/>
            <a:ext cx="10881360" cy="22860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session. The command spelling varies by assistant.</a:t>
            </a:r>
          </a:p>
        </p:txBody>
      </p:sp>
      <p:sp>
        <p:nvSpPr>
          <p:cNvPr id="900" name="Term"/>
          <p:cNvSpPr/>
          <p:nvPr/>
        </p:nvSpPr>
        <p:spPr>
          <a:xfrm>
            <a:off x="640080" y="2011680"/>
            <a:ext cx="10911840" cy="3931920"/>
          </a:xfrm>
          <a:prstGeom prst="roundRect">
            <a:avLst>
              <a:gd name="adj" fmla="val 2500"/>
            </a:avLst>
          </a:prstGeom>
          <a:solidFill>
            <a:srgbClr val="1E2761"/>
          </a:solidFill>
          <a:ln w="12700">
            <a:noFill/>
            <a:miter lim="400000"/>
          </a:ln>
        </p:spPr>
        <p:txBody>
          <a:bodyPr lIns="45719" rIns="45719"/>
          <a:lstStyle/>
          <a:p>
            <a:pPr/>
          </a:p>
        </p:txBody>
      </p:sp>
      <p:sp>
        <p:nvSpPr>
          <p:cNvPr id="900" name="Bar"/>
          <p:cNvSpPr/>
          <p:nvPr/>
        </p:nvSpPr>
        <p:spPr>
          <a:xfrm>
            <a:off x="640080" y="2011680"/>
            <a:ext cx="10911840" cy="411480"/>
          </a:xfrm>
          <a:prstGeom prst="roundRect">
            <a:avLst>
              <a:gd name="adj" fmla="val 24000"/>
            </a:avLst>
          </a:prstGeom>
          <a:solidFill>
            <a:srgbClr val="171C48"/>
          </a:solidFill>
          <a:ln w="12700">
            <a:noFill/>
            <a:miter lim="400000"/>
          </a:ln>
        </p:spPr>
        <p:txBody>
          <a:bodyPr lIns="45719" rIns="45719"/>
          <a:lstStyle/>
          <a:p>
            <a:pPr/>
          </a:p>
        </p:txBody>
      </p:sp>
      <p:sp>
        <p:nvSpPr>
          <p:cNvPr id="900" name="BarFix"/>
          <p:cNvSpPr/>
          <p:nvPr/>
        </p:nvSpPr>
        <p:spPr>
          <a:xfrm>
            <a:off x="640080" y="2217420"/>
            <a:ext cx="10911840" cy="205740"/>
          </a:xfrm>
          <a:prstGeom prst="rect">
            <a:avLst/>
          </a:prstGeom>
          <a:solidFill>
            <a:srgbClr val="171C48"/>
          </a:solidFill>
          <a:ln w="12700">
            <a:noFill/>
            <a:miter lim="400000"/>
          </a:ln>
        </p:spPr>
        <p:txBody>
          <a:bodyPr lIns="45719" rIns="45719"/>
          <a:lstStyle/>
          <a:p>
            <a:pPr/>
          </a:p>
        </p:txBody>
      </p:sp>
      <p:sp>
        <p:nvSpPr>
          <p:cNvPr id="900" name="dot0"/>
          <p:cNvSpPr/>
          <p:nvPr/>
        </p:nvSpPr>
        <p:spPr>
          <a:xfrm>
            <a:off x="914400" y="2148840"/>
            <a:ext cx="137160" cy="137160"/>
          </a:xfrm>
          <a:prstGeom prst="ellipse">
            <a:avLst/>
          </a:prstGeom>
          <a:solidFill>
            <a:srgbClr val="FF6B4A"/>
          </a:solidFill>
          <a:ln w="12700">
            <a:noFill/>
            <a:miter lim="400000"/>
          </a:ln>
        </p:spPr>
        <p:txBody>
          <a:bodyPr lIns="45719" rIns="45719"/>
          <a:lstStyle/>
          <a:p>
            <a:pPr/>
          </a:p>
        </p:txBody>
      </p:sp>
      <p:sp>
        <p:nvSpPr>
          <p:cNvPr id="900" name="dot1"/>
          <p:cNvSpPr/>
          <p:nvPr/>
        </p:nvSpPr>
        <p:spPr>
          <a:xfrm>
            <a:off x="1143000" y="2148840"/>
            <a:ext cx="137160" cy="137160"/>
          </a:xfrm>
          <a:prstGeom prst="ellipse">
            <a:avLst/>
          </a:prstGeom>
          <a:solidFill>
            <a:srgbClr val="9AA3C0"/>
          </a:solidFill>
          <a:ln w="12700">
            <a:noFill/>
            <a:miter lim="400000"/>
          </a:ln>
        </p:spPr>
        <p:txBody>
          <a:bodyPr lIns="45719" rIns="45719"/>
          <a:lstStyle/>
          <a:p>
            <a:pPr/>
          </a:p>
        </p:txBody>
      </p:sp>
      <p:sp>
        <p:nvSpPr>
          <p:cNvPr id="900" name="dot2"/>
          <p:cNvSpPr/>
          <p:nvPr/>
        </p:nvSpPr>
        <p:spPr>
          <a:xfrm>
            <a:off x="1371600" y="2148840"/>
            <a:ext cx="137160" cy="137160"/>
          </a:xfrm>
          <a:prstGeom prst="ellipse">
            <a:avLst/>
          </a:prstGeom>
          <a:solidFill>
            <a:srgbClr val="9EE7D5"/>
          </a:solidFill>
          <a:ln w="12700">
            <a:noFill/>
            <a:miter lim="400000"/>
          </a:ln>
        </p:spPr>
        <p:txBody>
          <a:bodyPr lIns="45719" rIns="45719"/>
          <a:lstStyle/>
          <a:p>
            <a:pPr/>
          </a:p>
        </p:txBody>
      </p:sp>
      <p:sp>
        <p:nvSpPr>
          <p:cNvPr id="901" name="BarTxt"/>
          <p:cNvSpPr txBox="1"/>
          <p:nvPr/>
        </p:nvSpPr>
        <p:spPr>
          <a:xfrm>
            <a:off x="1737360" y="2125980"/>
            <a:ext cx="6400800" cy="205740"/>
          </a:xfrm>
          <a:prstGeom prst="rect">
            <a:avLst/>
          </a:prstGeom>
          <a:ln w="12700">
            <a:noFill/>
            <a:miter lim="400000"/>
          </a:ln>
        </p:spPr>
        <p:txBody>
          <a:bodyPr lIns="45719" rIns="45719" tIns="0" bIns="0" anchor="t"/>
          <a:lstStyle>
            <a:lvl1pPr algn="l">
              <a:defRPr b="0" sz="850">
                <a:solidFill>
                  <a:srgbClr val="9AA3C0"/>
                </a:solidFill>
                <a:latin typeface="Courier New"/>
              </a:defRPr>
            </a:lvl1pPr>
          </a:lstStyle>
          <a:p>
            <a:pPr/>
            <a:r>
              <a:t>openspec  ·  add-password-reset</a:t>
            </a:r>
          </a:p>
        </p:txBody>
      </p:sp>
      <p:sp>
        <p:nvSpPr>
          <p:cNvPr id="902" name="l0"/>
          <p:cNvSpPr txBox="1"/>
          <p:nvPr/>
        </p:nvSpPr>
        <p:spPr>
          <a:xfrm>
            <a:off x="960120" y="2560320"/>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/opsx:propose "add a password reset flow, the link expires after 30 minutes and works only once"</a:t>
            </a:r>
          </a:p>
        </p:txBody>
      </p:sp>
      <p:sp>
        <p:nvSpPr>
          <p:cNvPr id="903" name="l1"/>
          <p:cNvSpPr txBox="1"/>
          <p:nvPr/>
        </p:nvSpPr>
        <p:spPr>
          <a:xfrm>
            <a:off x="960120" y="273405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Created openspec/changes/add-password-reset/</a:t>
            </a:r>
          </a:p>
        </p:txBody>
      </p:sp>
      <p:sp>
        <p:nvSpPr>
          <p:cNvPr id="904" name="l3"/>
          <p:cNvSpPr txBox="1"/>
          <p:nvPr/>
        </p:nvSpPr>
        <p:spPr>
          <a:xfrm>
            <a:off x="960120" y="299008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proposal.md   why we’re doing this, what’s changing</a:t>
            </a:r>
          </a:p>
        </p:txBody>
      </p:sp>
      <p:sp>
        <p:nvSpPr>
          <p:cNvPr id="905" name="l4"/>
          <p:cNvSpPr txBox="1"/>
          <p:nvPr/>
        </p:nvSpPr>
        <p:spPr>
          <a:xfrm>
            <a:off x="960120" y="311810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specs/        requirements and scenarios</a:t>
            </a:r>
          </a:p>
        </p:txBody>
      </p:sp>
      <p:sp>
        <p:nvSpPr>
          <p:cNvPr id="906" name="l5"/>
          <p:cNvSpPr txBox="1"/>
          <p:nvPr/>
        </p:nvSpPr>
        <p:spPr>
          <a:xfrm>
            <a:off x="960120" y="3246120"/>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design.md     technical approach</a:t>
            </a:r>
          </a:p>
        </p:txBody>
      </p:sp>
      <p:sp>
        <p:nvSpPr>
          <p:cNvPr id="907" name="l6"/>
          <p:cNvSpPr txBox="1"/>
          <p:nvPr/>
        </p:nvSpPr>
        <p:spPr>
          <a:xfrm>
            <a:off x="960120" y="337413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tasks.md      implementation checklist</a:t>
            </a:r>
          </a:p>
        </p:txBody>
      </p:sp>
      <p:sp>
        <p:nvSpPr>
          <p:cNvPr id="908" name="l8"/>
          <p:cNvSpPr txBox="1"/>
          <p:nvPr/>
        </p:nvSpPr>
        <p:spPr>
          <a:xfrm>
            <a:off x="960120" y="363016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Ready for review.</a:t>
            </a:r>
          </a:p>
        </p:txBody>
      </p:sp>
      <p:sp>
        <p:nvSpPr>
          <p:cNvPr id="909" name="rev"/>
          <p:cNvSpPr txBox="1"/>
          <p:nvPr/>
        </p:nvSpPr>
        <p:spPr>
          <a:xfrm>
            <a:off x="960120" y="3803904"/>
            <a:ext cx="10271760" cy="205740"/>
          </a:xfrm>
          <a:prstGeom prst="rect">
            <a:avLst/>
          </a:prstGeom>
          <a:ln w="12700">
            <a:noFill/>
            <a:miter lim="400000"/>
          </a:ln>
        </p:spPr>
        <p:txBody>
          <a:bodyPr lIns="45719" rIns="45719" tIns="0" bIns="0" anchor="t"/>
          <a:lstStyle>
            <a:lvl1pPr algn="l">
              <a:defRPr b="1" sz="900">
                <a:solidFill>
                  <a:srgbClr val="FF6B4A"/>
                </a:solidFill>
                <a:latin typeface="Courier New"/>
              </a:defRPr>
            </a:lvl1pPr>
          </a:lstStyle>
          <a:p>
            <a:pPr/>
            <a:r>
              <a:t>  #  you read the spec, correct it, approve</a:t>
            </a:r>
          </a:p>
        </p:txBody>
      </p:sp>
      <p:sp>
        <p:nvSpPr>
          <p:cNvPr id="910" name="l9"/>
          <p:cNvSpPr txBox="1"/>
          <p:nvPr/>
        </p:nvSpPr>
        <p:spPr>
          <a:xfrm>
            <a:off x="960120" y="3968496"/>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/opsx:apply</a:t>
            </a:r>
          </a:p>
        </p:txBody>
      </p:sp>
      <p:sp>
        <p:nvSpPr>
          <p:cNvPr id="911" name="l10"/>
          <p:cNvSpPr txBox="1"/>
          <p:nvPr/>
        </p:nvSpPr>
        <p:spPr>
          <a:xfrm>
            <a:off x="960120" y="4142232"/>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Implementing tasks...</a:t>
            </a:r>
          </a:p>
        </p:txBody>
      </p:sp>
      <p:sp>
        <p:nvSpPr>
          <p:cNvPr id="912" name="l12"/>
          <p:cNvSpPr txBox="1"/>
          <p:nvPr/>
        </p:nvSpPr>
        <p:spPr>
          <a:xfrm>
            <a:off x="960120" y="439826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Add reset_token to the user record</a:t>
            </a:r>
          </a:p>
        </p:txBody>
      </p:sp>
      <p:sp>
        <p:nvSpPr>
          <p:cNvPr id="913" name="l13"/>
          <p:cNvSpPr txBox="1"/>
          <p:nvPr/>
        </p:nvSpPr>
        <p:spPr>
          <a:xfrm>
            <a:off x="960120" y="4526280"/>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Request endpoint sends the link</a:t>
            </a:r>
          </a:p>
        </p:txBody>
      </p:sp>
      <p:sp>
        <p:nvSpPr>
          <p:cNvPr id="914" name="l14"/>
          <p:cNvSpPr txBox="1"/>
          <p:nvPr/>
        </p:nvSpPr>
        <p:spPr>
          <a:xfrm>
            <a:off x="960120" y="465429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Validate the link and expire it on use</a:t>
            </a:r>
          </a:p>
        </p:txBody>
      </p:sp>
      <p:sp>
        <p:nvSpPr>
          <p:cNvPr id="915" name="l15"/>
          <p:cNvSpPr txBox="1"/>
          <p:nvPr/>
        </p:nvSpPr>
        <p:spPr>
          <a:xfrm>
            <a:off x="960120" y="4782312"/>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Set the new password</a:t>
            </a:r>
          </a:p>
        </p:txBody>
      </p:sp>
      <p:sp>
        <p:nvSpPr>
          <p:cNvPr id="916" name="l17"/>
          <p:cNvSpPr txBox="1"/>
          <p:nvPr/>
        </p:nvSpPr>
        <p:spPr>
          <a:xfrm>
            <a:off x="960120" y="503834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All tasks complete!</a:t>
            </a:r>
          </a:p>
        </p:txBody>
      </p:sp>
      <p:sp>
        <p:nvSpPr>
          <p:cNvPr id="917" name="l18"/>
          <p:cNvSpPr txBox="1"/>
          <p:nvPr/>
        </p:nvSpPr>
        <p:spPr>
          <a:xfrm>
            <a:off x="960120" y="5212080"/>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/opsx:archive</a:t>
            </a:r>
          </a:p>
        </p:txBody>
      </p:sp>
      <p:sp>
        <p:nvSpPr>
          <p:cNvPr id="918" name="l19"/>
          <p:cNvSpPr txBox="1"/>
          <p:nvPr/>
        </p:nvSpPr>
        <p:spPr>
          <a:xfrm>
            <a:off x="960120" y="538581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Archived to changes/archive/2026-08-14-add-password-reset/</a:t>
            </a:r>
          </a:p>
        </p:txBody>
      </p:sp>
      <p:sp>
        <p:nvSpPr>
          <p:cNvPr id="919" name="l21"/>
          <p:cNvSpPr txBox="1"/>
          <p:nvPr/>
        </p:nvSpPr>
        <p:spPr>
          <a:xfrm>
            <a:off x="960120" y="564184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Main specs updated. Ready for the next change.</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Several repositories, one spec</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32</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When a change spans more than one repository, the spec does not have to pick a side.</a:t>
            </a:r>
          </a:p>
        </p:txBody>
      </p:sp>
      <p:sp>
        <p:nvSpPr>
          <p:cNvPr id="901"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02"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THE PROBLEM</a:t>
            </a:r>
          </a:p>
        </p:txBody>
      </p:sp>
      <p:sp>
        <p:nvSpPr>
          <p:cNvPr id="903"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04"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One change, two repositories</a:t>
            </a:r>
          </a:p>
        </p:txBody>
      </p:sp>
      <p:sp>
        <p:nvSpPr>
          <p:cNvPr id="905"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A single feature touches the Spring Boot service and the React front end. The plan needs one home rather than two halves that drift apart.</a:t>
            </a:r>
          </a:p>
        </p:txBody>
      </p:sp>
      <p:sp>
        <p:nvSpPr>
          <p:cNvPr id="905"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06"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STORE</a:t>
            </a:r>
          </a:p>
        </p:txBody>
      </p:sp>
      <p:sp>
        <p:nvSpPr>
          <p:cNvPr id="907"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store setup</a:t>
            </a:r>
          </a:p>
          <a:p>
            <a:pPr/>
            <a:r>
              <a:t>openspec store register</a:t>
            </a:r>
          </a:p>
        </p:txBody>
      </p:sp>
      <p:sp>
        <p:nvSpPr>
          <p:cNvPr id="908"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A repository that holds only specs</a:t>
            </a:r>
          </a:p>
        </p:txBody>
      </p:sp>
      <p:sp>
        <p:nvSpPr>
          <p:cNvPr id="909"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Several code repositories share it, reviewed and versioned through the same git workflow as any other repository. A change is created with openspec new change &lt;id&gt; --store &lt;name&gt;.</a:t>
            </a:r>
          </a:p>
        </p:txBody>
      </p:sp>
      <p:sp>
        <p:nvSpPr>
          <p:cNvPr id="909"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10"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WORKSET</a:t>
            </a:r>
          </a:p>
        </p:txBody>
      </p:sp>
      <p:sp>
        <p:nvSpPr>
          <p:cNvPr id="911"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workset create</a:t>
            </a:r>
          </a:p>
          <a:p>
            <a:pPr/>
            <a:r>
              <a:t>openspec workset open</a:t>
            </a:r>
          </a:p>
        </p:txBody>
      </p:sp>
      <p:sp>
        <p:nvSpPr>
          <p:cNvPr id="912"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store and the repos, opened together</a:t>
            </a:r>
          </a:p>
        </p:txBody>
      </p:sp>
      <p:sp>
        <p:nvSpPr>
          <p:cNvPr id="913"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It launches your editor on the store and the repositories that use it, so the agent reads both at once instead of one at a time.</a:t>
            </a:r>
          </a:p>
        </p:txBody>
      </p:sp>
      <p:sp>
        <p:nvSpPr>
          <p:cNvPr id="914"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Stores and worksets are marked beta in the documentation. Until they settle, the simple alternative is one spec scope per repository, with each change citing the other.</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Making it fit your process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33</a:t>
            </a:r>
          </a:p>
        </p:txBody>
      </p:sp>
      <p:sp>
        <p:nvSpPr>
          <p:cNvPr id="915"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workflow is configurable: which commands, how they are delivered, and what a change produces.</a:t>
            </a:r>
          </a:p>
        </p:txBody>
      </p:sp>
      <p:sp>
        <p:nvSpPr>
          <p:cNvPr id="915"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16"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PROFILE</a:t>
            </a:r>
          </a:p>
        </p:txBody>
      </p:sp>
      <p:sp>
        <p:nvSpPr>
          <p:cNvPr id="917"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config profile</a:t>
            </a:r>
          </a:p>
          <a:p>
            <a:pPr/>
            <a:r>
              <a:t>openspec update</a:t>
            </a:r>
          </a:p>
        </p:txBody>
      </p:sp>
      <p:sp>
        <p:nvSpPr>
          <p:cNvPr id="918"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commands you get</a:t>
            </a:r>
          </a:p>
        </p:txBody>
      </p:sp>
      <p:sp>
        <p:nvSpPr>
          <p:cNvPr id="919"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Six are installed by default: propose, explore, apply, update, sync and archive. The expanded set adds verify, ff, onboard and others. The setting is global to your machine; a project can override it at init.</a:t>
            </a:r>
          </a:p>
        </p:txBody>
      </p:sp>
      <p:sp>
        <p:nvSpPr>
          <p:cNvPr id="919"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20"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DELIVERY</a:t>
            </a:r>
          </a:p>
        </p:txBody>
      </p:sp>
      <p:sp>
        <p:nvSpPr>
          <p:cNvPr id="921"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22"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How they reach your assistant</a:t>
            </a:r>
          </a:p>
        </p:txBody>
      </p:sp>
      <p:sp>
        <p:nvSpPr>
          <p:cNvPr id="923"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same workflow is delivered as skills, as commands, or both, chosen at setup, so each team keeps the shape its tooling expects.</a:t>
            </a:r>
          </a:p>
        </p:txBody>
      </p:sp>
      <p:sp>
        <p:nvSpPr>
          <p:cNvPr id="923"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24"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SCHEMA</a:t>
            </a:r>
          </a:p>
        </p:txBody>
      </p:sp>
      <p:sp>
        <p:nvSpPr>
          <p:cNvPr id="925"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schema fork</a:t>
            </a:r>
          </a:p>
          <a:p>
            <a:pPr/>
            <a:r>
              <a:t>openspec schema validate</a:t>
            </a:r>
          </a:p>
        </p:txBody>
      </p:sp>
      <p:sp>
        <p:nvSpPr>
          <p:cNvPr id="926"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artefacts a change produces</a:t>
            </a:r>
          </a:p>
        </p:txBody>
      </p:sp>
      <p:sp>
        <p:nvSpPr>
          <p:cNvPr id="927"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four artefacts are a default, not a rule. Forking the schema copies it into the project, where the list of artefacts, their order and their templates can be changed and validated.</a:t>
            </a:r>
          </a:p>
        </p:txBody>
      </p:sp>
      <p:sp>
        <p:nvSpPr>
          <p:cNvPr id="928"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openspec update regenerates the instruction files only. It never touches openspec/specs or openspec/changes, but it does overwrite generated files you have edited by hand.</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workflow, as OpenSpec presents it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22</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five stages shown on openspec.dev. Two of them are optional in the default install.</a:t>
            </a:r>
          </a:p>
        </p:txBody>
      </p:sp>
      <p:sp>
        <p:nvSpPr>
          <p:cNvPr id="902" name="WF"/>
          <p:cNvSpPr txBox="1"/>
          <p:nvPr/>
        </p:nvSpPr>
        <p:spPr>
          <a:xfrm>
            <a:off x="685800" y="2857500"/>
            <a:ext cx="1828800" cy="251460"/>
          </a:xfrm>
          <a:prstGeom prst="rect">
            <a:avLst/>
          </a:prstGeom>
          <a:ln w="12700">
            <a:noFill/>
            <a:miter lim="400000"/>
          </a:ln>
        </p:spPr>
        <p:txBody>
          <a:bodyPr lIns="45719" rIns="45719" tIns="0" bIns="0" anchor="t"/>
          <a:lstStyle>
            <a:lvl1pPr algn="l">
              <a:defRPr spc="150" b="1" sz="950">
                <a:solidFill>
                  <a:srgbClr val="B8422A"/>
                </a:solidFill>
                <a:latin typeface="Courier New"/>
              </a:defRPr>
            </a:lvl1pPr>
          </a:lstStyle>
          <a:p>
            <a:pPr/>
            <a:r>
              <a:t>WORKFLOW</a:t>
            </a:r>
          </a:p>
        </p:txBody>
      </p:sp>
      <p:sp>
        <p:nvSpPr>
          <p:cNvPr id="903" name="c0"/>
          <p:cNvSpPr txBox="1"/>
          <p:nvPr/>
        </p:nvSpPr>
        <p:spPr>
          <a:xfrm>
            <a:off x="2743200" y="283464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/opsx:explore</a:t>
            </a:r>
          </a:p>
        </p:txBody>
      </p:sp>
      <p:sp>
        <p:nvSpPr>
          <p:cNvPr id="904" name="d0"/>
          <p:cNvSpPr txBox="1"/>
          <p:nvPr/>
        </p:nvSpPr>
        <p:spPr>
          <a:xfrm>
            <a:off x="6035040" y="283464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map the problem and understand the codebase</a:t>
            </a:r>
          </a:p>
        </p:txBody>
      </p:sp>
      <p:sp>
        <p:nvSpPr>
          <p:cNvPr id="905" name="c1"/>
          <p:cNvSpPr txBox="1"/>
          <p:nvPr/>
        </p:nvSpPr>
        <p:spPr>
          <a:xfrm>
            <a:off x="2743200" y="338328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/opsx:propose</a:t>
            </a:r>
          </a:p>
        </p:txBody>
      </p:sp>
      <p:sp>
        <p:nvSpPr>
          <p:cNvPr id="906" name="d1"/>
          <p:cNvSpPr txBox="1"/>
          <p:nvPr/>
        </p:nvSpPr>
        <p:spPr>
          <a:xfrm>
            <a:off x="6035040" y="338328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draft proposal.md, specs/, design.md, tasks.md</a:t>
            </a:r>
          </a:p>
        </p:txBody>
      </p:sp>
      <p:sp>
        <p:nvSpPr>
          <p:cNvPr id="907" name="c2"/>
          <p:cNvSpPr txBox="1"/>
          <p:nvPr/>
        </p:nvSpPr>
        <p:spPr>
          <a:xfrm>
            <a:off x="2743200" y="393192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/opsx:apply</a:t>
            </a:r>
          </a:p>
        </p:txBody>
      </p:sp>
      <p:sp>
        <p:nvSpPr>
          <p:cNvPr id="908" name="d2"/>
          <p:cNvSpPr txBox="1"/>
          <p:nvPr/>
        </p:nvSpPr>
        <p:spPr>
          <a:xfrm>
            <a:off x="6035040" y="393192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implement tasks from the specification</a:t>
            </a:r>
          </a:p>
        </p:txBody>
      </p:sp>
      <p:sp>
        <p:nvSpPr>
          <p:cNvPr id="909" name="c3"/>
          <p:cNvSpPr txBox="1"/>
          <p:nvPr/>
        </p:nvSpPr>
        <p:spPr>
          <a:xfrm>
            <a:off x="2743200" y="448056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/opsx:verify</a:t>
            </a:r>
          </a:p>
        </p:txBody>
      </p:sp>
      <p:sp>
        <p:nvSpPr>
          <p:cNvPr id="910" name="d3"/>
          <p:cNvSpPr txBox="1"/>
          <p:nvPr/>
        </p:nvSpPr>
        <p:spPr>
          <a:xfrm>
            <a:off x="6035040" y="448056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check the implementation matches the spec</a:t>
            </a:r>
          </a:p>
        </p:txBody>
      </p:sp>
      <p:sp>
        <p:nvSpPr>
          <p:cNvPr id="911" name="c4"/>
          <p:cNvSpPr txBox="1"/>
          <p:nvPr/>
        </p:nvSpPr>
        <p:spPr>
          <a:xfrm>
            <a:off x="2743200" y="502920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/opsx:archive</a:t>
            </a:r>
          </a:p>
        </p:txBody>
      </p:sp>
      <p:sp>
        <p:nvSpPr>
          <p:cNvPr id="912" name="d4"/>
          <p:cNvSpPr txBox="1"/>
          <p:nvPr/>
        </p:nvSpPr>
        <p:spPr>
          <a:xfrm>
            <a:off x="6035040" y="502920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archive completed changes</a:t>
            </a:r>
          </a:p>
        </p:txBody>
      </p:sp>
      <p:sp>
        <p:nvSpPr>
          <p:cNvPr id="912" name="rule"/>
          <p:cNvSpPr/>
          <p:nvPr/>
        </p:nvSpPr>
        <p:spPr>
          <a:xfrm>
            <a:off x="685800" y="5760720"/>
            <a:ext cx="10881360" cy="12700"/>
          </a:xfrm>
          <a:prstGeom prst="rect">
            <a:avLst/>
          </a:prstGeom>
          <a:solidFill>
            <a:srgbClr val="CADCFC"/>
          </a:solidFill>
          <a:ln w="12700">
            <a:noFill/>
            <a:miter lim="400000"/>
          </a:ln>
        </p:spPr>
        <p:txBody>
          <a:bodyPr lIns="45719" rIns="45719"/>
          <a:lstStyle/>
          <a:p>
            <a:pPr/>
          </a:p>
        </p:txBody>
      </p:sp>
      <p:sp>
        <p:nvSpPr>
          <p:cNvPr id="913" name="n1"/>
          <p:cNvSpPr txBox="1"/>
          <p:nvPr/>
        </p:nvSpPr>
        <p:spPr>
          <a:xfrm>
            <a:off x="685800" y="5989320"/>
            <a:ext cx="10881360" cy="251460"/>
          </a:xfrm>
          <a:prstGeom prst="rect">
            <a:avLst/>
          </a:prstGeom>
          <a:ln w="12700">
            <a:noFill/>
            <a:miter lim="400000"/>
          </a:ln>
        </p:spPr>
        <p:txBody>
          <a:bodyPr lIns="45719" rIns="45719" tIns="0" bIns="0" anchor="t"/>
          <a:lstStyle>
            <a:lvl1pPr algn="l">
              <a:defRPr b="0" sz="1050">
                <a:solidFill>
                  <a:srgbClr val="2C3352"/>
                </a:solidFill>
                <a:latin typeface="Calibri"/>
              </a:defRPr>
            </a:lvl1pPr>
          </a:lstStyle>
          <a:p>
            <a:pPr/>
            <a:r>
              <a:t>explore is installed by default but writes nothing: it is a thinking step, not a stage.</a:t>
            </a:r>
          </a:p>
        </p:txBody>
      </p:sp>
      <p:sp>
        <p:nvSpPr>
          <p:cNvPr id="914" name="n2"/>
          <p:cNvSpPr txBox="1"/>
          <p:nvPr/>
        </p:nvSpPr>
        <p:spPr>
          <a:xfrm>
            <a:off x="685800" y="6263640"/>
            <a:ext cx="10881360" cy="251460"/>
          </a:xfrm>
          <a:prstGeom prst="rect">
            <a:avLst/>
          </a:prstGeom>
          <a:ln w="12700">
            <a:noFill/>
            <a:miter lim="400000"/>
          </a:ln>
        </p:spPr>
        <p:txBody>
          <a:bodyPr lIns="45719" rIns="45719" tIns="0" bIns="0" anchor="t"/>
          <a:lstStyle>
            <a:lvl1pPr algn="l">
              <a:defRPr b="0" sz="1050">
                <a:solidFill>
                  <a:srgbClr val="9AA3C0"/>
                </a:solidFill>
                <a:latin typeface="Calibri"/>
              </a:defRPr>
            </a:lvl1pPr>
          </a:lstStyle>
          <a:p>
            <a:pPr/>
            <a:r>
              <a:t>verify is not installed by default. It comes with the expanded profile, annexe 32. The default install also has update and sync, which this diagram leaves out.</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landscape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same principle, at three weights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8</a:t>
            </a:r>
          </a:p>
        </p:txBody>
      </p:sp>
      <p:sp>
        <p:nvSpPr>
          <p:cNvPr id="900" name="axis"/>
          <p:cNvSpPr/>
          <p:nvPr/>
        </p:nvSpPr>
        <p:spPr>
          <a:xfrm>
            <a:off x="1188720" y="2286000"/>
            <a:ext cx="9814560" cy="18288"/>
          </a:xfrm>
          <a:prstGeom prst="rect">
            <a:avLst/>
          </a:prstGeom>
          <a:solidFill>
            <a:srgbClr val="CADCFC"/>
          </a:solidFill>
          <a:ln w="12700">
            <a:noFill/>
            <a:miter lim="400000"/>
          </a:ln>
        </p:spPr>
        <p:txBody>
          <a:bodyPr lIns="45719" rIns="45719"/>
          <a:lstStyle/>
          <a:p>
            <a:pPr/>
          </a:p>
        </p:txBody>
      </p:sp>
      <p:sp>
        <p:nvSpPr>
          <p:cNvPr id="901" name="lgt"/>
          <p:cNvSpPr txBox="1"/>
          <p:nvPr/>
        </p:nvSpPr>
        <p:spPr>
          <a:xfrm>
            <a:off x="640080" y="1965960"/>
            <a:ext cx="2743200" cy="251460"/>
          </a:xfrm>
          <a:prstGeom prst="rect">
            <a:avLst/>
          </a:prstGeom>
          <a:ln w="12700">
            <a:noFill/>
            <a:miter lim="400000"/>
          </a:ln>
        </p:spPr>
        <p:txBody>
          <a:bodyPr lIns="45719" rIns="45719" tIns="0" bIns="0" anchor="t"/>
          <a:lstStyle>
            <a:lvl1pPr algn="l">
              <a:defRPr spc="120" b="1" sz="850">
                <a:solidFill>
                  <a:srgbClr val="5C6484"/>
                </a:solidFill>
                <a:latin typeface="Calibri"/>
              </a:defRPr>
            </a:lvl1pPr>
          </a:lstStyle>
          <a:p>
            <a:pPr/>
            <a:r>
              <a:t>LIGHTER PROCESS</a:t>
            </a:r>
          </a:p>
        </p:txBody>
      </p:sp>
      <p:sp>
        <p:nvSpPr>
          <p:cNvPr id="902" name="hvy"/>
          <p:cNvSpPr txBox="1"/>
          <p:nvPr/>
        </p:nvSpPr>
        <p:spPr>
          <a:xfrm>
            <a:off x="8808720" y="1965960"/>
            <a:ext cx="2743200" cy="251460"/>
          </a:xfrm>
          <a:prstGeom prst="rect">
            <a:avLst/>
          </a:prstGeom>
          <a:ln w="12700">
            <a:noFill/>
            <a:miter lim="400000"/>
          </a:ln>
        </p:spPr>
        <p:txBody>
          <a:bodyPr lIns="45719" rIns="45719" tIns="0" bIns="0" anchor="t"/>
          <a:lstStyle>
            <a:lvl1pPr algn="r">
              <a:defRPr spc="120" b="1" sz="850">
                <a:solidFill>
                  <a:srgbClr val="5C6484"/>
                </a:solidFill>
                <a:latin typeface="Calibri"/>
              </a:defRPr>
            </a:lvl1pPr>
          </a:lstStyle>
          <a:p>
            <a:pPr/>
            <a:r>
              <a:t>MORE PROCESS</a:t>
            </a:r>
          </a:p>
        </p:txBody>
      </p:sp>
      <p:sp>
        <p:nvSpPr>
          <p:cNvPr id="902" name="dot0"/>
          <p:cNvSpPr/>
          <p:nvPr/>
        </p:nvSpPr>
        <p:spPr>
          <a:xfrm>
            <a:off x="2057400" y="2167128"/>
            <a:ext cx="274320" cy="274320"/>
          </a:xfrm>
          <a:prstGeom prst="ellipse">
            <a:avLst/>
          </a:prstGeom>
          <a:solidFill>
            <a:srgbClr val="FF6B4A"/>
          </a:solidFill>
          <a:ln w="12700">
            <a:noFill/>
            <a:miter lim="400000"/>
          </a:ln>
        </p:spPr>
        <p:txBody>
          <a:bodyPr lIns="45719" rIns="45719"/>
          <a:lstStyle/>
          <a:p>
            <a:pPr/>
          </a:p>
        </p:txBody>
      </p:sp>
      <p:sp>
        <p:nvSpPr>
          <p:cNvPr id="903" name="n0"/>
          <p:cNvSpPr txBox="1"/>
          <p:nvPr/>
        </p:nvSpPr>
        <p:spPr>
          <a:xfrm>
            <a:off x="64008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OpenSpec</a:t>
            </a:r>
          </a:p>
        </p:txBody>
      </p:sp>
      <p:sp>
        <p:nvSpPr>
          <p:cNvPr id="904" name="m0"/>
          <p:cNvSpPr txBox="1"/>
          <p:nvPr/>
        </p:nvSpPr>
        <p:spPr>
          <a:xfrm>
            <a:off x="64008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Fission AI · MIT</a:t>
            </a:r>
          </a:p>
        </p:txBody>
      </p:sp>
      <p:sp>
        <p:nvSpPr>
          <p:cNvPr id="904" name="cd0"/>
          <p:cNvSpPr/>
          <p:nvPr/>
        </p:nvSpPr>
        <p:spPr>
          <a:xfrm>
            <a:off x="640080" y="3200400"/>
            <a:ext cx="3108960" cy="2743200"/>
          </a:xfrm>
          <a:prstGeom prst="roundRect">
            <a:avLst>
              <a:gd name="adj" fmla="val 4000"/>
            </a:avLst>
          </a:prstGeom>
          <a:solidFill>
            <a:srgbClr val="EEF2FC"/>
          </a:solidFill>
          <a:ln w="19050">
            <a:solidFill>
              <a:srgbClr val="FF6B4A"/>
            </a:solidFill>
            <a:miter lim="400000"/>
          </a:ln>
        </p:spPr>
        <p:txBody>
          <a:bodyPr lIns="45719" rIns="45719"/>
          <a:lstStyle/>
          <a:p>
            <a:pPr/>
          </a:p>
        </p:txBody>
      </p:sp>
      <p:sp>
        <p:nvSpPr>
          <p:cNvPr id="905" name="s0"/>
          <p:cNvSpPr txBox="1"/>
          <p:nvPr/>
        </p:nvSpPr>
        <p:spPr>
          <a:xfrm>
            <a:off x="86868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One loop per change:</a:t>
            </a:r>
          </a:p>
          <a:p>
            <a:pPr/>
            <a:r>
              <a:t>propose, apply, archive</a:t>
            </a:r>
          </a:p>
        </p:txBody>
      </p:sp>
      <p:sp>
        <p:nvSpPr>
          <p:cNvPr id="905" name="r10"/>
          <p:cNvSpPr/>
          <p:nvPr/>
        </p:nvSpPr>
        <p:spPr>
          <a:xfrm>
            <a:off x="868680" y="3840480"/>
            <a:ext cx="2651760" cy="12700"/>
          </a:xfrm>
          <a:prstGeom prst="rect">
            <a:avLst/>
          </a:prstGeom>
          <a:solidFill>
            <a:srgbClr val="CADCFC"/>
          </a:solidFill>
          <a:ln w="12700">
            <a:noFill/>
            <a:miter lim="400000"/>
          </a:ln>
        </p:spPr>
        <p:txBody>
          <a:bodyPr lIns="45719" rIns="45719"/>
          <a:lstStyle/>
          <a:p>
            <a:pPr/>
          </a:p>
        </p:txBody>
      </p:sp>
      <p:sp>
        <p:nvSpPr>
          <p:cNvPr id="906" name="g0"/>
          <p:cNvSpPr txBox="1"/>
          <p:nvPr/>
        </p:nvSpPr>
        <p:spPr>
          <a:xfrm>
            <a:off x="86868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Lightest to adopt. The spec lives</a:t>
            </a:r>
          </a:p>
          <a:p>
            <a:pPr/>
            <a:r>
              <a:t>in the repo and grows change</a:t>
            </a:r>
          </a:p>
          <a:p>
            <a:pPr/>
            <a:r>
              <a:t>by change.</a:t>
            </a:r>
          </a:p>
        </p:txBody>
      </p:sp>
      <p:sp>
        <p:nvSpPr>
          <p:cNvPr id="906" name="r20"/>
          <p:cNvSpPr/>
          <p:nvPr/>
        </p:nvSpPr>
        <p:spPr>
          <a:xfrm>
            <a:off x="868680" y="4526280"/>
            <a:ext cx="2651760" cy="12700"/>
          </a:xfrm>
          <a:prstGeom prst="rect">
            <a:avLst/>
          </a:prstGeom>
          <a:solidFill>
            <a:srgbClr val="CADCFC"/>
          </a:solidFill>
          <a:ln w="12700">
            <a:noFill/>
            <a:miter lim="400000"/>
          </a:ln>
        </p:spPr>
        <p:txBody>
          <a:bodyPr lIns="45719" rIns="45719"/>
          <a:lstStyle/>
          <a:p>
            <a:pPr/>
          </a:p>
        </p:txBody>
      </p:sp>
      <p:sp>
        <p:nvSpPr>
          <p:cNvPr id="907" name="w0"/>
          <p:cNvSpPr txBox="1"/>
          <p:nvPr/>
        </p:nvSpPr>
        <p:spPr>
          <a:xfrm>
            <a:off x="86868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Carries the least process.</a:t>
            </a:r>
          </a:p>
        </p:txBody>
      </p:sp>
      <p:sp>
        <p:nvSpPr>
          <p:cNvPr id="907" name="r30"/>
          <p:cNvSpPr/>
          <p:nvPr/>
        </p:nvSpPr>
        <p:spPr>
          <a:xfrm>
            <a:off x="868680" y="4983480"/>
            <a:ext cx="2651760" cy="12700"/>
          </a:xfrm>
          <a:prstGeom prst="rect">
            <a:avLst/>
          </a:prstGeom>
          <a:solidFill>
            <a:srgbClr val="CADCFC"/>
          </a:solidFill>
          <a:ln w="12700">
            <a:noFill/>
            <a:miter lim="400000"/>
          </a:ln>
        </p:spPr>
        <p:txBody>
          <a:bodyPr lIns="45719" rIns="45719"/>
          <a:lstStyle/>
          <a:p>
            <a:pPr/>
          </a:p>
        </p:txBody>
      </p:sp>
      <p:sp>
        <p:nvSpPr>
          <p:cNvPr id="908" name="al0"/>
          <p:cNvSpPr txBox="1"/>
          <p:nvPr/>
        </p:nvSpPr>
        <p:spPr>
          <a:xfrm>
            <a:off x="86868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09" name="ar0"/>
          <p:cNvSpPr txBox="1"/>
          <p:nvPr/>
        </p:nvSpPr>
        <p:spPr>
          <a:xfrm>
            <a:off x="86868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proposal.md · specs/</a:t>
            </a:r>
          </a:p>
          <a:p>
            <a:pPr/>
            <a:r>
              <a:t>design.md · tasks.md</a:t>
            </a:r>
          </a:p>
        </p:txBody>
      </p:sp>
      <p:sp>
        <p:nvSpPr>
          <p:cNvPr id="909" name="dot1"/>
          <p:cNvSpPr/>
          <p:nvPr/>
        </p:nvSpPr>
        <p:spPr>
          <a:xfrm>
            <a:off x="5958840" y="2167128"/>
            <a:ext cx="274320" cy="274320"/>
          </a:xfrm>
          <a:prstGeom prst="ellipse">
            <a:avLst/>
          </a:prstGeom>
          <a:solidFill>
            <a:srgbClr val="9AA3C0"/>
          </a:solidFill>
          <a:ln w="12700">
            <a:noFill/>
            <a:miter lim="400000"/>
          </a:ln>
        </p:spPr>
        <p:txBody>
          <a:bodyPr lIns="45719" rIns="45719"/>
          <a:lstStyle/>
          <a:p>
            <a:pPr/>
          </a:p>
        </p:txBody>
      </p:sp>
      <p:sp>
        <p:nvSpPr>
          <p:cNvPr id="910" name="n1"/>
          <p:cNvSpPr txBox="1"/>
          <p:nvPr/>
        </p:nvSpPr>
        <p:spPr>
          <a:xfrm>
            <a:off x="454152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Spec Kit</a:t>
            </a:r>
          </a:p>
        </p:txBody>
      </p:sp>
      <p:sp>
        <p:nvSpPr>
          <p:cNvPr id="911" name="m1"/>
          <p:cNvSpPr txBox="1"/>
          <p:nvPr/>
        </p:nvSpPr>
        <p:spPr>
          <a:xfrm>
            <a:off x="454152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GitHub · MIT</a:t>
            </a:r>
          </a:p>
        </p:txBody>
      </p:sp>
      <p:sp>
        <p:nvSpPr>
          <p:cNvPr id="911" name="cd1"/>
          <p:cNvSpPr/>
          <p:nvPr/>
        </p:nvSpPr>
        <p:spPr>
          <a:xfrm>
            <a:off x="4541520" y="3200400"/>
            <a:ext cx="310896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912" name="s1"/>
          <p:cNvSpPr txBox="1"/>
          <p:nvPr/>
        </p:nvSpPr>
        <p:spPr>
          <a:xfrm>
            <a:off x="477012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Six phases: constitution, specify,</a:t>
            </a:r>
          </a:p>
          <a:p>
            <a:pPr/>
            <a:r>
              <a:t>plan, tasks, implement, converge</a:t>
            </a:r>
          </a:p>
        </p:txBody>
      </p:sp>
      <p:sp>
        <p:nvSpPr>
          <p:cNvPr id="912" name="r11"/>
          <p:cNvSpPr/>
          <p:nvPr/>
        </p:nvSpPr>
        <p:spPr>
          <a:xfrm>
            <a:off x="4770120" y="3840480"/>
            <a:ext cx="2651760" cy="12700"/>
          </a:xfrm>
          <a:prstGeom prst="rect">
            <a:avLst/>
          </a:prstGeom>
          <a:solidFill>
            <a:srgbClr val="CADCFC"/>
          </a:solidFill>
          <a:ln w="12700">
            <a:noFill/>
            <a:miter lim="400000"/>
          </a:ln>
        </p:spPr>
        <p:txBody>
          <a:bodyPr lIns="45719" rIns="45719"/>
          <a:lstStyle/>
          <a:p>
            <a:pPr/>
          </a:p>
        </p:txBody>
      </p:sp>
      <p:sp>
        <p:nvSpPr>
          <p:cNvPr id="913" name="g1"/>
          <p:cNvSpPr txBox="1"/>
          <p:nvPr/>
        </p:nvSpPr>
        <p:spPr>
          <a:xfrm>
            <a:off x="477012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Most structure up front. A shared</a:t>
            </a:r>
          </a:p>
          <a:p>
            <a:pPr/>
            <a:r>
              <a:t>principles file and a final</a:t>
            </a:r>
          </a:p>
          <a:p>
            <a:pPr/>
            <a:r>
              <a:t>convergence check.</a:t>
            </a:r>
          </a:p>
        </p:txBody>
      </p:sp>
      <p:sp>
        <p:nvSpPr>
          <p:cNvPr id="913" name="r21"/>
          <p:cNvSpPr/>
          <p:nvPr/>
        </p:nvSpPr>
        <p:spPr>
          <a:xfrm>
            <a:off x="4770120" y="4526280"/>
            <a:ext cx="2651760" cy="12700"/>
          </a:xfrm>
          <a:prstGeom prst="rect">
            <a:avLst/>
          </a:prstGeom>
          <a:solidFill>
            <a:srgbClr val="CADCFC"/>
          </a:solidFill>
          <a:ln w="12700">
            <a:noFill/>
            <a:miter lim="400000"/>
          </a:ln>
        </p:spPr>
        <p:txBody>
          <a:bodyPr lIns="45719" rIns="45719"/>
          <a:lstStyle/>
          <a:p>
            <a:pPr/>
          </a:p>
        </p:txBody>
      </p:sp>
      <p:sp>
        <p:nvSpPr>
          <p:cNvPr id="914" name="w1"/>
          <p:cNvSpPr txBox="1"/>
          <p:nvPr/>
        </p:nvSpPr>
        <p:spPr>
          <a:xfrm>
            <a:off x="477012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More phases before any code.</a:t>
            </a:r>
          </a:p>
        </p:txBody>
      </p:sp>
      <p:sp>
        <p:nvSpPr>
          <p:cNvPr id="914" name="r31"/>
          <p:cNvSpPr/>
          <p:nvPr/>
        </p:nvSpPr>
        <p:spPr>
          <a:xfrm>
            <a:off x="4770120" y="4983480"/>
            <a:ext cx="2651760" cy="12700"/>
          </a:xfrm>
          <a:prstGeom prst="rect">
            <a:avLst/>
          </a:prstGeom>
          <a:solidFill>
            <a:srgbClr val="CADCFC"/>
          </a:solidFill>
          <a:ln w="12700">
            <a:noFill/>
            <a:miter lim="400000"/>
          </a:ln>
        </p:spPr>
        <p:txBody>
          <a:bodyPr lIns="45719" rIns="45719"/>
          <a:lstStyle/>
          <a:p>
            <a:pPr/>
          </a:p>
        </p:txBody>
      </p:sp>
      <p:sp>
        <p:nvSpPr>
          <p:cNvPr id="915" name="al1"/>
          <p:cNvSpPr txBox="1"/>
          <p:nvPr/>
        </p:nvSpPr>
        <p:spPr>
          <a:xfrm>
            <a:off x="477012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16" name="ar1"/>
          <p:cNvSpPr txBox="1"/>
          <p:nvPr/>
        </p:nvSpPr>
        <p:spPr>
          <a:xfrm>
            <a:off x="477012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spec.md · plan.md · research.md</a:t>
            </a:r>
          </a:p>
          <a:p>
            <a:pPr/>
            <a:r>
              <a:t>data-model.md · contracts/ · tasks.md</a:t>
            </a:r>
          </a:p>
        </p:txBody>
      </p:sp>
      <p:sp>
        <p:nvSpPr>
          <p:cNvPr id="916" name="dot2"/>
          <p:cNvSpPr/>
          <p:nvPr/>
        </p:nvSpPr>
        <p:spPr>
          <a:xfrm>
            <a:off x="9860280" y="2167128"/>
            <a:ext cx="274320" cy="274320"/>
          </a:xfrm>
          <a:prstGeom prst="ellipse">
            <a:avLst/>
          </a:prstGeom>
          <a:solidFill>
            <a:srgbClr val="9AA3C0"/>
          </a:solidFill>
          <a:ln w="12700">
            <a:noFill/>
            <a:miter lim="400000"/>
          </a:ln>
        </p:spPr>
        <p:txBody>
          <a:bodyPr lIns="45719" rIns="45719"/>
          <a:lstStyle/>
          <a:p>
            <a:pPr/>
          </a:p>
        </p:txBody>
      </p:sp>
      <p:sp>
        <p:nvSpPr>
          <p:cNvPr id="917" name="n2"/>
          <p:cNvSpPr txBox="1"/>
          <p:nvPr/>
        </p:nvSpPr>
        <p:spPr>
          <a:xfrm>
            <a:off x="844296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BMAD-METHOD</a:t>
            </a:r>
          </a:p>
        </p:txBody>
      </p:sp>
      <p:sp>
        <p:nvSpPr>
          <p:cNvPr id="918" name="m2"/>
          <p:cNvSpPr txBox="1"/>
          <p:nvPr/>
        </p:nvSpPr>
        <p:spPr>
          <a:xfrm>
            <a:off x="844296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BMad Code · MIT</a:t>
            </a:r>
          </a:p>
        </p:txBody>
      </p:sp>
      <p:sp>
        <p:nvSpPr>
          <p:cNvPr id="918" name="cd2"/>
          <p:cNvSpPr/>
          <p:nvPr/>
        </p:nvSpPr>
        <p:spPr>
          <a:xfrm>
            <a:off x="8442960" y="3200400"/>
            <a:ext cx="310896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919" name="s2"/>
          <p:cNvSpPr txBox="1"/>
          <p:nvPr/>
        </p:nvSpPr>
        <p:spPr>
          <a:xfrm>
            <a:off x="867156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Named agent roles across analysis,</a:t>
            </a:r>
          </a:p>
          <a:p>
            <a:pPr/>
            <a:r>
              <a:t>planning and architecture</a:t>
            </a:r>
          </a:p>
        </p:txBody>
      </p:sp>
      <p:sp>
        <p:nvSpPr>
          <p:cNvPr id="919" name="r12"/>
          <p:cNvSpPr/>
          <p:nvPr/>
        </p:nvSpPr>
        <p:spPr>
          <a:xfrm>
            <a:off x="8671560" y="3840480"/>
            <a:ext cx="2651760" cy="12700"/>
          </a:xfrm>
          <a:prstGeom prst="rect">
            <a:avLst/>
          </a:prstGeom>
          <a:solidFill>
            <a:srgbClr val="CADCFC"/>
          </a:solidFill>
          <a:ln w="12700">
            <a:noFill/>
            <a:miter lim="400000"/>
          </a:ln>
        </p:spPr>
        <p:txBody>
          <a:bodyPr lIns="45719" rIns="45719"/>
          <a:lstStyle/>
          <a:p>
            <a:pPr/>
          </a:p>
        </p:txBody>
      </p:sp>
      <p:sp>
        <p:nvSpPr>
          <p:cNvPr id="920" name="g2"/>
          <p:cNvSpPr txBox="1"/>
          <p:nvPr/>
        </p:nvSpPr>
        <p:spPr>
          <a:xfrm>
            <a:off x="867156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Most guidance. Roles and workflows</a:t>
            </a:r>
          </a:p>
          <a:p>
            <a:pPr/>
            <a:r>
              <a:t>for teams that want a full</a:t>
            </a:r>
          </a:p>
          <a:p>
            <a:pPr/>
            <a:r>
              <a:t>method.</a:t>
            </a:r>
          </a:p>
        </p:txBody>
      </p:sp>
      <p:sp>
        <p:nvSpPr>
          <p:cNvPr id="920" name="r22"/>
          <p:cNvSpPr/>
          <p:nvPr/>
        </p:nvSpPr>
        <p:spPr>
          <a:xfrm>
            <a:off x="8671560" y="4526280"/>
            <a:ext cx="2651760" cy="12700"/>
          </a:xfrm>
          <a:prstGeom prst="rect">
            <a:avLst/>
          </a:prstGeom>
          <a:solidFill>
            <a:srgbClr val="CADCFC"/>
          </a:solidFill>
          <a:ln w="12700">
            <a:noFill/>
            <a:miter lim="400000"/>
          </a:ln>
        </p:spPr>
        <p:txBody>
          <a:bodyPr lIns="45719" rIns="45719"/>
          <a:lstStyle/>
          <a:p>
            <a:pPr/>
          </a:p>
        </p:txBody>
      </p:sp>
      <p:sp>
        <p:nvSpPr>
          <p:cNvPr id="921" name="w2"/>
          <p:cNvSpPr txBox="1"/>
          <p:nvPr/>
        </p:nvSpPr>
        <p:spPr>
          <a:xfrm>
            <a:off x="867156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More roles and ceremony to learn.</a:t>
            </a:r>
          </a:p>
        </p:txBody>
      </p:sp>
      <p:sp>
        <p:nvSpPr>
          <p:cNvPr id="921" name="r32"/>
          <p:cNvSpPr/>
          <p:nvPr/>
        </p:nvSpPr>
        <p:spPr>
          <a:xfrm>
            <a:off x="8671560" y="4983480"/>
            <a:ext cx="2651760" cy="12700"/>
          </a:xfrm>
          <a:prstGeom prst="rect">
            <a:avLst/>
          </a:prstGeom>
          <a:solidFill>
            <a:srgbClr val="CADCFC"/>
          </a:solidFill>
          <a:ln w="12700">
            <a:noFill/>
            <a:miter lim="400000"/>
          </a:ln>
        </p:spPr>
        <p:txBody>
          <a:bodyPr lIns="45719" rIns="45719"/>
          <a:lstStyle/>
          <a:p>
            <a:pPr/>
          </a:p>
        </p:txBody>
      </p:sp>
      <p:sp>
        <p:nvSpPr>
          <p:cNvPr id="922" name="al2"/>
          <p:cNvSpPr txBox="1"/>
          <p:nvPr/>
        </p:nvSpPr>
        <p:spPr>
          <a:xfrm>
            <a:off x="867156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23" name="ar2"/>
          <p:cNvSpPr txBox="1"/>
          <p:nvPr/>
        </p:nvSpPr>
        <p:spPr>
          <a:xfrm>
            <a:off x="867156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brief · PRD · PRFAQ · UX spec</a:t>
            </a:r>
          </a:p>
          <a:p>
            <a:pPr/>
            <a:r>
              <a:t>architecture · epics and stories</a:t>
            </a:r>
          </a:p>
        </p:txBody>
      </p:sp>
      <p:sp>
        <p:nvSpPr>
          <p:cNvPr id="924" name="foot"/>
          <p:cNvSpPr txBox="1"/>
          <p:nvPr/>
        </p:nvSpPr>
        <p:spPr>
          <a:xfrm>
            <a:off x="640080" y="6126480"/>
            <a:ext cx="10911840" cy="251460"/>
          </a:xfrm>
          <a:prstGeom prst="rect">
            <a:avLst/>
          </a:prstGeom>
          <a:ln w="12700">
            <a:noFill/>
            <a:miter lim="400000"/>
          </a:ln>
        </p:spPr>
        <p:txBody>
          <a:bodyPr lIns="45719" rIns="45719" tIns="0" bIns="0" anchor="t"/>
          <a:lstStyle>
            <a:lvl1pPr algn="ctr">
              <a:defRPr b="0" sz="1050">
                <a:solidFill>
                  <a:srgbClr val="5C6484"/>
                </a:solidFill>
                <a:latin typeface="Calibri"/>
              </a:defRPr>
            </a:lvl1pPr>
          </a:lstStyle>
          <a:p>
            <a:pPr/>
            <a:r>
              <a:t>All three are MIT and none of them owns your code. The choice is one of weight, not of principle.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