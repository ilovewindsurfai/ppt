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séance : comprendre ce qu'est le spec-driven development, comment BMAD l'outille concrètement, et ce que chaque rôle doit faire dès lundi.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: le problème n'est pas la qualité du code généré, c'est l'absence de trace de la décision.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BMAD n'est qu'une implémentation outillée de ce principe. Le principe compte plus que l'outil.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 open source très actif (plus de 50 000 étoiles sur GitHub). S'installe dans un dépôt existant.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prénoms sont ceux du module BMM. Ce ne sont pas des personnes : ce sont des personas d'agents avec des instructions et des livrables définis.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flèche de retour : Learn &amp; Adjust. Une story qui révèle une contrainte met à jour le PRD et l'architecture.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revue adversariale est le point le plus souvent sauté — et le plus rentable. Le QA doit chercher la faille, pas confirmer le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d'attention managérial : le temps passé en phases 1-3 n'est pas du temps perdu, c'est du rework évité en phase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une décision concrète, pas sur un « on va regarder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417320"/>
            <a:ext cx="4023360" cy="4023360"/>
          </a:xfrm>
          <a:prstGeom prst="ellipse">
            <a:avLst/>
          </a:prstGeom>
          <a:ln w="15875">
            <a:solidFill>
              <a:srgbClr val="2E3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920240"/>
            <a:ext cx="3017520" cy="3017520"/>
          </a:xfrm>
          <a:prstGeom prst="ellipse">
            <a:avLst/>
          </a:prstGeom>
          <a:ln w="15875">
            <a:solidFill>
              <a:srgbClr val="3B4A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423160"/>
            <a:ext cx="2011680" cy="2011680"/>
          </a:xfrm>
          <a:prstGeom prst="ellipse">
            <a:avLst/>
          </a:prstGeom>
          <a:ln w="31750">
            <a:solidFill>
              <a:srgbClr val="FF6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8592" y="322783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Method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l'idée au code, sans perdre la réflexion.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cadre agile pour le développement piloté par l'IA.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21488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4A57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0690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71800" y="4069080"/>
            <a:ext cx="21488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4A57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40690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03520" y="4069080"/>
            <a:ext cx="21488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4A57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40690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opérationnel  ·  Qui fait quoi, quand, et avec quels livrables  ·  Septembre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vibe coding » ne passe pas en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 AUJOURD'HUI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vit dans le chat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70048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de conversation sert de spécification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nouvelle session repart de zéro sur le contexte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décisions d'architecture ne sont écrites nulle part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besoin est ré-implémenté d'un module à l'autre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dette arrive avant la v1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70048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non relu : personne ne sait ce qui a été décidé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et cas limites découverts en production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permanent — on refait au lieu d'avancer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d'estimer : pas de périmètre écrit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Ça marche »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n'est pas un critère d'acceptation. L'IA accélère l'écriture du code — elle n'écrit pas la décision.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 : la spec devient la source de vérité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écrit le quoi et le pourquoi dans un fichier : besoin, périmètre, critères d'acceptation, hors-scope.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code à partir de la spec, pas d'un prompt improvisé. Le contexte est lu, pas ré-expliqué.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revue et portes de qualité comparent le code à la spec. Un écart est un défaut, pas un avis.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4805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 de chat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87375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Éphémère · non versionné · non relisible · perdu à la session suivante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2519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44805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spec dans le dépôt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87375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Versionnée · relue en pull request · testable · mise à jour quand la réalité change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en bref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Method for Agile AI-Driven Development : un cadre open source qui transforme une idée ou une demande de changement en logiciel livrable, en faisant intervenir des agents spécialisés à chaque étape et en produisant des artefacts durables plutôt que des réponses de chat.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la boucle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livraison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d'agents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voies selon la taille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changement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6720840" cy="91440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80060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postulat 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amplifie le jugement de l'équipe, elle ne le remplace pas. Chaque phase se termine par une décision humaine.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26680" y="1572768"/>
            <a:ext cx="3794760" cy="4142232"/>
          </a:xfrm>
          <a:prstGeom prst="roundRect">
            <a:avLst>
              <a:gd name="adj" fmla="val 216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0" y="18288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1214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6720" y="260604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141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74736" y="260604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200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474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20.12+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et uv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de code agentique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5720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Puis, à tout moment 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46720" y="484632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141A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74736" y="484632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bmad-help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303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quoi faire à l'étape où vous êtes.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d'agents, pas un assistant 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— Analyst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marché, contexte projet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163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2880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— PM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Exigences, PRD, epics, arbitrages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163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572768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82880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 — UX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Parcours, écrans, spécifications d'expérience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8163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372160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721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37673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— Architect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techniques, validation, cohérence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709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ARCHITECTURE-SPINE.md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465576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2160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63440" y="3721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7673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en stories, suivi du sprint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4709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3465576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0" y="372160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12480" y="3721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37673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 — Dev &amp; QA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en TDD, revue adversariale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709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+ tests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a un périmètre volontairement étroit : c'est ce qui préserve la fenêtre de contexte et rend les livrables comparables d'une session à l'autre.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phases, des artefacts qui s'enchaînent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62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le besoin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46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0215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prfaq.md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rot="5400000">
            <a:off x="3209544" y="301752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9856" y="16002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9417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94176" y="25146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94176" y="2862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la solution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94176" y="3246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94176" y="350215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5989320" y="301752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9632" y="16002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39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5146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862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l'architecture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246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50215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ARCHITECTURE-SPINE.md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B4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sprint-status.yaml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5400000">
            <a:off x="8769096" y="301752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8979408" y="16002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53728" y="187452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5372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53728" y="25146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253728" y="2862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vérifier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53728" y="3246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350215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+ tests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spec-*.md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RETROSPECTIVE.md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EB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51560" y="4937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est fermée : </a:t>
            </a:r>
            <a:pPr indent="0" marL="0">
              <a:buNone/>
            </a:pPr>
            <a:r>
              <a:rPr lang="en-US" sz="13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apprend en construisant remonte dans les artefacts de planification. Ce sont des documents vivants, pas des livrables figés.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SUR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cadrer avant de coder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PILOTE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83664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Analyst, avec le manager et le business analyst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 CONCRÈTEMENT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0048"/>
            <a:ext cx="6720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le problème réel et à qui il profite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la recherche : marché, existant, contraintes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 brief court que tout le monde peut contester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explicitement ce qui est hors périmètre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6680" y="1572768"/>
            <a:ext cx="37947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0" y="18288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48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prfaq.md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rapports de recherche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675888"/>
            <a:ext cx="3794760" cy="2039112"/>
          </a:xfrm>
          <a:prstGeom prst="roundRect">
            <a:avLst>
              <a:gd name="adj" fmla="val 403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3931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SORTIE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22452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tient en trois phrases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hors-scope est écrit noir sur blanc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a validé l'intention, pas la 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6720840" cy="576072"/>
          </a:xfrm>
          <a:prstGeom prst="roundRect">
            <a:avLst>
              <a:gd name="adj" fmla="val 14286"/>
            </a:avLst>
          </a:prstGeom>
          <a:solidFill>
            <a:srgbClr val="FFEB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138928"/>
            <a:ext cx="6080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existant (brownfield) : on saute cette phase et on génère d'abord le contexte du dépôt.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SUR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— traduire l'intention en spécification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PILOTE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83664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et UX, avec le business analyst en pilote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 CONCRÈTEMENT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0048"/>
            <a:ext cx="6720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exigences et les découper en epics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critères d'acceptation, testables un par un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les parcours et les écrans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règles métier et les cas limites connus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6680" y="1572768"/>
            <a:ext cx="37947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0" y="18288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48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675888"/>
            <a:ext cx="3794760" cy="2039112"/>
          </a:xfrm>
          <a:prstGeom prst="roundRect">
            <a:avLst>
              <a:gd name="adj" fmla="val 403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3931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SPEC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22452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: on sait dire vrai ou faux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Bornée : le hors-scope est explicite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solution technique imposée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Relue par un développeur avant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6720840" cy="576072"/>
          </a:xfrm>
          <a:prstGeom prst="roundRect">
            <a:avLst>
              <a:gd name="adj" fmla="val 14286"/>
            </a:avLst>
          </a:prstGeom>
          <a:solidFill>
            <a:srgbClr val="FFEB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138928"/>
            <a:ext cx="6080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phase où le business analyst a le plus de valeur : personne d'autre ne fermera les ambiguïtés.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SUR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Solutioning — décider avant de construire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PILOTE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83664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avec le Scrum Master et les développeurs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 CONCRÈTEMENT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0048"/>
            <a:ext cx="6720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la colonne vertébrale technique et les décisions structurantes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chaque décision : contexte, options, choix, conséquence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la spec en stories autoportantes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suivi de sprint et ordonner le backlog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6680" y="1572768"/>
            <a:ext cx="37947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0" y="18288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48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ARCHITECTURE-SPINE.md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sprint-status.yaml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675888"/>
            <a:ext cx="3794760" cy="2039112"/>
          </a:xfrm>
          <a:prstGeom prst="roundRect">
            <a:avLst>
              <a:gd name="adj" fmla="val 403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3931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22452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story porte tout son contexte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critères d'acceptation sont vérifiables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dépendances sont identifiées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L'architecte a validé l'approche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6720840" cy="576072"/>
          </a:xfrm>
          <a:prstGeom prst="roundRect">
            <a:avLst>
              <a:gd name="adj" fmla="val 14286"/>
            </a:avLst>
          </a:prstGeom>
          <a:solidFill>
            <a:srgbClr val="FFEB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138928"/>
            <a:ext cx="6080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story qui ne passe pas la Definition of Ready ne part pas en développement. C'est la porte la plus rentable.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SUR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la boucle qui tourne à chaque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6537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préparée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Scrum Master écrit la story avec tout son contexte.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186537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d'entrée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L'architecte valide la Definition of Ready.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7276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79408" y="186537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TDD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rouge, code vert, refactor — dans cet ordre.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35112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adversariale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cherche activement à casser, pas à approuver.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21868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35112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de qualité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build et typage passent, sinon on ne sort pas.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218688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34747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79408" y="35112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et synchro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est livré, les artefacts sont mis à jour.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2803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LA STORY, SUIVI DANS UN SEUL FICHIER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1389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5400000">
            <a:off x="2660904" y="525780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38" name="Shape 36"/>
          <p:cNvSpPr/>
          <p:nvPr/>
        </p:nvSpPr>
        <p:spPr>
          <a:xfrm>
            <a:off x="2898648" y="51389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98648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ready-for-dev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rot="5400000">
            <a:off x="4919472" y="525780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57216" y="51389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57216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in-progress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rot="5400000">
            <a:off x="7178040" y="525780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44" name="Shape 42"/>
          <p:cNvSpPr/>
          <p:nvPr/>
        </p:nvSpPr>
        <p:spPr>
          <a:xfrm>
            <a:off x="7415784" y="51389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15784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 rot="5400000">
            <a:off x="9436608" y="5257800"/>
            <a:ext cx="182880" cy="219456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47" name="Shape 45"/>
          <p:cNvSpPr/>
          <p:nvPr/>
        </p:nvSpPr>
        <p:spPr>
          <a:xfrm>
            <a:off x="9674352" y="513892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74352" y="5138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fichier de statut fait foi. Le manager y lit l'avancement sans réunion.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DOSER L'EFFORT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voies : ne pas mettre un PRD sur un correctif d'une ligne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429000"/>
          </a:xfrm>
          <a:prstGeom prst="roundRect">
            <a:avLst>
              <a:gd name="adj" fmla="val 24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FLOW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agent, du besoin à la revue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700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isolé, correction de configuration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touchant moins de trois fichiers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impact sur l'architecture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8620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422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agent enchaîne la mini-spec, le développement et la revue. Les tests et les portes de qualité restent obligatoires.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257800" cy="3429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phases, avec les rôles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700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260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produit ou nouveau module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transverse ou structurant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de conformité ou de sécurité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88620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1422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Planning, Solutioning puis Implementation, avec validation humaine à chaque sortie de phase.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voie est une décision d'équipe, prise avant de commencer — pas un arbitrage en cours de route.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fait quoi, dans les trois métiers de la salle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3703320"/>
          </a:xfrm>
          <a:prstGeom prst="roundRect">
            <a:avLst>
              <a:gd name="adj" fmla="val 2432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et arbitre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l'intention en fin de phase 1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 le périmètre et les priorités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l'avancement dans le fichier de sprint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 le temps de spécification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exiger du code avant la spec.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3703320"/>
          </a:xfrm>
          <a:prstGeom prst="roundRect">
            <a:avLst>
              <a:gd name="adj" fmla="val 2432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9160" y="1920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les ambiguïtés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9748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PRD et la spécification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des critères d'acceptation testables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Traque les cas limites et les règles métier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la spec à jour quand la réalité change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qui bénéficie le plus de BMAD.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383280" cy="3703320"/>
          </a:xfrm>
          <a:prstGeom prst="roundRect">
            <a:avLst>
              <a:gd name="adj" fmla="val 2432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58200" y="1920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et challenge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9748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Relit la spec avant qu'elle soit validée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 en TDD à partir de la story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Mène la revue adversariale sur le code généré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remonter les écarts dans les artefacts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responsable de ce qui est fusionné.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L'ACTION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Démarrer sur un projet réel, en cinq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dans le dépôt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751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et les workflows arrivent dans le projet.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719072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0F15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0176" y="1719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511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 existant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0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projet en cours : l'IA lit le code avant de proposer.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624328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0F15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80176" y="2624328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bmad-project-context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20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4564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la spécification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7856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taille : mini-spec ou PRD complet.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3529584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0F15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80176" y="352958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bmad-spec   ·   bmad-prd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4256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3616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construction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6908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story → TDD → revue → portes de qualité.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4434840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0F15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80176" y="4434840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bmad-build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330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2669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rétrospective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596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 repart dans les artefacts.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5340096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0F153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80176" y="534009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RETROSPECTIVE.md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44000" y="1572768"/>
            <a:ext cx="3017520" cy="4142232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418320" y="1828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DE DÉMARRAGE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2148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par une fonctionnalité réelle mais non critique, sur deux semaines, avec un manager, un BA et un développeur.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0" y="36576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but du premier essai n'est pas d'aller plus vite : c'est de produire des artefacts que l'équipe accepte de relire.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y gagnez, et ce qui peut échouer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474720"/>
          </a:xfrm>
          <a:prstGeom prst="roundRect">
            <a:avLst>
              <a:gd name="adj" fmla="val 2368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ATTENDUS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prévisible, pas du magique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préservé : les décisions ne se rejouent pas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: mêmes conventions d'une story à l'autre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Vérifiabilité : des artefacts relisibles, pas des réponses de chat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 : du correctif au projet réglementé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: un nouvel arrivant lit la spec, pas l'historique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3474720"/>
          </a:xfrm>
          <a:prstGeom prst="roundRect">
            <a:avLst>
              <a:gd name="adj" fmla="val 2368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OBSERVÉS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échouer l'adoption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au vibe coding dès que le délai serre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complet appliqué à des tâches triviales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specs vagues : la sortie ne vaut que l'entrée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revue humaine devenue tampon automatique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artefacts jamais mis à jour, donc vite faux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décisif n'est pas l'outil, c'est la discipline de relire et de maintenir les artefacts.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plan d'adoption sur 90 jours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2732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jours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sur un dépôt pilote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binôme BA + développeur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fonctionnalité non critique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 de bout en bout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2732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jours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889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à une équipe complète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règle Quick Flow / Full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portes de qualité à la CI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rétrospective de méthode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2732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jours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7889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rework par story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spec validée → mise en production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détectés en revue vs en production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généraliser ou ajuster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12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demandée aujourd'hui : nommer le dépôt pilote et le binôme qui l'accompagne.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BMAD-METHOD est open source — github.com/bmad-code-org/BMAD-METHOD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BMAD Method - Spec-Driven Development</dc:title>
  <dc:subject>PptxGenJS Presentation</dc:subject>
  <dc:creator>BMAD Method</dc:creator>
  <cp:lastModifiedBy>BMAD Method</cp:lastModifiedBy>
  <cp:revision>1</cp:revision>
  <dcterms:created xsi:type="dcterms:W3CDTF">2026-09-02T11:36:46Z</dcterms:created>
  <dcterms:modified xsi:type="dcterms:W3CDTF">2026-09-02T11:36:46Z</dcterms:modified>
</cp:coreProperties>
</file>