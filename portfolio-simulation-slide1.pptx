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of the User Portfolio Simulation feasibility study.
Left: three drivers behind the study — client expectation gap, competitive parity, regulatory documentation duty.
Right: the four requirement clusters agreed in the August framing workshops. These are the acceptance criteria the proof of concept will be measured against.
Close on the ask: sign-off of this scope as the PoC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layout of the same slide: drivers across the top, the four requirement clusters as four parallel columns.
Use this version when you want the four clusters read left-to-right as equal-weight workstreams; use the two-by-two version when you want context and requirements clearly separated.
Close on the ask: sign-off of this scope as the PoC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layout of the same slide: dark full-bleed, drivers as three columns at the top, requirements as four horizontal rows.
Each row reads as one cluster with its three acceptance criteria side by side — useful if the steering group wants to walk down the list line by line.
Close on the ask: sign-off of this scope as the PoC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layout: one context paragraph, then the requirements as a flat numbered list R1–R12.
Use this version when the steering group wants something to sign off item by item — each line is a testable acceptance criterion.
Close on the ask: approve R1–R12 as the PoC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97680" cy="6858000"/>
          </a:xfrm>
          <a:prstGeom prst="rect">
            <a:avLst/>
          </a:prstGeom>
          <a:solidFill>
            <a:srgbClr val="16264A"/>
          </a:solidFill>
          <a:ln/>
        </p:spPr>
      </p:sp>
      <p:sp>
        <p:nvSpPr>
          <p:cNvPr id="3" name="Text 1"/>
          <p:cNvSpPr txBox="1"/>
          <p:nvPr/>
        </p:nvSpPr>
        <p:spPr>
          <a:xfrm>
            <a:off x="548640" y="566928"/>
            <a:ext cx="3383280" cy="457200"/>
          </a:xfrm>
          <a:prstGeom prst="rect">
            <a:avLst/>
          </a:prstGeom>
          <a:noFill/>
          <a:ln/>
        </p:spPr>
        <p:txBody>
          <a:bodyPr wrap="square" lIns="0" tIns="0" rIns="0" bIns="0" rtlCol="0" anchor="ctr"/>
          <a:lstStyle/>
          <a:p>
            <a:pPr indent="0" marL="0">
              <a:buNone/>
            </a:pPr>
            <a:r>
              <a:rPr lang="en-US" sz="1000" b="1" spc="160" kern="0" dirty="0">
                <a:solidFill>
                  <a:srgbClr val="9FB3D4"/>
                </a:solidFill>
                <a:latin typeface="Calibri" pitchFamily="34" charset="0"/>
                <a:ea typeface="Calibri" pitchFamily="34" charset="-122"/>
                <a:cs typeface="Calibri" pitchFamily="34" charset="-120"/>
              </a:rPr>
              <a:t>USER PORTFOLIO SIMULATION STUDY</a:t>
            </a:r>
            <a:endParaRPr lang="en-US" sz="1000" dirty="0"/>
          </a:p>
        </p:txBody>
      </p:sp>
      <p:sp>
        <p:nvSpPr>
          <p:cNvPr id="4" name="Text 2"/>
          <p:cNvSpPr txBox="1"/>
          <p:nvPr/>
        </p:nvSpPr>
        <p:spPr>
          <a:xfrm>
            <a:off x="548640" y="1024128"/>
            <a:ext cx="3474720" cy="137160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Cambria" pitchFamily="34" charset="0"/>
                <a:ea typeface="Cambria" pitchFamily="34" charset="-122"/>
                <a:cs typeface="Cambria" pitchFamily="34" charset="-120"/>
              </a:rPr>
              <a:t>Context &amp;</a:t>
            </a:r>
            <a:endParaRPr lang="en-US" sz="3400" dirty="0"/>
          </a:p>
          <a:p>
            <a:pPr indent="0" marL="0">
              <a:lnSpc>
                <a:spcPct val="100000"/>
              </a:lnSpc>
              <a:buNone/>
            </a:pPr>
            <a:r>
              <a:rPr lang="en-US" sz="3400" b="1" dirty="0">
                <a:solidFill>
                  <a:srgbClr val="FFFFFF"/>
                </a:solidFill>
                <a:latin typeface="Cambria" pitchFamily="34" charset="0"/>
                <a:ea typeface="Cambria" pitchFamily="34" charset="-122"/>
                <a:cs typeface="Cambria" pitchFamily="34" charset="-120"/>
              </a:rPr>
              <a:t>Requirements</a:t>
            </a:r>
            <a:endParaRPr lang="en-US" sz="3400" dirty="0"/>
          </a:p>
        </p:txBody>
      </p:sp>
      <p:sp>
        <p:nvSpPr>
          <p:cNvPr id="5" name="Text 3"/>
          <p:cNvSpPr txBox="1"/>
          <p:nvPr/>
        </p:nvSpPr>
        <p:spPr>
          <a:xfrm>
            <a:off x="548640" y="2487168"/>
            <a:ext cx="3383280" cy="274320"/>
          </a:xfrm>
          <a:prstGeom prst="rect">
            <a:avLst/>
          </a:prstGeom>
          <a:noFill/>
          <a:ln/>
        </p:spPr>
        <p:txBody>
          <a:bodyPr wrap="square" lIns="0" tIns="0" rIns="0" bIns="0" rtlCol="0" anchor="ctr"/>
          <a:lstStyle/>
          <a:p>
            <a:pPr indent="0" marL="0">
              <a:buNone/>
            </a:pPr>
            <a:r>
              <a:rPr lang="en-US" sz="1100" b="1" spc="160" kern="0" dirty="0">
                <a:solidFill>
                  <a:srgbClr val="E0A458"/>
                </a:solidFill>
                <a:latin typeface="Calibri" pitchFamily="34" charset="0"/>
                <a:ea typeface="Calibri" pitchFamily="34" charset="-122"/>
                <a:cs typeface="Calibri" pitchFamily="34" charset="-120"/>
              </a:rPr>
              <a:t>WHY NOW</a:t>
            </a:r>
            <a:endParaRPr lang="en-US" sz="1100" dirty="0"/>
          </a:p>
        </p:txBody>
      </p:sp>
      <p:sp>
        <p:nvSpPr>
          <p:cNvPr id="6" name="Shape 4"/>
          <p:cNvSpPr/>
          <p:nvPr/>
        </p:nvSpPr>
        <p:spPr>
          <a:xfrm>
            <a:off x="576072" y="2990088"/>
            <a:ext cx="137160" cy="137160"/>
          </a:xfrm>
          <a:prstGeom prst="ellipse">
            <a:avLst/>
          </a:prstGeom>
          <a:solidFill>
            <a:srgbClr val="E0A458"/>
          </a:solidFill>
          <a:ln/>
        </p:spPr>
      </p:sp>
      <p:sp>
        <p:nvSpPr>
          <p:cNvPr id="7" name="Text 5"/>
          <p:cNvSpPr txBox="1"/>
          <p:nvPr/>
        </p:nvSpPr>
        <p:spPr>
          <a:xfrm>
            <a:off x="868680" y="2889504"/>
            <a:ext cx="3035808" cy="914400"/>
          </a:xfrm>
          <a:prstGeom prst="rect">
            <a:avLst/>
          </a:prstGeom>
          <a:noFill/>
          <a:ln/>
        </p:spPr>
        <p:txBody>
          <a:bodyPr wrap="square" lIns="0" tIns="0" rIns="0" bIns="0" rtlCol="0" anchor="t"/>
          <a:lstStyle/>
          <a:p>
            <a:pPr indent="0" marL="0">
              <a:lnSpc>
                <a:spcPct val="115000"/>
              </a:lnSpc>
              <a:buNone/>
            </a:pPr>
            <a:r>
              <a:rPr lang="en-US" sz="1150" dirty="0">
                <a:solidFill>
                  <a:srgbClr val="DCE4F0"/>
                </a:solidFill>
                <a:latin typeface="Calibri" pitchFamily="34" charset="0"/>
                <a:ea typeface="Calibri" pitchFamily="34" charset="-122"/>
                <a:cs typeface="Calibri" pitchFamily="34" charset="-120"/>
              </a:rPr>
              <a:t>Advice still runs on static, backward-looking statements. Clients cannot see how their own holdings behave under different market paths.</a:t>
            </a:r>
            <a:endParaRPr lang="en-US" sz="1150" dirty="0"/>
          </a:p>
        </p:txBody>
      </p:sp>
      <p:sp>
        <p:nvSpPr>
          <p:cNvPr id="8" name="Shape 6"/>
          <p:cNvSpPr/>
          <p:nvPr/>
        </p:nvSpPr>
        <p:spPr>
          <a:xfrm>
            <a:off x="576072" y="3922776"/>
            <a:ext cx="137160" cy="137160"/>
          </a:xfrm>
          <a:prstGeom prst="ellipse">
            <a:avLst/>
          </a:prstGeom>
          <a:solidFill>
            <a:srgbClr val="E0A458"/>
          </a:solidFill>
          <a:ln/>
        </p:spPr>
      </p:sp>
      <p:sp>
        <p:nvSpPr>
          <p:cNvPr id="9" name="Text 7"/>
          <p:cNvSpPr txBox="1"/>
          <p:nvPr/>
        </p:nvSpPr>
        <p:spPr>
          <a:xfrm>
            <a:off x="868680" y="3822192"/>
            <a:ext cx="3035808" cy="914400"/>
          </a:xfrm>
          <a:prstGeom prst="rect">
            <a:avLst/>
          </a:prstGeom>
          <a:noFill/>
          <a:ln/>
        </p:spPr>
        <p:txBody>
          <a:bodyPr wrap="square" lIns="0" tIns="0" rIns="0" bIns="0" rtlCol="0" anchor="t"/>
          <a:lstStyle/>
          <a:p>
            <a:pPr indent="0" marL="0">
              <a:lnSpc>
                <a:spcPct val="115000"/>
              </a:lnSpc>
              <a:buNone/>
            </a:pPr>
            <a:r>
              <a:rPr lang="en-US" sz="1150" dirty="0">
                <a:solidFill>
                  <a:srgbClr val="DCE4F0"/>
                </a:solidFill>
                <a:latin typeface="Calibri" pitchFamily="34" charset="0"/>
                <a:ea typeface="Calibri" pitchFamily="34" charset="-122"/>
                <a:cs typeface="Calibri" pitchFamily="34" charset="-120"/>
              </a:rPr>
              <a:t>Peers already ship in-app “what-if” projections. Advisers are asking for parity ahead of the 2027 retention campaign.</a:t>
            </a:r>
            <a:endParaRPr lang="en-US" sz="1150" dirty="0"/>
          </a:p>
        </p:txBody>
      </p:sp>
      <p:sp>
        <p:nvSpPr>
          <p:cNvPr id="10" name="Shape 8"/>
          <p:cNvSpPr/>
          <p:nvPr/>
        </p:nvSpPr>
        <p:spPr>
          <a:xfrm>
            <a:off x="576072" y="4855464"/>
            <a:ext cx="137160" cy="137160"/>
          </a:xfrm>
          <a:prstGeom prst="ellipse">
            <a:avLst/>
          </a:prstGeom>
          <a:solidFill>
            <a:srgbClr val="E0A458"/>
          </a:solidFill>
          <a:ln/>
        </p:spPr>
      </p:sp>
      <p:sp>
        <p:nvSpPr>
          <p:cNvPr id="11" name="Text 9"/>
          <p:cNvSpPr txBox="1"/>
          <p:nvPr/>
        </p:nvSpPr>
        <p:spPr>
          <a:xfrm>
            <a:off x="868680" y="4754880"/>
            <a:ext cx="3035808" cy="914400"/>
          </a:xfrm>
          <a:prstGeom prst="rect">
            <a:avLst/>
          </a:prstGeom>
          <a:noFill/>
          <a:ln/>
        </p:spPr>
        <p:txBody>
          <a:bodyPr wrap="square" lIns="0" tIns="0" rIns="0" bIns="0" rtlCol="0" anchor="t"/>
          <a:lstStyle/>
          <a:p>
            <a:pPr indent="0" marL="0">
              <a:lnSpc>
                <a:spcPct val="115000"/>
              </a:lnSpc>
              <a:buNone/>
            </a:pPr>
            <a:r>
              <a:rPr lang="en-US" sz="1150" dirty="0">
                <a:solidFill>
                  <a:srgbClr val="DCE4F0"/>
                </a:solidFill>
                <a:latin typeface="Calibri" pitchFamily="34" charset="0"/>
                <a:ea typeface="Calibri" pitchFamily="34" charset="-122"/>
                <a:cs typeface="Calibri" pitchFamily="34" charset="-120"/>
              </a:rPr>
              <a:t>MiFID II suitability and PRIIPs performance scenarios require assumptions that are documented, reproducible and auditable.</a:t>
            </a:r>
            <a:endParaRPr lang="en-US" sz="1150" dirty="0"/>
          </a:p>
        </p:txBody>
      </p:sp>
      <p:sp>
        <p:nvSpPr>
          <p:cNvPr id="12" name="Text 10"/>
          <p:cNvSpPr txBox="1"/>
          <p:nvPr/>
        </p:nvSpPr>
        <p:spPr>
          <a:xfrm>
            <a:off x="548640" y="6199632"/>
            <a:ext cx="3383280" cy="274320"/>
          </a:xfrm>
          <a:prstGeom prst="rect">
            <a:avLst/>
          </a:prstGeom>
          <a:noFill/>
          <a:ln/>
        </p:spPr>
        <p:txBody>
          <a:bodyPr wrap="square" lIns="0" tIns="0" rIns="0" bIns="0" rtlCol="0" anchor="ctr"/>
          <a:lstStyle/>
          <a:p>
            <a:pPr indent="0" marL="0">
              <a:buNone/>
            </a:pPr>
            <a:r>
              <a:rPr lang="en-US" sz="950" dirty="0">
                <a:solidFill>
                  <a:srgbClr val="7A8CAE"/>
                </a:solidFill>
                <a:latin typeface="Calibri" pitchFamily="34" charset="0"/>
                <a:ea typeface="Calibri" pitchFamily="34" charset="-122"/>
                <a:cs typeface="Calibri" pitchFamily="34" charset="-120"/>
              </a:rPr>
              <a:t>Steering Committee  ·  September 2026</a:t>
            </a:r>
            <a:endParaRPr lang="en-US" sz="950" dirty="0"/>
          </a:p>
        </p:txBody>
      </p:sp>
      <p:sp>
        <p:nvSpPr>
          <p:cNvPr id="13" name="Text 11"/>
          <p:cNvSpPr txBox="1"/>
          <p:nvPr/>
        </p:nvSpPr>
        <p:spPr>
          <a:xfrm>
            <a:off x="4709160" y="566928"/>
            <a:ext cx="7040880" cy="457200"/>
          </a:xfrm>
          <a:prstGeom prst="rect">
            <a:avLst/>
          </a:prstGeom>
          <a:noFill/>
          <a:ln/>
        </p:spPr>
        <p:txBody>
          <a:bodyPr wrap="square" lIns="0" tIns="0" rIns="0" bIns="0" rtlCol="0" anchor="ctr"/>
          <a:lstStyle/>
          <a:p>
            <a:pPr indent="0" marL="0">
              <a:buNone/>
            </a:pPr>
            <a:r>
              <a:rPr lang="en-US" sz="2500" b="1" dirty="0">
                <a:solidFill>
                  <a:srgbClr val="16264A"/>
                </a:solidFill>
                <a:latin typeface="Cambria" pitchFamily="34" charset="0"/>
                <a:ea typeface="Cambria" pitchFamily="34" charset="-122"/>
                <a:cs typeface="Cambria" pitchFamily="34" charset="-120"/>
              </a:rPr>
              <a:t>What the simulation must deliver</a:t>
            </a:r>
            <a:endParaRPr lang="en-US" sz="2500" dirty="0"/>
          </a:p>
        </p:txBody>
      </p:sp>
      <p:sp>
        <p:nvSpPr>
          <p:cNvPr id="14" name="Text 12"/>
          <p:cNvSpPr txBox="1"/>
          <p:nvPr/>
        </p:nvSpPr>
        <p:spPr>
          <a:xfrm>
            <a:off x="4709160" y="1024128"/>
            <a:ext cx="7040880" cy="274320"/>
          </a:xfrm>
          <a:prstGeom prst="rect">
            <a:avLst/>
          </a:prstGeom>
          <a:noFill/>
          <a:ln/>
        </p:spPr>
        <p:txBody>
          <a:bodyPr wrap="square" lIns="0" tIns="0" rIns="0" bIns="0" rtlCol="0" anchor="ctr"/>
          <a:lstStyle/>
          <a:p>
            <a:pPr indent="0" marL="0">
              <a:buNone/>
            </a:pPr>
            <a:r>
              <a:rPr lang="en-US" sz="1150" i="1" dirty="0">
                <a:solidFill>
                  <a:srgbClr val="6B7898"/>
                </a:solidFill>
                <a:latin typeface="Calibri" pitchFamily="34" charset="0"/>
                <a:ea typeface="Calibri" pitchFamily="34" charset="-122"/>
                <a:cs typeface="Calibri" pitchFamily="34" charset="-120"/>
              </a:rPr>
              <a:t>Agreed with Advisory, Risk and IT in the framing workshops of August 2026.</a:t>
            </a:r>
            <a:endParaRPr lang="en-US" sz="1150" dirty="0"/>
          </a:p>
        </p:txBody>
      </p:sp>
      <p:sp>
        <p:nvSpPr>
          <p:cNvPr id="15" name="Shape 13"/>
          <p:cNvSpPr/>
          <p:nvPr/>
        </p:nvSpPr>
        <p:spPr>
          <a:xfrm>
            <a:off x="4709160" y="1481328"/>
            <a:ext cx="3364992" cy="1847088"/>
          </a:xfrm>
          <a:prstGeom prst="roundRect">
            <a:avLst>
              <a:gd name="adj" fmla="val 3960"/>
            </a:avLst>
          </a:prstGeom>
          <a:solidFill>
            <a:srgbClr val="F2F5FA"/>
          </a:solidFill>
          <a:ln/>
        </p:spPr>
      </p:sp>
      <p:sp>
        <p:nvSpPr>
          <p:cNvPr id="16" name="Shape 14"/>
          <p:cNvSpPr/>
          <p:nvPr/>
        </p:nvSpPr>
        <p:spPr>
          <a:xfrm>
            <a:off x="4946904" y="1700784"/>
            <a:ext cx="310896" cy="310896"/>
          </a:xfrm>
          <a:prstGeom prst="ellipse">
            <a:avLst/>
          </a:prstGeom>
          <a:solidFill>
            <a:srgbClr val="E0A458"/>
          </a:solidFill>
          <a:ln/>
        </p:spPr>
      </p:sp>
      <p:sp>
        <p:nvSpPr>
          <p:cNvPr id="17" name="Text 15"/>
          <p:cNvSpPr txBox="1"/>
          <p:nvPr/>
        </p:nvSpPr>
        <p:spPr>
          <a:xfrm>
            <a:off x="4946904" y="1700784"/>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1</a:t>
            </a:r>
            <a:endParaRPr lang="en-US" sz="1300" dirty="0"/>
          </a:p>
        </p:txBody>
      </p:sp>
      <p:sp>
        <p:nvSpPr>
          <p:cNvPr id="18" name="Text 16"/>
          <p:cNvSpPr txBox="1"/>
          <p:nvPr/>
        </p:nvSpPr>
        <p:spPr>
          <a:xfrm>
            <a:off x="5367528" y="1719072"/>
            <a:ext cx="2468880" cy="292608"/>
          </a:xfrm>
          <a:prstGeom prst="rect">
            <a:avLst/>
          </a:prstGeom>
          <a:noFill/>
          <a:ln/>
        </p:spPr>
        <p:txBody>
          <a:bodyPr wrap="square" lIns="0" tIns="0" rIns="0" bIns="0" rtlCol="0" anchor="ctr"/>
          <a:lstStyle/>
          <a:p>
            <a:pPr indent="0" marL="0">
              <a:buNone/>
            </a:pPr>
            <a:r>
              <a:rPr lang="en-US" sz="1500" b="1" dirty="0">
                <a:solidFill>
                  <a:srgbClr val="16264A"/>
                </a:solidFill>
                <a:latin typeface="Cambria" pitchFamily="34" charset="0"/>
                <a:ea typeface="Cambria" pitchFamily="34" charset="-122"/>
                <a:cs typeface="Cambria" pitchFamily="34" charset="-120"/>
              </a:rPr>
              <a:t>Portfolio coverage</a:t>
            </a:r>
            <a:endParaRPr lang="en-US" sz="1500" dirty="0"/>
          </a:p>
        </p:txBody>
      </p:sp>
      <p:sp>
        <p:nvSpPr>
          <p:cNvPr id="19" name="Text 17"/>
          <p:cNvSpPr txBox="1"/>
          <p:nvPr/>
        </p:nvSpPr>
        <p:spPr>
          <a:xfrm>
            <a:off x="4983480" y="2139696"/>
            <a:ext cx="2816352" cy="10058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Any live client portfolio — multi-asset, multi-currency</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Horizons from 1 to 30 years, monthly granularity</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Held-away assets where aggregated</a:t>
            </a:r>
            <a:endParaRPr lang="en-US" sz="1150" dirty="0"/>
          </a:p>
        </p:txBody>
      </p:sp>
      <p:sp>
        <p:nvSpPr>
          <p:cNvPr id="20" name="Shape 18"/>
          <p:cNvSpPr/>
          <p:nvPr/>
        </p:nvSpPr>
        <p:spPr>
          <a:xfrm>
            <a:off x="8385048" y="1481328"/>
            <a:ext cx="3364992" cy="1847088"/>
          </a:xfrm>
          <a:prstGeom prst="roundRect">
            <a:avLst>
              <a:gd name="adj" fmla="val 3960"/>
            </a:avLst>
          </a:prstGeom>
          <a:solidFill>
            <a:srgbClr val="F2F5FA"/>
          </a:solidFill>
          <a:ln/>
        </p:spPr>
      </p:sp>
      <p:sp>
        <p:nvSpPr>
          <p:cNvPr id="21" name="Shape 19"/>
          <p:cNvSpPr/>
          <p:nvPr/>
        </p:nvSpPr>
        <p:spPr>
          <a:xfrm>
            <a:off x="8622792" y="1700784"/>
            <a:ext cx="310896" cy="310896"/>
          </a:xfrm>
          <a:prstGeom prst="ellipse">
            <a:avLst/>
          </a:prstGeom>
          <a:solidFill>
            <a:srgbClr val="E0A458"/>
          </a:solidFill>
          <a:ln/>
        </p:spPr>
      </p:sp>
      <p:sp>
        <p:nvSpPr>
          <p:cNvPr id="22" name="Text 20"/>
          <p:cNvSpPr txBox="1"/>
          <p:nvPr/>
        </p:nvSpPr>
        <p:spPr>
          <a:xfrm>
            <a:off x="8622792" y="1700784"/>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2</a:t>
            </a:r>
            <a:endParaRPr lang="en-US" sz="1300" dirty="0"/>
          </a:p>
        </p:txBody>
      </p:sp>
      <p:sp>
        <p:nvSpPr>
          <p:cNvPr id="23" name="Text 21"/>
          <p:cNvSpPr txBox="1"/>
          <p:nvPr/>
        </p:nvSpPr>
        <p:spPr>
          <a:xfrm>
            <a:off x="9043416" y="1719072"/>
            <a:ext cx="2468880" cy="292608"/>
          </a:xfrm>
          <a:prstGeom prst="rect">
            <a:avLst/>
          </a:prstGeom>
          <a:noFill/>
          <a:ln/>
        </p:spPr>
        <p:txBody>
          <a:bodyPr wrap="square" lIns="0" tIns="0" rIns="0" bIns="0" rtlCol="0" anchor="ctr"/>
          <a:lstStyle/>
          <a:p>
            <a:pPr indent="0" marL="0">
              <a:buNone/>
            </a:pPr>
            <a:r>
              <a:rPr lang="en-US" sz="1500" b="1" dirty="0">
                <a:solidFill>
                  <a:srgbClr val="16264A"/>
                </a:solidFill>
                <a:latin typeface="Cambria" pitchFamily="34" charset="0"/>
                <a:ea typeface="Cambria" pitchFamily="34" charset="-122"/>
                <a:cs typeface="Cambria" pitchFamily="34" charset="-120"/>
              </a:rPr>
              <a:t>Scenario engine</a:t>
            </a:r>
            <a:endParaRPr lang="en-US" sz="1500" dirty="0"/>
          </a:p>
        </p:txBody>
      </p:sp>
      <p:sp>
        <p:nvSpPr>
          <p:cNvPr id="24" name="Text 22"/>
          <p:cNvSpPr txBox="1"/>
          <p:nvPr/>
        </p:nvSpPr>
        <p:spPr>
          <a:xfrm>
            <a:off x="8659368" y="2139696"/>
            <a:ext cx="2816352" cy="10058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10,000-path Monte Carlo on the approved CMA set</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Deterministic stress cases: 2008, 2020, rate shock</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Risk-profile constraints enforced per client</a:t>
            </a:r>
            <a:endParaRPr lang="en-US" sz="1150" dirty="0"/>
          </a:p>
        </p:txBody>
      </p:sp>
      <p:sp>
        <p:nvSpPr>
          <p:cNvPr id="25" name="Shape 23"/>
          <p:cNvSpPr/>
          <p:nvPr/>
        </p:nvSpPr>
        <p:spPr>
          <a:xfrm>
            <a:off x="4709160" y="3602736"/>
            <a:ext cx="3364992" cy="1847088"/>
          </a:xfrm>
          <a:prstGeom prst="roundRect">
            <a:avLst>
              <a:gd name="adj" fmla="val 3960"/>
            </a:avLst>
          </a:prstGeom>
          <a:solidFill>
            <a:srgbClr val="F2F5FA"/>
          </a:solidFill>
          <a:ln/>
        </p:spPr>
      </p:sp>
      <p:sp>
        <p:nvSpPr>
          <p:cNvPr id="26" name="Shape 24"/>
          <p:cNvSpPr/>
          <p:nvPr/>
        </p:nvSpPr>
        <p:spPr>
          <a:xfrm>
            <a:off x="4946904" y="3822192"/>
            <a:ext cx="310896" cy="310896"/>
          </a:xfrm>
          <a:prstGeom prst="ellipse">
            <a:avLst/>
          </a:prstGeom>
          <a:solidFill>
            <a:srgbClr val="E0A458"/>
          </a:solidFill>
          <a:ln/>
        </p:spPr>
      </p:sp>
      <p:sp>
        <p:nvSpPr>
          <p:cNvPr id="27" name="Text 25"/>
          <p:cNvSpPr txBox="1"/>
          <p:nvPr/>
        </p:nvSpPr>
        <p:spPr>
          <a:xfrm>
            <a:off x="4946904" y="3822192"/>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3</a:t>
            </a:r>
            <a:endParaRPr lang="en-US" sz="1300" dirty="0"/>
          </a:p>
        </p:txBody>
      </p:sp>
      <p:sp>
        <p:nvSpPr>
          <p:cNvPr id="28" name="Text 26"/>
          <p:cNvSpPr txBox="1"/>
          <p:nvPr/>
        </p:nvSpPr>
        <p:spPr>
          <a:xfrm>
            <a:off x="5367528" y="3840480"/>
            <a:ext cx="2468880" cy="292608"/>
          </a:xfrm>
          <a:prstGeom prst="rect">
            <a:avLst/>
          </a:prstGeom>
          <a:noFill/>
          <a:ln/>
        </p:spPr>
        <p:txBody>
          <a:bodyPr wrap="square" lIns="0" tIns="0" rIns="0" bIns="0" rtlCol="0" anchor="ctr"/>
          <a:lstStyle/>
          <a:p>
            <a:pPr indent="0" marL="0">
              <a:buNone/>
            </a:pPr>
            <a:r>
              <a:rPr lang="en-US" sz="1500" b="1" dirty="0">
                <a:solidFill>
                  <a:srgbClr val="16264A"/>
                </a:solidFill>
                <a:latin typeface="Cambria" pitchFamily="34" charset="0"/>
                <a:ea typeface="Cambria" pitchFamily="34" charset="-122"/>
                <a:cs typeface="Cambria" pitchFamily="34" charset="-120"/>
              </a:rPr>
              <a:t>Cash-flow realism</a:t>
            </a:r>
            <a:endParaRPr lang="en-US" sz="1500" dirty="0"/>
          </a:p>
        </p:txBody>
      </p:sp>
      <p:sp>
        <p:nvSpPr>
          <p:cNvPr id="29" name="Text 27"/>
          <p:cNvSpPr txBox="1"/>
          <p:nvPr/>
        </p:nvSpPr>
        <p:spPr>
          <a:xfrm>
            <a:off x="4983480" y="4261104"/>
            <a:ext cx="2816352" cy="10058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Contributions, withdrawals, fees and tax drag modelled</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Goal view: probability of reaching the target amount</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Side-by-side comparison of two allocations</a:t>
            </a:r>
            <a:endParaRPr lang="en-US" sz="1150" dirty="0"/>
          </a:p>
        </p:txBody>
      </p:sp>
      <p:sp>
        <p:nvSpPr>
          <p:cNvPr id="30" name="Shape 28"/>
          <p:cNvSpPr/>
          <p:nvPr/>
        </p:nvSpPr>
        <p:spPr>
          <a:xfrm>
            <a:off x="8385048" y="3602736"/>
            <a:ext cx="3364992" cy="1847088"/>
          </a:xfrm>
          <a:prstGeom prst="roundRect">
            <a:avLst>
              <a:gd name="adj" fmla="val 3960"/>
            </a:avLst>
          </a:prstGeom>
          <a:solidFill>
            <a:srgbClr val="F2F5FA"/>
          </a:solidFill>
          <a:ln/>
        </p:spPr>
      </p:sp>
      <p:sp>
        <p:nvSpPr>
          <p:cNvPr id="31" name="Shape 29"/>
          <p:cNvSpPr/>
          <p:nvPr/>
        </p:nvSpPr>
        <p:spPr>
          <a:xfrm>
            <a:off x="8622792" y="3822192"/>
            <a:ext cx="310896" cy="310896"/>
          </a:xfrm>
          <a:prstGeom prst="ellipse">
            <a:avLst/>
          </a:prstGeom>
          <a:solidFill>
            <a:srgbClr val="E0A458"/>
          </a:solidFill>
          <a:ln/>
        </p:spPr>
      </p:sp>
      <p:sp>
        <p:nvSpPr>
          <p:cNvPr id="32" name="Text 30"/>
          <p:cNvSpPr txBox="1"/>
          <p:nvPr/>
        </p:nvSpPr>
        <p:spPr>
          <a:xfrm>
            <a:off x="8622792" y="3822192"/>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9043416" y="3840480"/>
            <a:ext cx="2468880" cy="292608"/>
          </a:xfrm>
          <a:prstGeom prst="rect">
            <a:avLst/>
          </a:prstGeom>
          <a:noFill/>
          <a:ln/>
        </p:spPr>
        <p:txBody>
          <a:bodyPr wrap="square" lIns="0" tIns="0" rIns="0" bIns="0" rtlCol="0" anchor="ctr"/>
          <a:lstStyle/>
          <a:p>
            <a:pPr indent="0" marL="0">
              <a:buNone/>
            </a:pPr>
            <a:r>
              <a:rPr lang="en-US" sz="1500" b="1" dirty="0">
                <a:solidFill>
                  <a:srgbClr val="16264A"/>
                </a:solidFill>
                <a:latin typeface="Cambria" pitchFamily="34" charset="0"/>
                <a:ea typeface="Cambria" pitchFamily="34" charset="-122"/>
                <a:cs typeface="Cambria" pitchFamily="34" charset="-120"/>
              </a:rPr>
              <a:t>Delivery &amp; controls</a:t>
            </a:r>
            <a:endParaRPr lang="en-US" sz="1500" dirty="0"/>
          </a:p>
        </p:txBody>
      </p:sp>
      <p:sp>
        <p:nvSpPr>
          <p:cNvPr id="34" name="Text 32"/>
          <p:cNvSpPr txBox="1"/>
          <p:nvPr/>
        </p:nvSpPr>
        <p:spPr>
          <a:xfrm>
            <a:off x="8659368" y="4261104"/>
            <a:ext cx="2816352" cy="10058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Under 3 seconds for an interactive re-run</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Every run reproducible with its stored assumptions</a:t>
            </a:r>
            <a:endParaRPr lang="en-US" sz="1150" dirty="0"/>
          </a:p>
          <a:p>
            <a:pPr marL="342900" indent="-342900">
              <a:lnSpc>
                <a:spcPct val="105000"/>
              </a:lnSpc>
              <a:spcAft>
                <a:spcPts val="400"/>
              </a:spcAft>
              <a:buSzPct val="100000"/>
              <a:buChar char="•"/>
            </a:pPr>
            <a:r>
              <a:rPr lang="en-US" sz="1150" dirty="0">
                <a:solidFill>
                  <a:srgbClr val="44506B"/>
                </a:solidFill>
                <a:latin typeface="Calibri" pitchFamily="34" charset="0"/>
                <a:ea typeface="Calibri" pitchFamily="34" charset="-122"/>
                <a:cs typeface="Calibri" pitchFamily="34" charset="-120"/>
              </a:rPr>
              <a:t>One API for adviser desktop and client app</a:t>
            </a:r>
            <a:endParaRPr lang="en-US" sz="1150" dirty="0"/>
          </a:p>
        </p:txBody>
      </p:sp>
      <p:sp>
        <p:nvSpPr>
          <p:cNvPr id="35" name="Shape 33"/>
          <p:cNvSpPr/>
          <p:nvPr/>
        </p:nvSpPr>
        <p:spPr>
          <a:xfrm>
            <a:off x="4709160" y="5833872"/>
            <a:ext cx="7040880" cy="713232"/>
          </a:xfrm>
          <a:prstGeom prst="roundRect">
            <a:avLst>
              <a:gd name="adj" fmla="val 10256"/>
            </a:avLst>
          </a:prstGeom>
          <a:solidFill>
            <a:srgbClr val="16264A"/>
          </a:solidFill>
          <a:ln/>
        </p:spPr>
      </p:sp>
      <p:sp>
        <p:nvSpPr>
          <p:cNvPr id="36" name="Text 34"/>
          <p:cNvSpPr txBox="1"/>
          <p:nvPr/>
        </p:nvSpPr>
        <p:spPr>
          <a:xfrm>
            <a:off x="5020056" y="5833872"/>
            <a:ext cx="6419088" cy="713232"/>
          </a:xfrm>
          <a:prstGeom prst="rect">
            <a:avLst/>
          </a:prstGeom>
          <a:noFill/>
          <a:ln/>
        </p:spPr>
        <p:txBody>
          <a:bodyPr wrap="square" lIns="0" tIns="0" rIns="0" bIns="0" rtlCol="0" anchor="ctr"/>
          <a:lstStyle/>
          <a:p>
            <a:pPr indent="0" marL="0">
              <a:buNone/>
            </a:pPr>
            <a:r>
              <a:rPr lang="en-US" sz="1250" b="1" dirty="0">
                <a:solidFill>
                  <a:srgbClr val="E0A458"/>
                </a:solidFill>
                <a:latin typeface="Calibri" pitchFamily="34" charset="0"/>
                <a:ea typeface="Calibri" pitchFamily="34" charset="-122"/>
                <a:cs typeface="Calibri" pitchFamily="34" charset="-120"/>
              </a:rPr>
              <a:t>Decision requested:  </a:t>
            </a:r>
            <a:pPr indent="0" marL="0">
              <a:buNone/>
            </a:pPr>
            <a:r>
              <a:rPr lang="en-US" sz="1250" dirty="0">
                <a:solidFill>
                  <a:srgbClr val="E8EDF6"/>
                </a:solidFill>
                <a:latin typeface="Calibri" pitchFamily="34" charset="0"/>
                <a:ea typeface="Calibri" pitchFamily="34" charset="-122"/>
                <a:cs typeface="Calibri" pitchFamily="34" charset="-120"/>
              </a:rPr>
              <a:t>approve the scope above as the baseline for a 10-week proof of concept.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438912"/>
            <a:ext cx="4297680" cy="274320"/>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USER PORTFOLIO SIMULATION STUDY</a:t>
            </a:r>
            <a:endParaRPr lang="en-US" sz="1000" dirty="0"/>
          </a:p>
        </p:txBody>
      </p:sp>
      <p:sp>
        <p:nvSpPr>
          <p:cNvPr id="3" name="Text 1"/>
          <p:cNvSpPr txBox="1"/>
          <p:nvPr/>
        </p:nvSpPr>
        <p:spPr>
          <a:xfrm>
            <a:off x="502920" y="749808"/>
            <a:ext cx="4297680" cy="1280160"/>
          </a:xfrm>
          <a:prstGeom prst="rect">
            <a:avLst/>
          </a:prstGeom>
          <a:noFill/>
          <a:ln/>
        </p:spPr>
        <p:txBody>
          <a:bodyPr wrap="square" lIns="0" tIns="0" rIns="0" bIns="0" rtlCol="0" anchor="ctr"/>
          <a:lstStyle/>
          <a:p>
            <a:pPr indent="0" marL="0">
              <a:lnSpc>
                <a:spcPct val="100000"/>
              </a:lnSpc>
              <a:buNone/>
            </a:pPr>
            <a:r>
              <a:rPr lang="en-US" sz="3400" b="1" dirty="0">
                <a:solidFill>
                  <a:srgbClr val="16264A"/>
                </a:solidFill>
                <a:latin typeface="Cambria" pitchFamily="34" charset="0"/>
                <a:ea typeface="Cambria" pitchFamily="34" charset="-122"/>
                <a:cs typeface="Cambria" pitchFamily="34" charset="-120"/>
              </a:rPr>
              <a:t>Context &amp;</a:t>
            </a:r>
            <a:endParaRPr lang="en-US" sz="3400" dirty="0"/>
          </a:p>
          <a:p>
            <a:pPr indent="0" marL="0">
              <a:lnSpc>
                <a:spcPct val="100000"/>
              </a:lnSpc>
              <a:buNone/>
            </a:pPr>
            <a:r>
              <a:rPr lang="en-US" sz="3400" b="1" dirty="0">
                <a:solidFill>
                  <a:srgbClr val="16264A"/>
                </a:solidFill>
                <a:latin typeface="Cambria" pitchFamily="34" charset="0"/>
                <a:ea typeface="Cambria" pitchFamily="34" charset="-122"/>
                <a:cs typeface="Cambria" pitchFamily="34" charset="-120"/>
              </a:rPr>
              <a:t>Requirements</a:t>
            </a:r>
            <a:endParaRPr lang="en-US" sz="3400" dirty="0"/>
          </a:p>
        </p:txBody>
      </p:sp>
      <p:sp>
        <p:nvSpPr>
          <p:cNvPr id="4" name="Text 2"/>
          <p:cNvSpPr txBox="1"/>
          <p:nvPr/>
        </p:nvSpPr>
        <p:spPr>
          <a:xfrm>
            <a:off x="502920" y="2084832"/>
            <a:ext cx="4297680" cy="274320"/>
          </a:xfrm>
          <a:prstGeom prst="rect">
            <a:avLst/>
          </a:prstGeom>
          <a:noFill/>
          <a:ln/>
        </p:spPr>
        <p:txBody>
          <a:bodyPr wrap="square" lIns="0" tIns="0" rIns="0" bIns="0" rtlCol="0" anchor="ctr"/>
          <a:lstStyle/>
          <a:p>
            <a:pPr indent="0" marL="0">
              <a:buNone/>
            </a:pPr>
            <a:r>
              <a:rPr lang="en-US" sz="1100" i="1" dirty="0">
                <a:solidFill>
                  <a:srgbClr val="6B7898"/>
                </a:solidFill>
                <a:latin typeface="Calibri" pitchFamily="34" charset="0"/>
                <a:ea typeface="Calibri" pitchFamily="34" charset="-122"/>
                <a:cs typeface="Calibri" pitchFamily="34" charset="-120"/>
              </a:rPr>
              <a:t>Feasibility study  ·  Steering Committee, September 2026</a:t>
            </a:r>
            <a:endParaRPr lang="en-US" sz="1100" dirty="0"/>
          </a:p>
        </p:txBody>
      </p:sp>
      <p:sp>
        <p:nvSpPr>
          <p:cNvPr id="5" name="Text 3"/>
          <p:cNvSpPr txBox="1"/>
          <p:nvPr/>
        </p:nvSpPr>
        <p:spPr>
          <a:xfrm>
            <a:off x="5257800" y="438912"/>
            <a:ext cx="6400800" cy="274320"/>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WHY NOW</a:t>
            </a:r>
            <a:endParaRPr lang="en-US" sz="1000" dirty="0"/>
          </a:p>
        </p:txBody>
      </p:sp>
      <p:sp>
        <p:nvSpPr>
          <p:cNvPr id="6" name="Shape 4"/>
          <p:cNvSpPr/>
          <p:nvPr/>
        </p:nvSpPr>
        <p:spPr>
          <a:xfrm>
            <a:off x="5285232" y="859536"/>
            <a:ext cx="118872" cy="118872"/>
          </a:xfrm>
          <a:prstGeom prst="ellipse">
            <a:avLst/>
          </a:prstGeom>
          <a:solidFill>
            <a:srgbClr val="E0A458"/>
          </a:solidFill>
          <a:ln/>
        </p:spPr>
      </p:sp>
      <p:sp>
        <p:nvSpPr>
          <p:cNvPr id="7" name="Text 5"/>
          <p:cNvSpPr txBox="1"/>
          <p:nvPr/>
        </p:nvSpPr>
        <p:spPr>
          <a:xfrm>
            <a:off x="5577840" y="758952"/>
            <a:ext cx="6108192" cy="566928"/>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Advice still runs on static, backward-looking statements. Clients cannot see how their own holdings behave under different market paths.</a:t>
            </a:r>
            <a:endParaRPr lang="en-US" sz="1150" dirty="0"/>
          </a:p>
        </p:txBody>
      </p:sp>
      <p:sp>
        <p:nvSpPr>
          <p:cNvPr id="8" name="Shape 6"/>
          <p:cNvSpPr/>
          <p:nvPr/>
        </p:nvSpPr>
        <p:spPr>
          <a:xfrm>
            <a:off x="5285232" y="1499616"/>
            <a:ext cx="118872" cy="118872"/>
          </a:xfrm>
          <a:prstGeom prst="ellipse">
            <a:avLst/>
          </a:prstGeom>
          <a:solidFill>
            <a:srgbClr val="E0A458"/>
          </a:solidFill>
          <a:ln/>
        </p:spPr>
      </p:sp>
      <p:sp>
        <p:nvSpPr>
          <p:cNvPr id="9" name="Text 7"/>
          <p:cNvSpPr txBox="1"/>
          <p:nvPr/>
        </p:nvSpPr>
        <p:spPr>
          <a:xfrm>
            <a:off x="5577840" y="1399032"/>
            <a:ext cx="6108192" cy="566928"/>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Peers already ship in-app “what-if” projections. Advisers are asking for parity ahead of the 2027 retention campaign.</a:t>
            </a:r>
            <a:endParaRPr lang="en-US" sz="1150" dirty="0"/>
          </a:p>
        </p:txBody>
      </p:sp>
      <p:sp>
        <p:nvSpPr>
          <p:cNvPr id="10" name="Shape 8"/>
          <p:cNvSpPr/>
          <p:nvPr/>
        </p:nvSpPr>
        <p:spPr>
          <a:xfrm>
            <a:off x="5285232" y="2139696"/>
            <a:ext cx="118872" cy="118872"/>
          </a:xfrm>
          <a:prstGeom prst="ellipse">
            <a:avLst/>
          </a:prstGeom>
          <a:solidFill>
            <a:srgbClr val="E0A458"/>
          </a:solidFill>
          <a:ln/>
        </p:spPr>
      </p:sp>
      <p:sp>
        <p:nvSpPr>
          <p:cNvPr id="11" name="Text 9"/>
          <p:cNvSpPr txBox="1"/>
          <p:nvPr/>
        </p:nvSpPr>
        <p:spPr>
          <a:xfrm>
            <a:off x="5577840" y="2039112"/>
            <a:ext cx="6108192" cy="566928"/>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MiFID II suitability and PRIIPs performance scenarios require assumptions that are documented, reproducible and auditable.</a:t>
            </a:r>
            <a:endParaRPr lang="en-US" sz="1150" dirty="0"/>
          </a:p>
        </p:txBody>
      </p:sp>
      <p:sp>
        <p:nvSpPr>
          <p:cNvPr id="12" name="Shape 10"/>
          <p:cNvSpPr/>
          <p:nvPr/>
        </p:nvSpPr>
        <p:spPr>
          <a:xfrm>
            <a:off x="502920" y="3017520"/>
            <a:ext cx="2615184" cy="2788920"/>
          </a:xfrm>
          <a:prstGeom prst="roundRect">
            <a:avLst>
              <a:gd name="adj" fmla="val 2098"/>
            </a:avLst>
          </a:prstGeom>
          <a:solidFill>
            <a:srgbClr val="16264A"/>
          </a:solidFill>
          <a:ln/>
        </p:spPr>
      </p:sp>
      <p:sp>
        <p:nvSpPr>
          <p:cNvPr id="13" name="Shape 11"/>
          <p:cNvSpPr/>
          <p:nvPr/>
        </p:nvSpPr>
        <p:spPr>
          <a:xfrm>
            <a:off x="777240" y="3310128"/>
            <a:ext cx="310896" cy="310896"/>
          </a:xfrm>
          <a:prstGeom prst="ellipse">
            <a:avLst/>
          </a:prstGeom>
          <a:solidFill>
            <a:srgbClr val="E0A458"/>
          </a:solidFill>
          <a:ln/>
        </p:spPr>
      </p:sp>
      <p:sp>
        <p:nvSpPr>
          <p:cNvPr id="14" name="Text 12"/>
          <p:cNvSpPr txBox="1"/>
          <p:nvPr/>
        </p:nvSpPr>
        <p:spPr>
          <a:xfrm>
            <a:off x="777240" y="3310128"/>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777240" y="3730752"/>
            <a:ext cx="2066544" cy="502920"/>
          </a:xfrm>
          <a:prstGeom prst="rect">
            <a:avLst/>
          </a:prstGeom>
          <a:noFill/>
          <a:ln/>
        </p:spPr>
        <p:txBody>
          <a:bodyPr wrap="square" lIns="0" tIns="0" rIns="0" bIns="0" rtlCol="0" anchor="t"/>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Portfolio coverage</a:t>
            </a:r>
            <a:endParaRPr lang="en-US" sz="1500" dirty="0"/>
          </a:p>
        </p:txBody>
      </p:sp>
      <p:sp>
        <p:nvSpPr>
          <p:cNvPr id="16" name="Text 14"/>
          <p:cNvSpPr txBox="1"/>
          <p:nvPr/>
        </p:nvSpPr>
        <p:spPr>
          <a:xfrm>
            <a:off x="795528" y="4242816"/>
            <a:ext cx="2029968" cy="1399032"/>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Any live client portfolio — multi-asset, multi-currency</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Horizons from 1 to 30 years, monthly granularity</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Held-away assets where aggregated</a:t>
            </a:r>
            <a:endParaRPr lang="en-US" sz="1050" dirty="0"/>
          </a:p>
        </p:txBody>
      </p:sp>
      <p:sp>
        <p:nvSpPr>
          <p:cNvPr id="17" name="Shape 15"/>
          <p:cNvSpPr/>
          <p:nvPr/>
        </p:nvSpPr>
        <p:spPr>
          <a:xfrm>
            <a:off x="3364992" y="3017520"/>
            <a:ext cx="2615184" cy="2788920"/>
          </a:xfrm>
          <a:prstGeom prst="roundRect">
            <a:avLst>
              <a:gd name="adj" fmla="val 2098"/>
            </a:avLst>
          </a:prstGeom>
          <a:solidFill>
            <a:srgbClr val="16264A"/>
          </a:solidFill>
          <a:ln/>
        </p:spPr>
      </p:sp>
      <p:sp>
        <p:nvSpPr>
          <p:cNvPr id="18" name="Shape 16"/>
          <p:cNvSpPr/>
          <p:nvPr/>
        </p:nvSpPr>
        <p:spPr>
          <a:xfrm>
            <a:off x="3639312" y="3310128"/>
            <a:ext cx="310896" cy="310896"/>
          </a:xfrm>
          <a:prstGeom prst="ellipse">
            <a:avLst/>
          </a:prstGeom>
          <a:solidFill>
            <a:srgbClr val="E0A458"/>
          </a:solidFill>
          <a:ln/>
        </p:spPr>
      </p:sp>
      <p:sp>
        <p:nvSpPr>
          <p:cNvPr id="19" name="Text 17"/>
          <p:cNvSpPr txBox="1"/>
          <p:nvPr/>
        </p:nvSpPr>
        <p:spPr>
          <a:xfrm>
            <a:off x="3639312" y="3310128"/>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3639312" y="3730752"/>
            <a:ext cx="2066544" cy="502920"/>
          </a:xfrm>
          <a:prstGeom prst="rect">
            <a:avLst/>
          </a:prstGeom>
          <a:noFill/>
          <a:ln/>
        </p:spPr>
        <p:txBody>
          <a:bodyPr wrap="square" lIns="0" tIns="0" rIns="0" bIns="0" rtlCol="0" anchor="t"/>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Scenario engine</a:t>
            </a:r>
            <a:endParaRPr lang="en-US" sz="1500" dirty="0"/>
          </a:p>
        </p:txBody>
      </p:sp>
      <p:sp>
        <p:nvSpPr>
          <p:cNvPr id="21" name="Text 19"/>
          <p:cNvSpPr txBox="1"/>
          <p:nvPr/>
        </p:nvSpPr>
        <p:spPr>
          <a:xfrm>
            <a:off x="3657600" y="4242816"/>
            <a:ext cx="2029968" cy="1399032"/>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10,000-path Monte Carlo on the approved CMA set</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Deterministic stress cases: 2008, 2020, rate shock</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Risk-profile constraints enforced per client</a:t>
            </a:r>
            <a:endParaRPr lang="en-US" sz="1050" dirty="0"/>
          </a:p>
        </p:txBody>
      </p:sp>
      <p:sp>
        <p:nvSpPr>
          <p:cNvPr id="22" name="Shape 20"/>
          <p:cNvSpPr/>
          <p:nvPr/>
        </p:nvSpPr>
        <p:spPr>
          <a:xfrm>
            <a:off x="6227064" y="3017520"/>
            <a:ext cx="2615184" cy="2788920"/>
          </a:xfrm>
          <a:prstGeom prst="roundRect">
            <a:avLst>
              <a:gd name="adj" fmla="val 2098"/>
            </a:avLst>
          </a:prstGeom>
          <a:solidFill>
            <a:srgbClr val="16264A"/>
          </a:solidFill>
          <a:ln/>
        </p:spPr>
      </p:sp>
      <p:sp>
        <p:nvSpPr>
          <p:cNvPr id="23" name="Shape 21"/>
          <p:cNvSpPr/>
          <p:nvPr/>
        </p:nvSpPr>
        <p:spPr>
          <a:xfrm>
            <a:off x="6501384" y="3310128"/>
            <a:ext cx="310896" cy="310896"/>
          </a:xfrm>
          <a:prstGeom prst="ellipse">
            <a:avLst/>
          </a:prstGeom>
          <a:solidFill>
            <a:srgbClr val="E0A458"/>
          </a:solidFill>
          <a:ln/>
        </p:spPr>
      </p:sp>
      <p:sp>
        <p:nvSpPr>
          <p:cNvPr id="24" name="Text 22"/>
          <p:cNvSpPr txBox="1"/>
          <p:nvPr/>
        </p:nvSpPr>
        <p:spPr>
          <a:xfrm>
            <a:off x="6501384" y="3310128"/>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3</a:t>
            </a:r>
            <a:endParaRPr lang="en-US" sz="1300" dirty="0"/>
          </a:p>
        </p:txBody>
      </p:sp>
      <p:sp>
        <p:nvSpPr>
          <p:cNvPr id="25" name="Text 23"/>
          <p:cNvSpPr txBox="1"/>
          <p:nvPr/>
        </p:nvSpPr>
        <p:spPr>
          <a:xfrm>
            <a:off x="6501384" y="3730752"/>
            <a:ext cx="2066544" cy="502920"/>
          </a:xfrm>
          <a:prstGeom prst="rect">
            <a:avLst/>
          </a:prstGeom>
          <a:noFill/>
          <a:ln/>
        </p:spPr>
        <p:txBody>
          <a:bodyPr wrap="square" lIns="0" tIns="0" rIns="0" bIns="0" rtlCol="0" anchor="t"/>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Cash-flow realism</a:t>
            </a:r>
            <a:endParaRPr lang="en-US" sz="1500" dirty="0"/>
          </a:p>
        </p:txBody>
      </p:sp>
      <p:sp>
        <p:nvSpPr>
          <p:cNvPr id="26" name="Text 24"/>
          <p:cNvSpPr txBox="1"/>
          <p:nvPr/>
        </p:nvSpPr>
        <p:spPr>
          <a:xfrm>
            <a:off x="6519672" y="4242816"/>
            <a:ext cx="2029968" cy="1399032"/>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Contributions, withdrawals, fees and tax drag modelled</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Goal view: probability of reaching the target amount</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Side-by-side comparison of two allocations</a:t>
            </a:r>
            <a:endParaRPr lang="en-US" sz="1050" dirty="0"/>
          </a:p>
        </p:txBody>
      </p:sp>
      <p:sp>
        <p:nvSpPr>
          <p:cNvPr id="27" name="Shape 25"/>
          <p:cNvSpPr/>
          <p:nvPr/>
        </p:nvSpPr>
        <p:spPr>
          <a:xfrm>
            <a:off x="9089136" y="3017520"/>
            <a:ext cx="2615184" cy="2788920"/>
          </a:xfrm>
          <a:prstGeom prst="roundRect">
            <a:avLst>
              <a:gd name="adj" fmla="val 2098"/>
            </a:avLst>
          </a:prstGeom>
          <a:solidFill>
            <a:srgbClr val="16264A"/>
          </a:solidFill>
          <a:ln/>
        </p:spPr>
      </p:sp>
      <p:sp>
        <p:nvSpPr>
          <p:cNvPr id="28" name="Shape 26"/>
          <p:cNvSpPr/>
          <p:nvPr/>
        </p:nvSpPr>
        <p:spPr>
          <a:xfrm>
            <a:off x="9363456" y="3310128"/>
            <a:ext cx="310896" cy="310896"/>
          </a:xfrm>
          <a:prstGeom prst="ellipse">
            <a:avLst/>
          </a:prstGeom>
          <a:solidFill>
            <a:srgbClr val="E0A458"/>
          </a:solidFill>
          <a:ln/>
        </p:spPr>
      </p:sp>
      <p:sp>
        <p:nvSpPr>
          <p:cNvPr id="29" name="Text 27"/>
          <p:cNvSpPr txBox="1"/>
          <p:nvPr/>
        </p:nvSpPr>
        <p:spPr>
          <a:xfrm>
            <a:off x="9363456" y="3310128"/>
            <a:ext cx="310896" cy="310896"/>
          </a:xfrm>
          <a:prstGeom prst="rect">
            <a:avLst/>
          </a:prstGeom>
          <a:noFill/>
          <a:ln/>
        </p:spPr>
        <p:txBody>
          <a:bodyPr wrap="square" lIns="0" tIns="0" rIns="0" bIns="0" rtlCol="0" anchor="ctr"/>
          <a:lstStyle/>
          <a:p>
            <a:pPr algn="ctr" indent="0" marL="0">
              <a:buNone/>
            </a:pPr>
            <a:r>
              <a:rPr lang="en-US" sz="1300" b="1" dirty="0">
                <a:solidFill>
                  <a:srgbClr val="16264A"/>
                </a:solidFill>
                <a:latin typeface="Calibri" pitchFamily="34" charset="0"/>
                <a:ea typeface="Calibri" pitchFamily="34" charset="-122"/>
                <a:cs typeface="Calibri" pitchFamily="34" charset="-120"/>
              </a:rPr>
              <a:t>4</a:t>
            </a:r>
            <a:endParaRPr lang="en-US" sz="1300" dirty="0"/>
          </a:p>
        </p:txBody>
      </p:sp>
      <p:sp>
        <p:nvSpPr>
          <p:cNvPr id="30" name="Text 28"/>
          <p:cNvSpPr txBox="1"/>
          <p:nvPr/>
        </p:nvSpPr>
        <p:spPr>
          <a:xfrm>
            <a:off x="9363456" y="3730752"/>
            <a:ext cx="2066544" cy="502920"/>
          </a:xfrm>
          <a:prstGeom prst="rect">
            <a:avLst/>
          </a:prstGeom>
          <a:noFill/>
          <a:ln/>
        </p:spPr>
        <p:txBody>
          <a:bodyPr wrap="square" lIns="0" tIns="0" rIns="0" bIns="0" rtlCol="0" anchor="t"/>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Delivery &amp; controls</a:t>
            </a:r>
            <a:endParaRPr lang="en-US" sz="1500" dirty="0"/>
          </a:p>
        </p:txBody>
      </p:sp>
      <p:sp>
        <p:nvSpPr>
          <p:cNvPr id="31" name="Text 29"/>
          <p:cNvSpPr txBox="1"/>
          <p:nvPr/>
        </p:nvSpPr>
        <p:spPr>
          <a:xfrm>
            <a:off x="9381744" y="4242816"/>
            <a:ext cx="2029968" cy="1399032"/>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Under 3 seconds for an interactive re-run</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Every run reproducible with its stored assumptions</a:t>
            </a:r>
            <a:endParaRPr lang="en-US" sz="1050" dirty="0"/>
          </a:p>
          <a:p>
            <a:pPr marL="342900" indent="-342900">
              <a:lnSpc>
                <a:spcPct val="105000"/>
              </a:lnSpc>
              <a:spcAft>
                <a:spcPts val="600"/>
              </a:spcAft>
              <a:buSzPct val="100000"/>
              <a:buChar char="•"/>
            </a:pPr>
            <a:r>
              <a:rPr lang="en-US" sz="1050" dirty="0">
                <a:solidFill>
                  <a:srgbClr val="C7D2E6"/>
                </a:solidFill>
                <a:latin typeface="Calibri" pitchFamily="34" charset="0"/>
                <a:ea typeface="Calibri" pitchFamily="34" charset="-122"/>
                <a:cs typeface="Calibri" pitchFamily="34" charset="-120"/>
              </a:rPr>
              <a:t>One API for adviser desktop and client app</a:t>
            </a:r>
            <a:endParaRPr lang="en-US" sz="1050" dirty="0"/>
          </a:p>
        </p:txBody>
      </p:sp>
      <p:sp>
        <p:nvSpPr>
          <p:cNvPr id="32" name="Text 30"/>
          <p:cNvSpPr txBox="1"/>
          <p:nvPr/>
        </p:nvSpPr>
        <p:spPr>
          <a:xfrm>
            <a:off x="502920" y="6007608"/>
            <a:ext cx="11155680" cy="365760"/>
          </a:xfrm>
          <a:prstGeom prst="rect">
            <a:avLst/>
          </a:prstGeom>
          <a:noFill/>
          <a:ln/>
        </p:spPr>
        <p:txBody>
          <a:bodyPr wrap="square" lIns="0" tIns="0" rIns="0" bIns="0" rtlCol="0" anchor="ctr"/>
          <a:lstStyle/>
          <a:p>
            <a:pPr indent="0" marL="0">
              <a:buNone/>
            </a:pPr>
            <a:r>
              <a:rPr lang="en-US" sz="1250" b="1" dirty="0">
                <a:solidFill>
                  <a:srgbClr val="E0A458"/>
                </a:solidFill>
                <a:latin typeface="Calibri" pitchFamily="34" charset="0"/>
                <a:ea typeface="Calibri" pitchFamily="34" charset="-122"/>
                <a:cs typeface="Calibri" pitchFamily="34" charset="-120"/>
              </a:rPr>
              <a:t>Decision requested:  </a:t>
            </a:r>
            <a:pPr indent="0" marL="0">
              <a:buNone/>
            </a:pPr>
            <a:r>
              <a:rPr lang="en-US" sz="1250" dirty="0">
                <a:solidFill>
                  <a:srgbClr val="44506B"/>
                </a:solidFill>
                <a:latin typeface="Calibri" pitchFamily="34" charset="0"/>
                <a:ea typeface="Calibri" pitchFamily="34" charset="-122"/>
                <a:cs typeface="Calibri" pitchFamily="34" charset="-120"/>
              </a:rPr>
              <a:t>approve the scope above as the baseline for a 10-week proof of concept.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64A"/>
        </a:solidFill>
      </p:bgPr>
    </p:bg>
    <p:spTree>
      <p:nvGrpSpPr>
        <p:cNvPr id="1" name=""/>
        <p:cNvGrpSpPr/>
        <p:nvPr/>
      </p:nvGrpSpPr>
      <p:grpSpPr>
        <a:xfrm>
          <a:off x="0" y="0"/>
          <a:ext cx="0" cy="0"/>
          <a:chOff x="0" y="0"/>
          <a:chExt cx="0" cy="0"/>
        </a:xfrm>
      </p:grpSpPr>
      <p:sp>
        <p:nvSpPr>
          <p:cNvPr id="2" name="Text 0"/>
          <p:cNvSpPr txBox="1"/>
          <p:nvPr/>
        </p:nvSpPr>
        <p:spPr>
          <a:xfrm>
            <a:off x="502920" y="411480"/>
            <a:ext cx="4023360" cy="274320"/>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USER PORTFOLIO SIMULATION STUDY</a:t>
            </a:r>
            <a:endParaRPr lang="en-US" sz="1000" dirty="0"/>
          </a:p>
        </p:txBody>
      </p:sp>
      <p:sp>
        <p:nvSpPr>
          <p:cNvPr id="3" name="Text 1"/>
          <p:cNvSpPr txBox="1"/>
          <p:nvPr/>
        </p:nvSpPr>
        <p:spPr>
          <a:xfrm>
            <a:off x="502920" y="713232"/>
            <a:ext cx="4023360" cy="1188720"/>
          </a:xfrm>
          <a:prstGeom prst="rect">
            <a:avLst/>
          </a:prstGeom>
          <a:noFill/>
          <a:ln/>
        </p:spPr>
        <p:txBody>
          <a:bodyPr wrap="square" lIns="0" tIns="0" rIns="0" bIns="0" rtlCol="0" anchor="ctr"/>
          <a:lstStyle/>
          <a:p>
            <a:pPr indent="0" marL="0">
              <a:lnSpc>
                <a:spcPct val="100000"/>
              </a:lnSpc>
              <a:buNone/>
            </a:pPr>
            <a:r>
              <a:rPr lang="en-US" sz="3000" b="1" dirty="0">
                <a:solidFill>
                  <a:srgbClr val="FFFFFF"/>
                </a:solidFill>
                <a:latin typeface="Cambria" pitchFamily="34" charset="0"/>
                <a:ea typeface="Cambria" pitchFamily="34" charset="-122"/>
                <a:cs typeface="Cambria" pitchFamily="34" charset="-120"/>
              </a:rPr>
              <a:t>Context &amp;</a:t>
            </a:r>
            <a:endParaRPr lang="en-US" sz="3000" dirty="0"/>
          </a:p>
          <a:p>
            <a:pPr indent="0" marL="0">
              <a:lnSpc>
                <a:spcPct val="100000"/>
              </a:lnSpc>
              <a:buNone/>
            </a:pPr>
            <a:r>
              <a:rPr lang="en-US" sz="3000" b="1" dirty="0">
                <a:solidFill>
                  <a:srgbClr val="FFFFFF"/>
                </a:solidFill>
                <a:latin typeface="Cambria" pitchFamily="34" charset="0"/>
                <a:ea typeface="Cambria" pitchFamily="34" charset="-122"/>
                <a:cs typeface="Cambria" pitchFamily="34" charset="-120"/>
              </a:rPr>
              <a:t>Requirements</a:t>
            </a:r>
            <a:endParaRPr lang="en-US" sz="3000" dirty="0"/>
          </a:p>
        </p:txBody>
      </p:sp>
      <p:sp>
        <p:nvSpPr>
          <p:cNvPr id="4" name="Text 2"/>
          <p:cNvSpPr txBox="1"/>
          <p:nvPr/>
        </p:nvSpPr>
        <p:spPr>
          <a:xfrm>
            <a:off x="502920" y="1847088"/>
            <a:ext cx="4023360" cy="548640"/>
          </a:xfrm>
          <a:prstGeom prst="rect">
            <a:avLst/>
          </a:prstGeom>
          <a:noFill/>
          <a:ln/>
        </p:spPr>
        <p:txBody>
          <a:bodyPr wrap="square" lIns="0" tIns="0" rIns="0" bIns="0" rtlCol="0" anchor="ctr"/>
          <a:lstStyle/>
          <a:p>
            <a:pPr indent="0" marL="0">
              <a:lnSpc>
                <a:spcPct val="115000"/>
              </a:lnSpc>
              <a:buNone/>
            </a:pPr>
            <a:r>
              <a:rPr lang="en-US" sz="1050" i="1" dirty="0">
                <a:solidFill>
                  <a:srgbClr val="9FB3D4"/>
                </a:solidFill>
                <a:latin typeface="Calibri" pitchFamily="34" charset="0"/>
                <a:ea typeface="Calibri" pitchFamily="34" charset="-122"/>
                <a:cs typeface="Calibri" pitchFamily="34" charset="-120"/>
              </a:rPr>
              <a:t>Feasibility study</a:t>
            </a:r>
            <a:endParaRPr lang="en-US" sz="1050" dirty="0"/>
          </a:p>
          <a:p>
            <a:pPr indent="0" marL="0">
              <a:lnSpc>
                <a:spcPct val="115000"/>
              </a:lnSpc>
              <a:buNone/>
            </a:pPr>
            <a:r>
              <a:rPr lang="en-US" sz="1050" i="1" dirty="0">
                <a:solidFill>
                  <a:srgbClr val="9FB3D4"/>
                </a:solidFill>
                <a:latin typeface="Calibri" pitchFamily="34" charset="0"/>
                <a:ea typeface="Calibri" pitchFamily="34" charset="-122"/>
                <a:cs typeface="Calibri" pitchFamily="34" charset="-120"/>
              </a:rPr>
              <a:t>Steering Committee, September 2026</a:t>
            </a:r>
            <a:endParaRPr lang="en-US" sz="1050" dirty="0"/>
          </a:p>
        </p:txBody>
      </p:sp>
      <p:sp>
        <p:nvSpPr>
          <p:cNvPr id="5" name="Text 3"/>
          <p:cNvSpPr txBox="1"/>
          <p:nvPr/>
        </p:nvSpPr>
        <p:spPr>
          <a:xfrm>
            <a:off x="4846320" y="411480"/>
            <a:ext cx="6858000" cy="274320"/>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WHY NOW</a:t>
            </a:r>
            <a:endParaRPr lang="en-US" sz="1000" dirty="0"/>
          </a:p>
        </p:txBody>
      </p:sp>
      <p:sp>
        <p:nvSpPr>
          <p:cNvPr id="6" name="Shape 4"/>
          <p:cNvSpPr/>
          <p:nvPr/>
        </p:nvSpPr>
        <p:spPr>
          <a:xfrm>
            <a:off x="4846320" y="804672"/>
            <a:ext cx="118872" cy="118872"/>
          </a:xfrm>
          <a:prstGeom prst="ellipse">
            <a:avLst/>
          </a:prstGeom>
          <a:solidFill>
            <a:srgbClr val="E0A458"/>
          </a:solidFill>
          <a:ln/>
        </p:spPr>
      </p:sp>
      <p:sp>
        <p:nvSpPr>
          <p:cNvPr id="7" name="Text 5"/>
          <p:cNvSpPr txBox="1"/>
          <p:nvPr/>
        </p:nvSpPr>
        <p:spPr>
          <a:xfrm>
            <a:off x="4846320" y="1024128"/>
            <a:ext cx="2121408" cy="1005840"/>
          </a:xfrm>
          <a:prstGeom prst="rect">
            <a:avLst/>
          </a:prstGeom>
          <a:noFill/>
          <a:ln/>
        </p:spPr>
        <p:txBody>
          <a:bodyPr wrap="square" lIns="0" tIns="0" rIns="0" bIns="0" rtlCol="0" anchor="t"/>
          <a:lstStyle/>
          <a:p>
            <a:pPr indent="0" marL="0">
              <a:lnSpc>
                <a:spcPct val="115000"/>
              </a:lnSpc>
              <a:buNone/>
            </a:pPr>
            <a:r>
              <a:rPr lang="en-US" sz="1050" dirty="0">
                <a:solidFill>
                  <a:srgbClr val="D2DBEB"/>
                </a:solidFill>
                <a:latin typeface="Calibri" pitchFamily="34" charset="0"/>
                <a:ea typeface="Calibri" pitchFamily="34" charset="-122"/>
                <a:cs typeface="Calibri" pitchFamily="34" charset="-120"/>
              </a:rPr>
              <a:t>Advice still runs on static, backward-looking statements. Clients cannot see how their own holdings behave under different market paths.</a:t>
            </a:r>
            <a:endParaRPr lang="en-US" sz="1050" dirty="0"/>
          </a:p>
        </p:txBody>
      </p:sp>
      <p:sp>
        <p:nvSpPr>
          <p:cNvPr id="8" name="Shape 6"/>
          <p:cNvSpPr/>
          <p:nvPr/>
        </p:nvSpPr>
        <p:spPr>
          <a:xfrm>
            <a:off x="7205472" y="804672"/>
            <a:ext cx="118872" cy="118872"/>
          </a:xfrm>
          <a:prstGeom prst="ellipse">
            <a:avLst/>
          </a:prstGeom>
          <a:solidFill>
            <a:srgbClr val="E0A458"/>
          </a:solidFill>
          <a:ln/>
        </p:spPr>
      </p:sp>
      <p:sp>
        <p:nvSpPr>
          <p:cNvPr id="9" name="Text 7"/>
          <p:cNvSpPr txBox="1"/>
          <p:nvPr/>
        </p:nvSpPr>
        <p:spPr>
          <a:xfrm>
            <a:off x="7205472" y="1024128"/>
            <a:ext cx="2121408" cy="1005840"/>
          </a:xfrm>
          <a:prstGeom prst="rect">
            <a:avLst/>
          </a:prstGeom>
          <a:noFill/>
          <a:ln/>
        </p:spPr>
        <p:txBody>
          <a:bodyPr wrap="square" lIns="0" tIns="0" rIns="0" bIns="0" rtlCol="0" anchor="t"/>
          <a:lstStyle/>
          <a:p>
            <a:pPr indent="0" marL="0">
              <a:lnSpc>
                <a:spcPct val="115000"/>
              </a:lnSpc>
              <a:buNone/>
            </a:pPr>
            <a:r>
              <a:rPr lang="en-US" sz="1050" dirty="0">
                <a:solidFill>
                  <a:srgbClr val="D2DBEB"/>
                </a:solidFill>
                <a:latin typeface="Calibri" pitchFamily="34" charset="0"/>
                <a:ea typeface="Calibri" pitchFamily="34" charset="-122"/>
                <a:cs typeface="Calibri" pitchFamily="34" charset="-120"/>
              </a:rPr>
              <a:t>Peers already ship in-app “what-if” projections. Advisers are asking for parity ahead of the 2027 retention campaign.</a:t>
            </a:r>
            <a:endParaRPr lang="en-US" sz="1050" dirty="0"/>
          </a:p>
        </p:txBody>
      </p:sp>
      <p:sp>
        <p:nvSpPr>
          <p:cNvPr id="10" name="Shape 8"/>
          <p:cNvSpPr/>
          <p:nvPr/>
        </p:nvSpPr>
        <p:spPr>
          <a:xfrm>
            <a:off x="9564624" y="804672"/>
            <a:ext cx="118872" cy="118872"/>
          </a:xfrm>
          <a:prstGeom prst="ellipse">
            <a:avLst/>
          </a:prstGeom>
          <a:solidFill>
            <a:srgbClr val="E0A458"/>
          </a:solidFill>
          <a:ln/>
        </p:spPr>
      </p:sp>
      <p:sp>
        <p:nvSpPr>
          <p:cNvPr id="11" name="Text 9"/>
          <p:cNvSpPr txBox="1"/>
          <p:nvPr/>
        </p:nvSpPr>
        <p:spPr>
          <a:xfrm>
            <a:off x="9564624" y="1024128"/>
            <a:ext cx="2121408" cy="1005840"/>
          </a:xfrm>
          <a:prstGeom prst="rect">
            <a:avLst/>
          </a:prstGeom>
          <a:noFill/>
          <a:ln/>
        </p:spPr>
        <p:txBody>
          <a:bodyPr wrap="square" lIns="0" tIns="0" rIns="0" bIns="0" rtlCol="0" anchor="t"/>
          <a:lstStyle/>
          <a:p>
            <a:pPr indent="0" marL="0">
              <a:lnSpc>
                <a:spcPct val="115000"/>
              </a:lnSpc>
              <a:buNone/>
            </a:pPr>
            <a:r>
              <a:rPr lang="en-US" sz="1050" dirty="0">
                <a:solidFill>
                  <a:srgbClr val="D2DBEB"/>
                </a:solidFill>
                <a:latin typeface="Calibri" pitchFamily="34" charset="0"/>
                <a:ea typeface="Calibri" pitchFamily="34" charset="-122"/>
                <a:cs typeface="Calibri" pitchFamily="34" charset="-120"/>
              </a:rPr>
              <a:t>MiFID II suitability and PRIIPs performance scenarios require assumptions that are documented, reproducible and auditable.</a:t>
            </a:r>
            <a:endParaRPr lang="en-US" sz="1050" dirty="0"/>
          </a:p>
        </p:txBody>
      </p:sp>
      <p:sp>
        <p:nvSpPr>
          <p:cNvPr id="12" name="Shape 10"/>
          <p:cNvSpPr/>
          <p:nvPr/>
        </p:nvSpPr>
        <p:spPr>
          <a:xfrm>
            <a:off x="502920" y="2514600"/>
            <a:ext cx="11183112" cy="804672"/>
          </a:xfrm>
          <a:prstGeom prst="roundRect">
            <a:avLst>
              <a:gd name="adj" fmla="val 6818"/>
            </a:avLst>
          </a:prstGeom>
          <a:solidFill>
            <a:srgbClr val="1F3160"/>
          </a:solidFill>
          <a:ln/>
        </p:spPr>
      </p:sp>
      <p:sp>
        <p:nvSpPr>
          <p:cNvPr id="13" name="Shape 11"/>
          <p:cNvSpPr/>
          <p:nvPr/>
        </p:nvSpPr>
        <p:spPr>
          <a:xfrm>
            <a:off x="777240" y="2770632"/>
            <a:ext cx="292608" cy="292608"/>
          </a:xfrm>
          <a:prstGeom prst="ellipse">
            <a:avLst/>
          </a:prstGeom>
          <a:solidFill>
            <a:srgbClr val="E0A458"/>
          </a:solidFill>
          <a:ln/>
        </p:spPr>
      </p:sp>
      <p:sp>
        <p:nvSpPr>
          <p:cNvPr id="14" name="Text 12"/>
          <p:cNvSpPr txBox="1"/>
          <p:nvPr/>
        </p:nvSpPr>
        <p:spPr>
          <a:xfrm>
            <a:off x="777240" y="2770632"/>
            <a:ext cx="292608" cy="292608"/>
          </a:xfrm>
          <a:prstGeom prst="rect">
            <a:avLst/>
          </a:prstGeom>
          <a:noFill/>
          <a:ln/>
        </p:spPr>
        <p:txBody>
          <a:bodyPr wrap="square" lIns="0" tIns="0" rIns="0" bIns="0" rtlCol="0" anchor="ctr"/>
          <a:lstStyle/>
          <a:p>
            <a:pPr algn="ctr" indent="0" marL="0">
              <a:buNone/>
            </a:pPr>
            <a:r>
              <a:rPr lang="en-US" sz="1250" b="1" dirty="0">
                <a:solidFill>
                  <a:srgbClr val="16264A"/>
                </a:solidFill>
                <a:latin typeface="Calibri" pitchFamily="34" charset="0"/>
                <a:ea typeface="Calibri" pitchFamily="34" charset="-122"/>
                <a:cs typeface="Calibri" pitchFamily="34" charset="-120"/>
              </a:rPr>
              <a:t>1</a:t>
            </a:r>
            <a:endParaRPr lang="en-US" sz="1250" dirty="0"/>
          </a:p>
        </p:txBody>
      </p:sp>
      <p:sp>
        <p:nvSpPr>
          <p:cNvPr id="15" name="Text 13"/>
          <p:cNvSpPr txBox="1"/>
          <p:nvPr/>
        </p:nvSpPr>
        <p:spPr>
          <a:xfrm>
            <a:off x="1216152" y="2514600"/>
            <a:ext cx="2194560" cy="804672"/>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Portfolio coverage</a:t>
            </a:r>
            <a:endParaRPr lang="en-US" sz="1450" dirty="0"/>
          </a:p>
        </p:txBody>
      </p:sp>
      <p:sp>
        <p:nvSpPr>
          <p:cNvPr id="16" name="Text 14"/>
          <p:cNvSpPr txBox="1"/>
          <p:nvPr/>
        </p:nvSpPr>
        <p:spPr>
          <a:xfrm>
            <a:off x="3566160" y="2514600"/>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Any live client portfolio — multi-asset, multi-currency</a:t>
            </a:r>
            <a:endParaRPr lang="en-US" sz="1050" dirty="0"/>
          </a:p>
        </p:txBody>
      </p:sp>
      <p:sp>
        <p:nvSpPr>
          <p:cNvPr id="17" name="Text 15"/>
          <p:cNvSpPr txBox="1"/>
          <p:nvPr/>
        </p:nvSpPr>
        <p:spPr>
          <a:xfrm>
            <a:off x="6217920" y="2514600"/>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Horizons from 1 to 30 years, monthly granularity</a:t>
            </a:r>
            <a:endParaRPr lang="en-US" sz="1050" dirty="0"/>
          </a:p>
        </p:txBody>
      </p:sp>
      <p:sp>
        <p:nvSpPr>
          <p:cNvPr id="18" name="Text 16"/>
          <p:cNvSpPr txBox="1"/>
          <p:nvPr/>
        </p:nvSpPr>
        <p:spPr>
          <a:xfrm>
            <a:off x="8869680" y="2514600"/>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Held-away assets where aggregated</a:t>
            </a:r>
            <a:endParaRPr lang="en-US" sz="1050" dirty="0"/>
          </a:p>
        </p:txBody>
      </p:sp>
      <p:sp>
        <p:nvSpPr>
          <p:cNvPr id="19" name="Shape 17"/>
          <p:cNvSpPr/>
          <p:nvPr/>
        </p:nvSpPr>
        <p:spPr>
          <a:xfrm>
            <a:off x="502920" y="3410712"/>
            <a:ext cx="11183112" cy="804672"/>
          </a:xfrm>
          <a:prstGeom prst="roundRect">
            <a:avLst>
              <a:gd name="adj" fmla="val 6818"/>
            </a:avLst>
          </a:prstGeom>
          <a:solidFill>
            <a:srgbClr val="1F3160"/>
          </a:solidFill>
          <a:ln/>
        </p:spPr>
      </p:sp>
      <p:sp>
        <p:nvSpPr>
          <p:cNvPr id="20" name="Shape 18"/>
          <p:cNvSpPr/>
          <p:nvPr/>
        </p:nvSpPr>
        <p:spPr>
          <a:xfrm>
            <a:off x="777240" y="3666744"/>
            <a:ext cx="292608" cy="292608"/>
          </a:xfrm>
          <a:prstGeom prst="ellipse">
            <a:avLst/>
          </a:prstGeom>
          <a:solidFill>
            <a:srgbClr val="E0A458"/>
          </a:solidFill>
          <a:ln/>
        </p:spPr>
      </p:sp>
      <p:sp>
        <p:nvSpPr>
          <p:cNvPr id="21" name="Text 19"/>
          <p:cNvSpPr txBox="1"/>
          <p:nvPr/>
        </p:nvSpPr>
        <p:spPr>
          <a:xfrm>
            <a:off x="777240" y="3666744"/>
            <a:ext cx="292608" cy="292608"/>
          </a:xfrm>
          <a:prstGeom prst="rect">
            <a:avLst/>
          </a:prstGeom>
          <a:noFill/>
          <a:ln/>
        </p:spPr>
        <p:txBody>
          <a:bodyPr wrap="square" lIns="0" tIns="0" rIns="0" bIns="0" rtlCol="0" anchor="ctr"/>
          <a:lstStyle/>
          <a:p>
            <a:pPr algn="ctr" indent="0" marL="0">
              <a:buNone/>
            </a:pPr>
            <a:r>
              <a:rPr lang="en-US" sz="1250" b="1" dirty="0">
                <a:solidFill>
                  <a:srgbClr val="16264A"/>
                </a:solidFill>
                <a:latin typeface="Calibri" pitchFamily="34" charset="0"/>
                <a:ea typeface="Calibri" pitchFamily="34" charset="-122"/>
                <a:cs typeface="Calibri" pitchFamily="34" charset="-120"/>
              </a:rPr>
              <a:t>2</a:t>
            </a:r>
            <a:endParaRPr lang="en-US" sz="1250" dirty="0"/>
          </a:p>
        </p:txBody>
      </p:sp>
      <p:sp>
        <p:nvSpPr>
          <p:cNvPr id="22" name="Text 20"/>
          <p:cNvSpPr txBox="1"/>
          <p:nvPr/>
        </p:nvSpPr>
        <p:spPr>
          <a:xfrm>
            <a:off x="1216152" y="3410712"/>
            <a:ext cx="2194560" cy="804672"/>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Scenario engine</a:t>
            </a:r>
            <a:endParaRPr lang="en-US" sz="1450" dirty="0"/>
          </a:p>
        </p:txBody>
      </p:sp>
      <p:sp>
        <p:nvSpPr>
          <p:cNvPr id="23" name="Text 21"/>
          <p:cNvSpPr txBox="1"/>
          <p:nvPr/>
        </p:nvSpPr>
        <p:spPr>
          <a:xfrm>
            <a:off x="3566160" y="3410712"/>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10,000-path Monte Carlo on the approved CMA set</a:t>
            </a:r>
            <a:endParaRPr lang="en-US" sz="1050" dirty="0"/>
          </a:p>
        </p:txBody>
      </p:sp>
      <p:sp>
        <p:nvSpPr>
          <p:cNvPr id="24" name="Text 22"/>
          <p:cNvSpPr txBox="1"/>
          <p:nvPr/>
        </p:nvSpPr>
        <p:spPr>
          <a:xfrm>
            <a:off x="6217920" y="3410712"/>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Deterministic stress cases: 2008, 2020, rate shock</a:t>
            </a:r>
            <a:endParaRPr lang="en-US" sz="1050" dirty="0"/>
          </a:p>
        </p:txBody>
      </p:sp>
      <p:sp>
        <p:nvSpPr>
          <p:cNvPr id="25" name="Text 23"/>
          <p:cNvSpPr txBox="1"/>
          <p:nvPr/>
        </p:nvSpPr>
        <p:spPr>
          <a:xfrm>
            <a:off x="8869680" y="3410712"/>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Risk-profile constraints enforced per client</a:t>
            </a:r>
            <a:endParaRPr lang="en-US" sz="1050" dirty="0"/>
          </a:p>
        </p:txBody>
      </p:sp>
      <p:sp>
        <p:nvSpPr>
          <p:cNvPr id="26" name="Shape 24"/>
          <p:cNvSpPr/>
          <p:nvPr/>
        </p:nvSpPr>
        <p:spPr>
          <a:xfrm>
            <a:off x="502920" y="4306824"/>
            <a:ext cx="11183112" cy="804672"/>
          </a:xfrm>
          <a:prstGeom prst="roundRect">
            <a:avLst>
              <a:gd name="adj" fmla="val 6818"/>
            </a:avLst>
          </a:prstGeom>
          <a:solidFill>
            <a:srgbClr val="1F3160"/>
          </a:solidFill>
          <a:ln/>
        </p:spPr>
      </p:sp>
      <p:sp>
        <p:nvSpPr>
          <p:cNvPr id="27" name="Shape 25"/>
          <p:cNvSpPr/>
          <p:nvPr/>
        </p:nvSpPr>
        <p:spPr>
          <a:xfrm>
            <a:off x="777240" y="4562856"/>
            <a:ext cx="292608" cy="292608"/>
          </a:xfrm>
          <a:prstGeom prst="ellipse">
            <a:avLst/>
          </a:prstGeom>
          <a:solidFill>
            <a:srgbClr val="E0A458"/>
          </a:solidFill>
          <a:ln/>
        </p:spPr>
      </p:sp>
      <p:sp>
        <p:nvSpPr>
          <p:cNvPr id="28" name="Text 26"/>
          <p:cNvSpPr txBox="1"/>
          <p:nvPr/>
        </p:nvSpPr>
        <p:spPr>
          <a:xfrm>
            <a:off x="777240" y="4562856"/>
            <a:ext cx="292608" cy="292608"/>
          </a:xfrm>
          <a:prstGeom prst="rect">
            <a:avLst/>
          </a:prstGeom>
          <a:noFill/>
          <a:ln/>
        </p:spPr>
        <p:txBody>
          <a:bodyPr wrap="square" lIns="0" tIns="0" rIns="0" bIns="0" rtlCol="0" anchor="ctr"/>
          <a:lstStyle/>
          <a:p>
            <a:pPr algn="ctr" indent="0" marL="0">
              <a:buNone/>
            </a:pPr>
            <a:r>
              <a:rPr lang="en-US" sz="1250" b="1" dirty="0">
                <a:solidFill>
                  <a:srgbClr val="16264A"/>
                </a:solidFill>
                <a:latin typeface="Calibri" pitchFamily="34" charset="0"/>
                <a:ea typeface="Calibri" pitchFamily="34" charset="-122"/>
                <a:cs typeface="Calibri" pitchFamily="34" charset="-120"/>
              </a:rPr>
              <a:t>3</a:t>
            </a:r>
            <a:endParaRPr lang="en-US" sz="1250" dirty="0"/>
          </a:p>
        </p:txBody>
      </p:sp>
      <p:sp>
        <p:nvSpPr>
          <p:cNvPr id="29" name="Text 27"/>
          <p:cNvSpPr txBox="1"/>
          <p:nvPr/>
        </p:nvSpPr>
        <p:spPr>
          <a:xfrm>
            <a:off x="1216152" y="4306824"/>
            <a:ext cx="2194560" cy="804672"/>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Cash-flow realism</a:t>
            </a:r>
            <a:endParaRPr lang="en-US" sz="1450" dirty="0"/>
          </a:p>
        </p:txBody>
      </p:sp>
      <p:sp>
        <p:nvSpPr>
          <p:cNvPr id="30" name="Text 28"/>
          <p:cNvSpPr txBox="1"/>
          <p:nvPr/>
        </p:nvSpPr>
        <p:spPr>
          <a:xfrm>
            <a:off x="3566160" y="4306824"/>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Contributions, withdrawals, fees and tax drag modelled</a:t>
            </a:r>
            <a:endParaRPr lang="en-US" sz="1050" dirty="0"/>
          </a:p>
        </p:txBody>
      </p:sp>
      <p:sp>
        <p:nvSpPr>
          <p:cNvPr id="31" name="Text 29"/>
          <p:cNvSpPr txBox="1"/>
          <p:nvPr/>
        </p:nvSpPr>
        <p:spPr>
          <a:xfrm>
            <a:off x="6217920" y="4306824"/>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Goal view: probability of reaching the target amount</a:t>
            </a:r>
            <a:endParaRPr lang="en-US" sz="1050" dirty="0"/>
          </a:p>
        </p:txBody>
      </p:sp>
      <p:sp>
        <p:nvSpPr>
          <p:cNvPr id="32" name="Text 30"/>
          <p:cNvSpPr txBox="1"/>
          <p:nvPr/>
        </p:nvSpPr>
        <p:spPr>
          <a:xfrm>
            <a:off x="8869680" y="4306824"/>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Side-by-side comparison of two allocations</a:t>
            </a:r>
            <a:endParaRPr lang="en-US" sz="1050" dirty="0"/>
          </a:p>
        </p:txBody>
      </p:sp>
      <p:sp>
        <p:nvSpPr>
          <p:cNvPr id="33" name="Shape 31"/>
          <p:cNvSpPr/>
          <p:nvPr/>
        </p:nvSpPr>
        <p:spPr>
          <a:xfrm>
            <a:off x="502920" y="5202936"/>
            <a:ext cx="11183112" cy="804672"/>
          </a:xfrm>
          <a:prstGeom prst="roundRect">
            <a:avLst>
              <a:gd name="adj" fmla="val 6818"/>
            </a:avLst>
          </a:prstGeom>
          <a:solidFill>
            <a:srgbClr val="1F3160"/>
          </a:solidFill>
          <a:ln/>
        </p:spPr>
      </p:sp>
      <p:sp>
        <p:nvSpPr>
          <p:cNvPr id="34" name="Shape 32"/>
          <p:cNvSpPr/>
          <p:nvPr/>
        </p:nvSpPr>
        <p:spPr>
          <a:xfrm>
            <a:off x="777240" y="5458968"/>
            <a:ext cx="292608" cy="292608"/>
          </a:xfrm>
          <a:prstGeom prst="ellipse">
            <a:avLst/>
          </a:prstGeom>
          <a:solidFill>
            <a:srgbClr val="E0A458"/>
          </a:solidFill>
          <a:ln/>
        </p:spPr>
      </p:sp>
      <p:sp>
        <p:nvSpPr>
          <p:cNvPr id="35" name="Text 33"/>
          <p:cNvSpPr txBox="1"/>
          <p:nvPr/>
        </p:nvSpPr>
        <p:spPr>
          <a:xfrm>
            <a:off x="777240" y="5458968"/>
            <a:ext cx="292608" cy="292608"/>
          </a:xfrm>
          <a:prstGeom prst="rect">
            <a:avLst/>
          </a:prstGeom>
          <a:noFill/>
          <a:ln/>
        </p:spPr>
        <p:txBody>
          <a:bodyPr wrap="square" lIns="0" tIns="0" rIns="0" bIns="0" rtlCol="0" anchor="ctr"/>
          <a:lstStyle/>
          <a:p>
            <a:pPr algn="ctr" indent="0" marL="0">
              <a:buNone/>
            </a:pPr>
            <a:r>
              <a:rPr lang="en-US" sz="1250" b="1" dirty="0">
                <a:solidFill>
                  <a:srgbClr val="16264A"/>
                </a:solidFill>
                <a:latin typeface="Calibri" pitchFamily="34" charset="0"/>
                <a:ea typeface="Calibri" pitchFamily="34" charset="-122"/>
                <a:cs typeface="Calibri" pitchFamily="34" charset="-120"/>
              </a:rPr>
              <a:t>4</a:t>
            </a:r>
            <a:endParaRPr lang="en-US" sz="1250" dirty="0"/>
          </a:p>
        </p:txBody>
      </p:sp>
      <p:sp>
        <p:nvSpPr>
          <p:cNvPr id="36" name="Text 34"/>
          <p:cNvSpPr txBox="1"/>
          <p:nvPr/>
        </p:nvSpPr>
        <p:spPr>
          <a:xfrm>
            <a:off x="1216152" y="5202936"/>
            <a:ext cx="2194560" cy="804672"/>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Delivery &amp; controls</a:t>
            </a:r>
            <a:endParaRPr lang="en-US" sz="1450" dirty="0"/>
          </a:p>
        </p:txBody>
      </p:sp>
      <p:sp>
        <p:nvSpPr>
          <p:cNvPr id="37" name="Text 35"/>
          <p:cNvSpPr txBox="1"/>
          <p:nvPr/>
        </p:nvSpPr>
        <p:spPr>
          <a:xfrm>
            <a:off x="3566160" y="5202936"/>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Under 3 seconds for an interactive re-run</a:t>
            </a:r>
            <a:endParaRPr lang="en-US" sz="1050" dirty="0"/>
          </a:p>
        </p:txBody>
      </p:sp>
      <p:sp>
        <p:nvSpPr>
          <p:cNvPr id="38" name="Text 36"/>
          <p:cNvSpPr txBox="1"/>
          <p:nvPr/>
        </p:nvSpPr>
        <p:spPr>
          <a:xfrm>
            <a:off x="6217920" y="5202936"/>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Every run reproducible with its stored assumptions</a:t>
            </a:r>
            <a:endParaRPr lang="en-US" sz="1050" dirty="0"/>
          </a:p>
        </p:txBody>
      </p:sp>
      <p:sp>
        <p:nvSpPr>
          <p:cNvPr id="39" name="Text 37"/>
          <p:cNvSpPr txBox="1"/>
          <p:nvPr/>
        </p:nvSpPr>
        <p:spPr>
          <a:xfrm>
            <a:off x="8869680" y="5202936"/>
            <a:ext cx="2542032" cy="804672"/>
          </a:xfrm>
          <a:prstGeom prst="rect">
            <a:avLst/>
          </a:prstGeom>
          <a:noFill/>
          <a:ln/>
        </p:spPr>
        <p:txBody>
          <a:bodyPr wrap="square" lIns="0" tIns="0" rIns="0" bIns="0" rtlCol="0" anchor="ctr"/>
          <a:lstStyle/>
          <a:p>
            <a:pPr indent="0" marL="0">
              <a:lnSpc>
                <a:spcPct val="110000"/>
              </a:lnSpc>
              <a:buNone/>
            </a:pPr>
            <a:r>
              <a:rPr lang="en-US" sz="1050" dirty="0">
                <a:solidFill>
                  <a:srgbClr val="C7D2E6"/>
                </a:solidFill>
                <a:latin typeface="Calibri" pitchFamily="34" charset="0"/>
                <a:ea typeface="Calibri" pitchFamily="34" charset="-122"/>
                <a:cs typeface="Calibri" pitchFamily="34" charset="-120"/>
              </a:rPr>
              <a:t>One API for adviser desktop and client app</a:t>
            </a:r>
            <a:endParaRPr lang="en-US" sz="1050" dirty="0"/>
          </a:p>
        </p:txBody>
      </p:sp>
      <p:sp>
        <p:nvSpPr>
          <p:cNvPr id="40" name="Text 38"/>
          <p:cNvSpPr txBox="1"/>
          <p:nvPr/>
        </p:nvSpPr>
        <p:spPr>
          <a:xfrm>
            <a:off x="502920" y="6227064"/>
            <a:ext cx="11183112" cy="365760"/>
          </a:xfrm>
          <a:prstGeom prst="rect">
            <a:avLst/>
          </a:prstGeom>
          <a:noFill/>
          <a:ln/>
        </p:spPr>
        <p:txBody>
          <a:bodyPr wrap="square" lIns="0" tIns="0" rIns="0" bIns="0" rtlCol="0" anchor="ctr"/>
          <a:lstStyle/>
          <a:p>
            <a:pPr indent="0" marL="0">
              <a:buNone/>
            </a:pPr>
            <a:r>
              <a:rPr lang="en-US" sz="1200" b="1" dirty="0">
                <a:solidFill>
                  <a:srgbClr val="E0A458"/>
                </a:solidFill>
                <a:latin typeface="Calibri" pitchFamily="34" charset="0"/>
                <a:ea typeface="Calibri" pitchFamily="34" charset="-122"/>
                <a:cs typeface="Calibri" pitchFamily="34" charset="-120"/>
              </a:rPr>
              <a:t>Decision requested:  </a:t>
            </a:r>
            <a:pPr indent="0" marL="0">
              <a:buNone/>
            </a:pPr>
            <a:r>
              <a:rPr lang="en-US" sz="1200" dirty="0">
                <a:solidFill>
                  <a:srgbClr val="D2DBEB"/>
                </a:solidFill>
                <a:latin typeface="Calibri" pitchFamily="34" charset="0"/>
                <a:ea typeface="Calibri" pitchFamily="34" charset="-122"/>
                <a:cs typeface="Calibri" pitchFamily="34" charset="-120"/>
              </a:rPr>
              <a:t>approve the scope above as the baseline for a 10-week proof of concept.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274320"/>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USER PORTFOLIO SIMULATION STUDY</a:t>
            </a:r>
            <a:endParaRPr lang="en-US" sz="1000" dirty="0"/>
          </a:p>
        </p:txBody>
      </p:sp>
      <p:sp>
        <p:nvSpPr>
          <p:cNvPr id="3" name="Text 1"/>
          <p:cNvSpPr txBox="1"/>
          <p:nvPr/>
        </p:nvSpPr>
        <p:spPr>
          <a:xfrm>
            <a:off x="640080" y="694944"/>
            <a:ext cx="8229600" cy="548640"/>
          </a:xfrm>
          <a:prstGeom prst="rect">
            <a:avLst/>
          </a:prstGeom>
          <a:noFill/>
          <a:ln/>
        </p:spPr>
        <p:txBody>
          <a:bodyPr wrap="square" lIns="0" tIns="0" rIns="0" bIns="0" rtlCol="0" anchor="ctr"/>
          <a:lstStyle/>
          <a:p>
            <a:pPr indent="0" marL="0">
              <a:buNone/>
            </a:pPr>
            <a:r>
              <a:rPr lang="en-US" sz="3000" b="1" dirty="0">
                <a:solidFill>
                  <a:srgbClr val="16264A"/>
                </a:solidFill>
                <a:latin typeface="Cambria" pitchFamily="34" charset="0"/>
                <a:ea typeface="Cambria" pitchFamily="34" charset="-122"/>
                <a:cs typeface="Cambria" pitchFamily="34" charset="-120"/>
              </a:rPr>
              <a:t>Context &amp; Requirements</a:t>
            </a:r>
            <a:endParaRPr lang="en-US" sz="3000" dirty="0"/>
          </a:p>
        </p:txBody>
      </p:sp>
      <p:sp>
        <p:nvSpPr>
          <p:cNvPr id="4" name="Text 2"/>
          <p:cNvSpPr txBox="1"/>
          <p:nvPr/>
        </p:nvSpPr>
        <p:spPr>
          <a:xfrm>
            <a:off x="640080" y="1417320"/>
            <a:ext cx="5486400" cy="256032"/>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CONTEXT</a:t>
            </a:r>
            <a:endParaRPr lang="en-US" sz="1000" dirty="0"/>
          </a:p>
        </p:txBody>
      </p:sp>
      <p:sp>
        <p:nvSpPr>
          <p:cNvPr id="5" name="Shape 3"/>
          <p:cNvSpPr/>
          <p:nvPr/>
        </p:nvSpPr>
        <p:spPr>
          <a:xfrm>
            <a:off x="640080" y="1700784"/>
            <a:ext cx="10908792" cy="1078992"/>
          </a:xfrm>
          <a:prstGeom prst="roundRect">
            <a:avLst>
              <a:gd name="adj" fmla="val 5085"/>
            </a:avLst>
          </a:prstGeom>
          <a:solidFill>
            <a:srgbClr val="F2F5FA"/>
          </a:solidFill>
          <a:ln/>
        </p:spPr>
      </p:sp>
      <p:sp>
        <p:nvSpPr>
          <p:cNvPr id="6" name="Text 4"/>
          <p:cNvSpPr txBox="1"/>
          <p:nvPr/>
        </p:nvSpPr>
        <p:spPr>
          <a:xfrm>
            <a:off x="914400" y="1700784"/>
            <a:ext cx="10360152" cy="1078992"/>
          </a:xfrm>
          <a:prstGeom prst="rect">
            <a:avLst/>
          </a:prstGeom>
          <a:noFill/>
          <a:ln/>
        </p:spPr>
        <p:txBody>
          <a:bodyPr wrap="square" lIns="0" tIns="0" rIns="0" bIns="0" rtlCol="0" anchor="ctr"/>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Advice today runs on static, backward-looking statements: clients cannot see how their own holdings behave under different market paths. Peers already ship in-app “what-if” projections and advisers are asking for parity ahead of the 2027 retention campaign, while MiFID II suitability and PRIIPs performance scenarios require assumptions that are documented, reproducible and auditable. This study assesses whether a simulation engine on live client portfolios is feasible.</a:t>
            </a:r>
            <a:endParaRPr lang="en-US" sz="1200" dirty="0"/>
          </a:p>
        </p:txBody>
      </p:sp>
      <p:sp>
        <p:nvSpPr>
          <p:cNvPr id="7" name="Text 5"/>
          <p:cNvSpPr txBox="1"/>
          <p:nvPr/>
        </p:nvSpPr>
        <p:spPr>
          <a:xfrm>
            <a:off x="640080" y="3035808"/>
            <a:ext cx="5486400" cy="256032"/>
          </a:xfrm>
          <a:prstGeom prst="rect">
            <a:avLst/>
          </a:prstGeom>
          <a:noFill/>
          <a:ln/>
        </p:spPr>
        <p:txBody>
          <a:bodyPr wrap="square" lIns="0" tIns="0" rIns="0" bIns="0" rtlCol="0" anchor="ctr"/>
          <a:lstStyle/>
          <a:p>
            <a:pPr indent="0" marL="0">
              <a:buNone/>
            </a:pPr>
            <a:r>
              <a:rPr lang="en-US" sz="1000" b="1" spc="160" kern="0" dirty="0">
                <a:solidFill>
                  <a:srgbClr val="E0A458"/>
                </a:solidFill>
                <a:latin typeface="Calibri" pitchFamily="34" charset="0"/>
                <a:ea typeface="Calibri" pitchFamily="34" charset="-122"/>
                <a:cs typeface="Calibri" pitchFamily="34" charset="-120"/>
              </a:rPr>
              <a:t>REQUIREMENTS</a:t>
            </a:r>
            <a:endParaRPr lang="en-US" sz="1000" dirty="0"/>
          </a:p>
        </p:txBody>
      </p:sp>
      <p:sp>
        <p:nvSpPr>
          <p:cNvPr id="8" name="Text 6"/>
          <p:cNvSpPr txBox="1"/>
          <p:nvPr/>
        </p:nvSpPr>
        <p:spPr>
          <a:xfrm>
            <a:off x="640080" y="3346704"/>
            <a:ext cx="10908792" cy="2743200"/>
          </a:xfrm>
          <a:prstGeom prst="rect">
            <a:avLst/>
          </a:prstGeom>
          <a:noFill/>
          <a:ln/>
        </p:spPr>
        <p:txBody>
          <a:bodyPr wrap="square" lIns="0" tIns="0" rIns="0" bIns="0" rtlCol="0" anchor="t"/>
          <a:lstStyle/>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R1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Portfolio coverage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any live client portfolio, multi-asset and multi-currency</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R2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Horizon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1 to 30 years, monthly granularity</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R3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Aggregation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held-away assets included where already consolidated</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R4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Simulation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10,000-path Monte Carlo on the approved capital-market assumptions</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R5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Stress testing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deterministic cases — 2008, 2020, rate shock</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R6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Suitability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risk-profile constraints enforced per client</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R7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Cash flows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contributions, withdrawals, fees and tax drag modelled</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R8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Goal view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probability of reaching the client's target amount</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R9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Comparison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two proposed allocations side by side</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R10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Performance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under 3 seconds for an interactive re-run</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R11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Auditability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every run reproducible with its stored assumptions</a:t>
            </a:r>
            <a:endParaRPr lang="en-US" sz="1150" dirty="0"/>
          </a:p>
          <a:p>
            <a:pPr indent="0" marL="0">
              <a:lnSpc>
                <a:spcPct val="100000"/>
              </a:lnSpc>
              <a:spcAft>
                <a:spcPts val="500"/>
              </a:spcAft>
              <a:buNone/>
            </a:pPr>
            <a:r>
              <a:rPr lang="en-US" sz="1150" b="1" dirty="0">
                <a:solidFill>
                  <a:srgbClr val="E0A458"/>
                </a:solidFill>
                <a:latin typeface="Calibri" pitchFamily="34" charset="0"/>
                <a:ea typeface="Calibri" pitchFamily="34" charset="-122"/>
                <a:cs typeface="Calibri" pitchFamily="34" charset="-120"/>
              </a:rPr>
              <a:t>R12   </a:t>
            </a:r>
            <a:pPr indent="0" marL="0">
              <a:lnSpc>
                <a:spcPct val="100000"/>
              </a:lnSpc>
              <a:spcAft>
                <a:spcPts val="500"/>
              </a:spcAft>
              <a:buNone/>
            </a:pPr>
            <a:r>
              <a:rPr lang="en-US" sz="1150" b="1" dirty="0">
                <a:solidFill>
                  <a:srgbClr val="16264A"/>
                </a:solidFill>
                <a:latin typeface="Calibri" pitchFamily="34" charset="0"/>
                <a:ea typeface="Calibri" pitchFamily="34" charset="-122"/>
                <a:cs typeface="Calibri" pitchFamily="34" charset="-120"/>
              </a:rPr>
              <a:t>Integration — </a:t>
            </a:r>
            <a:pPr indent="0" marL="0">
              <a:lnSpc>
                <a:spcPct val="100000"/>
              </a:lnSpc>
              <a:spcAft>
                <a:spcPts val="500"/>
              </a:spcAft>
              <a:buNone/>
            </a:pPr>
            <a:r>
              <a:rPr lang="en-US" sz="1150" dirty="0">
                <a:solidFill>
                  <a:srgbClr val="44506B"/>
                </a:solidFill>
                <a:latin typeface="Calibri" pitchFamily="34" charset="0"/>
                <a:ea typeface="Calibri" pitchFamily="34" charset="-122"/>
                <a:cs typeface="Calibri" pitchFamily="34" charset="-120"/>
              </a:rPr>
              <a:t>one API for adviser desktop and client app, EU-resident data</a:t>
            </a:r>
            <a:endParaRPr lang="en-US" sz="1150" dirty="0"/>
          </a:p>
        </p:txBody>
      </p:sp>
      <p:sp>
        <p:nvSpPr>
          <p:cNvPr id="9" name="Text 7"/>
          <p:cNvSpPr txBox="1"/>
          <p:nvPr/>
        </p:nvSpPr>
        <p:spPr>
          <a:xfrm>
            <a:off x="640080" y="6236208"/>
            <a:ext cx="10908792" cy="320040"/>
          </a:xfrm>
          <a:prstGeom prst="rect">
            <a:avLst/>
          </a:prstGeom>
          <a:noFill/>
          <a:ln/>
        </p:spPr>
        <p:txBody>
          <a:bodyPr wrap="square" lIns="0" tIns="0" rIns="0" bIns="0" rtlCol="0" anchor="ctr"/>
          <a:lstStyle/>
          <a:p>
            <a:pPr indent="0" marL="0">
              <a:buNone/>
            </a:pPr>
            <a:r>
              <a:rPr lang="en-US" sz="1200" b="1" dirty="0">
                <a:solidFill>
                  <a:srgbClr val="E0A458"/>
                </a:solidFill>
                <a:latin typeface="Calibri" pitchFamily="34" charset="0"/>
                <a:ea typeface="Calibri" pitchFamily="34" charset="-122"/>
                <a:cs typeface="Calibri" pitchFamily="34" charset="-120"/>
              </a:rPr>
              <a:t>Decision requested:  </a:t>
            </a:r>
            <a:pPr indent="0" marL="0">
              <a:buNone/>
            </a:pPr>
            <a:r>
              <a:rPr lang="en-US" sz="1200" dirty="0">
                <a:solidFill>
                  <a:srgbClr val="44506B"/>
                </a:solidFill>
                <a:latin typeface="Calibri" pitchFamily="34" charset="0"/>
                <a:ea typeface="Calibri" pitchFamily="34" charset="-122"/>
                <a:cs typeface="Calibri" pitchFamily="34" charset="-120"/>
              </a:rPr>
              <a:t>approve R1–R12 as the baseline scope for a 10-week proof of concept.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Portfolio Simulation — Context &amp; Requirements</dc:title>
  <dc:subject>PptxGenJS Presentation</dc:subject>
  <dc:creator>Study team</dc:creator>
  <cp:lastModifiedBy>Study team</cp:lastModifiedBy>
  <cp:revision>1</cp:revision>
  <dcterms:created xsi:type="dcterms:W3CDTF">2026-09-03T21:51:50Z</dcterms:created>
  <dcterms:modified xsi:type="dcterms:W3CDTF">2026-09-03T21:51:50Z</dcterms:modified>
</cp:coreProperties>
</file>