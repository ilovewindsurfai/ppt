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484340"/>
            <a:ext cx="106680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484340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95625" y="4722465"/>
            <a:ext cx="9525" cy="4286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06909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164109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Space Grotesk"/>
              </a:rPr>
              <a:t>Scalabilité API Spring Boot Kogito vs Traducteur Spark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31840"/>
            <a:ext cx="723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Étude comparative d'architecture, chiffrage d'implémentation (J/H), performances sur 80M de lignes et analyse financière des coûts AWS.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1721197"/>
            <a:ext cx="4917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Space Grotesk"/>
              </a:rPr>
              <a:t>ARCHITECTURE CLOUD AWS &amp; TRAITEMENT BATCH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722465"/>
            <a:ext cx="2536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Cible Volumétrique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932015"/>
            <a:ext cx="25360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80 Millions de lignes / ZIP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9950" y="4722465"/>
            <a:ext cx="2631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Environnement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9950" y="4932015"/>
            <a:ext cx="26312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AWS Cloud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81250"/>
            <a:ext cx="5372100" cy="3057525"/>
          </a:xfrm>
          <a:prstGeom prst="roundRect">
            <a:avLst>
              <a:gd name="adj" fmla="val 49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381250"/>
            <a:ext cx="5372100" cy="3057525"/>
          </a:xfrm>
          <a:prstGeom prst="roundRect">
            <a:avLst>
              <a:gd name="adj" fmla="val 49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695575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69557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2819400"/>
            <a:ext cx="20955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450" y="2819400"/>
            <a:ext cx="20955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0680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Contexte &amp; Défi Technical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334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Le goulot d'étranglement de l'architecture monosite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343275"/>
            <a:ext cx="622577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Architecture Actuelle (Monolithique)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343275"/>
            <a:ext cx="5667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Objectifs de la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695700"/>
            <a:ext cx="48387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Serveur unique 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API Spring Boot / Kogito sur une seule instance EC2.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210050"/>
            <a:ext cx="48387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Format bloquant 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Fichier unique ZIP contenant un gros fichier JSONLines.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724400"/>
            <a:ext cx="48387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Limites physiques 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Saturation mémoire JVM et CPU lors des pics de charge.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3695700"/>
            <a:ext cx="48387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Scalabilité horizontale 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Distribution dynamique de la charge sur N serveurs.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4210050"/>
            <a:ext cx="48387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Traitement distribué 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Découpage (chunking) et parallélisation sans état.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4724400"/>
            <a:ext cx="48387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Optimisation des coûts 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Diminution de la facture Cloud AWS sur gros volumes.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15025"/>
            <a:ext cx="10972800" cy="485775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47962"/>
            <a:ext cx="3289250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51300" y="2747962"/>
            <a:ext cx="3289250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93000" y="2747962"/>
            <a:ext cx="3289250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915025"/>
            <a:ext cx="38100" cy="4857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350" y="3433762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050" y="3433762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024187"/>
            <a:ext cx="1714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425" y="3024187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125" y="3024187"/>
            <a:ext cx="25717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Option A : Microservices Stateless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Architecture Kogito Scalable (SQS + ECS Fargate)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6067425"/>
            <a:ext cx="113538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Plus Jakarta Sans"/>
              </a:rPr>
              <a:t>Avantage clé : Réutilisation intégrale des règles DMN existantes sans réécriture de code métier.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386137"/>
            <a:ext cx="369206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Ingestion &amp;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681412"/>
            <a:ext cx="2908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Dépôt S3, décompression Lambda et découpage en sous-fichiers JSONLines.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9425" y="3386137"/>
            <a:ext cx="369206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File d'attente SQS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9425" y="3681412"/>
            <a:ext cx="2908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Messages SQS contenant les chemins S3 des sous-fichiers à traiter.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125" y="3386137"/>
            <a:ext cx="366087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3. Workers Fargate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125" y="3681412"/>
            <a:ext cx="2908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Auto Scaling d'instances Kogito Spring Boot consommant la file SQS.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15025"/>
            <a:ext cx="10972800" cy="485775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47962"/>
            <a:ext cx="3289250" cy="1533525"/>
          </a:xfrm>
          <a:prstGeom prst="roundRect">
            <a:avLst>
              <a:gd name="adj" fmla="val 745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51300" y="2657475"/>
            <a:ext cx="3289250" cy="1714500"/>
          </a:xfrm>
          <a:prstGeom prst="roundRect">
            <a:avLst>
              <a:gd name="adj" fmla="val 666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93000" y="2747962"/>
            <a:ext cx="3289250" cy="1533525"/>
          </a:xfrm>
          <a:prstGeom prst="roundRect">
            <a:avLst>
              <a:gd name="adj" fmla="val 745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915025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350" y="3433762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050" y="3433762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024187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425" y="2933700"/>
            <a:ext cx="2000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125" y="3024187"/>
            <a:ext cx="20002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Option B : Data Lakehouse Natif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Traduction DMN vers Spark SQL (EMR / Databricks)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6067425"/>
            <a:ext cx="113538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Plus Jakarta Sans"/>
              </a:rPr>
              <a:t>Avantage clé : Vitesse d'exécution démultipliée et coûts d'infrastructure Cloud drastiquement réduits.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386137"/>
            <a:ext cx="369206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Transpilation DMN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681412"/>
            <a:ext cx="2908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74151"/>
                </a:solidFill>
                <a:latin typeface="Plus Jakarta Sans"/>
              </a:rPr>
              <a:t>Conversion du fichier DMN/FEEL en AST SQL vectorisé avant exécution.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9425" y="3295650"/>
            <a:ext cx="369206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Spark Catalyst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9425" y="3590925"/>
            <a:ext cx="29082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74151"/>
                </a:solidFill>
                <a:latin typeface="Plus Jakarta Sans"/>
              </a:rPr>
              <a:t>Génération de bytecode WholeStageCodeGen pour calcul en mémoire distribuée.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125" y="3386137"/>
            <a:ext cx="366087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3. Stockage Parquet/S3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125" y="3681412"/>
            <a:ext cx="2908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74151"/>
                </a:solidFill>
                <a:latin typeface="Plus Jakarta Sans"/>
              </a:rPr>
              <a:t>Lectures/écritures colonne ultra-rapides sans overhead de sérialisation JSON.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14575"/>
            <a:ext cx="10972800" cy="30765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314575"/>
          <a:ext cx="10963275" cy="3076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6010275"/>
                <a:gridCol w="2476500"/>
                <a:gridCol w="2476500"/>
              </a:tblGrid>
              <a:tr h="51276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Lot de travaux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Option A : Kogito (SQS/ECS)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Option B : Spark SQL Traducteur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276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1. Ingestion &amp; Pre-processing S3/Lambda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 à 3 J/H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 J/H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276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2. Cœur de Traitement (Moteur vs Transpilation)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 à 6 J/H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8 à 12 J/H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276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3. Infrastructure Cloud, Terraform &amp; Auto Scaling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 à 5 J/H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 à 4 J/H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276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4. Tests de charge, Non-régression &amp; Tuning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 à 4 J/H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 à 7 J/H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276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TOTAL EFFORT DE DÉVELOPPEMENT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13 à 20 J/H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20 à 35 J/H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Analyse des Charges de Développement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Chiffrage Estimatif en Jours / Homme (J/H)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14625"/>
            <a:ext cx="5334000" cy="2352675"/>
          </a:xfrm>
          <a:prstGeom prst="roundRect">
            <a:avLst>
              <a:gd name="adj" fmla="val 6477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14625"/>
            <a:ext cx="5334000" cy="2352675"/>
          </a:xfrm>
          <a:prstGeom prst="roundRect">
            <a:avLst>
              <a:gd name="adj" fmla="val 6477"/>
            </a:avLst>
          </a:prstGeom>
          <a:solidFill>
            <a:srgbClr val="F0FDF4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3450" y="4410075"/>
            <a:ext cx="46863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72250" y="4410075"/>
            <a:ext cx="46863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3450" y="4410075"/>
            <a:ext cx="46863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72250" y="4410075"/>
            <a:ext cx="4686300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4600575"/>
            <a:ext cx="13335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4600575"/>
            <a:ext cx="133350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Benchmark Volumétrique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Performance mesurée sur 80 Millions de lignes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662" y="3038475"/>
            <a:ext cx="5857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64748B"/>
                </a:solidFill>
                <a:latin typeface="Plus Jakarta Sans"/>
              </a:rPr>
              <a:t>Spring Boot + Kogito (ECS Fargate)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662" y="3314700"/>
            <a:ext cx="5857875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DC2626"/>
                </a:solidFill>
                <a:latin typeface="Plus Jakarta Sans"/>
              </a:rPr>
              <a:t>1,5h - 4h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662" y="4038600"/>
            <a:ext cx="5857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Débit moyen : ~1 500 lignes / sec / worker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6462" y="3038475"/>
            <a:ext cx="5857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5803D"/>
                </a:solidFill>
                <a:latin typeface="Plus Jakarta Sans"/>
              </a:rPr>
              <a:t>Traducteur Spark SQL (EMR / Databricks)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6462" y="3314700"/>
            <a:ext cx="5857875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16A34A"/>
                </a:solidFill>
                <a:latin typeface="Plus Jakarta Sans"/>
              </a:rPr>
              <a:t>3 - 10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6462" y="4038600"/>
            <a:ext cx="5857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166534"/>
                </a:solidFill>
                <a:latin typeface="Plus Jakarta Sans"/>
              </a:rPr>
              <a:t>Débit moyen : ~100 000+ lignes / sec / exécuteur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50" y="4572000"/>
            <a:ext cx="5857875" cy="17145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Overhead de création d'objets Java &amp; Garbage Collection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0" y="4572000"/>
            <a:ext cx="5619750" cy="17145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5803D"/>
                </a:solidFill>
                <a:latin typeface="Plus Jakarta Sans"/>
              </a:rPr>
              <a:t>Calcul vectorisé sur colonnes &amp; exécution C++/Java native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24112"/>
            <a:ext cx="5362575" cy="2505075"/>
          </a:xfrm>
          <a:prstGeom prst="roundRect">
            <a:avLst>
              <a:gd name="adj" fmla="val 60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00775" y="2505075"/>
            <a:ext cx="5381625" cy="234315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5825" y="4252912"/>
            <a:ext cx="4810125" cy="400050"/>
          </a:xfrm>
          <a:prstGeom prst="roundRect">
            <a:avLst>
              <a:gd name="adj" fmla="val 190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86525" y="4162425"/>
            <a:ext cx="4810125" cy="400050"/>
          </a:xfrm>
          <a:prstGeom prst="roundRect">
            <a:avLst>
              <a:gd name="adj" fmla="val 19047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29175" y="2700337"/>
            <a:ext cx="866775" cy="2286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67900" y="2790825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Business Case &amp; TCO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Analyse des Coûts de Run AWS (Par Batch)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381000" y="6200775"/>
            <a:ext cx="1295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Économie directe de Run : </a:t>
            </a:r>
            <a:r>
              <a:rPr b="1" sz="1200" i="0" u="none">
                <a:solidFill>
                  <a:srgbClr val="059669"/>
                </a:solidFill>
                <a:latin typeface="Plus Jakarta Sans"/>
              </a:rPr>
              <a:t>~6 500 € / an</a:t>
            </a:r>
            <a:r>
              <a:rPr b="1" sz="1200" i="0" u="none">
                <a:solidFill>
                  <a:srgbClr val="0F172A"/>
                </a:solidFill>
                <a:latin typeface="Plus Jakarta Sans"/>
              </a:rPr>
              <a:t> (Surcoût de dev amorti en moins d'1 an).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081337"/>
            <a:ext cx="6012656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Plus Jakarta Sans"/>
              </a:rPr>
              <a:t>~20 € 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/ exécution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738562"/>
            <a:ext cx="4905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Consommation : ~125 vCPU-heures + logs SQS/CloudWatch abondants.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4367212"/>
            <a:ext cx="4676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Coût Annuel Quotidien 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~7 300 € / 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3171825"/>
            <a:ext cx="5705475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59669"/>
                </a:solidFill>
                <a:latin typeface="Plus Jakarta Sans"/>
              </a:rPr>
              <a:t>~2 € 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/ exécution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829050"/>
            <a:ext cx="57054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Consommation : ~20 vCPU-heures sur nœuds Spot éphémères.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0825" y="4276725"/>
            <a:ext cx="4676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65F46"/>
                </a:solidFill>
                <a:latin typeface="Plus Jakarta Sans"/>
              </a:rPr>
              <a:t>Coût Annuel Quotidien :</a:t>
            </a:r>
            <a:r>
              <a:rPr b="0" sz="1050" i="0" u="none">
                <a:solidFill>
                  <a:srgbClr val="065F46"/>
                </a:solidFill>
                <a:latin typeface="Plus Jakarta Sans"/>
              </a:rPr>
              <a:t> ~730 € / 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2705100"/>
            <a:ext cx="213776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Kogito ECS Fargate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3475" y="2738437"/>
            <a:ext cx="7334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91B1B"/>
                </a:solidFill>
                <a:latin typeface="Plus Jakarta Sans"/>
              </a:rPr>
              <a:t>Coût Élevé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2795587"/>
            <a:ext cx="19877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Spark SQL Cluster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82200" y="2828925"/>
            <a:ext cx="1295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65F46"/>
                </a:solidFill>
                <a:latin typeface="Plus Jakarta Sans"/>
              </a:rPr>
              <a:t>-90% de Réduction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43025"/>
            <a:ext cx="5372100" cy="5057775"/>
          </a:xfrm>
          <a:prstGeom prst="roundRect">
            <a:avLst>
              <a:gd name="adj" fmla="val 225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1343025"/>
            <a:ext cx="5372100" cy="5057775"/>
          </a:xfrm>
          <a:prstGeom prst="roundRect">
            <a:avLst>
              <a:gd name="adj" fmla="val 2259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343025"/>
            <a:ext cx="53721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0300" y="1343025"/>
            <a:ext cx="53721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066925"/>
            <a:ext cx="12382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362200"/>
            <a:ext cx="12382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657475"/>
            <a:ext cx="12382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952750"/>
            <a:ext cx="1238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066925"/>
            <a:ext cx="1238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362200"/>
            <a:ext cx="1238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657475"/>
            <a:ext cx="1238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952750"/>
            <a:ext cx="123825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Synthèse Stratégique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Matrice de Décision d'Architecture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1647825"/>
            <a:ext cx="635079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Choisir Kogito ECS si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1647825"/>
            <a:ext cx="5715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Choisir Spark SQL si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2038350"/>
            <a:ext cx="6048375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Les règles DMN évoluent très fréquemment.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2333625"/>
            <a:ext cx="6048375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Présence de sous-processus BPMN complexes.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2628900"/>
            <a:ext cx="6048375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Volumétrie limitée (&lt; 10M de lignes).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2924175"/>
            <a:ext cx="6048375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Priorité au Time-to-Market rapide (13-20 J/H).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0" y="2038350"/>
            <a:ext cx="5715000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66534"/>
                </a:solidFill>
                <a:latin typeface="Plus Jakarta Sans"/>
              </a:rPr>
              <a:t>Traitement de gros volumes (80M+ lignes).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0" y="2333625"/>
            <a:ext cx="5715000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66534"/>
                </a:solidFill>
                <a:latin typeface="Plus Jakarta Sans"/>
              </a:rPr>
              <a:t>Règles DMN simples à moyennement complexes.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0" y="2628900"/>
            <a:ext cx="5715000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66534"/>
                </a:solidFill>
                <a:latin typeface="Plus Jakarta Sans"/>
              </a:rPr>
              <a:t>Exécution récurrente (batchs quotidiens).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0" y="2924175"/>
            <a:ext cx="5715000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66534"/>
                </a:solidFill>
                <a:latin typeface="Plus Jakarta Sans"/>
              </a:rPr>
              <a:t>Priorité à la réduction de la facture AWS.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29075" y="4921448"/>
            <a:ext cx="1981200" cy="333375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2675" y="4921448"/>
            <a:ext cx="2000250" cy="333375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603027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87" y="1774477"/>
            <a:ext cx="200025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45843" y="2441227"/>
            <a:ext cx="2500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RECOMMANDATION FINALE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" y="2688877"/>
            <a:ext cx="100012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000" i="0" u="none">
                <a:solidFill>
                  <a:srgbClr val="FFFFFF"/>
                </a:solidFill>
                <a:latin typeface="Plus Jakarta Sans"/>
              </a:rPr>
              <a:t>Privilégier Spark SQL pour l'échelle des 80 Millions de lignes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8812" y="3793777"/>
            <a:ext cx="83343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Malgré un effort initial de développement supérieur (~10 à 15 J/H de plus), le gain d'exécution (10 min vs 3h) et les économies Cloud garantissent un ROI positif dès la première année.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925" y="4997648"/>
            <a:ext cx="20955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93C5FD"/>
                </a:solidFill>
                <a:latin typeface="Plus Jakarta Sans"/>
              </a:rPr>
              <a:t>Temps de batch : -95%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3143" y="4997648"/>
            <a:ext cx="211931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6EE7B7"/>
                </a:solidFill>
                <a:latin typeface="Plus Jakarta Sans"/>
              </a:rPr>
              <a:t>Coût Run Cloud : -90%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