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Layouts/slideLayout1.xml" ContentType="application/vnd.openxmlformats-officedocument.presentationml.slideLayout+xml"/>
  <Override PartName="/ppt/theme/theme2.xml" ContentType="application/vnd.openxmlformats-officedocument.them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b.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68" r:id="rId20"/>
    <p:sldId id="260" r:id="rId12"/>
    <p:sldId id="287" r:id="rId39"/>
    <p:sldId id="274" r:id="rId26"/>
    <p:sldId id="259" r:id="rId11"/>
    <p:sldId id="261" r:id="rId13"/>
    <p:sldId id="262" r:id="rId14"/>
    <p:sldId id="270" r:id="rId22"/>
    <p:sldId id="264" r:id="rId16"/>
    <p:sldId id="267" r:id="rId19"/>
    <p:sldId id="263" r:id="rId15"/>
    <p:sldId id="265" r:id="rId17"/>
    <p:sldId id="271" r:id="rId23"/>
    <p:sldId id="272" r:id="rId24"/>
    <p:sldId id="273" r:id="rId25"/>
    <p:sldId id="279" r:id="rId31"/>
    <p:sldId id="280" r:id="rId32"/>
    <p:sldId id="281" r:id="rId33"/>
    <p:sldId id="290" r:id="rIdS36"/>
    <p:sldId id="282" r:id="rId34"/>
    <p:sldId id="283" r:id="rId35"/>
    <p:sldId id="284" r:id="rId36"/>
    <p:sldId id="285" r:id="rId37"/>
    <p:sldId id="269" r:id="rId21"/>
    <p:sldId id="275" r:id="rId27"/>
    <p:sldId id="276" r:id="rId28"/>
    <p:sldId id="277" r:id="rId29"/>
    <p:sldId id="278" r:id="rId30"/>
    <p:sldId id="288" r:id="rIdS34"/>
    <p:sldId id="289" r:id="rIdS35"/>
    <p:sldId id="286" r:id="rId38"/>
    <p:sldId id="258" r:id="rId10"/>
    <p:sldId id="266" r:id="rId18"/>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b="def" i="def"/>
      <a:tcStyle>
        <a:tcBdr/>
        <a:fill>
          <a:solidFill>
            <a:srgbClr val="E8EBF5"/>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b="def" i="def"/>
      <a:tcStyle>
        <a:tcBdr/>
        <a:fill>
          <a:solidFill>
            <a:srgbClr val="F0F0F0"/>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b="def" i="def"/>
      <a:tcStyle>
        <a:tcBdr/>
        <a:fill>
          <a:solidFill>
            <a:srgbClr val="EBF1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  <Relationship Id="rId19" Type="http://schemas.openxmlformats.org/officeDocument/2006/relationships/slide" Target="slides/slide12.xml"/>
  <Relationship Id="rId20" Type="http://schemas.openxmlformats.org/officeDocument/2006/relationships/slide" Target="slides/slide13.xml"/>
  <Relationship Id="rId21" Type="http://schemas.openxmlformats.org/officeDocument/2006/relationships/slide" Target="slides/slide14.xml"/>
  <Relationship Id="rId22" Type="http://schemas.openxmlformats.org/officeDocument/2006/relationships/slide" Target="slides/slide15.xml"/>
  <Relationship Id="rId23" Type="http://schemas.openxmlformats.org/officeDocument/2006/relationships/slide" Target="slides/slide16.xml"/>
  <Relationship Id="rId24" Type="http://schemas.openxmlformats.org/officeDocument/2006/relationships/slide" Target="slides/slide17.xml"/>
  <Relationship Id="rId25" Type="http://schemas.openxmlformats.org/officeDocument/2006/relationships/slide" Target="slides/slide18.xml"/>
  <Relationship Id="rId26" Type="http://schemas.openxmlformats.org/officeDocument/2006/relationships/slide" Target="slides/slide19.xml"/>
  <Relationship Id="rId27" Type="http://schemas.openxmlformats.org/officeDocument/2006/relationships/slide" Target="slides/slide20.xml"/>
  <Relationship Id="rId28" Type="http://schemas.openxmlformats.org/officeDocument/2006/relationships/slide" Target="slides/slide21.xml"/>
  <Relationship Id="rId29" Type="http://schemas.openxmlformats.org/officeDocument/2006/relationships/slide" Target="slides/slide22.xml"/>
  <Relationship Id="rId30" Type="http://schemas.openxmlformats.org/officeDocument/2006/relationships/slide" Target="slides/slide23.xml"/>
  <Relationship Id="rId31" Type="http://schemas.openxmlformats.org/officeDocument/2006/relationships/slide" Target="slides/slide24.xml"/>
  <Relationship Id="rId32" Type="http://schemas.openxmlformats.org/officeDocument/2006/relationships/slide" Target="slides/slide25.xml"/>
  <Relationship Id="rId33" Type="http://schemas.openxmlformats.org/officeDocument/2006/relationships/slide" Target="slides/slide26.xml"/>
  <Relationship Id="rId34" Type="http://schemas.openxmlformats.org/officeDocument/2006/relationships/slide" Target="slides/slide27.xml"/>
  <Relationship Id="rId35" Type="http://schemas.openxmlformats.org/officeDocument/2006/relationships/slide" Target="slides/slide28.xml"/>
  <Relationship Id="rId36" Type="http://schemas.openxmlformats.org/officeDocument/2006/relationships/slide" Target="slides/slide29.xml"/>
  <Relationship Id="rId37" Type="http://schemas.openxmlformats.org/officeDocument/2006/relationships/slide" Target="slides/slide30.xml"/>
  <Relationship Id="rId38" Type="http://schemas.openxmlformats.org/officeDocument/2006/relationships/slide" Target="slides/slide31.xml"/>
  <Relationship Id="rId39" Type="http://schemas.openxmlformats.org/officeDocument/2006/relationships/slide" Target="slides/slide32.xml"/>
<Relationship Id="rIdS34" Type="http://schemas.openxmlformats.org/officeDocument/2006/relationships/slide" Target="slides/slide34.xml"/><Relationship Id="rIdS35" Type="http://schemas.openxmlformats.org/officeDocument/2006/relationships/slide" Target="slides/slide35.xml"/><Relationship Id="rIdS36" Type="http://schemas.openxmlformats.org/officeDocument/2006/relationships/slide" Target="slides/slide36.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7" name="Shape 17"/>
          <p:cNvSpPr/>
          <p:nvPr>
            <p:ph type="sldImg"/>
          </p:nvPr>
        </p:nvSpPr>
        <p:spPr>
          <a:xfrm>
            <a:off x="1143000" y="685800"/>
            <a:ext cx="4572000" cy="3429000"/>
          </a:xfrm>
          <a:prstGeom prst="rect">
            <a:avLst/>
          </a:prstGeom>
        </p:spPr>
        <p:txBody>
          <a:bodyPr/>
          <a:lstStyle/>
          <a:p>
            <a:pPr/>
          </a:p>
        </p:txBody>
      </p:sp>
      <p:sp>
        <p:nvSpPr>
          <p:cNvPr id="18" name="Shape 18"/>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latin typeface="+mn-lt"/>
        <a:ea typeface="+mn-ea"/>
        <a:cs typeface="+mn-cs"/>
        <a:sym typeface="Calibri"/>
      </a:defRPr>
    </a:lvl1pPr>
    <a:lvl2pPr indent="228600" latinLnBrk="0">
      <a:defRPr sz="1200">
        <a:latin typeface="+mn-lt"/>
        <a:ea typeface="+mn-ea"/>
        <a:cs typeface="+mn-cs"/>
        <a:sym typeface="Calibri"/>
      </a:defRPr>
    </a:lvl2pPr>
    <a:lvl3pPr indent="457200" latinLnBrk="0">
      <a:defRPr sz="1200">
        <a:latin typeface="+mn-lt"/>
        <a:ea typeface="+mn-ea"/>
        <a:cs typeface="+mn-cs"/>
        <a:sym typeface="Calibri"/>
      </a:defRPr>
    </a:lvl3pPr>
    <a:lvl4pPr indent="685800" latinLnBrk="0">
      <a:defRPr sz="1200">
        <a:latin typeface="+mn-lt"/>
        <a:ea typeface="+mn-ea"/>
        <a:cs typeface="+mn-cs"/>
        <a:sym typeface="Calibri"/>
      </a:defRPr>
    </a:lvl4pPr>
    <a:lvl5pPr indent="914400" latinLnBrk="0">
      <a:defRPr sz="1200">
        <a:latin typeface="+mn-lt"/>
        <a:ea typeface="+mn-ea"/>
        <a:cs typeface="+mn-cs"/>
        <a:sym typeface="Calibri"/>
      </a:defRPr>
    </a:lvl5pPr>
    <a:lvl6pPr indent="1143000" latinLnBrk="0">
      <a:defRPr sz="1200">
        <a:latin typeface="+mn-lt"/>
        <a:ea typeface="+mn-ea"/>
        <a:cs typeface="+mn-cs"/>
        <a:sym typeface="Calibri"/>
      </a:defRPr>
    </a:lvl6pPr>
    <a:lvl7pPr indent="1371600" latinLnBrk="0">
      <a:defRPr sz="1200">
        <a:latin typeface="+mn-lt"/>
        <a:ea typeface="+mn-ea"/>
        <a:cs typeface="+mn-cs"/>
        <a:sym typeface="Calibri"/>
      </a:defRPr>
    </a:lvl7pPr>
    <a:lvl8pPr indent="1600200" latinLnBrk="0">
      <a:defRPr sz="1200">
        <a:latin typeface="+mn-lt"/>
        <a:ea typeface="+mn-ea"/>
        <a:cs typeface="+mn-cs"/>
        <a:sym typeface="Calibri"/>
      </a:defRPr>
    </a:lvl8pPr>
    <a:lvl9pPr indent="1828800" latinLnBrk="0">
      <a:defRPr sz="1200">
        <a:latin typeface="+mn-lt"/>
        <a:ea typeface="+mn-ea"/>
        <a:cs typeface="+mn-cs"/>
        <a:sym typeface="Calibri"/>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b.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en-GB" dirty="0"/>
              <a:t>Good morning. Over the next twenty minutes I want to talk about something that is not a tool problem. Our teams have adopted AI coding agents — that part is settled. What has not been settled is how we agree on what those agents should build.</a:t>
            </a:r>
          </a:p>
          <a:p>
            <a:r>
              <a:rPr lang="en-GB" dirty="0"/>
              <a:t>I will show you OpenSpec, which puts a short written specification between a request and the code an agent writes. Their own line for it is on the slide — building the right thing, and building it right — and that is the whole argument in six words. It is open source under the MIT licence — that is on this slide — it is free, and it runs inside the coding assistant our engineers already use. Nothing to buy, nothing to migrate to. Say that early; it removes two objections before they form.</a:t>
            </a:r>
          </a:p>
          <a:p>
            <a:r>
              <a:rPr lang="en-GB" dirty="0"/>
              <a:t>There is a live demo towards the end, on one of the Watchlist batch jobs, and I have annexes for the questions I expect.</a:t>
            </a:r>
          </a:p>
          <a:p/>
          <a:p>
            <a:r>
              <a:rPr lang="en-GB" dirty="0"/>
              <a:t>NAVIGATION — every slide number matches its position. Type the number, then Enter.</a:t>
            </a:r>
          </a:p>
          <a:p>
            <a:r>
              <a:rPr lang="en-GB" dirty="0"/>
              <a:t>2 the problem · 3 the idea · 4 the loop · 5 one change end to end · 6 what a change produces · 7 where the spec lives · 8 use case · 9 migration agent · 10 demo · 11 takeaways · 12 annexes divider.</a:t>
            </a:r>
          </a:p>
          <a:p>
            <a:r>
              <a:rPr lang="en-GB" dirty="0"/>
              <a:t>13 what changes in practice · 14 Mindset · 15 BMAD · 16 what it costs · 17 the pilot · 18 business requirements · 19 explore · 20 the opsx commands · 21 the workflow as OpenSpec shows it · 22 the engineers' roles · 23 alternative conclusion · 24 JIRA and SharePoint · 25 old vs new process · 26 what a spec looks like · 27 proposal.md · 28 specs/ · 29 design.md · 30 tasks.md · 31 several repositories · 32 making it fit your process · 33 to 35 earlier versions of slides 3 and 4.</a:t>
            </a:r>
          </a:p>
          <a:p>
            <a:r>
              <a:rPr lang="en-GB" dirty="0"/>
              <a:t>Most likely to be asked for: 16 what it costs, 20 the commands, 23 JIRA and SharePoint, 25 what a spec actually looks like.</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en-GB" dirty="0"/>
              <a:t>Let them read the chat on the right before you say anything. Most of the room will recognise it immediately.</a:t>
            </a:r>
          </a:p>
          <a:p>
            <a:r>
              <a:rPr lang="en-GB" dirty="0"/>
              <a:t>The title names what they are looking at: your requirements live in chat history. Then the line that does the work — the requirements were agreed in a chat window, and a chat window is not a specification.</a:t>
            </a:r>
          </a:p>
          <a:p>
            <a:r>
              <a:rPr lang="en-GB" dirty="0"/>
              <a:t>Walk the chat: a real requirement gets built up in conversation — the reset flow, the thirty-minute expiry, then the link that must only work once. Then it fades. Tomorrow there is a new session and none of it is here.</a:t>
            </a:r>
          </a:p>
          <a:p>
            <a:r>
              <a:rPr lang="en-GB" dirty="0"/>
              <a:t>Three words, and they are the spine of the rest of the deck.</a:t>
            </a:r>
          </a:p>
          <a:p>
            <a:r>
              <a:rPr lang="en-GB" dirty="0"/>
              <a:t>Not reviewable: no one can check the intent before the code exists. This is the one that worries people most — by the time there is something to look at, the misunderstanding is already built.</a:t>
            </a:r>
          </a:p>
          <a:p>
            <a:r>
              <a:rPr lang="en-GB" dirty="0"/>
              <a:t>Not versioned: no record of what changed, or why. The requirement moved three times in that conversation and nothing kept score.</a:t>
            </a:r>
          </a:p>
          <a:p>
            <a:r>
              <a:rPr lang="en-GB" dirty="0"/>
              <a:t>Not shared: it stays inside one developer’s session. Nobody else on the team can read it, question it, or pick it up.</a:t>
            </a:r>
          </a:p>
          <a:p>
            <a:r>
              <a:rPr lang="en-GB" dirty="0"/>
              <a:t>Close on the line that sets up everything after: none of these are model problems, they are process problems.</a:t>
            </a:r>
          </a:p>
          <a:p>
            <a:r>
              <a:rPr lang="en-GB" dirty="0"/>
              <a:t>Each of the three is answered later. Not reviewable by the spec review before any code. Not versioned by the change folder that records what moved. Not shared by the spec living in the repository, next to the code.</a:t>
            </a:r>
          </a:p>
          <a:p>
            <a:r>
              <a:rPr lang="en-GB" dirty="0"/>
              <a:t>If someone says this is just vibe coding and their team does not work that way, the answer is that none of this requires indiscipline. A team that reviews everything still has its agreement living in a conversation — unversioned and unshared. The neutral term, if you need one, is prompt-only development.</a:t>
            </a:r>
          </a:p>
          <a:p>
            <a:r>
              <a:rPr lang="en-GB" dirty="0"/>
              <a:t>Note for yourself: this is the same change, add-password-reset, that appears as a written spec later in the deck and in the artefact examples.</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en-GB" dirty="0"/>
              <a:t>Concretely, that means a small set of written files kept with the code, not one document. Together they state the intended behaviour and the reasoning behind it. The teams review it, the agent implements it, and neither works from anything else.</a:t>
            </a:r>
          </a:p>
          <a:p>
            <a:r>
              <a:rPr lang="en-GB" dirty="0"/>
              <a:t>Three consequences, and they answer the three problems from the problem slide — not reviewable, not versioned, not shared. One version, in the repository — not scattered across tickets and chats. The agent works from the spec, not from the last prompt it was given. And behaviour can be checked against a stated intent.</a:t>
            </a:r>
          </a:p>
          <a:p>
            <a:r>
              <a:rPr lang="en-GB" dirty="0"/>
              <a:t>The diagram is the whole point: the spec sits between the people and the agent, and both sides read the same thing.</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en-GB" dirty="0"/>
              <a:t>And here is where all of that sits. This is a repository.</a:t>
            </a:r>
          </a:p>
          <a:p>
            <a:r>
              <a:rPr lang="en-GB" dirty="0"/>
              <a:t>The spec is versioned in the same Git repository as the source code, not in a separate tool. That is the whole point of the approach: documentation that lives beside the code stays alive; documentation that lives elsewhere dies.</a:t>
            </a:r>
          </a:p>
          <a:p>
            <a:r>
              <a:rPr lang="en-GB" dirty="0"/>
              <a:t>Note the two folders. specs/ holds the main specs — the current state of the system. changes/ holds the proposed updates, which are merged into specs/ once they ship.</a:t>
            </a:r>
          </a:p>
          <a:p>
            <a:r>
              <a:rPr lang="en-GB" dirty="0"/>
              <a:t>If someone asks what happens when the application is split across several repositories — which Watchlist will be — annexe 31 covers it. And the third point is the one that matters six months from now: you can see what changed, why it was agreed, and who approved it.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en-GB" dirty="0"/>
              <a:t>The process is three stages, and it is deliberately small. Propose: the agent drafts the change folder — the proposal, the spec, the task list — for you to review. Apply: the implementation follows the approved task list, step by step. Archive: the change is filed and its delta merges into the main specs.</a:t>
            </a:r>
          </a:p>
          <a:p>
            <a:r>
              <a:rPr lang="en-GB" dirty="0"/>
              <a:t>Two things to point at, and they are the reason this slide exists.</a:t>
            </a:r>
          </a:p>
          <a:p>
            <a:r>
              <a:rPr lang="en-GB" dirty="0"/>
              <a:t>First, the arrow between the first two stages. That is where a person approves. Nothing crosses from spec to code until someone has said yes. That is the entire control mechanism — there is no magic anywhere else in this method.</a:t>
            </a:r>
          </a:p>
          <a:p>
            <a:r>
              <a:rPr lang="en-GB" dirty="0"/>
              <a:t>Second, the return arrow underneath. The loop closes: Archive feeds the next Propose. Say the line out loud — one loop per change, the specs grow one change at a time, never one plan for the whole project.</a:t>
            </a:r>
          </a:p>
          <a:p>
            <a:r>
              <a:rPr lang="en-GB" dirty="0"/>
              <a:t>That second point matters more than it looks. When people hear "write the spec before the code", the word they think is waterfall. This is the opposite: the loop runs per change, it takes minutes, and the specification is built by accumulation rather than written up front.</a:t>
            </a:r>
          </a:p>
          <a:p>
            <a:r>
              <a:rPr lang="en-GB" dirty="0"/>
              <a:t>If someone asks about exploring an idea before proposing, there is an optional stage called explore — it writes nothing. Annexe on slide 19. And if someone has looked at openspec.dev, its home page draws the loop with a verify stage as well: it exists, it is not on by default, and the full command set is on annexe 20.</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en-GB" dirty="0"/>
              <a:t>Let me make this concrete with the case that interests us most: modernising Watchlist — both its screens and the batch jobs behind them. The spec states the business behaviour to preserve, independently of technology.</a:t>
            </a:r>
          </a:p>
          <a:p>
            <a:r>
              <a:rPr lang="en-GB" dirty="0"/>
              <a:t>Read this slide line by line — every risk on the left has an answer on the right.</a:t>
            </a:r>
          </a:p>
          <a:p>
            <a:r>
              <a:rPr lang="en-GB" dirty="0"/>
              <a:t>Business logic hard to isolate: the rules are extracted, requirement by requirement. Documentation outdated or missing: the spec is the documentation, versioned with the code. No one can say what the app must do: what must be preserved is written down before anything moves.</a:t>
            </a:r>
          </a:p>
          <a:p>
            <a:r>
              <a:rPr lang="en-GB" dirty="0"/>
              <a:t>That is the whole migration argument, in three lines. And read the bar at the bottom out loud rather than skipping it: we have validated this on the batch jobs, not yet on the screens. Say it before someone asks — WebForms is the harder half, because the business logic tends to sit in the code-behind of the pages, tangled with the page lifecycle.</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en-GB" dirty="0"/>
              <a:t>And this is how it runs. Watchlist as it is today on the left, the target on the right, and in the middle an agent running the OpenSpec workflow.</a:t>
            </a:r>
          </a:p>
          <a:p>
            <a:r>
              <a:rPr lang="en-GB" dirty="0"/>
              <a:t>Four things make it trustworthy. It extracts the business rules by reading the existing application. The teams review before any code — and I want to insist on this one: extraction is where things get lost, so that is where a person checks, not at the end.</a:t>
            </a:r>
          </a:p>
          <a:p>
            <a:r>
              <a:rPr lang="en-GB" dirty="0"/>
              <a:t>It generates the new implementation task by task, against the spec that was approved — screens and jobs alike. The demo in a moment shows the batch side, because a job is self-contained enough to follow end to end in a few minutes. And the scenarios become acceptance tests: each requirement states the behaviour to expect, so the new implementation is checked against it rather than assumed correct.</a:t>
            </a:r>
          </a:p>
          <a:p>
            <a:r>
              <a:rPr lang="en-GB" dirty="0"/>
              <a:t>I am not claiming nothing can be lost. I am telling you where it would be caught. And to be precise about where we are: this is proven on the batch jobs. The screens use the same workflow but the extraction is harder, and we have not done it yet.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en-GB" dirty="0"/>
              <a:t>Annexe. Pull this up if someone asks what changes in practice, day to day. None of it depends on the model getting better. It is what a team can do differently once the intent is written down.</a:t>
            </a:r>
          </a:p>
          <a:p>
            <a:r>
              <a:rPr lang="en-GB" dirty="0"/>
              <a:t>Review changes: a reviewer reads a fifty-line spec instead of reverse-engineering two thousand lines of code — and checks the intent, not the wording.</a:t>
            </a:r>
          </a:p>
          <a:p>
            <a:r>
              <a:rPr lang="en-GB" dirty="0"/>
              <a:t>Disagreement moves earlier: the cheapest moment to say no is before the code exists. A contradiction costs minutes in a document and days once it is built.</a:t>
            </a:r>
          </a:p>
          <a:p>
            <a:r>
              <a:rPr lang="en-GB" dirty="0"/>
              <a:t>Handover changes: a new joiner, or the next agent, reads what the system must do instead of inferring it from what it happens to do.</a:t>
            </a:r>
          </a:p>
          <a:p>
            <a:r>
              <a:rPr lang="en-GB" dirty="0"/>
              <a:t>And the record outlives the model: models change every few months; the spec is what stays.</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pPr/>
            <a:r>
              <a:t>This is the close, and it answers the question that has been sitting in the room since the first slide: why bother writing specs when the AI can already write the code.</a:t>
            </a:r>
          </a:p>
          <a:p>
            <a:pPr/>
            <a:r>
              <a:t>The line under the title is the frame — AI changes the equation, and spec-driven development comes out stronger, not weaker.</a:t>
            </a:r>
          </a:p>
          <a:p>
            <a:pPr/>
            <a:r>
              <a:t>AI accelerates, the spec directs. A model generates fast, but it does not decide our architecture or our security posture. The spec is the frame it generates inside. Speed, under control — that is the trade we are proposing.</a:t>
            </a:r>
          </a:p>
          <a:p>
            <a:pPr/>
            <a:r>
              <a:t>The spec outlives the models. The best models change every few months. The spec lasts. We move from one model to the next without rewriting the product, because the asset is the spec, not the tool that produced the code.</a:t>
            </a:r>
          </a:p>
          <a:p>
            <a:pPr/>
            <a:r>
              <a:t>Traceability becomes vital. When a machine produces a lot of code, knowing why each decision was taken — written, reviewed, versioned — stops being a nice-to-have. It is what keeps the product auditable.</a:t>
            </a:r>
          </a:p>
          <a:p>
            <a:pPr/>
            <a:r>
              <a:t>If you want one sentence to leave them with: the spec becomes the shared language between teams and AI.</a:t>
            </a:r>
          </a:p>
          <a:p>
            <a:pPr/>
            <a:r>
              <a:t>Happy to take questions. Annexes: 16 what it costs, 17 the pilot, 15 how it compares to BMAD, 24 JIRA and SharePoint, 26 what a spec actually looks like. Slide 13 has what changes in practice for the team, if someone asks for the concrete before and after.</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en-GB" dirty="0"/>
              <a:t>Use this if someone asks what is actually wrong with just prompting.</a:t>
            </a:r>
          </a:p>
          <a:p>
            <a:r>
              <a:rPr lang="en-GB" dirty="0"/>
              <a:t>The contrast: skipping the spec means unguided guessing, scope creep and technical debt. Aligning on the target state before generation gives predictable delivery.</a:t>
            </a:r>
          </a:p>
          <a:p>
            <a:r>
              <a:rPr lang="en-GB" dirty="0"/>
              <a:t>Note that the vocabulary here is blunter than in the main deck. Use it with engineers rather than with the room at large.</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en-GB" dirty="0"/>
              <a:t>OpenSpec is one implementation of that idea. Three things matter for us.</a:t>
            </a:r>
          </a:p>
          <a:p>
            <a:r>
              <a:rPr lang="en-GB" dirty="0"/>
              <a:t>It is open source under the MIT licence and free — installed with a single command, no new platform, no account, and no data leaving our repository. That last point usually answers the security question before anyone asks it.</a:t>
            </a:r>
          </a:p>
          <a:p>
            <a:r>
              <a:rPr lang="en-GB" dirty="0"/>
              <a:t>It runs inside the coding assistant the team already uses, Claude included. So this is a shared workflow, not a product we would be locked into.</a:t>
            </a:r>
          </a:p>
          <a:p>
            <a:r>
              <a:rPr lang="en-GB" dirty="0"/>
              <a:t>And it structures every change: each change gets its own folder, reviewed like any change to the code.</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en-GB" dirty="0"/>
              <a:t>[Section marker. Not presented — the slides after this one are for questions.]</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en-GB" dirty="0"/>
              <a:t>So here is the idea, in one sentence. Agree on what to build before any code is written. That is what spec-driven development means.</a:t>
            </a:r>
          </a:p>
          <a:p>
            <a:r>
              <a:rPr lang="en-GB" dirty="0"/>
              <a:t>And I want to be precise about the word specification, because this is not documentation produced after the fact to satisfy an audit. It is the artefact the team argues over, corrects and approves — and it is the only thing the agent is allowed to implement.</a:t>
            </a:r>
          </a:p>
          <a:p>
            <a:r>
              <a:rPr lang="en-GB" dirty="0"/>
              <a:t>Everything else I show you today is machinery in service of that one sentence.</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en-GB" dirty="0"/>
              <a:t>Finally, the thing itself. At the centre of every change sits the requirements file.</a:t>
            </a:r>
          </a:p>
          <a:p>
            <a:r>
              <a:rPr lang="en-GB" dirty="0"/>
              <a:t>Three things to notice. It is written in plain English — no notation to learn, and anyone on the team can read it, correct it and sign it off.</a:t>
            </a:r>
          </a:p>
          <a:p>
            <a:r>
              <a:rPr lang="en-GB" dirty="0"/>
              <a:t>It describes behaviour, not implementation — what the system must do, not how the code goes about it.</a:t>
            </a:r>
          </a:p>
          <a:p>
            <a:r>
              <a:rPr lang="en-GB" dirty="0"/>
              <a:t>And it states only what changes: what this change adds, modifies or removes. That last point is what makes this workable for us, rather than a luxury reserved for new projects.</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en-GB" dirty="0"/>
              <a:t>Rather than describe it further, let me show you. This is the migration agent running the OpenSpec workflow on a real batch job — one of the Watchlist C# jobs being migrated to Spring Batch.</a:t>
            </a:r>
          </a:p>
          <a:p>
            <a:r>
              <a:rPr lang="en-GB" dirty="0"/>
              <a:t>Three things to watch. Extraction: the agent reads the existing job and drafts the rules it actually implements. Review: we read the spec on screen and correct it before a single line of code is written. Generation: the new implementation follows the spec that was approved, not a prompt.</a:t>
            </a:r>
          </a:p>
          <a:p>
            <a:r>
              <a:rPr lang="en-GB" dirty="0"/>
              <a:t>[Run the demo here.]</a:t>
            </a:r>
          </a:p>
          <a:p>
            <a:r>
              <a:rPr lang="en-GB" dirty="0"/>
              <a:t>If anything misbehaves, the same change is already in the repository, archived — I can show you the result either way.</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en-GB" dirty="0"/>
              <a:t>Use this if someone asks how this compares to BMAD, which another team here already uses.</a:t>
            </a:r>
          </a:p>
          <a:p>
            <a:r>
              <a:rPr lang="en-GB" dirty="0"/>
              <a:t>The framing matters. Both frameworks reach the same conclusion — write the intent down before the agent builds — and they differ in how much process they carry. BMAD covers the whole delivery loop, with specialised agent roles and product artefacts. OpenSpec covers one change at a time and lives in the repository.</a:t>
            </a:r>
          </a:p>
          <a:p>
            <a:r>
              <a:rPr lang="en-GB" dirty="0"/>
              <a:t>Say explicitly that the choice is one of weight, not of principle, and that neither replaces the other. Do not turn this into a competition: the other team made a reasonable choice for their context.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en-GB" dirty="0"/>
              <a:t>Use this the moment anyone sounds sceptical — or better, volunteer it before they do.</a:t>
            </a:r>
          </a:p>
          <a:p>
            <a:r>
              <a:rPr lang="en-GB" dirty="0"/>
              <a:t>What it costs: someone writes the spec, usually the engineer who would have written the prompt anyway; the review adds a step; and nothing enforces the discipline but the review itself.</a:t>
            </a:r>
          </a:p>
          <a:p>
            <a:r>
              <a:rPr lang="en-GB" dirty="0"/>
              <a:t>What it does not solve: a wrong requirement stays wrong, it does not make the model better, and a one-line fix does not need a spec.</a:t>
            </a:r>
          </a:p>
          <a:p>
            <a:r>
              <a:rPr lang="en-GB" dirty="0"/>
              <a:t>The bet is simply that stating the intent costs less than discovering it was wrong once the code exists.</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en-GB" dirty="0"/>
              <a:t>Use this if someone asks how we would try it.</a:t>
            </a:r>
          </a:p>
          <a:p>
            <a:r>
              <a:rPr lang="en-GB" dirty="0"/>
              <a:t>One existing application, one team already using a coding agent. One month, with no tooling change beyond installing the CLI. Every change in that period goes through a spec, with no exception — that is how we learn the real cost rather than the best case.</a:t>
            </a:r>
          </a:p>
          <a:p>
            <a:r>
              <a:rPr lang="en-GB" dirty="0"/>
              <a:t>And the criteria are agreed before we start, not after. The simplest one: does the team keep doing it once the month ends?</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en-GB" dirty="0"/>
              <a:t>Here is what one change actually produces. What you are looking at is the folder itself — the real path at the top, and the four files under it, plain markdown, in your repository.</a:t>
            </a:r>
          </a:p>
          <a:p>
            <a:r>
              <a:rPr lang="en-GB" dirty="0"/>
              <a:t>proposal.md is the why — the problem this change exists to solve, in language a non-author can follow.</a:t>
            </a:r>
          </a:p>
          <a:p>
            <a:r>
              <a:rPr lang="en-GB" dirty="0"/>
              <a:t>specs/ is the what — the requirements this change adds, modifies or removes, each with the scenarios that say how it behaves. It is a delta, and it merges into the main specs once it ships.</a:t>
            </a:r>
          </a:p>
          <a:p>
            <a:r>
              <a:rPr lang="en-GB" dirty="0"/>
              <a:t>design.md is the how — the technical approach and the decisions taken, including the options that were rejected.</a:t>
            </a:r>
          </a:p>
          <a:p>
            <a:r>
              <a:rPr lang="en-GB" dirty="0"/>
              <a:t>tasks.md is the order — the checklist the agent works through, one item at a time.</a:t>
            </a:r>
          </a:p>
          <a:p>
            <a:r>
              <a:rPr lang="en-GB" dirty="0"/>
              <a:t>The file names are clickable: if you want to see any of them, I have a real example for each.</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en-GB" dirty="0"/>
              <a:t>The why, in business language. Notice there is nothing technical here — the problem, what changes, and explicitly what is out of scope.</a:t>
            </a:r>
          </a:p>
          <a:p>
            <a:r>
              <a:rPr lang="en-GB" dirty="0"/>
              <a:t>This is the file a non-engineer would read and correct.</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en-GB" dirty="0"/>
              <a:t>The delta — what this change adds or removes. Requirements, with scenarios underneath.</a:t>
            </a:r>
          </a:p>
          <a:p>
            <a:r>
              <a:rPr lang="en-GB" dirty="0"/>
              <a:t>Notice the scenarios are conditions, not test code. They can be read by anyone, and they map directly onto acceptance tests. And notice where they come from: the two scenarios are the two constraints from the request on the demo slide — expires after thirty minutes, works only once.</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en-GB" dirty="0"/>
              <a:t>The how, including the options that were rejected and why.</a:t>
            </a:r>
          </a:p>
          <a:p>
            <a:r>
              <a:rPr lang="en-GB" dirty="0"/>
              <a:t>This is the file that saves an argument six months later, when someone asks why we did not use a dedicated table.</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en-GB" dirty="0"/>
              <a:t>The execution checklist, with progress visible.</a:t>
            </a:r>
          </a:p>
          <a:p>
            <a:r>
              <a:rPr lang="en-GB" dirty="0"/>
              <a:t>The agent works through it one item at a time rather than deciding the order itself — that is what stops it wandering off.</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en-GB" dirty="0"/>
              <a:t>Use this if a business analyst or a product owner asks how this fits with the requirements they already write.</a:t>
            </a:r>
          </a:p>
          <a:p>
            <a:r>
              <a:rPr lang="en-GB" dirty="0"/>
              <a:t>The key message first: OpenSpec does not replace them. What it makes explicit is the step that comes after.</a:t>
            </a:r>
          </a:p>
          <a:p>
            <a:r>
              <a:rPr lang="en-GB" dirty="0"/>
              <a:t>Read the flow left to right. The business requirement stays exactly where it lives today — a ticket, a PRD, a Confluence page. There is no dedicated import command: you simply pass the requirement to propose, as shown. It lands in proposal.md as the why of the change, citing the original, and specs/ holds the behaviour derived from it, written so it can be tested.</a:t>
            </a:r>
          </a:p>
          <a:p>
            <a:r>
              <a:rPr lang="en-GB" dirty="0"/>
              <a:t>Note on the command: /opsx:propose is the canonical spelling. Cursor and GitHub Copilot use /opsx-propose, Amazon Q uses @opsx-propose, Codex uses $openspec-propose. Check yours before saying it out loud.</a:t>
            </a:r>
          </a:p>
          <a:p>
            <a:r>
              <a:rPr lang="en-GB" dirty="0"/>
              <a:t>The line in the middle is the point of the slide: the person who wrote the requirement reviews the behaviour derived from it, before any code exists. Today that translation happens silently, in a developer's head or in an agent's context window, and nobody checks it.</a:t>
            </a:r>
          </a:p>
          <a:p>
            <a:r>
              <a:rPr lang="en-GB" dirty="0"/>
              <a:t>Three reassurances if they push: nothing to migrate on their side, the translation stops being silent, and the traceability runs both ways.</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en-GB" dirty="0"/>
              <a:t>Use this if someone asks what explore actually is, or why it is not one of the three stages on the workflow slide.</a:t>
            </a:r>
          </a:p>
          <a:p>
            <a:r>
              <a:rPr lang="en-GB" dirty="0"/>
              <a:t>Start with the thing that clears up most of the confusion: OpenSpec does not run a program here. What it installs in the repository is a set of instructions for your assistant — in .claude for Claude, equivalent files for other tools. So explore is a role the agent takes, not a piece of software.</a:t>
            </a:r>
          </a:p>
          <a:p>
            <a:r>
              <a:rPr lang="en-GB" dirty="0"/>
              <a:t>The role has three rules. It writes nothing — no file, no code, no spec, which means being wrong costs nothing. It reads the repository first, so it can tell you what already exists and what contradicts it. And it converges on something scopeable: the output is not a document, it is an agreement on what the next change is.</a:t>
            </a:r>
          </a:p>
          <a:p>
            <a:r>
              <a:rPr lang="en-GB" dirty="0"/>
              <a:t>Walk through the exchange if they want detail. The point is the moment the agent flags the contradiction in section 4.2 — that is a disagreement surfacing before any code exists, which is the argument on the impact slide.</a:t>
            </a:r>
          </a:p>
          <a:p>
            <a:r>
              <a:rPr lang="en-GB" dirty="0"/>
              <a:t>And say why it is optional: nothing breaks without it. But a vague propose produces a vague change folder that you then have to fix or throw away. Explore is the free conversation before the expensive generation.</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en-GB" dirty="0"/>
              <a:t>Reference slide. Use it if an engineer asks what the full command set looks like, or whether the three stages on the workflow slide are the whole story.</a:t>
            </a:r>
          </a:p>
          <a:p>
            <a:r>
              <a:rPr lang="en-GB" dirty="0"/>
              <a:t>The left column is what a team gets on day one — those six are installed by default. The right column has to be turned on with openspec config profile; say that if someone asks why they cannot see verify in their own setup. Note that sync and archive are two separate commands: sync merges the change's delta into the main specs, archive files the completed change. The workflow slide folds them together for simplicity — say so if anyone notices.</a:t>
            </a:r>
          </a:p>
          <a:p>
            <a:r>
              <a:rPr lang="en-GB" dirty="0"/>
              <a:t>The right column exists for teams that want to build the artefacts one at a time rather than all at once. Worth knowing: the openspec.dev home page draws its loop with verify in it, so someone who has just looked at the site may expect five stages. Verify is real, it simply is not switched on by default. Annexe 32 explains how the selection is changed, and how far the workflow itself can be configured. If the question is what verify is actually for, the cleanest answer is that validating and verifying are two different jobs: we validate the spec before any code exists — that is the human review — and verify checks afterwards that the implementation matches what was agreed. The review is the one we rely on; verify is a second net, not a replacement. Do not go through it item by item unless asked; the point of showing it is that the tool is not a black box with three buttons.</a:t>
            </a:r>
          </a:p>
          <a:p>
            <a:r>
              <a:rPr lang="en-GB" dirty="0"/>
              <a:t>Two practical notes at the bottom. The spelling changes by assistant, so check yours before typing it live. And the terminal CLI is a separate namespace from the slash commands — openspec init, update, list, show, validate, archive, status, config.</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en-GB" dirty="0"/>
              <a:t>Use this if someone asks what happens to the engineers — and expect it from managers rather than from engineers.</a:t>
            </a:r>
          </a:p>
          <a:p>
            <a:r>
              <a:rPr lang="en-GB" dirty="0"/>
              <a:t>The framing first: the work does not disappear, it moves up a level. Say that before naming the roles, otherwise the three cards sound like a reorganisation.</a:t>
            </a:r>
          </a:p>
          <a:p>
            <a:r>
              <a:rPr lang="en-GB" dirty="0"/>
              <a:t>Spec architect: states the behaviour the system must have and argues it out with the business. The line to land is that the hard part was never the syntax — it was deciding what the system should do.</a:t>
            </a:r>
          </a:p>
          <a:p>
            <a:r>
              <a:rPr lang="en-GB" dirty="0"/>
              <a:t>Agent engineer: sets up the rules, tools and context the agent works inside, so the same request produces the same shape of answer twice running.</a:t>
            </a:r>
          </a:p>
          <a:p>
            <a:r>
              <a:rPr lang="en-GB" dirty="0"/>
              <a:t>Quality guardian: owns the tests, the pipeline, the guardrails. Insist on the last clause — the volume of generated code makes this role more important, not less. That is the answer to anyone who thinks AI reduces the need for QA.</a:t>
            </a:r>
          </a:p>
          <a:p>
            <a:r>
              <a:rPr lang="en-GB" dirty="0"/>
              <a:t>And finish on the line in the dark bar. Some versions of this argument claim that code becomes disposable and can be regenerated cleanly when models improve. Do not say that in front of engineers: their code is in production, it has history, it has been debugged. The honest claim is narrower — the leverage moves, the code stays.</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en-GB" dirty="0"/>
              <a:t>Alternative to the Key takeaways slide. Use this one instead if the room turns out to be more management than engineering — it closes on benefits rather than on the argument.</a:t>
            </a:r>
          </a:p>
          <a:p>
            <a:r>
              <a:rPr lang="en-GB" dirty="0"/>
              <a:t>The difference matters. Key takeaways closes on the reasoning: the problem is the process, control comes from reviewing early, it works on what we already have. This slide closes on what you get: one source of truth, a narrower context, review that scales.</a:t>
            </a:r>
          </a:p>
          <a:p>
            <a:r>
              <a:rPr lang="en-GB" dirty="0"/>
              <a:t>Do not use both. They cover the same ground from two angles and the second one would sound like a repeat.</a:t>
            </a:r>
          </a:p>
          <a:p>
            <a:r>
              <a:rPr lang="en-GB" dirty="0"/>
              <a:t>Land the line in the dark bar, because it answers the fear nobody says out loud: this will slow us down. The claim is deliberately narrow — spec-driven development does not make the AI slower, it makes what comes out of it reviewable. Avoid the stronger version some write-ups use, which promises guaranteed architectural control and code one hundred per cent aligned with the rules. Neither survives a sceptical question.</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en-GB" dirty="0"/>
              <a:t>Use this when someone asks how it fits with JIRA and SharePoint. Expect it early — the first fear is another place to maintain.</a:t>
            </a:r>
          </a:p>
          <a:p>
            <a:r>
              <a:rPr lang="en-GB" dirty="0"/>
              <a:t>Be precise here, because something really does move. JIRA is untouched: it keeps the user stories, the estimates, the board. SharePoint keeps what the business writes — the requirement documents and the context. What moves into the repository is the description of how the system behaves for a given change.</a:t>
            </a:r>
          </a:p>
          <a:p>
            <a:r>
              <a:rPr lang="en-GB" dirty="0"/>
              <a:t>Say why that is worth doing, and the bottom line is the argument. A spec document in SharePoint goes stale the moment the code moves, because nothing forces the two to change together. In the repository it cannot: it is what the agent reads before implementing, and what the review checks. That is the whole difference.</a:t>
            </a:r>
          </a:p>
          <a:p>
            <a:r>
              <a:rPr lang="en-GB" dirty="0"/>
              <a:t>Do not let anyone conclude that we are duplicating. The SharePoint document says what the business wants. The spec in the repository says what the system will do about it. Two different documents, at two different levels — not two copies of one.</a:t>
            </a:r>
          </a:p>
          <a:p>
            <a:r>
              <a:rPr lang="en-GB" dirty="0"/>
              <a:t>The rule in the grey bar is the one the team will ask for: a user story that changes behaviour becomes a change; one that does not stays a plain story. Say it, because otherwise someone will put a label change through the full loop in week one, decide the process is bureaucratic, and drop it. And a change can exist without a story, when the spec itself needs correcting.</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en-GB" dirty="0"/>
              <a:t>Use this when someone asks what actually changes in the way we work.</a:t>
            </a:r>
          </a:p>
          <a:p>
            <a:r>
              <a:rPr lang="en-GB" dirty="0"/>
              <a:t>Let them look at the two rows first. The amber box is the new thing, and the bottom row has one step more than the top one — say that out loud rather than hiding it.</a:t>
            </a:r>
          </a:p>
          <a:p>
            <a:r>
              <a:rPr lang="en-GB" dirty="0"/>
              <a:t>Be explicit on the point everyone gets wrong: the code review does not disappear. Today there is one review, at the end, and the reviewer has to reconstruct the intent from the code. With OpenSpec there are two: a spec review before anything is built, and the usual code review afterwards.</a:t>
            </a:r>
          </a:p>
          <a:p>
            <a:r>
              <a:rPr lang="en-GB" dirty="0"/>
              <a:t>The argument is not that we removed work. It is that the first review is cheap — a short document, minutes to read — and it makes the second one shorter, because the reviewer finally has something to check the code against.</a:t>
            </a:r>
          </a:p>
          <a:p>
            <a:r>
              <a:rPr lang="en-GB" dirty="0"/>
              <a:t>If someone says this adds a step: yes, it does. One cheap one, to make the expensive one easier and to catch disagreements while they still cost minutes.</a:t>
            </a:r>
          </a:p>
        </p:txBody>
      </p:sp>
    </p:spTree>
  </p:cSld>
  <p:clrMapOvr>
    <a:masterClrMapping/>
  </p:clrMapOvr>
</p:notes>
</file>

<file path=ppt/notesSlides/notesSlide31b.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en-GB" dirty="0"/>
              <a:t>This is the whole pitch in one picture, so give it room and let them look before you talk. The line under the title is the promise: agree on what to build before any code is written.</a:t>
            </a:r>
          </a:p>
          <a:p>
            <a:r>
              <a:rPr lang="en-GB" dirty="0"/>
              <a:t>Point at the two rows. Same thing on the left, same thing on the right. The only difference is what sits in the middle.</a:t>
            </a:r>
          </a:p>
          <a:p>
            <a:r>
              <a:rPr lang="en-GB" dirty="0"/>
              <a:t>Today there is a prompt, typed once and gone tomorrow. Nothing durable between what you meant and what the AI produced — just a conversation.</a:t>
            </a:r>
          </a:p>
          <a:p>
            <a:r>
              <a:rPr lang="en-GB" dirty="0"/>
              <a:t>With OpenSpec there is a spec, and read the three words in the box out loud: reviewable, versioned, shared. They are the three problems from the previous slide, answered in the same order. That is the layer, and it is the only thing the agent is allowed to implement. Say it is a small set of written files, not one document — you show them by name in two slides.</a:t>
            </a:r>
          </a:p>
          <a:p>
            <a:r>
              <a:rPr lang="en-GB" dirty="0"/>
              <a:t>That sentence is the one to remember: OpenSpec adds a spec layer between your intent and the code the AI writes. Everything after this slide is machinery in service of it. If anyone objects that this is just documentation with a new name, the honest answer is the opposite: it is validation and verification — a forty-year-old idea in software engineering — applied to code a machine writes. OpenSpec makes the same point on its own home page, and links it to the textbook definition.</a:t>
            </a:r>
          </a:p>
          <a:p>
            <a:r>
              <a:rPr lang="en-GB" dirty="0"/>
              <a:t>If you have the older version of this slide in the annexes — the quote and the source-of-truth diagram — they say the same thing more slowly. Use them only if someone wants it spelled out.</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en-GB" dirty="0"/>
              <a:t>This is the previous slide made real. Same loop, but now it is three commands in the assistant.</a:t>
            </a:r>
          </a:p>
          <a:p>
            <a:r>
              <a:rPr lang="en-GB" dirty="0"/>
              <a:t>Let them read it. Then walk the three beats.</a:t>
            </a:r>
          </a:p>
          <a:p>
            <a:r>
              <a:rPr lang="en-GB" dirty="0"/>
              <a:t>Propose: you say what you want in plain English — add a password reset flow, the link expires after thirty minutes. That is where the need is expressed, and it is the only place you have to write anything. Note that the constraints travel with the request: the thirty minutes and the single use are not afterthoughts here, they are part of what gets written down. One command later the change folder exists, with the proposal, the spec, the design and the task list. Note the folder name: the agent derived add-password-reset from the sentence. Nobody has written code yet.</a:t>
            </a:r>
          </a:p>
          <a:p>
            <a:r>
              <a:rPr lang="en-GB" dirty="0"/>
              <a:t>The amber line is the point of the slide. That is the human decision, and it is the only one. You read the spec, you correct it, you approve. Everything before it is cheap to change; everything after it follows what was agreed.</a:t>
            </a:r>
          </a:p>
          <a:p>
            <a:r>
              <a:rPr lang="en-GB" dirty="0"/>
              <a:t>Apply: the agent works the task list rather than deciding the order itself. Archive: the change is filed and the main specs are updated.</a:t>
            </a:r>
          </a:p>
          <a:p>
            <a:r>
              <a:rPr lang="en-GB" dirty="0"/>
              <a:t>Note the sentence carries the same three things they watched arrive one by one in the chat window on slide 2 — the flow, the thirty minutes, the single use. Point that out if you want the echo: there they arrived scattered and evaporated, here they are written once and become a folder in the repository.</a:t>
            </a:r>
          </a:p>
          <a:p>
            <a:r>
              <a:rPr lang="en-GB" dirty="0"/>
              <a:t>If someone asks about exploring an idea before proposing, there is an optional stage for that — annexe on slide 19.</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pPr/>
            <a:r>
              <a:t>Annexe. Pull this up if someone asks where the spec lives when the application is split across repositories — which is likely once Watchlist becomes a Spring Boot service and a React front end.</a:t>
            </a:r>
          </a:p>
          <a:p>
            <a:pPr/>
            <a:r>
              <a:t>The problem first: a single change touches both sides, and a plan that lives in one of the two repositories is only half a plan.</a:t>
            </a:r>
          </a:p>
          <a:p>
            <a:pPr/>
            <a:r>
              <a:t>A store is a repository that holds nothing but specs and changes. Several code repositories share it, and it is reviewed and versioned exactly like any other repository — no new tool, no new platform.</a:t>
            </a:r>
          </a:p>
          <a:p>
            <a:pPr/>
            <a:r>
              <a:t>A workset opens the store and the repositories that use it in one editor window, so the agent reads both at once.</a:t>
            </a:r>
          </a:p>
          <a:p>
            <a:pPr/>
            <a:r>
              <a:t>Be honest about the maturity: the documentation marks both as beta. If someone is uncomfortable with that, the fallback is one spec scope per repository, with each change citing the other. Say it plainly rather than overselling.</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pPr/>
            <a:r>
              <a:t>Annexe. Use it when someone objects that the method is rigid, or asks whether we would have to work the way the tool wants.</a:t>
            </a:r>
          </a:p>
          <a:p>
            <a:pPr/>
            <a:r>
              <a:t>Three levels of configuration. The profile decides which commands are installed — six by default, more if you turn them on. It is a machine-wide setting, and a project can override it when it is initialised.</a:t>
            </a:r>
          </a:p>
          <a:p>
            <a:pPr/>
            <a:r>
              <a:t>Delivery decides how those commands reach the assistant: as skills, as commands, or both. It exists because tooling differs from team to team.</a:t>
            </a:r>
          </a:p>
          <a:p>
            <a:pPr/>
            <a:r>
              <a:t>And the schema decides which artefacts a change produces. This is the answer to the rigidity objection: the four artefacts are a default, not a rule. Forking the schema copies it into the project, where the artefacts, their order and their templates can be changed and validated.</a:t>
            </a:r>
          </a:p>
          <a:p>
            <a:pPr/>
            <a:r>
              <a:t>The note at the bottom matters for anyone who has already installed OpenSpec: openspec update regenerates the instruction files only, it never touches openspec/specs or openspec/changes — but it does overwrite generated files that were edited by hand.</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pPr/>
            <a:r>
              <a:t>Annexe. Use it when someone has looked at openspec.dev and expects five stages, or when an engineer wants the workflow in one view.</a:t>
            </a:r>
          </a:p>
          <a:p>
            <a:pPr/>
            <a:r>
              <a:t>Read the five stages, then go straight to the two lines under the rule — they are why this slide exists rather than a screenshot of their site.</a:t>
            </a:r>
          </a:p>
          <a:p>
            <a:pPr/>
            <a:r>
              <a:t>explore is installed by default, but it writes nothing. It is a thinking step: map the problem, read the codebase. Nothing is committed to until propose.</a:t>
            </a:r>
          </a:p>
          <a:p>
            <a:pPr/>
            <a:r>
              <a:t>verify is not installed by default. It belongs to the expanded profile — annexe 32 explains how to turn it on. And the default install has two commands this diagram omits: update, which revises artefacts, and sync, which merges the delta into the main specs.</a:t>
            </a:r>
          </a:p>
          <a:p>
            <a:pPr/>
            <a:r>
              <a:t>If someone asks why our workflow slide shows three stages and this one shows five: ours is the loop a team runs every day, propose, apply, archive, with the human review between the first two. The rest are real, and optional.</a:t>
            </a:r>
          </a:p>
        </p:txBody>
      </p:sp>
    </p:spTree>
  </p:cSld>
  <p:clrMapOvr>
    <a:masterClrMapping/>
  </p:clrMapOvr>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FAULT">
    <p:spTree>
      <p:nvGrpSpPr>
        <p:cNvPr id="1" name=""/>
        <p:cNvGrpSpPr/>
        <p:nvPr/>
      </p:nvGrpSpPr>
      <p:grpSpPr>
        <a:xfrm>
          <a:off x="0" y="0"/>
          <a:ext cx="0" cy="0"/>
          <a:chOff x="0" y="0"/>
          <a:chExt cx="0" cy="0"/>
        </a:xfrm>
      </p:grpSpPr>
      <p:sp>
        <p:nvSpPr>
          <p:cNvPr id="11" name="Numéro de diapositive"/>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exte du titre"/>
          <p:cNvSpPr txBox="1"/>
          <p:nvPr>
            <p:ph type="title"/>
          </p:nvPr>
        </p:nvSpPr>
        <p:spPr>
          <a:xfrm>
            <a:off x="609600" y="92074"/>
            <a:ext cx="10972800" cy="1508127"/>
          </a:xfrm>
          <a:prstGeom prst="rect">
            <a:avLst/>
          </a:prstGeom>
          <a:ln w="12700">
            <a:miter lim="400000"/>
          </a:ln>
          <a:extLst>
            <a:ext uri="{C572A759-6A51-4108-AA02-DFA0A04FC94B}">
              <ma14:wrappingTextBoxFlag xmlns:ma14="http://schemas.microsoft.com/office/mac/drawingml/2011/main" val="1"/>
            </a:ext>
          </a:extLst>
        </p:spPr>
        <p:txBody>
          <a:bodyPr lIns="45719" rIns="45719" anchor="ctr"/>
          <a:lstStyle/>
          <a:p>
            <a:pPr/>
            <a:r>
              <a:t>Texte du titre</a:t>
            </a:r>
          </a:p>
        </p:txBody>
      </p:sp>
      <p:sp>
        <p:nvSpPr>
          <p:cNvPr id="3" name="Texte niveau 1…"/>
          <p:cNvSpPr txBox="1"/>
          <p:nvPr>
            <p:ph type="body" idx="1"/>
          </p:nvPr>
        </p:nvSpPr>
        <p:spPr>
          <a:xfrm>
            <a:off x="609600" y="1600200"/>
            <a:ext cx="10972800" cy="5257800"/>
          </a:xfrm>
          <a:prstGeom prst="rect">
            <a:avLst/>
          </a:prstGeom>
          <a:ln w="12700">
            <a:miter lim="400000"/>
          </a:ln>
          <a:extLst>
            <a:ext uri="{C572A759-6A51-4108-AA02-DFA0A04FC94B}">
              <ma14:wrappingTextBoxFlag xmlns:ma14="http://schemas.microsoft.com/office/mac/drawingml/2011/main" val="1"/>
            </a:ext>
          </a:extLst>
        </p:spPr>
        <p:txBody>
          <a:bodyPr lIns="45719" rIns="45719"/>
          <a:lstStyle/>
          <a:p>
            <a:pPr/>
            <a:r>
              <a:t>Texte niveau 1</a:t>
            </a:r>
          </a:p>
          <a:p>
            <a:pPr lvl="1"/>
            <a:r>
              <a:t>Texte niveau 2</a:t>
            </a:r>
          </a:p>
          <a:p>
            <a:pPr lvl="2"/>
            <a:r>
              <a:t>Texte niveau 3</a:t>
            </a:r>
          </a:p>
          <a:p>
            <a:pPr lvl="3"/>
            <a:r>
              <a:t>Texte niveau 4</a:t>
            </a:r>
          </a:p>
          <a:p>
            <a:pPr lvl="4"/>
            <a:r>
              <a:t>Texte niveau 5</a:t>
            </a:r>
          </a:p>
        </p:txBody>
      </p:sp>
      <p:sp>
        <p:nvSpPr>
          <p:cNvPr id="4" name="Numéro de diapositive"/>
          <p:cNvSpPr txBox="1"/>
          <p:nvPr>
            <p:ph type="sldNum" sz="quarter" idx="2"/>
          </p:nvPr>
        </p:nvSpPr>
        <p:spPr>
          <a:xfrm>
            <a:off x="5892800" y="6172200"/>
            <a:ext cx="2844800" cy="368301"/>
          </a:xfrm>
          <a:prstGeom prst="rect">
            <a:avLst/>
          </a:prstGeom>
          <a:ln w="12700">
            <a:miter lim="400000"/>
          </a:ln>
        </p:spPr>
        <p:txBody>
          <a:bodyPr wrap="none" lIns="45719" rIns="45719" anchor="ctr">
            <a:spAutoFit/>
          </a:bodyPr>
          <a:lstStyle>
            <a:lvl1pPr algn="r">
              <a:defRPr sz="1200"/>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Lst>
  <p:transition xmlns:p14="http://schemas.microsoft.com/office/powerpoint/2010/main" spd="med" advClick="1"/>
  <p:txStyles>
    <p:titleStyle>
      <a:lvl1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1pPr>
      <a:lvl2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2pPr>
      <a:lvl3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3pPr>
      <a:lvl4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4pPr>
      <a:lvl5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5pPr>
      <a:lvl6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6pPr>
      <a:lvl7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7pPr>
      <a:lvl8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8pPr>
      <a:lvl9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9pPr>
    </p:titleStyle>
    <p:bodyStyle>
      <a:lvl1pPr marL="342900" marR="0" indent="-3429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1pPr>
      <a:lvl2pPr marL="783771" marR="0" indent="-326571"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2pPr>
      <a:lvl3pPr marL="1219200" marR="0" indent="-3048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3pPr>
      <a:lvl4pPr marL="17373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4pPr>
      <a:lvl5pPr marL="21945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5pPr>
      <a:lvl6pPr marL="26517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6pPr>
      <a:lvl7pPr marL="31089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7pPr>
      <a:lvl8pPr marL="35661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8pPr>
      <a:lvl9pPr marL="40233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5pPr>
      <a:lvl6pPr marL="0" marR="0" indent="22860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6pPr>
      <a:lvl7pPr marL="0" marR="0" indent="2743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7pPr>
      <a:lvl8pPr marL="0" marR="0" indent="3200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8pPr>
      <a:lvl9pPr marL="0" marR="0" indent="3657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Notes" Type="http://schemas.openxmlformats.org/officeDocument/2006/relationships/notesSlide" Target="../notesSlides/notesSlide1.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Notes" Type="http://schemas.openxmlformats.org/officeDocument/2006/relationships/notesSlide" Target="../notesSlides/notesSlide2.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Notes" Type="http://schemas.openxmlformats.org/officeDocument/2006/relationships/notesSlide" Target="../notesSlides/notesSlide3.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Notes" Type="http://schemas.openxmlformats.org/officeDocument/2006/relationships/notesSlide" Target="../notesSlides/notesSlide4.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Notes" Type="http://schemas.openxmlformats.org/officeDocument/2006/relationships/notesSlide" Target="../notesSlides/notesSlide5.xml"/></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Notes" Type="http://schemas.openxmlformats.org/officeDocument/2006/relationships/notesSlide" Target="../notesSlides/notesSlide6.xml"/></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Notes" Type="http://schemas.openxmlformats.org/officeDocument/2006/relationships/notesSlide" Target="../notesSlides/notesSlide7.xml"/></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Notes" Type="http://schemas.openxmlformats.org/officeDocument/2006/relationships/notesSlide" Target="../notesSlides/notesSlide8.xml"/></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Notes" Type="http://schemas.openxmlformats.org/officeDocument/2006/relationships/notesSlide" Target="../notesSlides/notesSlide9.xml"/></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 Id="rIdNotes" Type="http://schemas.openxmlformats.org/officeDocument/2006/relationships/notesSlide" Target="../notesSlides/notesSlide10.xml"/></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Relationship Id="rIdNotes" Type="http://schemas.openxmlformats.org/officeDocument/2006/relationships/notesSlide" Target="../notesSlides/notesSlide11.xml"/></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Relationship Id="rIdNotes" Type="http://schemas.openxmlformats.org/officeDocument/2006/relationships/notesSlide" Target="../notesSlides/notesSlide12.xml"/></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Relationship Id="rIdNotes" Type="http://schemas.openxmlformats.org/officeDocument/2006/relationships/notesSlide" Target="../notesSlides/notesSlide31b.xml"/></Relationships>

</file>

<file path=ppt/slides/_rels/slide14.xml.rels><?xml version="1.0" encoding="UTF-8"?>
<Relationships xmlns="http://schemas.openxmlformats.org/package/2006/relationships"><Relationship Id="rId1" Type="http://schemas.openxmlformats.org/officeDocument/2006/relationships/slideLayout" Target="../slideLayouts/slideLayout1.xml"/><Relationship Id="rIdNotes" Type="http://schemas.openxmlformats.org/officeDocument/2006/relationships/notesSlide" Target="../notesSlides/notesSlide14.xml"/></Relationships>

</file>

<file path=ppt/slides/_rels/slide15.xml.rels><?xml version="1.0" encoding="UTF-8"?>
<Relationships xmlns="http://schemas.openxmlformats.org/package/2006/relationships"><Relationship Id="rId1" Type="http://schemas.openxmlformats.org/officeDocument/2006/relationships/slideLayout" Target="../slideLayouts/slideLayout1.xml"/><Relationship Id="rIdNotes" Type="http://schemas.openxmlformats.org/officeDocument/2006/relationships/notesSlide" Target="../notesSlides/notesSlide15.xml"/></Relationships>

</file>

<file path=ppt/slides/_rels/slide16.xml.rels><?xml version="1.0" encoding="UTF-8"?>
<Relationships xmlns="http://schemas.openxmlformats.org/package/2006/relationships"><Relationship Id="rId1" Type="http://schemas.openxmlformats.org/officeDocument/2006/relationships/slideLayout" Target="../slideLayouts/slideLayout1.xml"/><Relationship Id="rIdNotes" Type="http://schemas.openxmlformats.org/officeDocument/2006/relationships/notesSlide" Target="../notesSlides/notesSlide16.xml"/></Relationships>

</file>

<file path=ppt/slides/_rels/slide17.xml.rels><?xml version="1.0" encoding="UTF-8"?>
<Relationships xmlns="http://schemas.openxmlformats.org/package/2006/relationships"><Relationship Id="rId1" Type="http://schemas.openxmlformats.org/officeDocument/2006/relationships/slideLayout" Target="../slideLayouts/slideLayout1.xml"/><Relationship Id="rIdNotes" Type="http://schemas.openxmlformats.org/officeDocument/2006/relationships/notesSlide" Target="../notesSlides/notesSlide17.xml"/></Relationships>

</file>

<file path=ppt/slides/_rels/slide18.xml.rels><?xml version="1.0" encoding="UTF-8"?>
<Relationships xmlns="http://schemas.openxmlformats.org/package/2006/relationships"><Relationship Id="rId1" Type="http://schemas.openxmlformats.org/officeDocument/2006/relationships/slideLayout" Target="../slideLayouts/slideLayout1.xml"/><Relationship Id="rIdNotes" Type="http://schemas.openxmlformats.org/officeDocument/2006/relationships/notesSlide" Target="../notesSlides/notesSlide18.xml"/></Relationships>

</file>

<file path=ppt/slides/_rels/slide19.xml.rels><?xml version="1.0" encoding="UTF-8"?>
<Relationships xmlns="http://schemas.openxmlformats.org/package/2006/relationships"><Relationship Id="rId1" Type="http://schemas.openxmlformats.org/officeDocument/2006/relationships/slideLayout" Target="../slideLayouts/slideLayout1.xml"/><Relationship Id="rIdArt0" Type="http://schemas.openxmlformats.org/officeDocument/2006/relationships/slide" Target="slide20.xml"/><Relationship Id="rIdArt1" Type="http://schemas.openxmlformats.org/officeDocument/2006/relationships/slide" Target="slide21.xml"/><Relationship Id="rIdArt2" Type="http://schemas.openxmlformats.org/officeDocument/2006/relationships/slide" Target="slide22.xml"/><Relationship Id="rIdArt3" Type="http://schemas.openxmlformats.org/officeDocument/2006/relationships/slide" Target="slide23.xml"/><Relationship Id="rIdNotes" Type="http://schemas.openxmlformats.org/officeDocument/2006/relationships/notesSlide" Target="../notesSlides/notesSlide19.xml"/></Relationships>

</file>

<file path=ppt/slides/_rels/slide20.xml.rels><?xml version="1.0" encoding="UTF-8"?>
<Relationships xmlns="http://schemas.openxmlformats.org/package/2006/relationships"><Relationship Id="rId1" Type="http://schemas.openxmlformats.org/officeDocument/2006/relationships/slideLayout" Target="../slideLayouts/slideLayout1.xml"/><Relationship Id="rIdBack" Type="http://schemas.openxmlformats.org/officeDocument/2006/relationships/slide" Target="slide19.xml"/><Relationship Id="rIdNotes" Type="http://schemas.openxmlformats.org/officeDocument/2006/relationships/notesSlide" Target="../notesSlides/notesSlide20.xml"/></Relationships>

</file>

<file path=ppt/slides/_rels/slide21.xml.rels><?xml version="1.0" encoding="UTF-8"?>
<Relationships xmlns="http://schemas.openxmlformats.org/package/2006/relationships"><Relationship Id="rId1" Type="http://schemas.openxmlformats.org/officeDocument/2006/relationships/slideLayout" Target="../slideLayouts/slideLayout1.xml"/><Relationship Id="rIdBack" Type="http://schemas.openxmlformats.org/officeDocument/2006/relationships/slide" Target="slide19.xml"/><Relationship Id="rIdNotes" Type="http://schemas.openxmlformats.org/officeDocument/2006/relationships/notesSlide" Target="../notesSlides/notesSlide21.xml"/></Relationships>

</file>

<file path=ppt/slides/_rels/slide22.xml.rels><?xml version="1.0" encoding="UTF-8"?>
<Relationships xmlns="http://schemas.openxmlformats.org/package/2006/relationships"><Relationship Id="rId1" Type="http://schemas.openxmlformats.org/officeDocument/2006/relationships/slideLayout" Target="../slideLayouts/slideLayout1.xml"/><Relationship Id="rIdBack" Type="http://schemas.openxmlformats.org/officeDocument/2006/relationships/slide" Target="slide19.xml"/><Relationship Id="rIdNotes" Type="http://schemas.openxmlformats.org/officeDocument/2006/relationships/notesSlide" Target="../notesSlides/notesSlide22.xml"/></Relationships>

</file>

<file path=ppt/slides/_rels/slide23.xml.rels><?xml version="1.0" encoding="UTF-8"?>
<Relationships xmlns="http://schemas.openxmlformats.org/package/2006/relationships"><Relationship Id="rId1" Type="http://schemas.openxmlformats.org/officeDocument/2006/relationships/slideLayout" Target="../slideLayouts/slideLayout1.xml"/><Relationship Id="rIdBack" Type="http://schemas.openxmlformats.org/officeDocument/2006/relationships/slide" Target="slide19.xml"/><Relationship Id="rIdNotes" Type="http://schemas.openxmlformats.org/officeDocument/2006/relationships/notesSlide" Target="../notesSlides/notesSlide23.xml"/></Relationships>

</file>

<file path=ppt/slides/_rels/slide24.xml.rels><?xml version="1.0" encoding="UTF-8"?>
<Relationships xmlns="http://schemas.openxmlformats.org/package/2006/relationships"><Relationship Id="rId1" Type="http://schemas.openxmlformats.org/officeDocument/2006/relationships/slideLayout" Target="../slideLayouts/slideLayout1.xml"/><Relationship Id="rIdNotes" Type="http://schemas.openxmlformats.org/officeDocument/2006/relationships/notesSlide" Target="../notesSlides/notesSlide24.xml"/></Relationships>

</file>

<file path=ppt/slides/_rels/slide25.xml.rels><?xml version="1.0" encoding="UTF-8"?>
<Relationships xmlns="http://schemas.openxmlformats.org/package/2006/relationships"><Relationship Id="rId1" Type="http://schemas.openxmlformats.org/officeDocument/2006/relationships/slideLayout" Target="../slideLayouts/slideLayout1.xml"/><Relationship Id="rIdNotes" Type="http://schemas.openxmlformats.org/officeDocument/2006/relationships/notesSlide" Target="../notesSlides/notesSlide25.xml"/></Relationships>

</file>

<file path=ppt/slides/_rels/slide26.xml.rels><?xml version="1.0" encoding="UTF-8"?>
<Relationships xmlns="http://schemas.openxmlformats.org/package/2006/relationships"><Relationship Id="rId1" Type="http://schemas.openxmlformats.org/officeDocument/2006/relationships/slideLayout" Target="../slideLayouts/slideLayout1.xml"/><Relationship Id="rIdNotes" Type="http://schemas.openxmlformats.org/officeDocument/2006/relationships/notesSlide" Target="../notesSlides/notesSlide26.xml"/></Relationships>

</file>

<file path=ppt/slides/_rels/slide27.xml.rels><?xml version="1.0" encoding="UTF-8"?>
<Relationships xmlns="http://schemas.openxmlformats.org/package/2006/relationships"><Relationship Id="rId1" Type="http://schemas.openxmlformats.org/officeDocument/2006/relationships/slideLayout" Target="../slideLayouts/slideLayout1.xml"/><Relationship Id="rIdNotes" Type="http://schemas.openxmlformats.org/officeDocument/2006/relationships/notesSlide" Target="../notesSlides/notesSlide27.xml"/></Relationships>

</file>

<file path=ppt/slides/_rels/slide28.xml.rels><?xml version="1.0" encoding="UTF-8"?>
<Relationships xmlns="http://schemas.openxmlformats.org/package/2006/relationships"><Relationship Id="rId1" Type="http://schemas.openxmlformats.org/officeDocument/2006/relationships/slideLayout" Target="../slideLayouts/slideLayout1.xml"/><Relationship Id="rIdNotes" Type="http://schemas.openxmlformats.org/officeDocument/2006/relationships/notesSlide" Target="../notesSlides/notesSlide28.xml"/></Relationships>

</file>

<file path=ppt/slides/_rels/slide29.xml.rels><?xml version="1.0" encoding="UTF-8"?>
<Relationships xmlns="http://schemas.openxmlformats.org/package/2006/relationships"><Relationship Id="rId1" Type="http://schemas.openxmlformats.org/officeDocument/2006/relationships/slideLayout" Target="../slideLayouts/slideLayout1.xml"/><Relationship Id="rIdNotes" Type="http://schemas.openxmlformats.org/officeDocument/2006/relationships/notesSlide" Target="../notesSlides/notesSlide29.xml"/></Relationships>

</file>

<file path=ppt/slides/_rels/slide30.xml.rels><?xml version="1.0" encoding="UTF-8"?>
<Relationships xmlns="http://schemas.openxmlformats.org/package/2006/relationships"><Relationship Id="rId1" Type="http://schemas.openxmlformats.org/officeDocument/2006/relationships/slideLayout" Target="../slideLayouts/slideLayout1.xml"/><Relationship Id="rIdNotes" Type="http://schemas.openxmlformats.org/officeDocument/2006/relationships/notesSlide" Target="../notesSlides/notesSlide30.xml"/></Relationships>

</file>

<file path=ppt/slides/_rels/slide31.xml.rels><?xml version="1.0" encoding="UTF-8"?>
<Relationships xmlns="http://schemas.openxmlformats.org/package/2006/relationships"><Relationship Id="rId1" Type="http://schemas.openxmlformats.org/officeDocument/2006/relationships/slideLayout" Target="../slideLayouts/slideLayout1.xml"/><Relationship Id="rIdNotes" Type="http://schemas.openxmlformats.org/officeDocument/2006/relationships/notesSlide" Target="../notesSlides/notesSlide13.xml"/></Relationships>

</file>

<file path=ppt/slides/_rels/slide32.xml.rels><?xml version="1.0" encoding="UTF-8"?>
<Relationships xmlns="http://schemas.openxmlformats.org/package/2006/relationships"><Relationship Id="rId1" Type="http://schemas.openxmlformats.org/officeDocument/2006/relationships/slideLayout" Target="../slideLayouts/slideLayout1.xml"/><Relationship Id="rIdArt0" Type="http://schemas.openxmlformats.org/officeDocument/2006/relationships/slide" Target="slide20.xml"/><Relationship Id="rIdArt1" Type="http://schemas.openxmlformats.org/officeDocument/2006/relationships/slide" Target="slide21.xml"/><Relationship Id="rIdArt2" Type="http://schemas.openxmlformats.org/officeDocument/2006/relationships/slide" Target="slide22.xml"/><Relationship Id="rIdArt3" Type="http://schemas.openxmlformats.org/officeDocument/2006/relationships/slide" Target="slide23.xml"/><Relationship Id="rIdNotes" Type="http://schemas.openxmlformats.org/officeDocument/2006/relationships/notesSlide" Target="../notesSlides/notesSlide32.xml"/></Relationships>

</file>

<file path=ppt/slides/_rels/slide34.xml.rels><?xml version="1.0" encoding="UTF-8"?>
<Relationships xmlns="http://schemas.openxmlformats.org/package/2006/relationships"><Relationship Id="rId1" Type="http://schemas.openxmlformats.org/officeDocument/2006/relationships/slideLayout" Target="../slideLayouts/slideLayout1.xml"/><Relationship Id="rIdNotes" Type="http://schemas.openxmlformats.org/officeDocument/2006/relationships/notesSlide" Target="../notesSlides/notesSlide34.xml"/></Relationships>
</file>

<file path=ppt/slides/_rels/slide35.xml.rels><?xml version="1.0" encoding="UTF-8"?>
<Relationships xmlns="http://schemas.openxmlformats.org/package/2006/relationships"><Relationship Id="rId1" Type="http://schemas.openxmlformats.org/officeDocument/2006/relationships/slideLayout" Target="../slideLayouts/slideLayout1.xml"/><Relationship Id="rIdNotes" Type="http://schemas.openxmlformats.org/officeDocument/2006/relationships/notesSlide" Target="../notesSlides/notesSlide35.xml"/></Relationships>
</file>

<file path=ppt/slides/_rels/slide36.xml.rels><?xml version="1.0" encoding="UTF-8"?>
<Relationships xmlns="http://schemas.openxmlformats.org/package/2006/relationships"><Relationship Id="rId1" Type="http://schemas.openxmlformats.org/officeDocument/2006/relationships/slideLayout" Target="../slideLayouts/slideLayout1.xml"/><Relationship Id="rIdNotes"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3" name="Shape 0"/>
          <p:cNvSpPr/>
          <p:nvPr/>
        </p:nvSpPr>
        <p:spPr>
          <a:xfrm>
            <a:off x="7818120" y="-1005840"/>
            <a:ext cx="5120640" cy="5120640"/>
          </a:xfrm>
          <a:prstGeom prst="roundRect">
            <a:avLst>
              <a:gd name="adj" fmla="val 8929"/>
            </a:avLst>
          </a:prstGeom>
          <a:solidFill>
            <a:srgbClr val="2A3070"/>
          </a:solidFill>
          <a:ln w="12700">
            <a:solidFill>
              <a:srgbClr val="3B4468"/>
            </a:solidFill>
            <a:prstDash val="solid"/>
          </a:ln>
        </p:spPr>
      </p:sp>
      <p:sp>
        <p:nvSpPr>
          <p:cNvPr id="4" name="Shape 1"/>
          <p:cNvSpPr/>
          <p:nvPr/>
        </p:nvSpPr>
        <p:spPr>
          <a:xfrm>
            <a:off x="8686800" y="3108960"/>
            <a:ext cx="4206240" cy="4206240"/>
          </a:xfrm>
          <a:prstGeom prst="roundRect">
            <a:avLst>
              <a:gd name="adj" fmla="val 8696"/>
            </a:avLst>
          </a:prstGeom>
          <a:solidFill>
            <a:srgbClr val="171C48"/>
          </a:solidFill>
          <a:ln w="12700">
            <a:solidFill>
              <a:srgbClr val="3B4468"/>
            </a:solidFill>
            <a:prstDash val="solid"/>
          </a:ln>
        </p:spPr>
      </p:sp>
      <p:sp>
        <p:nvSpPr>
          <p:cNvPr id="5" name="Shape 2"/>
          <p:cNvSpPr/>
          <p:nvPr/>
        </p:nvSpPr>
        <p:spPr>
          <a:xfrm>
            <a:off x="10332720" y="2331720"/>
            <a:ext cx="914400" cy="914400"/>
          </a:xfrm>
          <a:prstGeom prst="ellipse">
            <a:avLst/>
          </a:prstGeom>
          <a:solidFill>
            <a:srgbClr val="FF6B4A"/>
          </a:solidFill>
          <a:ln w="12700">
            <a:solidFill>
              <a:srgbClr val="FF6B4A"/>
            </a:solidFill>
            <a:prstDash val="solid"/>
          </a:ln>
        </p:spPr>
      </p:sp>
      <p:sp>
        <p:nvSpPr>
          <p:cNvPr id="6" name="Text 3"/>
          <p:cNvSpPr/>
          <p:nvPr/>
        </p:nvSpPr>
        <p:spPr>
          <a:xfrm>
            <a:off x="640080" y="1371600"/>
            <a:ext cx="7315200" cy="274320"/>
          </a:xfrm>
          <a:prstGeom prst="rect">
            <a:avLst/>
          </a:prstGeom>
          <a:noFill/>
          <a:ln/>
        </p:spPr>
        <p:txBody>
          <a:bodyPr wrap="square" lIns="0" tIns="0" rIns="0" bIns="0" rtlCol="0" anchor="ctr"/>
          <a:lstStyle/>
          <a:p>
            <a:pPr indent="0" marL="0">
              <a:buNone/>
            </a:pPr>
            <a:r>
              <a:rPr lang="en-US" sz="1150" b="1" spc="220" kern="0" dirty="0">
                <a:solidFill>
                  <a:srgbClr val="FF6B4A"/>
                </a:solidFill>
                <a:latin typeface="Calibri" pitchFamily="34" charset="0"/>
                <a:ea typeface="Calibri" pitchFamily="34" charset="-122"/>
                <a:cs typeface="Calibri" pitchFamily="34" charset="-120"/>
              </a:rPr>
              <a:t>OPEN SOURCE  ·  MIT LICENSE</a:t>
            </a:r>
            <a:endParaRPr lang="en-US" sz="1150" dirty="0"/>
          </a:p>
        </p:txBody>
      </p:sp>
      <p:sp>
        <p:nvSpPr>
          <p:cNvPr id="7" name="Text 4"/>
          <p:cNvSpPr/>
          <p:nvPr/>
        </p:nvSpPr>
        <p:spPr>
          <a:xfrm>
            <a:off x="640080" y="1783080"/>
            <a:ext cx="7315200" cy="1051560"/>
          </a:xfrm>
          <a:prstGeom prst="rect">
            <a:avLst/>
          </a:prstGeom>
          <a:noFill/>
          <a:ln/>
        </p:spPr>
        <p:txBody>
          <a:bodyPr wrap="square" lIns="0" tIns="0" rIns="0" bIns="0" rtlCol="0" anchor="ctr"/>
          <a:lstStyle/>
          <a:p>
            <a:pPr indent="0" marL="0">
              <a:buNone/>
            </a:pPr>
            <a:r>
              <a:rPr lang="en-US" sz="6200" b="1" dirty="0">
                <a:solidFill>
                  <a:srgbClr val="FFFFFF"/>
                </a:solidFill>
                <a:latin typeface="Cambria" pitchFamily="34" charset="0"/>
                <a:ea typeface="Cambria" pitchFamily="34" charset="-122"/>
                <a:cs typeface="Cambria" pitchFamily="34" charset="-120"/>
              </a:rPr>
              <a:t>OpenSpec</a:t>
            </a:r>
            <a:endParaRPr lang="en-US" sz="6200" dirty="0"/>
          </a:p>
        </p:txBody>
      </p:sp>
      <p:sp>
        <p:nvSpPr>
          <p:cNvPr id="8" name="Text 5"/>
          <p:cNvSpPr/>
          <p:nvPr/>
        </p:nvSpPr>
        <p:spPr>
          <a:xfrm>
            <a:off x="640080" y="2834640"/>
            <a:ext cx="9601200" cy="640080"/>
          </a:xfrm>
          <a:prstGeom prst="rect">
            <a:avLst/>
          </a:prstGeom>
          <a:noFill/>
          <a:ln/>
        </p:spPr>
        <p:txBody>
          <a:bodyPr wrap="square" lIns="0" tIns="0" rIns="0" bIns="0" rtlCol="0" anchor="ctr"/>
          <a:lstStyle/>
          <a:p>
            <a:pPr indent="0" marL="0">
              <a:buNone/>
            </a:pPr>
            <a:r>
              <a:rPr lang="en-US" sz="2200" dirty="0">
                <a:solidFill>
                  <a:srgbClr val="CADCFC"/>
                </a:solidFill>
                <a:latin typeface="Calibri" pitchFamily="34" charset="0"/>
                <a:ea typeface="Calibri" pitchFamily="34" charset="-122"/>
                <a:cs typeface="Calibri" pitchFamily="34" charset="-120"/>
              </a:rPr>
              <a:t>A lightweight framework for spec-driven development with AI</a:t>
            </a:r>
            <a:endParaRPr lang="en-US" sz="2200" dirty="0"/>
          </a:p>
        </p:txBody>
      </p:sp>
      <p:sp>
        <p:nvSpPr>
          <p:cNvPr id="10" name="Text 7"/>
          <p:cNvSpPr/>
          <p:nvPr/>
        </p:nvSpPr>
        <p:spPr>
          <a:xfrm>
            <a:off x="640080" y="3840480"/>
            <a:ext cx="6583680" cy="731520"/>
          </a:xfrm>
          <a:prstGeom prst="rect">
            <a:avLst/>
          </a:prstGeom>
          <a:noFill/>
          <a:ln/>
        </p:spPr>
        <p:txBody>
          <a:bodyPr wrap="square" lIns="0" tIns="0" rIns="0" bIns="0" rtlCol="0" anchor="t"/>
          <a:lstStyle/>
          <a:p>
            <a:pPr indent="0" marL="0">
              <a:buNone/>
            </a:pPr>
            <a:r>
              <a:rPr lang="en-US" sz="1500" i="1" dirty="0">
                <a:solidFill>
                  <a:srgbClr val="9AA3C0"/>
                </a:solidFill>
                <a:latin typeface="Calibri" pitchFamily="34" charset="0"/>
                <a:ea typeface="Calibri" pitchFamily="34" charset="-122"/>
                <a:cs typeface="Calibri" pitchFamily="34" charset="-120"/>
              </a:rPr>
              <a:t>Building the right thing, and building it right</a:t>
            </a:r>
            <a:endParaRPr lang="en-US" sz="1500" dirty="0"/>
          </a:p>
        </p:txBody>
      </p:sp>
      <p:sp>
        <p:nvSpPr>
          <p:cNvPr id="11" name="Text 8"/>
          <p:cNvSpPr/>
          <p:nvPr/>
        </p:nvSpPr>
        <p:spPr>
          <a:xfrm>
            <a:off x="640080" y="5806440"/>
            <a:ext cx="7315200" cy="320040"/>
          </a:xfrm>
          <a:prstGeom prst="rect">
            <a:avLst/>
          </a:prstGeom>
          <a:noFill/>
          <a:ln/>
        </p:spPr>
        <p:txBody>
          <a:bodyPr wrap="square" lIns="0" tIns="0" rIns="0" bIns="0" rtlCol="0" anchor="ctr"/>
          <a:lstStyle/>
          <a:p>
            <a:pPr indent="0" marL="0">
              <a:buNone/>
            </a:pPr>
            <a:r>
              <a:rPr lang="en-US" sz="1200" dirty="0">
                <a:solidFill>
                  <a:srgbClr val="6C74A0"/>
                </a:solidFill>
                <a:latin typeface="Calibri" pitchFamily="34" charset="0"/>
                <a:ea typeface="Calibri" pitchFamily="34" charset="-122"/>
                <a:cs typeface="Calibri" pitchFamily="34" charset="-120"/>
              </a:rPr>
              <a:t>Executive briefing  ·  openspec.dev  ·  August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7" name="Text 0"/>
          <p:cNvSpPr txBox="1"/>
          <p:nvPr/>
        </p:nvSpPr>
        <p:spPr>
          <a:xfrm>
            <a:off x="685800" y="545400"/>
            <a:ext cx="7223761" cy="28080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200" sz="1100">
                <a:solidFill>
                  <a:srgbClr val="FF6B4A"/>
                </a:solidFill>
                <a:latin typeface="Calibri"/>
              </a:defRPr>
            </a:lvl1pPr>
          </a:lstStyle>
          <a:p>
            <a:pPr/>
            <a:r>
              <a:t>The problem</a:t>
            </a:r>
          </a:p>
        </p:txBody>
      </p:sp>
      <p:sp>
        <p:nvSpPr>
          <p:cNvPr id="44" name="Text 17"/>
          <p:cNvSpPr txBox="1"/>
          <p:nvPr/>
        </p:nvSpPr>
        <p:spPr>
          <a:xfrm>
            <a:off x="502919" y="6572163"/>
            <a:ext cx="722376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900">
                <a:solidFill>
                  <a:srgbClr val="5C6484"/>
                </a:solidFill>
                <a:latin typeface="Calibri"/>
              </a:defRPr>
            </a:lvl1pPr>
          </a:lstStyle>
          <a:p>
            <a:pPr/>
            <a:r>
              <a:t>OpenSpec — Spec-Driven Development</a:t>
            </a:r>
          </a:p>
        </p:txBody>
      </p:sp>
      <p:sp>
        <p:nvSpPr>
          <p:cNvPr id="45" name="Text 18"/>
          <p:cNvSpPr txBox="1"/>
          <p:nvPr/>
        </p:nvSpPr>
        <p:spPr>
          <a:xfrm>
            <a:off x="11475719" y="6572163"/>
            <a:ext cx="27432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900">
                <a:solidFill>
                  <a:srgbClr val="5C6484"/>
                </a:solidFill>
                <a:latin typeface="Calibri"/>
              </a:defRPr>
            </a:lvl1pPr>
          </a:lstStyle>
          <a:p>
            <a:pPr/>
            <a:r>
              <a:t>2</a:t>
            </a:r>
          </a:p>
        </p:txBody>
      </p:sp>
      <p:sp>
        <p:nvSpPr>
          <p:cNvPr id="301" name="Title"/>
          <p:cNvSpPr txBox="1"/>
          <p:nvPr/>
        </p:nvSpPr>
        <p:spPr>
          <a:xfrm>
            <a:off x="685800" y="943610"/>
            <a:ext cx="10820400" cy="489954"/>
          </a:xfrm>
          <a:prstGeom prst="rect">
            <a:avLst/>
          </a:prstGeom>
          <a:ln w="12700">
            <a:noFill/>
            <a:miter lim="400000"/>
          </a:ln>
        </p:spPr>
        <p:txBody>
          <a:bodyPr lIns="45719" rIns="45719" tIns="0" bIns="0" anchor="ctr"/>
          <a:lstStyle>
            <a:lvl1pPr algn="l">
              <a:defRPr b="1" sz="3000">
                <a:solidFill>
                  <a:srgbClr val="1E2761"/>
                </a:solidFill>
                <a:latin typeface="Cambria"/>
              </a:defRPr>
            </a:lvl1pPr>
          </a:lstStyle>
          <a:p>
            <a:pPr/>
            <a:r>
              <a:t>Your requirements live in chat history</a:t>
            </a:r>
          </a:p>
        </p:txBody>
      </p:sp>
      <p:sp>
        <p:nvSpPr>
          <p:cNvPr id="302" name="Lead"/>
          <p:cNvSpPr txBox="1"/>
          <p:nvPr/>
        </p:nvSpPr>
        <p:spPr>
          <a:xfrm>
            <a:off x="685800" y="1600200"/>
            <a:ext cx="5029200" cy="548640"/>
          </a:xfrm>
          <a:prstGeom prst="rect">
            <a:avLst/>
          </a:prstGeom>
          <a:ln w="12700">
            <a:noFill/>
            <a:miter lim="400000"/>
          </a:ln>
        </p:spPr>
        <p:txBody>
          <a:bodyPr lIns="45719" rIns="45719" tIns="0" bIns="0" anchor="t"/>
          <a:lstStyle>
            <a:lvl1pPr algn="l">
              <a:defRPr sz="1450">
                <a:solidFill>
                  <a:srgbClr val="2C3352"/>
                </a:solidFill>
                <a:latin typeface="Calibri"/>
              </a:defRPr>
            </a:lvl1pPr>
          </a:lstStyle>
          <a:p>
            <a:pPr/>
            <a:r>
              <a:t>The requirements were agreed in a chat window.</a:t>
            </a:r>
          </a:p>
          <a:p>
            <a:pPr/>
            <a:r>
              <a:t>A chat window is not a specification.</a:t>
            </a:r>
          </a:p>
        </p:txBody>
      </p:sp>
      <p:sp>
        <p:nvSpPr>
          <p:cNvPr id="400" name="Dot0"/>
          <p:cNvSpPr/>
          <p:nvPr/>
        </p:nvSpPr>
        <p:spPr>
          <a:xfrm>
            <a:off x="685800" y="2628900"/>
            <a:ext cx="137160" cy="137160"/>
          </a:xfrm>
          <a:prstGeom prst="roundRect">
            <a:avLst>
              <a:gd name="adj" fmla="val 50000"/>
            </a:avLst>
          </a:prstGeom>
          <a:solidFill>
            <a:srgbClr val="FF6B4A"/>
          </a:solidFill>
          <a:ln w="12700">
            <a:noFill/>
            <a:miter lim="400000"/>
          </a:ln>
        </p:spPr>
        <p:txBody>
          <a:bodyPr lIns="45719" rIns="45719"/>
          <a:lstStyle/>
          <a:p>
            <a:pPr/>
          </a:p>
        </p:txBody>
      </p:sp>
      <p:sp>
        <p:nvSpPr>
          <p:cNvPr id="303" name="H0"/>
          <p:cNvSpPr txBox="1"/>
          <p:nvPr/>
        </p:nvSpPr>
        <p:spPr>
          <a:xfrm>
            <a:off x="1005840" y="2560320"/>
            <a:ext cx="4709160" cy="320040"/>
          </a:xfrm>
          <a:prstGeom prst="rect">
            <a:avLst/>
          </a:prstGeom>
          <a:ln w="12700">
            <a:noFill/>
            <a:miter lim="400000"/>
          </a:ln>
        </p:spPr>
        <p:txBody>
          <a:bodyPr lIns="45719" rIns="45719" tIns="0" bIns="0" anchor="t"/>
          <a:lstStyle>
            <a:lvl1pPr algn="l">
              <a:defRPr b="1" sz="1600">
                <a:solidFill>
                  <a:srgbClr val="1E2761"/>
                </a:solidFill>
                <a:latin typeface="Cambria"/>
              </a:defRPr>
            </a:lvl1pPr>
          </a:lstStyle>
          <a:p>
            <a:pPr/>
            <a:r>
              <a:t>Not reviewable</a:t>
            </a:r>
          </a:p>
        </p:txBody>
      </p:sp>
      <p:sp>
        <p:nvSpPr>
          <p:cNvPr id="304" name="B0"/>
          <p:cNvSpPr txBox="1"/>
          <p:nvPr/>
        </p:nvSpPr>
        <p:spPr>
          <a:xfrm>
            <a:off x="1005840" y="2926080"/>
            <a:ext cx="4709160" cy="594360"/>
          </a:xfrm>
          <a:prstGeom prst="rect">
            <a:avLst/>
          </a:prstGeom>
          <a:ln w="12700">
            <a:noFill/>
            <a:miter lim="400000"/>
          </a:ln>
        </p:spPr>
        <p:txBody>
          <a:bodyPr lIns="45719" rIns="45719" tIns="0" bIns="0" anchor="t"/>
          <a:lstStyle>
            <a:lvl1pPr algn="l">
              <a:defRPr sz="1250">
                <a:solidFill>
                  <a:srgbClr val="2C3352"/>
                </a:solidFill>
                <a:latin typeface="Calibri"/>
              </a:defRPr>
            </a:lvl1pPr>
          </a:lstStyle>
          <a:p>
            <a:pPr/>
            <a:r>
              <a:t>No one can check the intent before the code exists.</a:t>
            </a:r>
          </a:p>
        </p:txBody>
      </p:sp>
      <p:sp>
        <p:nvSpPr>
          <p:cNvPr id="401" name="Dot1"/>
          <p:cNvSpPr/>
          <p:nvPr/>
        </p:nvSpPr>
        <p:spPr>
          <a:xfrm>
            <a:off x="685800" y="3634740"/>
            <a:ext cx="137160" cy="137160"/>
          </a:xfrm>
          <a:prstGeom prst="roundRect">
            <a:avLst>
              <a:gd name="adj" fmla="val 50000"/>
            </a:avLst>
          </a:prstGeom>
          <a:solidFill>
            <a:srgbClr val="FF6B4A"/>
          </a:solidFill>
          <a:ln w="12700">
            <a:noFill/>
            <a:miter lim="400000"/>
          </a:ln>
        </p:spPr>
        <p:txBody>
          <a:bodyPr lIns="45719" rIns="45719"/>
          <a:lstStyle/>
          <a:p>
            <a:pPr/>
          </a:p>
        </p:txBody>
      </p:sp>
      <p:sp>
        <p:nvSpPr>
          <p:cNvPr id="305" name="H1"/>
          <p:cNvSpPr txBox="1"/>
          <p:nvPr/>
        </p:nvSpPr>
        <p:spPr>
          <a:xfrm>
            <a:off x="1005840" y="3566160"/>
            <a:ext cx="4709160" cy="320040"/>
          </a:xfrm>
          <a:prstGeom prst="rect">
            <a:avLst/>
          </a:prstGeom>
          <a:ln w="12700">
            <a:noFill/>
            <a:miter lim="400000"/>
          </a:ln>
        </p:spPr>
        <p:txBody>
          <a:bodyPr lIns="45719" rIns="45719" tIns="0" bIns="0" anchor="t"/>
          <a:lstStyle>
            <a:lvl1pPr algn="l">
              <a:defRPr b="1" sz="1600">
                <a:solidFill>
                  <a:srgbClr val="1E2761"/>
                </a:solidFill>
                <a:latin typeface="Cambria"/>
              </a:defRPr>
            </a:lvl1pPr>
          </a:lstStyle>
          <a:p>
            <a:pPr/>
            <a:r>
              <a:t>Not versioned</a:t>
            </a:r>
          </a:p>
        </p:txBody>
      </p:sp>
      <p:sp>
        <p:nvSpPr>
          <p:cNvPr id="306" name="B1"/>
          <p:cNvSpPr txBox="1"/>
          <p:nvPr/>
        </p:nvSpPr>
        <p:spPr>
          <a:xfrm>
            <a:off x="1005840" y="3931920"/>
            <a:ext cx="4709160" cy="594360"/>
          </a:xfrm>
          <a:prstGeom prst="rect">
            <a:avLst/>
          </a:prstGeom>
          <a:ln w="12700">
            <a:noFill/>
            <a:miter lim="400000"/>
          </a:ln>
        </p:spPr>
        <p:txBody>
          <a:bodyPr lIns="45719" rIns="45719" tIns="0" bIns="0" anchor="t"/>
          <a:lstStyle>
            <a:lvl1pPr algn="l">
              <a:defRPr sz="1250">
                <a:solidFill>
                  <a:srgbClr val="2C3352"/>
                </a:solidFill>
                <a:latin typeface="Calibri"/>
              </a:defRPr>
            </a:lvl1pPr>
          </a:lstStyle>
          <a:p>
            <a:pPr/>
            <a:r>
              <a:t>No record of what changed, or why.</a:t>
            </a:r>
          </a:p>
        </p:txBody>
      </p:sp>
      <p:sp>
        <p:nvSpPr>
          <p:cNvPr id="402" name="Dot2"/>
          <p:cNvSpPr/>
          <p:nvPr/>
        </p:nvSpPr>
        <p:spPr>
          <a:xfrm>
            <a:off x="685800" y="4640580"/>
            <a:ext cx="137160" cy="137160"/>
          </a:xfrm>
          <a:prstGeom prst="roundRect">
            <a:avLst>
              <a:gd name="adj" fmla="val 50000"/>
            </a:avLst>
          </a:prstGeom>
          <a:solidFill>
            <a:srgbClr val="FF6B4A"/>
          </a:solidFill>
          <a:ln w="12700">
            <a:noFill/>
            <a:miter lim="400000"/>
          </a:ln>
        </p:spPr>
        <p:txBody>
          <a:bodyPr lIns="45719" rIns="45719"/>
          <a:lstStyle/>
          <a:p>
            <a:pPr/>
          </a:p>
        </p:txBody>
      </p:sp>
      <p:sp>
        <p:nvSpPr>
          <p:cNvPr id="307" name="H2"/>
          <p:cNvSpPr txBox="1"/>
          <p:nvPr/>
        </p:nvSpPr>
        <p:spPr>
          <a:xfrm>
            <a:off x="1005840" y="4572000"/>
            <a:ext cx="4709160" cy="320040"/>
          </a:xfrm>
          <a:prstGeom prst="rect">
            <a:avLst/>
          </a:prstGeom>
          <a:ln w="12700">
            <a:noFill/>
            <a:miter lim="400000"/>
          </a:ln>
        </p:spPr>
        <p:txBody>
          <a:bodyPr lIns="45719" rIns="45719" tIns="0" bIns="0" anchor="t"/>
          <a:lstStyle>
            <a:lvl1pPr algn="l">
              <a:defRPr b="1" sz="1600">
                <a:solidFill>
                  <a:srgbClr val="1E2761"/>
                </a:solidFill>
                <a:latin typeface="Cambria"/>
              </a:defRPr>
            </a:lvl1pPr>
          </a:lstStyle>
          <a:p>
            <a:pPr/>
            <a:r>
              <a:t>Not shared</a:t>
            </a:r>
          </a:p>
        </p:txBody>
      </p:sp>
      <p:sp>
        <p:nvSpPr>
          <p:cNvPr id="308" name="B2"/>
          <p:cNvSpPr txBox="1"/>
          <p:nvPr/>
        </p:nvSpPr>
        <p:spPr>
          <a:xfrm>
            <a:off x="1005840" y="4937760"/>
            <a:ext cx="4709160" cy="594360"/>
          </a:xfrm>
          <a:prstGeom prst="rect">
            <a:avLst/>
          </a:prstGeom>
          <a:ln w="12700">
            <a:noFill/>
            <a:miter lim="400000"/>
          </a:ln>
        </p:spPr>
        <p:txBody>
          <a:bodyPr lIns="45719" rIns="45719" tIns="0" bIns="0" anchor="t"/>
          <a:lstStyle>
            <a:lvl1pPr algn="l">
              <a:defRPr sz="1250">
                <a:solidFill>
                  <a:srgbClr val="2C3352"/>
                </a:solidFill>
                <a:latin typeface="Calibri"/>
              </a:defRPr>
            </a:lvl1pPr>
          </a:lstStyle>
          <a:p>
            <a:pPr/>
            <a:r>
              <a:t>It stays inside one developer’s session.</a:t>
            </a:r>
          </a:p>
        </p:txBody>
      </p:sp>
      <p:sp>
        <p:nvSpPr>
          <p:cNvPr id="450" name="Chat card"/>
          <p:cNvSpPr/>
          <p:nvPr/>
        </p:nvSpPr>
        <p:spPr>
          <a:xfrm>
            <a:off x="6217920" y="1965960"/>
            <a:ext cx="5303520" cy="4114800"/>
          </a:xfrm>
          <a:prstGeom prst="roundRect">
            <a:avLst>
              <a:gd name="adj" fmla="val 3000"/>
            </a:avLst>
          </a:prstGeom>
          <a:solidFill>
            <a:srgbClr val="EEF2FC"/>
          </a:solidFill>
          <a:ln w="12700">
            <a:noFill/>
            <a:miter lim="400000"/>
          </a:ln>
        </p:spPr>
        <p:txBody>
          <a:bodyPr lIns="45719" rIns="45719"/>
          <a:lstStyle/>
          <a:p>
            <a:pPr/>
          </a:p>
        </p:txBody>
      </p:sp>
      <p:sp>
        <p:nvSpPr>
          <p:cNvPr id="460" name="msg0"/>
          <p:cNvSpPr/>
          <p:nvPr/>
        </p:nvSpPr>
        <p:spPr>
          <a:xfrm>
            <a:off x="7726680" y="2286000"/>
            <a:ext cx="3474720" cy="502920"/>
          </a:xfrm>
          <a:prstGeom prst="roundRect">
            <a:avLst>
              <a:gd name="adj" fmla="val 20000"/>
            </a:avLst>
          </a:prstGeom>
          <a:solidFill>
            <a:srgbClr val="1E2761"/>
          </a:solidFill>
          <a:ln w="12700">
            <a:noFill/>
            <a:miter lim="400000"/>
          </a:ln>
        </p:spPr>
        <p:txBody>
          <a:bodyPr lIns="45719" rIns="45719"/>
          <a:lstStyle/>
          <a:p>
            <a:pPr/>
          </a:p>
        </p:txBody>
      </p:sp>
      <p:sp>
        <p:nvSpPr>
          <p:cNvPr id="309" name="mt0"/>
          <p:cNvSpPr txBox="1"/>
          <p:nvPr/>
        </p:nvSpPr>
        <p:spPr>
          <a:xfrm>
            <a:off x="7932420" y="2286000"/>
            <a:ext cx="3063240" cy="502920"/>
          </a:xfrm>
          <a:prstGeom prst="rect">
            <a:avLst/>
          </a:prstGeom>
          <a:ln w="12700">
            <a:noFill/>
            <a:miter lim="400000"/>
          </a:ln>
        </p:spPr>
        <p:txBody>
          <a:bodyPr lIns="45719" rIns="45719" tIns="0" bIns="0" anchor="ctr"/>
          <a:lstStyle>
            <a:lvl1pPr algn="r">
              <a:defRPr sz="1000">
                <a:solidFill>
                  <a:srgbClr val="FFFFFF"/>
                </a:solidFill>
                <a:latin typeface="Calibri"/>
              </a:defRPr>
            </a:lvl1pPr>
          </a:lstStyle>
          <a:p>
            <a:pPr/>
            <a:r>
              <a:t>Add a password reset flow</a:t>
            </a:r>
          </a:p>
        </p:txBody>
      </p:sp>
      <p:sp>
        <p:nvSpPr>
          <p:cNvPr id="461" name="msg1"/>
          <p:cNvSpPr/>
          <p:nvPr/>
        </p:nvSpPr>
        <p:spPr>
          <a:xfrm>
            <a:off x="6537960" y="2880360"/>
            <a:ext cx="3474720" cy="502920"/>
          </a:xfrm>
          <a:prstGeom prst="roundRect">
            <a:avLst>
              <a:gd name="adj" fmla="val 20000"/>
            </a:avLst>
          </a:prstGeom>
          <a:solidFill>
            <a:srgbClr val="CADCFC"/>
          </a:solidFill>
          <a:ln w="12700">
            <a:noFill/>
            <a:miter lim="400000"/>
          </a:ln>
        </p:spPr>
        <p:txBody>
          <a:bodyPr lIns="45719" rIns="45719"/>
          <a:lstStyle/>
          <a:p>
            <a:pPr/>
          </a:p>
        </p:txBody>
      </p:sp>
      <p:sp>
        <p:nvSpPr>
          <p:cNvPr id="310" name="mt1"/>
          <p:cNvSpPr txBox="1"/>
          <p:nvPr/>
        </p:nvSpPr>
        <p:spPr>
          <a:xfrm>
            <a:off x="6743700" y="2880360"/>
            <a:ext cx="3063240" cy="502920"/>
          </a:xfrm>
          <a:prstGeom prst="rect">
            <a:avLst/>
          </a:prstGeom>
          <a:ln w="12700">
            <a:noFill/>
            <a:miter lim="400000"/>
          </a:ln>
        </p:spPr>
        <p:txBody>
          <a:bodyPr lIns="45719" rIns="45719" tIns="0" bIns="0" anchor="ctr"/>
          <a:lstStyle>
            <a:lvl1pPr algn="l">
              <a:defRPr sz="1000">
                <a:solidFill>
                  <a:srgbClr val="2C3352"/>
                </a:solidFill>
                <a:latin typeface="Calibri"/>
              </a:defRPr>
            </a:lvl1pPr>
          </a:lstStyle>
          <a:p>
            <a:pPr/>
            <a:r>
              <a:t>Done — endpoint and email added.</a:t>
            </a:r>
          </a:p>
        </p:txBody>
      </p:sp>
      <p:sp>
        <p:nvSpPr>
          <p:cNvPr id="462" name="msg2"/>
          <p:cNvSpPr/>
          <p:nvPr/>
        </p:nvSpPr>
        <p:spPr>
          <a:xfrm>
            <a:off x="7726680" y="3474720"/>
            <a:ext cx="3474720" cy="502920"/>
          </a:xfrm>
          <a:prstGeom prst="roundRect">
            <a:avLst>
              <a:gd name="adj" fmla="val 20000"/>
            </a:avLst>
          </a:prstGeom>
          <a:solidFill>
            <a:srgbClr val="3B4468"/>
          </a:solidFill>
          <a:ln w="12700">
            <a:noFill/>
            <a:miter lim="400000"/>
          </a:ln>
        </p:spPr>
        <p:txBody>
          <a:bodyPr lIns="45719" rIns="45719"/>
          <a:lstStyle/>
          <a:p>
            <a:pPr/>
          </a:p>
        </p:txBody>
      </p:sp>
      <p:sp>
        <p:nvSpPr>
          <p:cNvPr id="311" name="mt2"/>
          <p:cNvSpPr txBox="1"/>
          <p:nvPr/>
        </p:nvSpPr>
        <p:spPr>
          <a:xfrm>
            <a:off x="7932420" y="3474720"/>
            <a:ext cx="3063240" cy="502920"/>
          </a:xfrm>
          <a:prstGeom prst="rect">
            <a:avLst/>
          </a:prstGeom>
          <a:ln w="12700">
            <a:noFill/>
            <a:miter lim="400000"/>
          </a:ln>
        </p:spPr>
        <p:txBody>
          <a:bodyPr lIns="45719" rIns="45719" tIns="0" bIns="0" anchor="ctr"/>
          <a:lstStyle>
            <a:lvl1pPr algn="r">
              <a:defRPr sz="1000">
                <a:solidFill>
                  <a:srgbClr val="FFFFFF"/>
                </a:solidFill>
                <a:latin typeface="Calibri"/>
              </a:defRPr>
            </a:lvl1pPr>
          </a:lstStyle>
          <a:p>
            <a:pPr/>
            <a:r>
              <a:t>It should expire after 30 minutes</a:t>
            </a:r>
          </a:p>
        </p:txBody>
      </p:sp>
      <p:sp>
        <p:nvSpPr>
          <p:cNvPr id="463" name="msg3"/>
          <p:cNvSpPr/>
          <p:nvPr/>
        </p:nvSpPr>
        <p:spPr>
          <a:xfrm>
            <a:off x="6537960" y="4069080"/>
            <a:ext cx="2011680" cy="502920"/>
          </a:xfrm>
          <a:prstGeom prst="roundRect">
            <a:avLst>
              <a:gd name="adj" fmla="val 20000"/>
            </a:avLst>
          </a:prstGeom>
          <a:solidFill>
            <a:srgbClr val="DCE5FA"/>
          </a:solidFill>
          <a:ln w="12700">
            <a:noFill/>
            <a:miter lim="400000"/>
          </a:ln>
        </p:spPr>
        <p:txBody>
          <a:bodyPr lIns="45719" rIns="45719"/>
          <a:lstStyle/>
          <a:p>
            <a:pPr/>
          </a:p>
        </p:txBody>
      </p:sp>
      <p:sp>
        <p:nvSpPr>
          <p:cNvPr id="312" name="mt3"/>
          <p:cNvSpPr txBox="1"/>
          <p:nvPr/>
        </p:nvSpPr>
        <p:spPr>
          <a:xfrm>
            <a:off x="6743700" y="4069080"/>
            <a:ext cx="1600200" cy="502920"/>
          </a:xfrm>
          <a:prstGeom prst="rect">
            <a:avLst/>
          </a:prstGeom>
          <a:ln w="12700">
            <a:noFill/>
            <a:miter lim="400000"/>
          </a:ln>
        </p:spPr>
        <p:txBody>
          <a:bodyPr lIns="45719" rIns="45719" tIns="0" bIns="0" anchor="ctr"/>
          <a:lstStyle>
            <a:lvl1pPr algn="l">
              <a:defRPr sz="1000">
                <a:solidFill>
                  <a:srgbClr val="5C6484"/>
                </a:solidFill>
                <a:latin typeface="Calibri"/>
              </a:defRPr>
            </a:lvl1pPr>
          </a:lstStyle>
          <a:p>
            <a:pPr/>
            <a:r>
              <a:t>Updated.</a:t>
            </a:r>
          </a:p>
        </p:txBody>
      </p:sp>
      <p:sp>
        <p:nvSpPr>
          <p:cNvPr id="464" name="msg4"/>
          <p:cNvSpPr/>
          <p:nvPr/>
        </p:nvSpPr>
        <p:spPr>
          <a:xfrm>
            <a:off x="7726680" y="4663440"/>
            <a:ext cx="3474720" cy="502920"/>
          </a:xfrm>
          <a:prstGeom prst="roundRect">
            <a:avLst>
              <a:gd name="adj" fmla="val 20000"/>
            </a:avLst>
          </a:prstGeom>
          <a:solidFill>
            <a:srgbClr val="5C6484"/>
          </a:solidFill>
          <a:ln w="12700">
            <a:noFill/>
            <a:miter lim="400000"/>
          </a:ln>
        </p:spPr>
        <p:txBody>
          <a:bodyPr lIns="45719" rIns="45719"/>
          <a:lstStyle/>
          <a:p>
            <a:pPr/>
          </a:p>
        </p:txBody>
      </p:sp>
      <p:sp>
        <p:nvSpPr>
          <p:cNvPr id="313" name="mt4"/>
          <p:cNvSpPr txBox="1"/>
          <p:nvPr/>
        </p:nvSpPr>
        <p:spPr>
          <a:xfrm>
            <a:off x="7932420" y="4663440"/>
            <a:ext cx="3063240" cy="502920"/>
          </a:xfrm>
          <a:prstGeom prst="rect">
            <a:avLst/>
          </a:prstGeom>
          <a:ln w="12700">
            <a:noFill/>
            <a:miter lim="400000"/>
          </a:ln>
        </p:spPr>
        <p:txBody>
          <a:bodyPr lIns="45719" rIns="45719" tIns="0" bIns="0" anchor="ctr"/>
          <a:lstStyle>
            <a:lvl1pPr algn="r">
              <a:defRPr sz="1000">
                <a:solidFill>
                  <a:srgbClr val="EEF2FC"/>
                </a:solidFill>
                <a:latin typeface="Calibri"/>
              </a:defRPr>
            </a:lvl1pPr>
          </a:lstStyle>
          <a:p>
            <a:pPr/>
            <a:r>
              <a:t>and the link must work only once</a:t>
            </a:r>
          </a:p>
        </p:txBody>
      </p:sp>
      <p:sp>
        <p:nvSpPr>
          <p:cNvPr id="315" name="Chat note"/>
          <p:cNvSpPr txBox="1"/>
          <p:nvPr/>
        </p:nvSpPr>
        <p:spPr>
          <a:xfrm>
            <a:off x="6537960" y="5455920"/>
            <a:ext cx="4663440" cy="320040"/>
          </a:xfrm>
          <a:prstGeom prst="rect">
            <a:avLst/>
          </a:prstGeom>
          <a:ln w="12700">
            <a:noFill/>
            <a:miter lim="400000"/>
          </a:ln>
        </p:spPr>
        <p:txBody>
          <a:bodyPr lIns="45719" rIns="45719" tIns="0" bIns="0" anchor="t"/>
          <a:lstStyle>
            <a:lvl1pPr algn="ctr">
              <a:defRPr i="1" sz="1050">
                <a:solidFill>
                  <a:srgbClr val="5C6484"/>
                </a:solidFill>
                <a:latin typeface="Calibri"/>
              </a:defRPr>
            </a:lvl1pPr>
          </a:lstStyle>
          <a:p>
            <a:pPr/>
            <a:r>
              <a:t>Tomorrow, a new session — none of this is here.</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1E2761"/>
        </a:solidFill>
      </p:bgPr>
    </p:bg>
    <p:spTree>
      <p:nvGrpSpPr>
        <p:cNvPr id="1" name=""/>
        <p:cNvGrpSpPr/>
        <p:nvPr/>
      </p:nvGrpSpPr>
      <p:grpSpPr>
        <a:xfrm>
          <a:off x="0" y="0"/>
          <a:ext cx="0" cy="0"/>
          <a:chOff x="0" y="0"/>
          <a:chExt cx="0" cy="0"/>
        </a:xfrm>
      </p:grpSpPr>
      <p:sp>
        <p:nvSpPr>
          <p:cNvPr id="47" name="Text 0"/>
          <p:cNvSpPr txBox="1"/>
          <p:nvPr/>
        </p:nvSpPr>
        <p:spPr>
          <a:xfrm>
            <a:off x="685800" y="545400"/>
            <a:ext cx="7223761" cy="28080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200" sz="1100">
                <a:solidFill>
                  <a:srgbClr val="FF6B4A"/>
                </a:solidFill>
                <a:latin typeface="Calibri"/>
              </a:defRPr>
            </a:lvl1pPr>
          </a:lstStyle>
          <a:p>
            <a:pPr/>
            <a:r>
              <a:t>The contract</a:t>
            </a:r>
          </a:p>
        </p:txBody>
      </p:sp>
      <p:sp>
        <p:nvSpPr>
          <p:cNvPr id="48" name="Text 1"/>
          <p:cNvSpPr txBox="1"/>
          <p:nvPr/>
        </p:nvSpPr>
        <p:spPr>
          <a:xfrm>
            <a:off x="685800" y="989463"/>
            <a:ext cx="10789920" cy="48995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3000">
                <a:solidFill>
                  <a:srgbClr val="FFFFFF"/>
                </a:solidFill>
                <a:latin typeface="Cambria"/>
              </a:defRPr>
            </a:lvl1pPr>
          </a:lstStyle>
          <a:p>
            <a:pPr/>
            <a:r>
              <a:t>One spec, the single shared source of truth</a:t>
            </a:r>
          </a:p>
        </p:txBody>
      </p:sp>
      <p:sp>
        <p:nvSpPr>
          <p:cNvPr id="49" name="Text 2"/>
          <p:cNvSpPr txBox="1"/>
          <p:nvPr/>
        </p:nvSpPr>
        <p:spPr>
          <a:xfrm>
            <a:off x="685799" y="1691639"/>
            <a:ext cx="5760722" cy="50940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400">
                <a:solidFill>
                  <a:srgbClr val="CADCFC"/>
                </a:solidFill>
                <a:latin typeface="Calibri"/>
              </a:defRPr>
            </a:lvl1pPr>
          </a:lstStyle>
          <a:p>
            <a:pPr/>
            <a:r>
              <a:t>The spec states the intended behaviour and the reasoning behind it. Teams review it, the agent implements it — and neither works from anything else.</a:t>
            </a:r>
          </a:p>
        </p:txBody>
      </p:sp>
      <p:sp>
        <p:nvSpPr>
          <p:cNvPr id="50" name="Shape 3"/>
          <p:cNvSpPr/>
          <p:nvPr/>
        </p:nvSpPr>
        <p:spPr>
          <a:xfrm>
            <a:off x="640080" y="2650000"/>
            <a:ext cx="109729" cy="109729"/>
          </a:xfrm>
          <a:prstGeom prst="rect">
            <a:avLst/>
          </a:prstGeom>
          <a:solidFill>
            <a:srgbClr val="FF6B4A"/>
          </a:solidFill>
          <a:ln w="12700">
            <a:miter lim="400000"/>
          </a:ln>
        </p:spPr>
        <p:txBody>
          <a:bodyPr lIns="45719" rIns="45719"/>
          <a:lstStyle/>
          <a:p>
            <a:pPr/>
          </a:p>
        </p:txBody>
      </p:sp>
      <p:sp>
        <p:nvSpPr>
          <p:cNvPr id="51" name="Text 4"/>
          <p:cNvSpPr txBox="1"/>
          <p:nvPr/>
        </p:nvSpPr>
        <p:spPr>
          <a:xfrm>
            <a:off x="960119" y="2566619"/>
            <a:ext cx="5394962" cy="258203"/>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solidFill>
                  <a:srgbClr val="FFFFFF"/>
                </a:solidFill>
                <a:latin typeface="Calibri"/>
              </a:defRPr>
            </a:lvl1pPr>
          </a:lstStyle>
          <a:p>
            <a:pPr/>
            <a:r>
              <a:t>One version, in the repository — not scattered across tickets and chats</a:t>
            </a:r>
          </a:p>
        </p:txBody>
      </p:sp>
      <p:sp>
        <p:nvSpPr>
          <p:cNvPr id="52" name="Shape 5"/>
          <p:cNvSpPr/>
          <p:nvPr/>
        </p:nvSpPr>
        <p:spPr>
          <a:xfrm>
            <a:off x="640080" y="3550000"/>
            <a:ext cx="109729" cy="109728"/>
          </a:xfrm>
          <a:prstGeom prst="rect">
            <a:avLst/>
          </a:prstGeom>
          <a:solidFill>
            <a:srgbClr val="FF6B4A"/>
          </a:solidFill>
          <a:ln w="12700">
            <a:miter lim="400000"/>
          </a:ln>
        </p:spPr>
        <p:txBody>
          <a:bodyPr lIns="45719" rIns="45719"/>
          <a:lstStyle/>
          <a:p>
            <a:pPr/>
          </a:p>
        </p:txBody>
      </p:sp>
      <p:sp>
        <p:nvSpPr>
          <p:cNvPr id="53" name="Text 6"/>
          <p:cNvSpPr txBox="1"/>
          <p:nvPr/>
        </p:nvSpPr>
        <p:spPr>
          <a:xfrm>
            <a:off x="960119" y="3466619"/>
            <a:ext cx="5394962" cy="25820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solidFill>
                  <a:srgbClr val="FFFFFF"/>
                </a:solidFill>
                <a:latin typeface="Calibri"/>
              </a:defRPr>
            </a:lvl1pPr>
          </a:lstStyle>
          <a:p>
            <a:pPr/>
            <a:r>
              <a:t>The agent works from the spec, not from the last prompt</a:t>
            </a:r>
          </a:p>
        </p:txBody>
      </p:sp>
      <p:sp>
        <p:nvSpPr>
          <p:cNvPr id="54" name="Shape 7"/>
          <p:cNvSpPr/>
          <p:nvPr/>
        </p:nvSpPr>
        <p:spPr>
          <a:xfrm>
            <a:off x="640080" y="4450000"/>
            <a:ext cx="109729" cy="109729"/>
          </a:xfrm>
          <a:prstGeom prst="rect">
            <a:avLst/>
          </a:prstGeom>
          <a:solidFill>
            <a:srgbClr val="FF6B4A"/>
          </a:solidFill>
          <a:ln w="12700">
            <a:miter lim="400000"/>
          </a:ln>
        </p:spPr>
        <p:txBody>
          <a:bodyPr lIns="45719" rIns="45719"/>
          <a:lstStyle/>
          <a:p>
            <a:pPr/>
          </a:p>
        </p:txBody>
      </p:sp>
      <p:sp>
        <p:nvSpPr>
          <p:cNvPr id="55" name="Text 8"/>
          <p:cNvSpPr txBox="1"/>
          <p:nvPr/>
        </p:nvSpPr>
        <p:spPr>
          <a:xfrm>
            <a:off x="960119" y="4366619"/>
            <a:ext cx="5394962" cy="258203"/>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solidFill>
                  <a:srgbClr val="FFFFFF"/>
                </a:solidFill>
                <a:latin typeface="Calibri"/>
              </a:defRPr>
            </a:lvl1pPr>
          </a:lstStyle>
          <a:p>
            <a:pPr/>
            <a:r>
              <a:t>Behaviour can be checked against a stated intent</a:t>
            </a:r>
          </a:p>
        </p:txBody>
      </p:sp>
      <p:sp>
        <p:nvSpPr>
          <p:cNvPr id="56" name="Shape 9"/>
          <p:cNvSpPr/>
          <p:nvPr/>
        </p:nvSpPr>
        <p:spPr>
          <a:xfrm>
            <a:off x="8092440" y="2423160"/>
            <a:ext cx="1920241" cy="1920241"/>
          </a:xfrm>
          <a:prstGeom prst="ellipse">
            <a:avLst/>
          </a:prstGeom>
          <a:solidFill>
            <a:srgbClr val="CADCFC"/>
          </a:solidFill>
          <a:ln w="12700">
            <a:miter lim="400000"/>
          </a:ln>
        </p:spPr>
        <p:txBody>
          <a:bodyPr lIns="45719" rIns="45719"/>
          <a:lstStyle/>
          <a:p>
            <a:pPr/>
          </a:p>
        </p:txBody>
      </p:sp>
      <p:sp>
        <p:nvSpPr>
          <p:cNvPr id="57" name="Text 10"/>
          <p:cNvSpPr txBox="1"/>
          <p:nvPr/>
        </p:nvSpPr>
        <p:spPr>
          <a:xfrm>
            <a:off x="8138160" y="3213189"/>
            <a:ext cx="1828801" cy="34018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2000">
                <a:solidFill>
                  <a:srgbClr val="1E2761"/>
                </a:solidFill>
                <a:latin typeface="Cambria"/>
              </a:defRPr>
            </a:lvl1pPr>
          </a:lstStyle>
          <a:p>
            <a:pPr/>
            <a:r>
              <a:t>SPEC</a:t>
            </a:r>
          </a:p>
        </p:txBody>
      </p:sp>
      <p:sp>
        <p:nvSpPr>
          <p:cNvPr id="58" name="Shape 14"/>
          <p:cNvSpPr/>
          <p:nvPr/>
        </p:nvSpPr>
        <p:spPr>
          <a:xfrm flipV="1">
            <a:off x="9052559" y="1920239"/>
            <a:ext cx="2103121" cy="1463041"/>
          </a:xfrm>
          <a:prstGeom prst="line">
            <a:avLst/>
          </a:prstGeom>
          <a:ln w="19050">
            <a:solidFill>
              <a:srgbClr val="9AA3C0"/>
            </a:solidFill>
            <a:prstDash val="dash"/>
          </a:ln>
        </p:spPr>
        <p:txBody>
          <a:bodyPr lIns="45719" rIns="45719"/>
          <a:lstStyle/>
          <a:p>
            <a:pPr/>
          </a:p>
        </p:txBody>
      </p:sp>
      <p:sp>
        <p:nvSpPr>
          <p:cNvPr id="59" name="Shape 15"/>
          <p:cNvSpPr/>
          <p:nvPr/>
        </p:nvSpPr>
        <p:spPr>
          <a:xfrm>
            <a:off x="10652759" y="1417319"/>
            <a:ext cx="1005841" cy="1005842"/>
          </a:xfrm>
          <a:prstGeom prst="ellipse">
            <a:avLst/>
          </a:prstGeom>
          <a:solidFill>
            <a:srgbClr val="3B4468"/>
          </a:solidFill>
          <a:ln w="12700">
            <a:miter lim="400000"/>
          </a:ln>
        </p:spPr>
        <p:txBody>
          <a:bodyPr lIns="45719" rIns="45719"/>
          <a:lstStyle/>
          <a:p>
            <a:pPr/>
          </a:p>
        </p:txBody>
      </p:sp>
      <p:sp>
        <p:nvSpPr>
          <p:cNvPr id="60" name="Text 16"/>
          <p:cNvSpPr txBox="1"/>
          <p:nvPr/>
        </p:nvSpPr>
        <p:spPr>
          <a:xfrm>
            <a:off x="10515600" y="1851704"/>
            <a:ext cx="1280161" cy="22851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000">
                <a:solidFill>
                  <a:srgbClr val="FFFFFF"/>
                </a:solidFill>
                <a:latin typeface="Calibri"/>
              </a:defRPr>
            </a:lvl1pPr>
          </a:lstStyle>
          <a:p>
            <a:pPr/>
            <a:r>
              <a:t>Dev teams</a:t>
            </a:r>
          </a:p>
        </p:txBody>
      </p:sp>
      <p:sp>
        <p:nvSpPr>
          <p:cNvPr id="61" name="Shape 17"/>
          <p:cNvSpPr/>
          <p:nvPr/>
        </p:nvSpPr>
        <p:spPr>
          <a:xfrm>
            <a:off x="9052559" y="3383279"/>
            <a:ext cx="9145" cy="1737361"/>
          </a:xfrm>
          <a:prstGeom prst="line">
            <a:avLst/>
          </a:prstGeom>
          <a:ln w="19050">
            <a:solidFill>
              <a:srgbClr val="9AA3C0"/>
            </a:solidFill>
            <a:prstDash val="dash"/>
          </a:ln>
        </p:spPr>
        <p:txBody>
          <a:bodyPr lIns="45719" rIns="45719"/>
          <a:lstStyle/>
          <a:p>
            <a:pPr/>
          </a:p>
        </p:txBody>
      </p:sp>
      <p:sp>
        <p:nvSpPr>
          <p:cNvPr id="62" name="Shape 18"/>
          <p:cNvSpPr/>
          <p:nvPr/>
        </p:nvSpPr>
        <p:spPr>
          <a:xfrm>
            <a:off x="8549640" y="4617720"/>
            <a:ext cx="1005841" cy="1005841"/>
          </a:xfrm>
          <a:prstGeom prst="ellipse">
            <a:avLst/>
          </a:prstGeom>
          <a:solidFill>
            <a:srgbClr val="3B4468"/>
          </a:solidFill>
          <a:ln w="12700">
            <a:miter lim="400000"/>
          </a:ln>
        </p:spPr>
        <p:txBody>
          <a:bodyPr lIns="45719" rIns="45719"/>
          <a:lstStyle/>
          <a:p>
            <a:pPr/>
          </a:p>
        </p:txBody>
      </p:sp>
      <p:sp>
        <p:nvSpPr>
          <p:cNvPr id="63" name="Text 19"/>
          <p:cNvSpPr txBox="1"/>
          <p:nvPr/>
        </p:nvSpPr>
        <p:spPr>
          <a:xfrm>
            <a:off x="8412479" y="5052104"/>
            <a:ext cx="1280161" cy="22851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000">
                <a:solidFill>
                  <a:srgbClr val="FFFFFF"/>
                </a:solidFill>
                <a:latin typeface="Calibri"/>
              </a:defRPr>
            </a:lvl1pPr>
          </a:lstStyle>
          <a:p>
            <a:pPr/>
            <a:r>
              <a:t>AI / Agents</a:t>
            </a:r>
          </a:p>
        </p:txBody>
      </p:sp>
      <p:sp>
        <p:nvSpPr>
          <p:cNvPr id="66" name="Text 20"/>
          <p:cNvSpPr txBox="1"/>
          <p:nvPr/>
        </p:nvSpPr>
        <p:spPr>
          <a:xfrm>
            <a:off x="502919" y="6572163"/>
            <a:ext cx="722376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900">
                <a:solidFill>
                  <a:srgbClr val="5C6484"/>
                </a:solidFill>
                <a:latin typeface="Calibri"/>
              </a:defRPr>
            </a:lvl1pPr>
          </a:lstStyle>
          <a:p>
            <a:pPr/>
            <a:r>
              <a:t>OpenSpec — Spec-Driven Development</a:t>
            </a:r>
          </a:p>
        </p:txBody>
      </p:sp>
      <p:sp>
        <p:nvSpPr>
          <p:cNvPr id="67" name="Text 21"/>
          <p:cNvSpPr txBox="1"/>
          <p:nvPr/>
        </p:nvSpPr>
        <p:spPr>
          <a:xfrm>
            <a:off x="11475719" y="6572163"/>
            <a:ext cx="27432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900">
                <a:solidFill>
                  <a:srgbClr val="5C6484"/>
                </a:solidFill>
                <a:latin typeface="Calibri"/>
              </a:defRPr>
            </a:lvl1pPr>
          </a:lstStyle>
          <a:p>
            <a:pPr/>
            <a:r>
              <a:t>34</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9" name="Text 0"/>
          <p:cNvSpPr txBox="1"/>
          <p:nvPr/>
        </p:nvSpPr>
        <p:spPr>
          <a:xfrm>
            <a:off x="685800" y="545400"/>
            <a:ext cx="7223761" cy="28080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200" sz="1100">
                <a:solidFill>
                  <a:srgbClr val="FF6B4A"/>
                </a:solidFill>
                <a:latin typeface="Calibri"/>
              </a:defRPr>
            </a:lvl1pPr>
          </a:lstStyle>
          <a:p>
            <a:pPr/>
            <a:r>
              <a:t>Where the spec lives</a:t>
            </a:r>
          </a:p>
        </p:txBody>
      </p:sp>
      <p:sp>
        <p:nvSpPr>
          <p:cNvPr id="70" name="Text 1"/>
          <p:cNvSpPr txBox="1"/>
          <p:nvPr/>
        </p:nvSpPr>
        <p:spPr>
          <a:xfrm>
            <a:off x="685800" y="989463"/>
            <a:ext cx="10789920" cy="48995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3000">
                <a:solidFill>
                  <a:srgbClr val="1E2761"/>
                </a:solidFill>
                <a:latin typeface="Cambria"/>
              </a:defRPr>
            </a:lvl1pPr>
          </a:lstStyle>
          <a:p>
            <a:pPr/>
            <a:r>
              <a:t>The spec lives in the repository, next to the code</a:t>
            </a:r>
          </a:p>
        </p:txBody>
      </p:sp>
      <p:sp>
        <p:nvSpPr>
          <p:cNvPr id="71" name="Shape 2"/>
          <p:cNvSpPr/>
          <p:nvPr/>
        </p:nvSpPr>
        <p:spPr>
          <a:xfrm>
            <a:off x="640080" y="2103120"/>
            <a:ext cx="502921" cy="502921"/>
          </a:xfrm>
          <a:prstGeom prst="ellipse">
            <a:avLst/>
          </a:prstGeom>
          <a:solidFill>
            <a:srgbClr val="FF6B4A"/>
          </a:solidFill>
          <a:ln w="12700">
            <a:miter lim="400000"/>
          </a:ln>
        </p:spPr>
        <p:txBody>
          <a:bodyPr lIns="45719" rIns="45719"/>
          <a:lstStyle/>
          <a:p>
            <a:pPr/>
          </a:p>
        </p:txBody>
      </p:sp>
      <p:sp>
        <p:nvSpPr>
          <p:cNvPr id="72" name="Text 3"/>
          <p:cNvSpPr txBox="1"/>
          <p:nvPr/>
        </p:nvSpPr>
        <p:spPr>
          <a:xfrm>
            <a:off x="685800" y="2215581"/>
            <a:ext cx="411480" cy="277997"/>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500">
                <a:solidFill>
                  <a:srgbClr val="1E2761"/>
                </a:solidFill>
                <a:latin typeface="Cambria"/>
              </a:defRPr>
            </a:lvl1pPr>
          </a:lstStyle>
          <a:p>
            <a:pPr/>
            <a:r>
              <a:t>1</a:t>
            </a:r>
          </a:p>
        </p:txBody>
      </p:sp>
      <p:sp>
        <p:nvSpPr>
          <p:cNvPr id="73" name="Text 4"/>
          <p:cNvSpPr txBox="1"/>
          <p:nvPr/>
        </p:nvSpPr>
        <p:spPr>
          <a:xfrm>
            <a:off x="1417320" y="2101281"/>
            <a:ext cx="4206240" cy="27799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500">
                <a:solidFill>
                  <a:srgbClr val="1E2761"/>
                </a:solidFill>
                <a:latin typeface="Cambria"/>
              </a:defRPr>
            </a:lvl1pPr>
          </a:lstStyle>
          <a:p>
            <a:pPr/>
            <a:r>
              <a:t>Integrated in the source code</a:t>
            </a:r>
          </a:p>
        </p:txBody>
      </p:sp>
      <p:sp>
        <p:nvSpPr>
          <p:cNvPr id="74" name="Text 5"/>
          <p:cNvSpPr txBox="1"/>
          <p:nvPr/>
        </p:nvSpPr>
        <p:spPr>
          <a:xfrm>
            <a:off x="1417320" y="2569517"/>
            <a:ext cx="4206240" cy="43880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200">
                <a:solidFill>
                  <a:srgbClr val="2C3352"/>
                </a:solidFill>
                <a:latin typeface="Calibri"/>
              </a:defRPr>
            </a:lvl1pPr>
          </a:lstStyle>
          <a:p>
            <a:pPr/>
            <a:r>
              <a:t>The spec is versioned in the same Git repository as the source code — not in a separate tool.</a:t>
            </a:r>
          </a:p>
        </p:txBody>
      </p:sp>
      <p:sp>
        <p:nvSpPr>
          <p:cNvPr id="75" name="Shape 6"/>
          <p:cNvSpPr/>
          <p:nvPr/>
        </p:nvSpPr>
        <p:spPr>
          <a:xfrm>
            <a:off x="640080" y="3337559"/>
            <a:ext cx="502921" cy="502921"/>
          </a:xfrm>
          <a:prstGeom prst="ellipse">
            <a:avLst/>
          </a:prstGeom>
          <a:solidFill>
            <a:srgbClr val="FF6B4A"/>
          </a:solidFill>
          <a:ln w="12700">
            <a:miter lim="400000"/>
          </a:ln>
        </p:spPr>
        <p:txBody>
          <a:bodyPr lIns="45719" rIns="45719"/>
          <a:lstStyle/>
          <a:p>
            <a:pPr/>
          </a:p>
        </p:txBody>
      </p:sp>
      <p:sp>
        <p:nvSpPr>
          <p:cNvPr id="76" name="Text 7"/>
          <p:cNvSpPr txBox="1"/>
          <p:nvPr/>
        </p:nvSpPr>
        <p:spPr>
          <a:xfrm>
            <a:off x="685800" y="3450021"/>
            <a:ext cx="411480" cy="277997"/>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500">
                <a:solidFill>
                  <a:srgbClr val="1E2761"/>
                </a:solidFill>
                <a:latin typeface="Cambria"/>
              </a:defRPr>
            </a:lvl1pPr>
          </a:lstStyle>
          <a:p>
            <a:pPr/>
            <a:r>
              <a:t>2</a:t>
            </a:r>
          </a:p>
        </p:txBody>
      </p:sp>
      <p:sp>
        <p:nvSpPr>
          <p:cNvPr id="77" name="Text 8"/>
          <p:cNvSpPr txBox="1"/>
          <p:nvPr/>
        </p:nvSpPr>
        <p:spPr>
          <a:xfrm>
            <a:off x="1417320" y="3335722"/>
            <a:ext cx="4206240" cy="277997"/>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500">
                <a:solidFill>
                  <a:srgbClr val="1E2761"/>
                </a:solidFill>
                <a:latin typeface="Cambria"/>
              </a:defRPr>
            </a:lvl1pPr>
          </a:lstStyle>
          <a:p>
            <a:pPr/>
            <a:r>
              <a:t>Evolves with every change</a:t>
            </a:r>
          </a:p>
        </p:txBody>
      </p:sp>
      <p:sp>
        <p:nvSpPr>
          <p:cNvPr id="78" name="Text 9"/>
          <p:cNvSpPr txBox="1"/>
          <p:nvPr/>
        </p:nvSpPr>
        <p:spPr>
          <a:xfrm>
            <a:off x="1417320" y="3803957"/>
            <a:ext cx="4206240" cy="43880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200">
                <a:solidFill>
                  <a:srgbClr val="2C3352"/>
                </a:solidFill>
                <a:latin typeface="Calibri"/>
              </a:defRPr>
            </a:lvl1pPr>
          </a:lstStyle>
          <a:p>
            <a:pPr/>
            <a:r>
              <a:t>Any behaviour change goes through a spec update, reviewed like any change to the code.</a:t>
            </a:r>
          </a:p>
        </p:txBody>
      </p:sp>
      <p:sp>
        <p:nvSpPr>
          <p:cNvPr id="79" name="Shape 10"/>
          <p:cNvSpPr/>
          <p:nvPr/>
        </p:nvSpPr>
        <p:spPr>
          <a:xfrm>
            <a:off x="640080" y="4571999"/>
            <a:ext cx="502921" cy="502922"/>
          </a:xfrm>
          <a:prstGeom prst="ellipse">
            <a:avLst/>
          </a:prstGeom>
          <a:solidFill>
            <a:srgbClr val="FF6B4A"/>
          </a:solidFill>
          <a:ln w="12700">
            <a:miter lim="400000"/>
          </a:ln>
        </p:spPr>
        <p:txBody>
          <a:bodyPr lIns="45719" rIns="45719"/>
          <a:lstStyle/>
          <a:p>
            <a:pPr/>
          </a:p>
        </p:txBody>
      </p:sp>
      <p:sp>
        <p:nvSpPr>
          <p:cNvPr id="80" name="Text 11"/>
          <p:cNvSpPr txBox="1"/>
          <p:nvPr/>
        </p:nvSpPr>
        <p:spPr>
          <a:xfrm>
            <a:off x="685800" y="4684461"/>
            <a:ext cx="411480" cy="277997"/>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500">
                <a:solidFill>
                  <a:srgbClr val="1E2761"/>
                </a:solidFill>
                <a:latin typeface="Cambria"/>
              </a:defRPr>
            </a:lvl1pPr>
          </a:lstStyle>
          <a:p>
            <a:pPr/>
            <a:r>
              <a:t>3</a:t>
            </a:r>
          </a:p>
        </p:txBody>
      </p:sp>
      <p:sp>
        <p:nvSpPr>
          <p:cNvPr id="81" name="Text 12"/>
          <p:cNvSpPr txBox="1"/>
          <p:nvPr/>
        </p:nvSpPr>
        <p:spPr>
          <a:xfrm>
            <a:off x="1417320" y="4570161"/>
            <a:ext cx="4206240" cy="277997"/>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500">
                <a:solidFill>
                  <a:srgbClr val="1E2761"/>
                </a:solidFill>
                <a:latin typeface="Cambria"/>
              </a:defRPr>
            </a:lvl1pPr>
          </a:lstStyle>
          <a:p>
            <a:pPr/>
            <a:r>
              <a:t>Full traceability</a:t>
            </a:r>
          </a:p>
        </p:txBody>
      </p:sp>
      <p:sp>
        <p:nvSpPr>
          <p:cNvPr id="82" name="Text 13"/>
          <p:cNvSpPr txBox="1"/>
          <p:nvPr/>
        </p:nvSpPr>
        <p:spPr>
          <a:xfrm>
            <a:off x="1417320" y="5038397"/>
            <a:ext cx="4206240" cy="43880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200">
                <a:solidFill>
                  <a:srgbClr val="2C3352"/>
                </a:solidFill>
                <a:latin typeface="Calibri"/>
              </a:defRPr>
            </a:lvl1pPr>
          </a:lstStyle>
          <a:p>
            <a:pPr/>
            <a:r>
              <a:t>Six months on, you can see what changed, why it was agreed and who approved it.</a:t>
            </a:r>
          </a:p>
        </p:txBody>
      </p:sp>
      <p:sp>
        <p:nvSpPr>
          <p:cNvPr id="83" name="Shape 14"/>
          <p:cNvSpPr/>
          <p:nvPr/>
        </p:nvSpPr>
        <p:spPr>
          <a:xfrm>
            <a:off x="6492240" y="2103120"/>
            <a:ext cx="5029201" cy="3977641"/>
          </a:xfrm>
          <a:prstGeom prst="roundRect">
            <a:avLst>
              <a:gd name="adj" fmla="val 2299"/>
            </a:avLst>
          </a:prstGeom>
          <a:solidFill>
            <a:srgbClr val="EEF2FC"/>
          </a:solidFill>
          <a:ln w="12700">
            <a:solidFill>
              <a:srgbClr val="CADCFC"/>
            </a:solidFill>
          </a:ln>
        </p:spPr>
        <p:txBody>
          <a:bodyPr lIns="45719" rIns="45719"/>
          <a:lstStyle/>
          <a:p>
            <a:pPr/>
          </a:p>
        </p:txBody>
      </p:sp>
      <p:sp>
        <p:nvSpPr>
          <p:cNvPr id="84" name="Text 15"/>
          <p:cNvSpPr txBox="1"/>
          <p:nvPr/>
        </p:nvSpPr>
        <p:spPr>
          <a:xfrm>
            <a:off x="6858000" y="2350770"/>
            <a:ext cx="2651761" cy="2819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300">
                <a:solidFill>
                  <a:srgbClr val="1E2761"/>
                </a:solidFill>
                <a:latin typeface="Courier New"/>
                <a:ea typeface="Courier New"/>
                <a:cs typeface="Courier New"/>
                <a:sym typeface="Courier New"/>
              </a:defRPr>
            </a:lvl1pPr>
          </a:lstStyle>
          <a:p>
            <a:pPr/>
            <a:r>
              <a:t>repo/</a:t>
            </a:r>
          </a:p>
        </p:txBody>
      </p:sp>
      <p:sp>
        <p:nvSpPr>
          <p:cNvPr id="85" name="Text 16"/>
          <p:cNvSpPr txBox="1"/>
          <p:nvPr/>
        </p:nvSpPr>
        <p:spPr>
          <a:xfrm>
            <a:off x="7040879" y="2697479"/>
            <a:ext cx="4023361" cy="2531152"/>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nSpc>
                <a:spcPts val="1600"/>
              </a:lnSpc>
              <a:defRPr sz="1100">
                <a:solidFill>
                  <a:srgbClr val="2C3352"/>
                </a:solidFill>
                <a:latin typeface="Courier New"/>
                <a:ea typeface="Courier New"/>
                <a:cs typeface="Courier New"/>
                <a:sym typeface="Courier New"/>
              </a:defRPr>
            </a:pPr>
            <a:r>
              <a:t>├─ openspec/</a:t>
            </a:r>
          </a:p>
          <a:p>
            <a:pPr>
              <a:lnSpc>
                <a:spcPts val="1600"/>
              </a:lnSpc>
              <a:defRPr sz="1100">
                <a:solidFill>
                  <a:srgbClr val="2C3352"/>
                </a:solidFill>
                <a:latin typeface="Courier New"/>
                <a:ea typeface="Courier New"/>
                <a:cs typeface="Courier New"/>
                <a:sym typeface="Courier New"/>
              </a:defRPr>
            </a:pPr>
            <a:r>
              <a:t>│   ├─ specs/            # main</a:t>
            </a:r>
          </a:p>
          <a:p>
            <a:pPr>
              <a:lnSpc>
                <a:spcPts val="1600"/>
              </a:lnSpc>
              <a:defRPr sz="1100">
                <a:solidFill>
                  <a:srgbClr val="2C3352"/>
                </a:solidFill>
                <a:latin typeface="Courier New"/>
                <a:ea typeface="Courier New"/>
                <a:cs typeface="Courier New"/>
                <a:sym typeface="Courier New"/>
              </a:defRPr>
            </a:pPr>
            <a:r>
              <a:t>│   │   └─ &lt;domain&gt;/spec.md</a:t>
            </a:r>
          </a:p>
          <a:p>
            <a:pPr>
              <a:lnSpc>
                <a:spcPts val="1600"/>
              </a:lnSpc>
              <a:defRPr sz="1100">
                <a:solidFill>
                  <a:srgbClr val="2C3352"/>
                </a:solidFill>
                <a:latin typeface="Courier New"/>
                <a:ea typeface="Courier New"/>
                <a:cs typeface="Courier New"/>
                <a:sym typeface="Courier New"/>
              </a:defRPr>
            </a:pPr>
            <a:r>
              <a:t>│   ├─ changes/          # proposed</a:t>
            </a:r>
          </a:p>
          <a:p>
            <a:pPr>
              <a:lnSpc>
                <a:spcPts val="1600"/>
              </a:lnSpc>
              <a:defRPr sz="1100">
                <a:solidFill>
                  <a:srgbClr val="2C3352"/>
                </a:solidFill>
                <a:latin typeface="Courier New"/>
                <a:ea typeface="Courier New"/>
                <a:cs typeface="Courier New"/>
                <a:sym typeface="Courier New"/>
              </a:defRPr>
            </a:pPr>
            <a:r>
              <a:t>│   │   └─ &lt;change&gt;/</a:t>
            </a:r>
          </a:p>
          <a:p>
            <a:pPr>
              <a:lnSpc>
                <a:spcPts val="1600"/>
              </a:lnSpc>
              <a:defRPr sz="1100">
                <a:solidFill>
                  <a:srgbClr val="2C3352"/>
                </a:solidFill>
                <a:latin typeface="Courier New"/>
                <a:ea typeface="Courier New"/>
                <a:cs typeface="Courier New"/>
                <a:sym typeface="Courier New"/>
              </a:defRPr>
            </a:pPr>
            <a:r>
              <a:t>│   │       ├─ proposal.md</a:t>
            </a:r>
          </a:p>
          <a:p>
            <a:pPr>
              <a:lnSpc>
                <a:spcPts val="1600"/>
              </a:lnSpc>
              <a:defRPr sz="1100">
                <a:solidFill>
                  <a:srgbClr val="2C3352"/>
                </a:solidFill>
                <a:latin typeface="Courier New"/>
                <a:ea typeface="Courier New"/>
                <a:cs typeface="Courier New"/>
                <a:sym typeface="Courier New"/>
              </a:defRPr>
            </a:pPr>
            <a:r>
              <a:t>│   │       ├─ design.md</a:t>
            </a:r>
          </a:p>
          <a:p>
            <a:pPr>
              <a:lnSpc>
                <a:spcPts val="1600"/>
              </a:lnSpc>
              <a:defRPr sz="1100">
                <a:solidFill>
                  <a:srgbClr val="2C3352"/>
                </a:solidFill>
                <a:latin typeface="Courier New"/>
                <a:ea typeface="Courier New"/>
                <a:cs typeface="Courier New"/>
                <a:sym typeface="Courier New"/>
              </a:defRPr>
            </a:pPr>
            <a:r>
              <a:t>│   │       ├─ tasks.md</a:t>
            </a:r>
          </a:p>
          <a:p>
            <a:pPr>
              <a:lnSpc>
                <a:spcPts val="1600"/>
              </a:lnSpc>
              <a:defRPr sz="1100">
                <a:solidFill>
                  <a:srgbClr val="2C3352"/>
                </a:solidFill>
                <a:latin typeface="Courier New"/>
                <a:ea typeface="Courier New"/>
                <a:cs typeface="Courier New"/>
                <a:sym typeface="Courier New"/>
              </a:defRPr>
            </a:pPr>
            <a:r>
              <a:t>│   │       └─ specs/    # delta</a:t>
            </a:r>
          </a:p>
          <a:p>
            <a:pPr>
              <a:lnSpc>
                <a:spcPts val="1600"/>
              </a:lnSpc>
              <a:defRPr sz="1100">
                <a:solidFill>
                  <a:srgbClr val="2C3352"/>
                </a:solidFill>
                <a:latin typeface="Courier New"/>
                <a:ea typeface="Courier New"/>
                <a:cs typeface="Courier New"/>
                <a:sym typeface="Courier New"/>
              </a:defRPr>
            </a:pPr>
            <a:r>
              <a:t>│   │           └─ &lt;domain&gt;/</a:t>
            </a:r>
          </a:p>
          <a:p>
            <a:pPr>
              <a:lnSpc>
                <a:spcPts val="1600"/>
              </a:lnSpc>
              <a:defRPr sz="1100">
                <a:solidFill>
                  <a:srgbClr val="2C3352"/>
                </a:solidFill>
                <a:latin typeface="Courier New"/>
                <a:ea typeface="Courier New"/>
                <a:cs typeface="Courier New"/>
                <a:sym typeface="Courier New"/>
              </a:defRPr>
            </a:pPr>
            <a:r>
              <a:t>│   │               └─ spec.md</a:t>
            </a:r>
          </a:p>
          <a:p>
            <a:pPr>
              <a:lnSpc>
                <a:spcPts val="1600"/>
              </a:lnSpc>
              <a:defRPr sz="1100">
                <a:solidFill>
                  <a:srgbClr val="2C3352"/>
                </a:solidFill>
                <a:latin typeface="Courier New"/>
                <a:ea typeface="Courier New"/>
                <a:cs typeface="Courier New"/>
                <a:sym typeface="Courier New"/>
              </a:defRPr>
            </a:pPr>
            <a:r>
              <a:t>└─ src/</a:t>
            </a:r>
          </a:p>
        </p:txBody>
      </p:sp>
      <p:sp>
        <p:nvSpPr>
          <p:cNvPr id="86" name="Shape 17"/>
          <p:cNvSpPr/>
          <p:nvPr/>
        </p:nvSpPr>
        <p:spPr>
          <a:xfrm>
            <a:off x="6812280" y="5440679"/>
            <a:ext cx="4389121" cy="411481"/>
          </a:xfrm>
          <a:prstGeom prst="roundRect">
            <a:avLst>
              <a:gd name="adj" fmla="val 17778"/>
            </a:avLst>
          </a:prstGeom>
          <a:solidFill>
            <a:srgbClr val="1E2761"/>
          </a:solidFill>
          <a:ln w="12700">
            <a:miter lim="400000"/>
          </a:ln>
        </p:spPr>
        <p:txBody>
          <a:bodyPr lIns="45719" rIns="45719"/>
          <a:lstStyle/>
          <a:p>
            <a:pPr/>
          </a:p>
        </p:txBody>
      </p:sp>
      <p:sp>
        <p:nvSpPr>
          <p:cNvPr id="87" name="Text 18"/>
          <p:cNvSpPr txBox="1"/>
          <p:nvPr/>
        </p:nvSpPr>
        <p:spPr>
          <a:xfrm>
            <a:off x="6949439" y="5449614"/>
            <a:ext cx="4114801" cy="39361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000">
                <a:solidFill>
                  <a:srgbClr val="FFFFFF"/>
                </a:solidFill>
                <a:latin typeface="Calibri"/>
              </a:defRPr>
            </a:lvl1pPr>
          </a:lstStyle>
          <a:p>
            <a:pPr/>
            <a:r>
              <a:t>specs/ = main specs   ·   changes/ = proposed updates</a:t>
            </a:r>
          </a:p>
        </p:txBody>
      </p:sp>
      <p:sp>
        <p:nvSpPr>
          <p:cNvPr id="88" name="Text 19"/>
          <p:cNvSpPr txBox="1"/>
          <p:nvPr/>
        </p:nvSpPr>
        <p:spPr>
          <a:xfrm>
            <a:off x="502919" y="6572163"/>
            <a:ext cx="722376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900">
                <a:solidFill>
                  <a:srgbClr val="5C6484"/>
                </a:solidFill>
                <a:latin typeface="Calibri"/>
              </a:defRPr>
            </a:lvl1pPr>
          </a:lstStyle>
          <a:p>
            <a:pPr/>
            <a:r>
              <a:t>OpenSpec — Spec-Driven Development</a:t>
            </a:r>
          </a:p>
        </p:txBody>
      </p:sp>
      <p:sp>
        <p:nvSpPr>
          <p:cNvPr id="89" name="Text 20"/>
          <p:cNvSpPr txBox="1"/>
          <p:nvPr/>
        </p:nvSpPr>
        <p:spPr>
          <a:xfrm>
            <a:off x="11475719" y="6572163"/>
            <a:ext cx="27432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900">
                <a:solidFill>
                  <a:srgbClr val="5C6484"/>
                </a:solidFill>
                <a:latin typeface="Calibri"/>
              </a:defRPr>
            </a:lvl1pPr>
          </a:lstStyle>
          <a:p>
            <a:pPr/>
            <a:r>
              <a:t>7</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1" name="Text 0"/>
          <p:cNvSpPr txBox="1"/>
          <p:nvPr/>
        </p:nvSpPr>
        <p:spPr>
          <a:xfrm>
            <a:off x="685800" y="545400"/>
            <a:ext cx="7223761" cy="28080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200" sz="1100">
                <a:solidFill>
                  <a:srgbClr val="FF6B4A"/>
                </a:solidFill>
                <a:latin typeface="Calibri"/>
              </a:defRPr>
            </a:lvl1pPr>
          </a:lstStyle>
          <a:p>
            <a:pPr/>
            <a:r>
              <a:t>The workflow</a:t>
            </a:r>
          </a:p>
        </p:txBody>
      </p:sp>
      <p:sp>
        <p:nvSpPr>
          <p:cNvPr id="92" name="Text 1"/>
          <p:cNvSpPr txBox="1"/>
          <p:nvPr/>
        </p:nvSpPr>
        <p:spPr>
          <a:xfrm>
            <a:off x="685800" y="989463"/>
            <a:ext cx="10789920" cy="48995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3000">
                <a:solidFill>
                  <a:srgbClr val="1E2761"/>
                </a:solidFill>
                <a:latin typeface="Cambria"/>
              </a:defRPr>
            </a:lvl1pPr>
          </a:lstStyle>
          <a:p>
            <a:pPr/>
            <a:r>
              <a:t>One loop, and it runs per change</a:t>
            </a:r>
          </a:p>
        </p:txBody>
      </p:sp>
      <p:sp>
        <p:nvSpPr>
          <p:cNvPr id="115" name="Text 24"/>
          <p:cNvSpPr txBox="1"/>
          <p:nvPr/>
        </p:nvSpPr>
        <p:spPr>
          <a:xfrm>
            <a:off x="502919" y="6572163"/>
            <a:ext cx="722376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900">
                <a:solidFill>
                  <a:srgbClr val="5C6484"/>
                </a:solidFill>
                <a:latin typeface="Calibri"/>
              </a:defRPr>
            </a:lvl1pPr>
          </a:lstStyle>
          <a:p>
            <a:pPr/>
            <a:r>
              <a:t>OpenSpec — Spec-Driven Development</a:t>
            </a:r>
          </a:p>
        </p:txBody>
      </p:sp>
      <p:sp>
        <p:nvSpPr>
          <p:cNvPr id="116" name="Text 25"/>
          <p:cNvSpPr txBox="1"/>
          <p:nvPr/>
        </p:nvSpPr>
        <p:spPr>
          <a:xfrm>
            <a:off x="11475719" y="6572163"/>
            <a:ext cx="27432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900">
                <a:solidFill>
                  <a:srgbClr val="5C6484"/>
                </a:solidFill>
                <a:latin typeface="Calibri"/>
              </a:defRPr>
            </a:lvl1pPr>
          </a:lstStyle>
          <a:p>
            <a:pPr/>
            <a:r>
              <a:t>4</a:t>
            </a:r>
          </a:p>
        </p:txBody>
      </p:sp>
      <p:sp>
        <p:nvSpPr>
          <p:cNvPr id="301" name="Lead"/>
          <p:cNvSpPr txBox="1"/>
          <p:nvPr/>
        </p:nvSpPr>
        <p:spPr>
          <a:xfrm>
            <a:off x="685800" y="1600200"/>
            <a:ext cx="10607042" cy="320040"/>
          </a:xfrm>
          <a:prstGeom prst="rect">
            <a:avLst/>
          </a:prstGeom>
          <a:ln w="12700">
            <a:noFill/>
            <a:miter lim="400000"/>
          </a:ln>
        </p:spPr>
        <p:txBody>
          <a:bodyPr lIns="45719" rIns="45719" tIns="0" bIns="0" anchor="t"/>
          <a:lstStyle>
            <a:lvl1pPr algn="l">
              <a:defRPr sz="1450">
                <a:solidFill>
                  <a:srgbClr val="2C3352"/>
                </a:solidFill>
                <a:latin typeface="Calibri"/>
              </a:defRPr>
            </a:lvl1pPr>
          </a:lstStyle>
          <a:p>
            <a:pPr/>
            <a:r>
              <a:t>Three commands, one human decision, and the specification is current again.</a:t>
            </a:r>
          </a:p>
        </p:txBody>
      </p:sp>
      <p:sp>
        <p:nvSpPr>
          <p:cNvPr id="302" name="L0"/>
          <p:cNvSpPr/>
          <p:nvPr/>
        </p:nvSpPr>
        <p:spPr>
          <a:xfrm>
            <a:off x="640080" y="2011680"/>
            <a:ext cx="3246120" cy="685800"/>
          </a:xfrm>
          <a:prstGeom prst="roundRect">
            <a:avLst>
              <a:gd name="adj" fmla="val 12000"/>
            </a:avLst>
          </a:prstGeom>
          <a:solidFill>
            <a:srgbClr val="1E2761"/>
          </a:solidFill>
          <a:ln w="12700">
            <a:noFill/>
            <a:miter lim="400000"/>
          </a:ln>
        </p:spPr>
        <p:txBody>
          <a:bodyPr lIns="45719" rIns="45719"/>
          <a:lstStyle/>
          <a:p>
            <a:pPr/>
          </a:p>
        </p:txBody>
      </p:sp>
      <p:sp>
        <p:nvSpPr>
          <p:cNvPr id="303" name="Ln0"/>
          <p:cNvSpPr txBox="1"/>
          <p:nvPr/>
        </p:nvSpPr>
        <p:spPr>
          <a:xfrm>
            <a:off x="868680" y="2011680"/>
            <a:ext cx="457200" cy="685800"/>
          </a:xfrm>
          <a:prstGeom prst="rect">
            <a:avLst/>
          </a:prstGeom>
          <a:ln w="12700">
            <a:noFill/>
            <a:miter lim="400000"/>
          </a:ln>
        </p:spPr>
        <p:txBody>
          <a:bodyPr lIns="45719" rIns="45719" tIns="0" bIns="0" anchor="ctr"/>
          <a:lstStyle>
            <a:lvl1pPr algn="l">
              <a:defRPr b="1" sz="1400">
                <a:solidFill>
                  <a:srgbClr val="FF6B4A"/>
                </a:solidFill>
                <a:latin typeface="Cambria"/>
              </a:defRPr>
            </a:lvl1pPr>
          </a:lstStyle>
          <a:p>
            <a:pPr/>
            <a:r>
              <a:t>1</a:t>
            </a:r>
          </a:p>
        </p:txBody>
      </p:sp>
      <p:sp>
        <p:nvSpPr>
          <p:cNvPr id="304" name="Lt0"/>
          <p:cNvSpPr txBox="1"/>
          <p:nvPr/>
        </p:nvSpPr>
        <p:spPr>
          <a:xfrm>
            <a:off x="640080" y="2011680"/>
            <a:ext cx="3246120" cy="685800"/>
          </a:xfrm>
          <a:prstGeom prst="rect">
            <a:avLst/>
          </a:prstGeom>
          <a:ln w="12700">
            <a:noFill/>
            <a:miter lim="400000"/>
          </a:ln>
        </p:spPr>
        <p:txBody>
          <a:bodyPr lIns="45719" rIns="45719" tIns="0" bIns="0" anchor="ctr"/>
          <a:lstStyle>
            <a:lvl1pPr algn="ctr">
              <a:defRPr b="1" sz="1700">
                <a:solidFill>
                  <a:srgbClr val="FFFFFF"/>
                </a:solidFill>
                <a:latin typeface="Cambria"/>
              </a:defRPr>
            </a:lvl1pPr>
          </a:lstStyle>
          <a:p>
            <a:pPr/>
            <a:r>
              <a:t>Propose</a:t>
            </a:r>
          </a:p>
        </p:txBody>
      </p:sp>
      <p:sp>
        <p:nvSpPr>
          <p:cNvPr id="305" name="L1"/>
          <p:cNvSpPr/>
          <p:nvPr/>
        </p:nvSpPr>
        <p:spPr>
          <a:xfrm>
            <a:off x="4686300" y="2011680"/>
            <a:ext cx="3246120" cy="685800"/>
          </a:xfrm>
          <a:prstGeom prst="roundRect">
            <a:avLst>
              <a:gd name="adj" fmla="val 12000"/>
            </a:avLst>
          </a:prstGeom>
          <a:solidFill>
            <a:srgbClr val="1E2761"/>
          </a:solidFill>
          <a:ln w="12700">
            <a:noFill/>
            <a:miter lim="400000"/>
          </a:ln>
        </p:spPr>
        <p:txBody>
          <a:bodyPr lIns="45719" rIns="45719"/>
          <a:lstStyle/>
          <a:p>
            <a:pPr/>
          </a:p>
        </p:txBody>
      </p:sp>
      <p:sp>
        <p:nvSpPr>
          <p:cNvPr id="306" name="Ln1"/>
          <p:cNvSpPr txBox="1"/>
          <p:nvPr/>
        </p:nvSpPr>
        <p:spPr>
          <a:xfrm>
            <a:off x="4914900" y="2011680"/>
            <a:ext cx="457200" cy="685800"/>
          </a:xfrm>
          <a:prstGeom prst="rect">
            <a:avLst/>
          </a:prstGeom>
          <a:ln w="12700">
            <a:noFill/>
            <a:miter lim="400000"/>
          </a:ln>
        </p:spPr>
        <p:txBody>
          <a:bodyPr lIns="45719" rIns="45719" tIns="0" bIns="0" anchor="ctr"/>
          <a:lstStyle>
            <a:lvl1pPr algn="l">
              <a:defRPr b="1" sz="1400">
                <a:solidFill>
                  <a:srgbClr val="FF6B4A"/>
                </a:solidFill>
                <a:latin typeface="Cambria"/>
              </a:defRPr>
            </a:lvl1pPr>
          </a:lstStyle>
          <a:p>
            <a:pPr/>
            <a:r>
              <a:t>2</a:t>
            </a:r>
          </a:p>
        </p:txBody>
      </p:sp>
      <p:sp>
        <p:nvSpPr>
          <p:cNvPr id="307" name="Lt1"/>
          <p:cNvSpPr txBox="1"/>
          <p:nvPr/>
        </p:nvSpPr>
        <p:spPr>
          <a:xfrm>
            <a:off x="4686300" y="2011680"/>
            <a:ext cx="3246120" cy="685800"/>
          </a:xfrm>
          <a:prstGeom prst="rect">
            <a:avLst/>
          </a:prstGeom>
          <a:ln w="12700">
            <a:noFill/>
            <a:miter lim="400000"/>
          </a:ln>
        </p:spPr>
        <p:txBody>
          <a:bodyPr lIns="45719" rIns="45719" tIns="0" bIns="0" anchor="ctr"/>
          <a:lstStyle>
            <a:lvl1pPr algn="ctr">
              <a:defRPr b="1" sz="1700">
                <a:solidFill>
                  <a:srgbClr val="FFFFFF"/>
                </a:solidFill>
                <a:latin typeface="Cambria"/>
              </a:defRPr>
            </a:lvl1pPr>
          </a:lstStyle>
          <a:p>
            <a:pPr/>
            <a:r>
              <a:t>Apply</a:t>
            </a:r>
          </a:p>
        </p:txBody>
      </p:sp>
      <p:sp>
        <p:nvSpPr>
          <p:cNvPr id="308" name="L2"/>
          <p:cNvSpPr/>
          <p:nvPr/>
        </p:nvSpPr>
        <p:spPr>
          <a:xfrm>
            <a:off x="8275320" y="2011680"/>
            <a:ext cx="3246120" cy="685800"/>
          </a:xfrm>
          <a:prstGeom prst="roundRect">
            <a:avLst>
              <a:gd name="adj" fmla="val 12000"/>
            </a:avLst>
          </a:prstGeom>
          <a:solidFill>
            <a:srgbClr val="1E2761"/>
          </a:solidFill>
          <a:ln w="12700">
            <a:noFill/>
            <a:miter lim="400000"/>
          </a:ln>
        </p:spPr>
        <p:txBody>
          <a:bodyPr lIns="45719" rIns="45719"/>
          <a:lstStyle/>
          <a:p>
            <a:pPr/>
          </a:p>
        </p:txBody>
      </p:sp>
      <p:sp>
        <p:nvSpPr>
          <p:cNvPr id="309" name="Ln2"/>
          <p:cNvSpPr txBox="1"/>
          <p:nvPr/>
        </p:nvSpPr>
        <p:spPr>
          <a:xfrm>
            <a:off x="8503920" y="2011680"/>
            <a:ext cx="457200" cy="685800"/>
          </a:xfrm>
          <a:prstGeom prst="rect">
            <a:avLst/>
          </a:prstGeom>
          <a:ln w="12700">
            <a:noFill/>
            <a:miter lim="400000"/>
          </a:ln>
        </p:spPr>
        <p:txBody>
          <a:bodyPr lIns="45719" rIns="45719" tIns="0" bIns="0" anchor="ctr"/>
          <a:lstStyle>
            <a:lvl1pPr algn="l">
              <a:defRPr b="1" sz="1400">
                <a:solidFill>
                  <a:srgbClr val="FF6B4A"/>
                </a:solidFill>
                <a:latin typeface="Cambria"/>
              </a:defRPr>
            </a:lvl1pPr>
          </a:lstStyle>
          <a:p>
            <a:pPr/>
            <a:r>
              <a:t>3</a:t>
            </a:r>
          </a:p>
        </p:txBody>
      </p:sp>
      <p:sp>
        <p:nvSpPr>
          <p:cNvPr id="310" name="Lt2"/>
          <p:cNvSpPr txBox="1"/>
          <p:nvPr/>
        </p:nvSpPr>
        <p:spPr>
          <a:xfrm>
            <a:off x="8275320" y="2011680"/>
            <a:ext cx="3246120" cy="685800"/>
          </a:xfrm>
          <a:prstGeom prst="rect">
            <a:avLst/>
          </a:prstGeom>
          <a:ln w="12700">
            <a:noFill/>
            <a:miter lim="400000"/>
          </a:ln>
        </p:spPr>
        <p:txBody>
          <a:bodyPr lIns="45719" rIns="45719" tIns="0" bIns="0" anchor="ctr"/>
          <a:lstStyle>
            <a:lvl1pPr algn="ctr">
              <a:defRPr b="1" sz="1700">
                <a:solidFill>
                  <a:srgbClr val="FFFFFF"/>
                </a:solidFill>
                <a:latin typeface="Cambria"/>
              </a:defRPr>
            </a:lvl1pPr>
          </a:lstStyle>
          <a:p>
            <a:pPr/>
            <a:r>
              <a:t>Archive</a:t>
            </a:r>
          </a:p>
        </p:txBody>
      </p:sp>
      <p:sp>
        <p:nvSpPr>
          <p:cNvPr id="311" name="Gate arrow"/>
          <p:cNvSpPr txBox="1"/>
          <p:nvPr/>
        </p:nvSpPr>
        <p:spPr>
          <a:xfrm>
            <a:off x="3886200" y="2080260"/>
            <a:ext cx="800100" cy="320040"/>
          </a:xfrm>
          <a:prstGeom prst="rect">
            <a:avLst/>
          </a:prstGeom>
          <a:ln w="12700">
            <a:noFill/>
            <a:miter lim="400000"/>
          </a:ln>
        </p:spPr>
        <p:txBody>
          <a:bodyPr lIns="45719" rIns="45719" tIns="0" bIns="0" anchor="ctr"/>
          <a:lstStyle>
            <a:lvl1pPr algn="ctr">
              <a:defRPr sz="1500">
                <a:solidFill>
                  <a:srgbClr val="FF6B4A"/>
                </a:solidFill>
                <a:latin typeface="Calibri"/>
              </a:defRPr>
            </a:lvl1pPr>
          </a:lstStyle>
          <a:p>
            <a:pPr/>
            <a:r>
              <a:t>→</a:t>
            </a:r>
          </a:p>
        </p:txBody>
      </p:sp>
      <p:sp>
        <p:nvSpPr>
          <p:cNvPr id="312" name="Gate label"/>
          <p:cNvSpPr txBox="1"/>
          <p:nvPr/>
        </p:nvSpPr>
        <p:spPr>
          <a:xfrm>
            <a:off x="3886200" y="2423160"/>
            <a:ext cx="800100" cy="205740"/>
          </a:xfrm>
          <a:prstGeom prst="rect">
            <a:avLst/>
          </a:prstGeom>
          <a:ln w="12700">
            <a:noFill/>
            <a:miter lim="400000"/>
          </a:ln>
        </p:spPr>
        <p:txBody>
          <a:bodyPr lIns="45719" rIns="45719" tIns="0" bIns="0" anchor="t"/>
          <a:lstStyle>
            <a:lvl1pPr algn="ctr">
              <a:defRPr b="1" sz="750" spc="60">
                <a:solidFill>
                  <a:srgbClr val="FF6B4A"/>
                </a:solidFill>
                <a:latin typeface="Calibri"/>
              </a:defRPr>
            </a:lvl1pPr>
          </a:lstStyle>
          <a:p>
            <a:pPr/>
            <a:r>
              <a:t>HUMAN</a:t>
            </a:r>
          </a:p>
        </p:txBody>
      </p:sp>
      <p:sp>
        <p:nvSpPr>
          <p:cNvPr id="313" name="Gate label2"/>
          <p:cNvSpPr txBox="1"/>
          <p:nvPr/>
        </p:nvSpPr>
        <p:spPr>
          <a:xfrm>
            <a:off x="3886200" y="2606040"/>
            <a:ext cx="800100" cy="205740"/>
          </a:xfrm>
          <a:prstGeom prst="rect">
            <a:avLst/>
          </a:prstGeom>
          <a:ln w="12700">
            <a:noFill/>
            <a:miter lim="400000"/>
          </a:ln>
        </p:spPr>
        <p:txBody>
          <a:bodyPr lIns="45719" rIns="45719" tIns="0" bIns="0" anchor="t"/>
          <a:lstStyle>
            <a:lvl1pPr algn="ctr">
              <a:defRPr b="1" sz="750" spc="60">
                <a:solidFill>
                  <a:srgbClr val="FF6B4A"/>
                </a:solidFill>
                <a:latin typeface="Calibri"/>
              </a:defRPr>
            </a:lvl1pPr>
          </a:lstStyle>
          <a:p>
            <a:pPr/>
            <a:r>
              <a:t>REVIEW</a:t>
            </a:r>
          </a:p>
        </p:txBody>
      </p:sp>
      <p:sp>
        <p:nvSpPr>
          <p:cNvPr id="314" name="Arrow 2"/>
          <p:cNvSpPr txBox="1"/>
          <p:nvPr/>
        </p:nvSpPr>
        <p:spPr>
          <a:xfrm>
            <a:off x="7932420" y="2011680"/>
            <a:ext cx="342900" cy="685800"/>
          </a:xfrm>
          <a:prstGeom prst="rect">
            <a:avLst/>
          </a:prstGeom>
          <a:ln w="12700">
            <a:noFill/>
            <a:miter lim="400000"/>
          </a:ln>
        </p:spPr>
        <p:txBody>
          <a:bodyPr lIns="45719" rIns="45719" tIns="0" bIns="0" anchor="ctr"/>
          <a:lstStyle>
            <a:lvl1pPr algn="ctr">
              <a:defRPr sz="1500">
                <a:solidFill>
                  <a:srgbClr val="9AA3C0"/>
                </a:solidFill>
                <a:latin typeface="Calibri"/>
              </a:defRPr>
            </a:lvl1pPr>
          </a:lstStyle>
          <a:p>
            <a:pPr/>
            <a:r>
              <a:t>→</a:t>
            </a:r>
          </a:p>
        </p:txBody>
      </p:sp>
      <p:sp>
        <p:nvSpPr>
          <p:cNvPr id="315" name="Loop R"/>
          <p:cNvSpPr/>
          <p:nvPr/>
        </p:nvSpPr>
        <p:spPr>
          <a:xfrm>
            <a:off x="9889236" y="2697480"/>
            <a:ext cx="18288" cy="429768"/>
          </a:xfrm>
          <a:prstGeom prst="rect">
            <a:avLst/>
          </a:prstGeom>
          <a:solidFill>
            <a:srgbClr val="FF6B4A"/>
          </a:solidFill>
          <a:ln w="12700">
            <a:noFill/>
            <a:miter lim="400000"/>
          </a:ln>
        </p:spPr>
        <p:txBody>
          <a:bodyPr lIns="45719" rIns="45719"/>
          <a:lstStyle/>
          <a:p>
            <a:pPr/>
          </a:p>
        </p:txBody>
      </p:sp>
      <p:sp>
        <p:nvSpPr>
          <p:cNvPr id="316" name="Loop line"/>
          <p:cNvSpPr/>
          <p:nvPr/>
        </p:nvSpPr>
        <p:spPr>
          <a:xfrm>
            <a:off x="2253996" y="3108960"/>
            <a:ext cx="7653528" cy="18288"/>
          </a:xfrm>
          <a:prstGeom prst="rect">
            <a:avLst/>
          </a:prstGeom>
          <a:solidFill>
            <a:srgbClr val="FF6B4A"/>
          </a:solidFill>
          <a:ln w="12700">
            <a:noFill/>
            <a:miter lim="400000"/>
          </a:ln>
        </p:spPr>
        <p:txBody>
          <a:bodyPr lIns="45719" rIns="45719"/>
          <a:lstStyle/>
          <a:p>
            <a:pPr/>
          </a:p>
        </p:txBody>
      </p:sp>
      <p:sp>
        <p:nvSpPr>
          <p:cNvPr id="317" name="Loop L"/>
          <p:cNvSpPr/>
          <p:nvPr/>
        </p:nvSpPr>
        <p:spPr>
          <a:xfrm>
            <a:off x="2253996" y="2843784"/>
            <a:ext cx="18288" cy="283464"/>
          </a:xfrm>
          <a:prstGeom prst="rect">
            <a:avLst/>
          </a:prstGeom>
          <a:solidFill>
            <a:srgbClr val="FF6B4A"/>
          </a:solidFill>
          <a:ln w="12700">
            <a:noFill/>
            <a:miter lim="400000"/>
          </a:ln>
        </p:spPr>
        <p:txBody>
          <a:bodyPr lIns="45719" rIns="45719"/>
          <a:lstStyle/>
          <a:p>
            <a:pPr/>
          </a:p>
        </p:txBody>
      </p:sp>
      <p:sp>
        <p:nvSpPr>
          <p:cNvPr id="790" name="Loop head"/>
          <p:cNvSpPr/>
          <p:nvPr/>
        </p:nvSpPr>
        <p:spPr>
          <a:xfrm>
            <a:off x="2189988" y="2697480"/>
            <a:ext cx="146304" cy="146304"/>
          </a:xfrm>
          <a:prstGeom prst="triangle">
            <a:avLst/>
          </a:prstGeom>
          <a:solidFill>
            <a:srgbClr val="FF6B4A"/>
          </a:solidFill>
          <a:ln w="12700">
            <a:noFill/>
            <a:miter lim="400000"/>
          </a:ln>
        </p:spPr>
        <p:txBody>
          <a:bodyPr lIns="45719" rIns="45719"/>
          <a:lstStyle/>
          <a:p>
            <a:pPr/>
          </a:p>
        </p:txBody>
      </p:sp>
      <p:sp>
        <p:nvSpPr>
          <p:cNvPr id="318" name="Loop label"/>
          <p:cNvSpPr txBox="1"/>
          <p:nvPr/>
        </p:nvSpPr>
        <p:spPr>
          <a:xfrm>
            <a:off x="640080" y="3246120"/>
            <a:ext cx="10881360" cy="228600"/>
          </a:xfrm>
          <a:prstGeom prst="rect">
            <a:avLst/>
          </a:prstGeom>
          <a:ln w="12700">
            <a:noFill/>
            <a:miter lim="400000"/>
          </a:ln>
        </p:spPr>
        <p:txBody>
          <a:bodyPr lIns="45719" rIns="45719" tIns="0" bIns="0" anchor="t"/>
          <a:lstStyle>
            <a:lvl1pPr algn="ctr">
              <a:defRPr b="1" sz="1100">
                <a:solidFill>
                  <a:srgbClr val="1E2761"/>
                </a:solidFill>
                <a:latin typeface="Cambria"/>
              </a:defRPr>
            </a:lvl1pPr>
          </a:lstStyle>
          <a:p>
            <a:pPr/>
            <a:r>
              <a:t>One loop per change — the specs grow one change at a time.</a:t>
            </a:r>
          </a:p>
        </p:txBody>
      </p:sp>
      <p:sp>
        <p:nvSpPr>
          <p:cNvPr id="319" name="D0"/>
          <p:cNvSpPr/>
          <p:nvPr/>
        </p:nvSpPr>
        <p:spPr>
          <a:xfrm>
            <a:off x="640080" y="3611880"/>
            <a:ext cx="3246120" cy="2194560"/>
          </a:xfrm>
          <a:prstGeom prst="roundRect">
            <a:avLst>
              <a:gd name="adj" fmla="val 4000"/>
            </a:avLst>
          </a:prstGeom>
          <a:solidFill>
            <a:srgbClr val="EEF2FC"/>
          </a:solidFill>
          <a:ln w="12700">
            <a:solidFill>
              <a:srgbClr val="CADCFC"/>
            </a:solidFill>
            <a:miter lim="400000"/>
          </a:ln>
        </p:spPr>
        <p:txBody>
          <a:bodyPr lIns="45719" rIns="45719"/>
          <a:lstStyle/>
          <a:p>
            <a:pPr/>
          </a:p>
        </p:txBody>
      </p:sp>
      <p:sp>
        <p:nvSpPr>
          <p:cNvPr id="320" name="Dc0"/>
          <p:cNvSpPr txBox="1"/>
          <p:nvPr/>
        </p:nvSpPr>
        <p:spPr>
          <a:xfrm>
            <a:off x="914400" y="3886200"/>
            <a:ext cx="2697480" cy="251460"/>
          </a:xfrm>
          <a:prstGeom prst="rect">
            <a:avLst/>
          </a:prstGeom>
          <a:ln w="12700">
            <a:noFill/>
            <a:miter lim="400000"/>
          </a:ln>
        </p:spPr>
        <p:txBody>
          <a:bodyPr lIns="45719" rIns="45719" tIns="0" bIns="0" anchor="t"/>
          <a:lstStyle>
            <a:lvl1pPr algn="l">
              <a:defRPr b="1" sz="1000">
                <a:solidFill>
                  <a:srgbClr val="1E2761"/>
                </a:solidFill>
                <a:latin typeface="Courier New"/>
              </a:defRPr>
            </a:lvl1pPr>
          </a:lstStyle>
          <a:p>
            <a:pPr/>
            <a:r>
              <a:t>/opsx:propose</a:t>
            </a:r>
          </a:p>
        </p:txBody>
      </p:sp>
      <p:sp>
        <p:nvSpPr>
          <p:cNvPr id="321" name="Dh0"/>
          <p:cNvSpPr txBox="1"/>
          <p:nvPr/>
        </p:nvSpPr>
        <p:spPr>
          <a:xfrm>
            <a:off x="914400" y="4251960"/>
            <a:ext cx="2697480" cy="274320"/>
          </a:xfrm>
          <a:prstGeom prst="rect">
            <a:avLst/>
          </a:prstGeom>
          <a:ln w="12700">
            <a:noFill/>
            <a:miter lim="400000"/>
          </a:ln>
        </p:spPr>
        <p:txBody>
          <a:bodyPr lIns="45719" rIns="45719" tIns="0" bIns="0" anchor="t"/>
          <a:lstStyle>
            <a:lvl1pPr algn="l">
              <a:defRPr b="1" sz="1300">
                <a:solidFill>
                  <a:srgbClr val="1E2761"/>
                </a:solidFill>
                <a:latin typeface="Cambria"/>
              </a:defRPr>
            </a:lvl1pPr>
          </a:lstStyle>
          <a:p>
            <a:pPr/>
            <a:r>
              <a:t>Creates the change folder</a:t>
            </a:r>
          </a:p>
        </p:txBody>
      </p:sp>
      <p:sp>
        <p:nvSpPr>
          <p:cNvPr id="322" name="Db0"/>
          <p:cNvSpPr txBox="1"/>
          <p:nvPr/>
        </p:nvSpPr>
        <p:spPr>
          <a:xfrm>
            <a:off x="914400" y="4663440"/>
            <a:ext cx="2697480" cy="1005840"/>
          </a:xfrm>
          <a:prstGeom prst="rect">
            <a:avLst/>
          </a:prstGeom>
          <a:ln w="12700">
            <a:noFill/>
            <a:miter lim="400000"/>
          </a:ln>
        </p:spPr>
        <p:txBody>
          <a:bodyPr lIns="45719" rIns="45719" tIns="0" bIns="0" anchor="t"/>
          <a:lstStyle>
            <a:lvl1pPr algn="l">
              <a:defRPr sz="1050">
                <a:solidFill>
                  <a:srgbClr val="2C3352"/>
                </a:solidFill>
                <a:latin typeface="Calibri"/>
              </a:defRPr>
            </a:lvl1pPr>
          </a:lstStyle>
          <a:p>
            <a:pPr/>
            <a:r>
              <a:t>proposal.md — why</a:t>
            </a:r>
          </a:p>
          <a:p>
            <a:pPr/>
            <a:r>
              <a:t>specs/ — the delta</a:t>
            </a:r>
          </a:p>
          <a:p>
            <a:pPr/>
            <a:r>
              <a:t>design.md — how</a:t>
            </a:r>
          </a:p>
          <a:p>
            <a:pPr/>
            <a:r>
              <a:t>tasks.md — in what order</a:t>
            </a:r>
          </a:p>
        </p:txBody>
      </p:sp>
      <p:sp>
        <p:nvSpPr>
          <p:cNvPr id="323" name="D1"/>
          <p:cNvSpPr/>
          <p:nvPr/>
        </p:nvSpPr>
        <p:spPr>
          <a:xfrm>
            <a:off x="4686300" y="3611880"/>
            <a:ext cx="3246120" cy="2194560"/>
          </a:xfrm>
          <a:prstGeom prst="roundRect">
            <a:avLst>
              <a:gd name="adj" fmla="val 4000"/>
            </a:avLst>
          </a:prstGeom>
          <a:solidFill>
            <a:srgbClr val="EEF2FC"/>
          </a:solidFill>
          <a:ln w="12700">
            <a:solidFill>
              <a:srgbClr val="CADCFC"/>
            </a:solidFill>
            <a:miter lim="400000"/>
          </a:ln>
        </p:spPr>
        <p:txBody>
          <a:bodyPr lIns="45719" rIns="45719"/>
          <a:lstStyle/>
          <a:p>
            <a:pPr/>
          </a:p>
        </p:txBody>
      </p:sp>
      <p:sp>
        <p:nvSpPr>
          <p:cNvPr id="324" name="Dc1"/>
          <p:cNvSpPr txBox="1"/>
          <p:nvPr/>
        </p:nvSpPr>
        <p:spPr>
          <a:xfrm>
            <a:off x="4960620" y="3886200"/>
            <a:ext cx="2697480" cy="251460"/>
          </a:xfrm>
          <a:prstGeom prst="rect">
            <a:avLst/>
          </a:prstGeom>
          <a:ln w="12700">
            <a:noFill/>
            <a:miter lim="400000"/>
          </a:ln>
        </p:spPr>
        <p:txBody>
          <a:bodyPr lIns="45719" rIns="45719" tIns="0" bIns="0" anchor="t"/>
          <a:lstStyle>
            <a:lvl1pPr algn="l">
              <a:defRPr b="1" sz="1000">
                <a:solidFill>
                  <a:srgbClr val="1E2761"/>
                </a:solidFill>
                <a:latin typeface="Courier New"/>
              </a:defRPr>
            </a:lvl1pPr>
          </a:lstStyle>
          <a:p>
            <a:pPr/>
            <a:r>
              <a:t>/opsx:apply</a:t>
            </a:r>
          </a:p>
        </p:txBody>
      </p:sp>
      <p:sp>
        <p:nvSpPr>
          <p:cNvPr id="325" name="Dh1"/>
          <p:cNvSpPr txBox="1"/>
          <p:nvPr/>
        </p:nvSpPr>
        <p:spPr>
          <a:xfrm>
            <a:off x="4960620" y="4251960"/>
            <a:ext cx="2697480" cy="274320"/>
          </a:xfrm>
          <a:prstGeom prst="rect">
            <a:avLst/>
          </a:prstGeom>
          <a:ln w="12700">
            <a:noFill/>
            <a:miter lim="400000"/>
          </a:ln>
        </p:spPr>
        <p:txBody>
          <a:bodyPr lIns="45719" rIns="45719" tIns="0" bIns="0" anchor="t"/>
          <a:lstStyle>
            <a:lvl1pPr algn="l">
              <a:defRPr b="1" sz="1300">
                <a:solidFill>
                  <a:srgbClr val="1E2761"/>
                </a:solidFill>
                <a:latin typeface="Cambria"/>
              </a:defRPr>
            </a:lvl1pPr>
          </a:lstStyle>
          <a:p>
            <a:pPr/>
            <a:r>
              <a:t>Works the approved list</a:t>
            </a:r>
          </a:p>
        </p:txBody>
      </p:sp>
      <p:sp>
        <p:nvSpPr>
          <p:cNvPr id="326" name="Db1"/>
          <p:cNvSpPr txBox="1"/>
          <p:nvPr/>
        </p:nvSpPr>
        <p:spPr>
          <a:xfrm>
            <a:off x="4960620" y="4663440"/>
            <a:ext cx="2697480" cy="1005840"/>
          </a:xfrm>
          <a:prstGeom prst="rect">
            <a:avLst/>
          </a:prstGeom>
          <a:ln w="12700">
            <a:noFill/>
            <a:miter lim="400000"/>
          </a:ln>
        </p:spPr>
        <p:txBody>
          <a:bodyPr lIns="45719" rIns="45719" tIns="0" bIns="0" anchor="t"/>
          <a:lstStyle>
            <a:lvl1pPr algn="l">
              <a:defRPr sz="1050">
                <a:solidFill>
                  <a:srgbClr val="2C3352"/>
                </a:solidFill>
                <a:latin typeface="Calibri"/>
              </a:defRPr>
            </a:lvl1pPr>
          </a:lstStyle>
          <a:p>
            <a:pPr/>
            <a:r>
              <a:t>One task at a time. The agent does not choose the order or the scope.</a:t>
            </a:r>
          </a:p>
        </p:txBody>
      </p:sp>
      <p:sp>
        <p:nvSpPr>
          <p:cNvPr id="327" name="D2"/>
          <p:cNvSpPr/>
          <p:nvPr/>
        </p:nvSpPr>
        <p:spPr>
          <a:xfrm>
            <a:off x="8275320" y="3611880"/>
            <a:ext cx="3246120" cy="2194560"/>
          </a:xfrm>
          <a:prstGeom prst="roundRect">
            <a:avLst>
              <a:gd name="adj" fmla="val 4000"/>
            </a:avLst>
          </a:prstGeom>
          <a:solidFill>
            <a:srgbClr val="EEF2FC"/>
          </a:solidFill>
          <a:ln w="12700">
            <a:solidFill>
              <a:srgbClr val="CADCFC"/>
            </a:solidFill>
            <a:miter lim="400000"/>
          </a:ln>
        </p:spPr>
        <p:txBody>
          <a:bodyPr lIns="45719" rIns="45719"/>
          <a:lstStyle/>
          <a:p>
            <a:pPr/>
          </a:p>
        </p:txBody>
      </p:sp>
      <p:sp>
        <p:nvSpPr>
          <p:cNvPr id="328" name="Dc2"/>
          <p:cNvSpPr txBox="1"/>
          <p:nvPr/>
        </p:nvSpPr>
        <p:spPr>
          <a:xfrm>
            <a:off x="8549640" y="3886200"/>
            <a:ext cx="2697480" cy="251460"/>
          </a:xfrm>
          <a:prstGeom prst="rect">
            <a:avLst/>
          </a:prstGeom>
          <a:ln w="12700">
            <a:noFill/>
            <a:miter lim="400000"/>
          </a:ln>
        </p:spPr>
        <p:txBody>
          <a:bodyPr lIns="45719" rIns="45719" tIns="0" bIns="0" anchor="t"/>
          <a:lstStyle>
            <a:lvl1pPr algn="l">
              <a:defRPr b="1" sz="1000">
                <a:solidFill>
                  <a:srgbClr val="1E2761"/>
                </a:solidFill>
                <a:latin typeface="Courier New"/>
              </a:defRPr>
            </a:lvl1pPr>
          </a:lstStyle>
          <a:p>
            <a:pPr/>
            <a:r>
              <a:t>/opsx:archive</a:t>
            </a:r>
          </a:p>
        </p:txBody>
      </p:sp>
      <p:sp>
        <p:nvSpPr>
          <p:cNvPr id="329" name="Dh2"/>
          <p:cNvSpPr txBox="1"/>
          <p:nvPr/>
        </p:nvSpPr>
        <p:spPr>
          <a:xfrm>
            <a:off x="8549640" y="4251960"/>
            <a:ext cx="2697480" cy="274320"/>
          </a:xfrm>
          <a:prstGeom prst="rect">
            <a:avLst/>
          </a:prstGeom>
          <a:ln w="12700">
            <a:noFill/>
            <a:miter lim="400000"/>
          </a:ln>
        </p:spPr>
        <p:txBody>
          <a:bodyPr lIns="45719" rIns="45719" tIns="0" bIns="0" anchor="t"/>
          <a:lstStyle>
            <a:lvl1pPr algn="l">
              <a:defRPr b="1" sz="1300">
                <a:solidFill>
                  <a:srgbClr val="1E2761"/>
                </a:solidFill>
                <a:latin typeface="Cambria"/>
              </a:defRPr>
            </a:lvl1pPr>
          </a:lstStyle>
          <a:p>
            <a:pPr/>
            <a:r>
              <a:t>Updates the main specs</a:t>
            </a:r>
          </a:p>
        </p:txBody>
      </p:sp>
      <p:sp>
        <p:nvSpPr>
          <p:cNvPr id="330" name="Db2"/>
          <p:cNvSpPr txBox="1"/>
          <p:nvPr/>
        </p:nvSpPr>
        <p:spPr>
          <a:xfrm>
            <a:off x="8549640" y="4663440"/>
            <a:ext cx="2697480" cy="1005840"/>
          </a:xfrm>
          <a:prstGeom prst="rect">
            <a:avLst/>
          </a:prstGeom>
          <a:ln w="12700">
            <a:noFill/>
            <a:miter lim="400000"/>
          </a:ln>
        </p:spPr>
        <p:txBody>
          <a:bodyPr lIns="45719" rIns="45719" tIns="0" bIns="0" anchor="t"/>
          <a:lstStyle>
            <a:lvl1pPr algn="l">
              <a:defRPr sz="1050">
                <a:solidFill>
                  <a:srgbClr val="2C3352"/>
                </a:solidFill>
                <a:latin typeface="Courier New"/>
              </a:defRPr>
            </a:lvl1pPr>
          </a:lstStyle>
          <a:p>
            <a:pPr/>
            <a:r>
              <a:t>specs/ (delta)</a:t>
            </a:r>
          </a:p>
          <a:p>
            <a:pPr/>
            <a:r>
              <a:t>     ↓  merged into</a:t>
            </a:r>
          </a:p>
          <a:p>
            <a:pPr/>
            <a:r>
              <a:t>openspec/specs/</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8" name="Text 0"/>
          <p:cNvSpPr txBox="1"/>
          <p:nvPr/>
        </p:nvSpPr>
        <p:spPr>
          <a:xfrm>
            <a:off x="685800" y="545400"/>
            <a:ext cx="7223761" cy="28080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200" sz="1100">
                <a:solidFill>
                  <a:srgbClr val="FF6B4A"/>
                </a:solidFill>
                <a:latin typeface="Calibri"/>
              </a:defRPr>
            </a:lvl1pPr>
          </a:lstStyle>
          <a:p>
            <a:pPr/>
            <a:r>
              <a:t>Use case: Watchlist</a:t>
            </a:r>
          </a:p>
        </p:txBody>
      </p:sp>
      <p:sp>
        <p:nvSpPr>
          <p:cNvPr id="119" name="Text 1"/>
          <p:cNvSpPr txBox="1"/>
          <p:nvPr/>
        </p:nvSpPr>
        <p:spPr>
          <a:xfrm>
            <a:off x="685800" y="989463"/>
            <a:ext cx="10789920" cy="48995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3000">
                <a:solidFill>
                  <a:srgbClr val="1E2761"/>
                </a:solidFill>
                <a:latin typeface="Cambria"/>
              </a:defRPr>
            </a:lvl1pPr>
          </a:lstStyle>
          <a:p>
            <a:pPr/>
            <a:r>
              <a:t>Legacy modernisation, migrated with confidence</a:t>
            </a:r>
          </a:p>
        </p:txBody>
      </p:sp>
      <p:sp>
        <p:nvSpPr>
          <p:cNvPr id="132" name="Text 14"/>
          <p:cNvSpPr txBox="1"/>
          <p:nvPr/>
        </p:nvSpPr>
        <p:spPr>
          <a:xfrm>
            <a:off x="502919" y="6572163"/>
            <a:ext cx="722376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900">
                <a:solidFill>
                  <a:srgbClr val="5C6484"/>
                </a:solidFill>
                <a:latin typeface="Calibri"/>
              </a:defRPr>
            </a:lvl1pPr>
          </a:lstStyle>
          <a:p>
            <a:pPr/>
            <a:r>
              <a:t>OpenSpec — Spec-Driven Development</a:t>
            </a:r>
          </a:p>
        </p:txBody>
      </p:sp>
      <p:sp>
        <p:nvSpPr>
          <p:cNvPr id="133" name="Text 15"/>
          <p:cNvSpPr txBox="1"/>
          <p:nvPr/>
        </p:nvSpPr>
        <p:spPr>
          <a:xfrm>
            <a:off x="11475719" y="6572163"/>
            <a:ext cx="27432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900">
                <a:solidFill>
                  <a:srgbClr val="5C6484"/>
                </a:solidFill>
                <a:latin typeface="Calibri"/>
              </a:defRPr>
            </a:lvl1pPr>
          </a:lstStyle>
          <a:p>
            <a:pPr/>
            <a:r>
              <a:t>8</a:t>
            </a:r>
          </a:p>
        </p:txBody>
      </p:sp>
      <p:sp>
        <p:nvSpPr>
          <p:cNvPr id="301" name="Lead"/>
          <p:cNvSpPr txBox="1"/>
          <p:nvPr/>
        </p:nvSpPr>
        <p:spPr>
          <a:xfrm>
            <a:off x="685800" y="1691640"/>
            <a:ext cx="10607042" cy="548640"/>
          </a:xfrm>
          <a:prstGeom prst="rect">
            <a:avLst/>
          </a:prstGeom>
          <a:ln w="12700">
            <a:noFill/>
            <a:miter lim="400000"/>
          </a:ln>
        </p:spPr>
        <p:txBody>
          <a:bodyPr lIns="45719" rIns="45719" tIns="0" bIns="0" anchor="t"/>
          <a:lstStyle>
            <a:lvl1pPr algn="l">
              <a:defRPr sz="1500">
                <a:solidFill>
                  <a:srgbClr val="2C3352"/>
                </a:solidFill>
                <a:latin typeface="Calibri"/>
              </a:defRPr>
            </a:lvl1pPr>
          </a:lstStyle>
          <a:p>
            <a:pPr/>
            <a:r>
              <a:t>The spec states the business behaviour to preserve, independently of technology. Every risk on the left has an answer on the right — that is the whole migration argument.</a:t>
            </a:r>
          </a:p>
        </p:txBody>
      </p:sp>
      <p:sp>
        <p:nvSpPr>
          <p:cNvPr id="302" name="Before card"/>
          <p:cNvSpPr/>
          <p:nvPr/>
        </p:nvSpPr>
        <p:spPr>
          <a:xfrm>
            <a:off x="640080" y="2743200"/>
            <a:ext cx="4937760" cy="3017520"/>
          </a:xfrm>
          <a:prstGeom prst="roundRect">
            <a:avLst>
              <a:gd name="adj" fmla="val 3500"/>
            </a:avLst>
          </a:prstGeom>
          <a:solidFill>
            <a:srgbClr val="EEF2FC"/>
          </a:solidFill>
          <a:ln w="12700">
            <a:solidFill>
              <a:srgbClr val="CADCFC"/>
            </a:solidFill>
            <a:miter lim="400000"/>
          </a:ln>
        </p:spPr>
        <p:txBody>
          <a:bodyPr lIns="45719" rIns="45719"/>
          <a:lstStyle/>
          <a:p>
            <a:pPr/>
          </a:p>
        </p:txBody>
      </p:sp>
      <p:sp>
        <p:nvSpPr>
          <p:cNvPr id="303" name="Before head"/>
          <p:cNvSpPr/>
          <p:nvPr/>
        </p:nvSpPr>
        <p:spPr>
          <a:xfrm>
            <a:off x="640080" y="2743200"/>
            <a:ext cx="4937760" cy="548641"/>
          </a:xfrm>
          <a:prstGeom prst="roundRect">
            <a:avLst>
              <a:gd name="adj" fmla="val 19000"/>
            </a:avLst>
          </a:prstGeom>
          <a:solidFill>
            <a:srgbClr val="5C6484"/>
          </a:solidFill>
          <a:ln w="12700">
            <a:noFill/>
            <a:miter lim="400000"/>
          </a:ln>
        </p:spPr>
        <p:txBody>
          <a:bodyPr lIns="45719" rIns="45719"/>
          <a:lstStyle/>
          <a:p>
            <a:pPr/>
          </a:p>
        </p:txBody>
      </p:sp>
      <p:sp>
        <p:nvSpPr>
          <p:cNvPr id="304" name="Before label"/>
          <p:cNvSpPr txBox="1"/>
          <p:nvPr/>
        </p:nvSpPr>
        <p:spPr>
          <a:xfrm>
            <a:off x="640080" y="2867224"/>
            <a:ext cx="4937760" cy="300594"/>
          </a:xfrm>
          <a:prstGeom prst="rect">
            <a:avLst/>
          </a:prstGeom>
          <a:ln w="12700">
            <a:noFill/>
            <a:miter lim="400000"/>
          </a:ln>
        </p:spPr>
        <p:txBody>
          <a:bodyPr lIns="45719" rIns="45719" tIns="0" bIns="0" anchor="t"/>
          <a:lstStyle>
            <a:lvl1pPr algn="ctr">
              <a:defRPr b="1" sz="1400">
                <a:solidFill>
                  <a:srgbClr val="FFFFFF"/>
                </a:solidFill>
                <a:latin typeface="Cambria"/>
              </a:defRPr>
            </a:lvl1pPr>
          </a:lstStyle>
          <a:p>
            <a:pPr/>
            <a:r>
              <a:t>BEFORE</a:t>
            </a:r>
          </a:p>
        </p:txBody>
      </p:sp>
      <p:sp>
        <p:nvSpPr>
          <p:cNvPr id="305" name="After card"/>
          <p:cNvSpPr/>
          <p:nvPr/>
        </p:nvSpPr>
        <p:spPr>
          <a:xfrm>
            <a:off x="6583680" y="2743200"/>
            <a:ext cx="4937760" cy="3017520"/>
          </a:xfrm>
          <a:prstGeom prst="roundRect">
            <a:avLst>
              <a:gd name="adj" fmla="val 3500"/>
            </a:avLst>
          </a:prstGeom>
          <a:solidFill>
            <a:srgbClr val="EEF2FC"/>
          </a:solidFill>
          <a:ln w="12700">
            <a:solidFill>
              <a:srgbClr val="CADCFC"/>
            </a:solidFill>
            <a:miter lim="400000"/>
          </a:ln>
        </p:spPr>
        <p:txBody>
          <a:bodyPr lIns="45719" rIns="45719"/>
          <a:lstStyle/>
          <a:p>
            <a:pPr/>
          </a:p>
        </p:txBody>
      </p:sp>
      <p:sp>
        <p:nvSpPr>
          <p:cNvPr id="306" name="After head"/>
          <p:cNvSpPr/>
          <p:nvPr/>
        </p:nvSpPr>
        <p:spPr>
          <a:xfrm>
            <a:off x="6583680" y="2743200"/>
            <a:ext cx="4937760" cy="548641"/>
          </a:xfrm>
          <a:prstGeom prst="roundRect">
            <a:avLst>
              <a:gd name="adj" fmla="val 19000"/>
            </a:avLst>
          </a:prstGeom>
          <a:solidFill>
            <a:srgbClr val="1E2761"/>
          </a:solidFill>
          <a:ln w="12700">
            <a:noFill/>
            <a:miter lim="400000"/>
          </a:ln>
        </p:spPr>
        <p:txBody>
          <a:bodyPr lIns="45719" rIns="45719"/>
          <a:lstStyle/>
          <a:p>
            <a:pPr/>
          </a:p>
        </p:txBody>
      </p:sp>
      <p:sp>
        <p:nvSpPr>
          <p:cNvPr id="307" name="After label"/>
          <p:cNvSpPr txBox="1"/>
          <p:nvPr/>
        </p:nvSpPr>
        <p:spPr>
          <a:xfrm>
            <a:off x="6583680" y="2867224"/>
            <a:ext cx="4937760" cy="300594"/>
          </a:xfrm>
          <a:prstGeom prst="rect">
            <a:avLst/>
          </a:prstGeom>
          <a:ln w="12700">
            <a:noFill/>
            <a:miter lim="400000"/>
          </a:ln>
        </p:spPr>
        <p:txBody>
          <a:bodyPr lIns="45719" rIns="45719" tIns="0" bIns="0" anchor="t"/>
          <a:lstStyle>
            <a:lvl1pPr algn="ctr">
              <a:defRPr b="1" sz="1400">
                <a:solidFill>
                  <a:srgbClr val="FFFFFF"/>
                </a:solidFill>
                <a:latin typeface="Cambria"/>
              </a:defRPr>
            </a:lvl1pPr>
          </a:lstStyle>
          <a:p>
            <a:pPr/>
            <a:r>
              <a:t>AFTER</a:t>
            </a:r>
          </a:p>
        </p:txBody>
      </p:sp>
      <p:sp>
        <p:nvSpPr>
          <p:cNvPr id="308" name="Before stack"/>
          <p:cNvSpPr txBox="1"/>
          <p:nvPr/>
        </p:nvSpPr>
        <p:spPr>
          <a:xfrm>
            <a:off x="960120" y="3474720"/>
            <a:ext cx="4297680" cy="320040"/>
          </a:xfrm>
          <a:prstGeom prst="rect">
            <a:avLst/>
          </a:prstGeom>
          <a:ln w="12700">
            <a:noFill/>
            <a:miter lim="400000"/>
          </a:ln>
        </p:spPr>
        <p:txBody>
          <a:bodyPr lIns="45719" rIns="45719" tIns="0" bIns="0" anchor="t"/>
          <a:lstStyle>
            <a:lvl1pPr algn="l">
              <a:defRPr b="1" sz="1300">
                <a:solidFill>
                  <a:srgbClr val="1E2761"/>
                </a:solidFill>
                <a:latin typeface="Calibri"/>
              </a:defRPr>
            </a:lvl1pPr>
          </a:lstStyle>
          <a:p>
            <a:pPr/>
            <a:r>
              <a:t>Watchlist today — ASP.NET WebForms and C# batch jobs</a:t>
            </a:r>
          </a:p>
        </p:txBody>
      </p:sp>
      <p:sp>
        <p:nvSpPr>
          <p:cNvPr id="309" name="After stack"/>
          <p:cNvSpPr txBox="1"/>
          <p:nvPr/>
        </p:nvSpPr>
        <p:spPr>
          <a:xfrm>
            <a:off x="6903720" y="3474720"/>
            <a:ext cx="4297680" cy="320040"/>
          </a:xfrm>
          <a:prstGeom prst="rect">
            <a:avLst/>
          </a:prstGeom>
          <a:ln w="12700">
            <a:noFill/>
            <a:miter lim="400000"/>
          </a:ln>
        </p:spPr>
        <p:txBody>
          <a:bodyPr lIns="45719" rIns="45719" tIns="0" bIns="0" anchor="t"/>
          <a:lstStyle>
            <a:lvl1pPr algn="l">
              <a:defRPr b="1" sz="1300">
                <a:solidFill>
                  <a:srgbClr val="1E2761"/>
                </a:solidFill>
                <a:latin typeface="Calibri"/>
              </a:defRPr>
            </a:lvl1pPr>
          </a:lstStyle>
          <a:p>
            <a:pPr/>
            <a:r>
              <a:t>Watchlist tomorrow — Spring Boot, Spring Batch and ReactJS</a:t>
            </a:r>
          </a:p>
        </p:txBody>
      </p:sp>
      <p:sp>
        <p:nvSpPr>
          <p:cNvPr id="310" name="L0"/>
          <p:cNvSpPr txBox="1"/>
          <p:nvPr/>
        </p:nvSpPr>
        <p:spPr>
          <a:xfrm>
            <a:off x="960120" y="4023360"/>
            <a:ext cx="4297680" cy="548640"/>
          </a:xfrm>
          <a:prstGeom prst="rect">
            <a:avLst/>
          </a:prstGeom>
          <a:ln w="12700">
            <a:noFill/>
            <a:miter lim="400000"/>
          </a:ln>
        </p:spPr>
        <p:txBody>
          <a:bodyPr lIns="45719" rIns="45719" tIns="0" bIns="0" anchor="t"/>
          <a:lstStyle>
            <a:lvl1pPr algn="l">
              <a:defRPr sz="1300">
                <a:solidFill>
                  <a:srgbClr val="2C3352"/>
                </a:solidFill>
                <a:latin typeface="Calibri"/>
              </a:defRPr>
            </a:lvl1pPr>
          </a:lstStyle>
          <a:p>
            <a:pPr/>
            <a:r>
              <a:t>Business logic hard to isolate</a:t>
            </a:r>
          </a:p>
        </p:txBody>
      </p:sp>
      <p:sp>
        <p:nvSpPr>
          <p:cNvPr id="311" name="R0"/>
          <p:cNvSpPr txBox="1"/>
          <p:nvPr/>
        </p:nvSpPr>
        <p:spPr>
          <a:xfrm>
            <a:off x="6903720" y="4023360"/>
            <a:ext cx="4297680" cy="548640"/>
          </a:xfrm>
          <a:prstGeom prst="rect">
            <a:avLst/>
          </a:prstGeom>
          <a:ln w="12700">
            <a:noFill/>
            <a:miter lim="400000"/>
          </a:ln>
        </p:spPr>
        <p:txBody>
          <a:bodyPr lIns="45719" rIns="45719" tIns="0" bIns="0" anchor="t"/>
          <a:lstStyle>
            <a:lvl1pPr algn="l">
              <a:defRPr sz="1300">
                <a:solidFill>
                  <a:srgbClr val="2C3352"/>
                </a:solidFill>
                <a:latin typeface="Calibri"/>
              </a:defRPr>
            </a:lvl1pPr>
          </a:lstStyle>
          <a:p>
            <a:pPr/>
            <a:r>
              <a:t>The rules are extracted, requirement by requirement</a:t>
            </a:r>
          </a:p>
        </p:txBody>
      </p:sp>
      <p:sp>
        <p:nvSpPr>
          <p:cNvPr id="312" name="Arr0"/>
          <p:cNvSpPr txBox="1"/>
          <p:nvPr/>
        </p:nvSpPr>
        <p:spPr>
          <a:xfrm>
            <a:off x="5577840" y="4023360"/>
            <a:ext cx="1005840" cy="320040"/>
          </a:xfrm>
          <a:prstGeom prst="rect">
            <a:avLst/>
          </a:prstGeom>
          <a:ln w="12700">
            <a:noFill/>
            <a:miter lim="400000"/>
          </a:ln>
        </p:spPr>
        <p:txBody>
          <a:bodyPr lIns="45719" rIns="45719" tIns="0" bIns="0" anchor="ctr"/>
          <a:lstStyle>
            <a:lvl1pPr algn="ctr">
              <a:defRPr sz="1400">
                <a:solidFill>
                  <a:srgbClr val="FF6B4A"/>
                </a:solidFill>
                <a:latin typeface="Calibri"/>
              </a:defRPr>
            </a:lvl1pPr>
          </a:lstStyle>
          <a:p>
            <a:pPr/>
            <a:r>
              <a:t>→</a:t>
            </a:r>
          </a:p>
        </p:txBody>
      </p:sp>
      <p:sp>
        <p:nvSpPr>
          <p:cNvPr id="313" name="L1"/>
          <p:cNvSpPr txBox="1"/>
          <p:nvPr/>
        </p:nvSpPr>
        <p:spPr>
          <a:xfrm>
            <a:off x="960120" y="4663440"/>
            <a:ext cx="4297680" cy="548640"/>
          </a:xfrm>
          <a:prstGeom prst="rect">
            <a:avLst/>
          </a:prstGeom>
          <a:ln w="12700">
            <a:noFill/>
            <a:miter lim="400000"/>
          </a:ln>
        </p:spPr>
        <p:txBody>
          <a:bodyPr lIns="45719" rIns="45719" tIns="0" bIns="0" anchor="t"/>
          <a:lstStyle>
            <a:lvl1pPr algn="l">
              <a:defRPr sz="1300">
                <a:solidFill>
                  <a:srgbClr val="2C3352"/>
                </a:solidFill>
                <a:latin typeface="Calibri"/>
              </a:defRPr>
            </a:lvl1pPr>
          </a:lstStyle>
          <a:p>
            <a:pPr/>
            <a:r>
              <a:t>Documentation outdated or missing</a:t>
            </a:r>
          </a:p>
        </p:txBody>
      </p:sp>
      <p:sp>
        <p:nvSpPr>
          <p:cNvPr id="314" name="R1"/>
          <p:cNvSpPr txBox="1"/>
          <p:nvPr/>
        </p:nvSpPr>
        <p:spPr>
          <a:xfrm>
            <a:off x="6903720" y="4663440"/>
            <a:ext cx="4297680" cy="548640"/>
          </a:xfrm>
          <a:prstGeom prst="rect">
            <a:avLst/>
          </a:prstGeom>
          <a:ln w="12700">
            <a:noFill/>
            <a:miter lim="400000"/>
          </a:ln>
        </p:spPr>
        <p:txBody>
          <a:bodyPr lIns="45719" rIns="45719" tIns="0" bIns="0" anchor="t"/>
          <a:lstStyle>
            <a:lvl1pPr algn="l">
              <a:defRPr sz="1300">
                <a:solidFill>
                  <a:srgbClr val="2C3352"/>
                </a:solidFill>
                <a:latin typeface="Calibri"/>
              </a:defRPr>
            </a:lvl1pPr>
          </a:lstStyle>
          <a:p>
            <a:pPr/>
            <a:r>
              <a:t>The spec is the documentation, versioned with the code</a:t>
            </a:r>
          </a:p>
        </p:txBody>
      </p:sp>
      <p:sp>
        <p:nvSpPr>
          <p:cNvPr id="315" name="Arr1"/>
          <p:cNvSpPr txBox="1"/>
          <p:nvPr/>
        </p:nvSpPr>
        <p:spPr>
          <a:xfrm>
            <a:off x="5577840" y="4663440"/>
            <a:ext cx="1005840" cy="320040"/>
          </a:xfrm>
          <a:prstGeom prst="rect">
            <a:avLst/>
          </a:prstGeom>
          <a:ln w="12700">
            <a:noFill/>
            <a:miter lim="400000"/>
          </a:ln>
        </p:spPr>
        <p:txBody>
          <a:bodyPr lIns="45719" rIns="45719" tIns="0" bIns="0" anchor="ctr"/>
          <a:lstStyle>
            <a:lvl1pPr algn="ctr">
              <a:defRPr sz="1400">
                <a:solidFill>
                  <a:srgbClr val="FF6B4A"/>
                </a:solidFill>
                <a:latin typeface="Calibri"/>
              </a:defRPr>
            </a:lvl1pPr>
          </a:lstStyle>
          <a:p>
            <a:pPr/>
            <a:r>
              <a:t>→</a:t>
            </a:r>
          </a:p>
        </p:txBody>
      </p:sp>
      <p:sp>
        <p:nvSpPr>
          <p:cNvPr id="316" name="L2"/>
          <p:cNvSpPr txBox="1"/>
          <p:nvPr/>
        </p:nvSpPr>
        <p:spPr>
          <a:xfrm>
            <a:off x="960120" y="5303520"/>
            <a:ext cx="4297680" cy="548640"/>
          </a:xfrm>
          <a:prstGeom prst="rect">
            <a:avLst/>
          </a:prstGeom>
          <a:ln w="12700">
            <a:noFill/>
            <a:miter lim="400000"/>
          </a:ln>
        </p:spPr>
        <p:txBody>
          <a:bodyPr lIns="45719" rIns="45719" tIns="0" bIns="0" anchor="t"/>
          <a:lstStyle>
            <a:lvl1pPr algn="l">
              <a:defRPr sz="1300">
                <a:solidFill>
                  <a:srgbClr val="2C3352"/>
                </a:solidFill>
                <a:latin typeface="Calibri"/>
              </a:defRPr>
            </a:lvl1pPr>
          </a:lstStyle>
          <a:p>
            <a:pPr/>
            <a:r>
              <a:t>No one can say what the screens and the jobs must do</a:t>
            </a:r>
          </a:p>
        </p:txBody>
      </p:sp>
      <p:sp>
        <p:nvSpPr>
          <p:cNvPr id="317" name="R2"/>
          <p:cNvSpPr txBox="1"/>
          <p:nvPr/>
        </p:nvSpPr>
        <p:spPr>
          <a:xfrm>
            <a:off x="6903720" y="5303520"/>
            <a:ext cx="4297680" cy="548640"/>
          </a:xfrm>
          <a:prstGeom prst="rect">
            <a:avLst/>
          </a:prstGeom>
          <a:ln w="12700">
            <a:noFill/>
            <a:miter lim="400000"/>
          </a:ln>
        </p:spPr>
        <p:txBody>
          <a:bodyPr lIns="45719" rIns="45719" tIns="0" bIns="0" anchor="t"/>
          <a:lstStyle>
            <a:lvl1pPr algn="l">
              <a:defRPr sz="1300">
                <a:solidFill>
                  <a:srgbClr val="2C3352"/>
                </a:solidFill>
                <a:latin typeface="Calibri"/>
              </a:defRPr>
            </a:lvl1pPr>
          </a:lstStyle>
          <a:p>
            <a:pPr/>
            <a:r>
              <a:t>What must be preserved is written down before anything moves</a:t>
            </a:r>
          </a:p>
        </p:txBody>
      </p:sp>
      <p:sp>
        <p:nvSpPr>
          <p:cNvPr id="318" name="Arr2"/>
          <p:cNvSpPr txBox="1"/>
          <p:nvPr/>
        </p:nvSpPr>
        <p:spPr>
          <a:xfrm>
            <a:off x="5577840" y="5303520"/>
            <a:ext cx="1005840" cy="320040"/>
          </a:xfrm>
          <a:prstGeom prst="rect">
            <a:avLst/>
          </a:prstGeom>
          <a:ln w="12700">
            <a:noFill/>
            <a:miter lim="400000"/>
          </a:ln>
        </p:spPr>
        <p:txBody>
          <a:bodyPr lIns="45719" rIns="45719" tIns="0" bIns="0" anchor="ctr"/>
          <a:lstStyle>
            <a:lvl1pPr algn="ctr">
              <a:defRPr sz="1400">
                <a:solidFill>
                  <a:srgbClr val="FF6B4A"/>
                </a:solidFill>
                <a:latin typeface="Calibri"/>
              </a:defRPr>
            </a:lvl1pPr>
          </a:lstStyle>
          <a:p>
            <a:pPr/>
            <a:r>
              <a:t>→</a:t>
            </a:r>
          </a:p>
        </p:txBody>
      </p:sp>
      <p:sp>
        <p:nvSpPr>
          <p:cNvPr id="301" name="Scope bar"/>
          <p:cNvSpPr/>
          <p:nvPr/>
        </p:nvSpPr>
        <p:spPr>
          <a:xfrm>
            <a:off x="640080" y="5943600"/>
            <a:ext cx="10881360" cy="457200"/>
          </a:xfrm>
          <a:prstGeom prst="roundRect">
            <a:avLst>
              <a:gd name="adj" fmla="val 18000"/>
            </a:avLst>
          </a:prstGeom>
          <a:solidFill>
            <a:srgbClr val="EEF2FC"/>
          </a:solidFill>
          <a:ln w="12700">
            <a:solidFill>
              <a:srgbClr val="CADCFC"/>
            </a:solidFill>
            <a:miter lim="400000"/>
          </a:ln>
        </p:spPr>
        <p:txBody>
          <a:bodyPr lIns="45719" rIns="45719"/>
          <a:lstStyle/>
          <a:p>
            <a:pPr/>
          </a:p>
        </p:txBody>
      </p:sp>
      <p:sp>
        <p:nvSpPr>
          <p:cNvPr id="302" name="Scope dot"/>
          <p:cNvSpPr/>
          <p:nvPr/>
        </p:nvSpPr>
        <p:spPr>
          <a:xfrm>
            <a:off x="960120" y="6117336"/>
            <a:ext cx="109729" cy="109729"/>
          </a:xfrm>
          <a:prstGeom prst="rect">
            <a:avLst/>
          </a:prstGeom>
          <a:solidFill>
            <a:srgbClr val="FF6B4A"/>
          </a:solidFill>
          <a:ln w="12700">
            <a:noFill/>
            <a:miter lim="400000"/>
          </a:ln>
        </p:spPr>
        <p:txBody>
          <a:bodyPr lIns="45719" rIns="45719"/>
          <a:lstStyle/>
          <a:p>
            <a:pPr/>
          </a:p>
        </p:txBody>
      </p:sp>
      <p:sp>
        <p:nvSpPr>
          <p:cNvPr id="303" name="Scope"/>
          <p:cNvSpPr txBox="1"/>
          <p:nvPr/>
        </p:nvSpPr>
        <p:spPr>
          <a:xfrm>
            <a:off x="1280160" y="5943600"/>
            <a:ext cx="10058400" cy="457200"/>
          </a:xfrm>
          <a:prstGeom prst="rect">
            <a:avLst/>
          </a:prstGeom>
          <a:ln w="12700">
            <a:noFill/>
            <a:miter lim="400000"/>
          </a:ln>
        </p:spPr>
        <p:txBody>
          <a:bodyPr lIns="45719" rIns="45719" tIns="0" bIns="0" anchor="ctr"/>
          <a:lstStyle>
            <a:lvl1pPr algn="l">
              <a:defRPr sz="1150">
                <a:solidFill>
                  <a:srgbClr val="2C3352"/>
                </a:solidFill>
                <a:latin typeface="Calibri"/>
              </a:defRPr>
            </a:lvl1pPr>
          </a:lstStyle>
          <a:p>
            <a:pPr/>
            <a:r>
              <a:t>Validated so far on the batch jobs. The screens follow — WebForms is the harder half, and we are not claiming it yet.</a:t>
            </a: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1E2761"/>
        </a:solidFill>
      </p:bgPr>
    </p:bg>
    <p:spTree>
      <p:nvGrpSpPr>
        <p:cNvPr id="1" name=""/>
        <p:cNvGrpSpPr/>
        <p:nvPr/>
      </p:nvGrpSpPr>
      <p:grpSpPr>
        <a:xfrm>
          <a:off x="0" y="0"/>
          <a:ext cx="0" cy="0"/>
          <a:chOff x="0" y="0"/>
          <a:chExt cx="0" cy="0"/>
        </a:xfrm>
      </p:grpSpPr>
      <p:sp>
        <p:nvSpPr>
          <p:cNvPr id="135" name="Text 0"/>
          <p:cNvSpPr txBox="1"/>
          <p:nvPr/>
        </p:nvSpPr>
        <p:spPr>
          <a:xfrm>
            <a:off x="685800" y="545400"/>
            <a:ext cx="7223761" cy="28080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200" sz="1100">
                <a:solidFill>
                  <a:srgbClr val="FF6B4A"/>
                </a:solidFill>
                <a:latin typeface="Calibri"/>
              </a:defRPr>
            </a:lvl1pPr>
          </a:lstStyle>
          <a:p>
            <a:pPr/>
            <a:r>
              <a:t>Automation</a:t>
            </a:r>
          </a:p>
        </p:txBody>
      </p:sp>
      <p:sp>
        <p:nvSpPr>
          <p:cNvPr id="136" name="Text 1"/>
          <p:cNvSpPr txBox="1"/>
          <p:nvPr/>
        </p:nvSpPr>
        <p:spPr>
          <a:xfrm>
            <a:off x="685800" y="989463"/>
            <a:ext cx="10789920" cy="48995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3000">
                <a:solidFill>
                  <a:srgbClr val="FFFFFF"/>
                </a:solidFill>
                <a:latin typeface="Cambria"/>
              </a:defRPr>
            </a:lvl1pPr>
          </a:lstStyle>
          <a:p>
            <a:pPr/>
            <a:r>
              <a:t>A migration agent driven by the spec</a:t>
            </a:r>
          </a:p>
        </p:txBody>
      </p:sp>
      <p:sp>
        <p:nvSpPr>
          <p:cNvPr id="158" name="Text 25"/>
          <p:cNvSpPr txBox="1"/>
          <p:nvPr/>
        </p:nvSpPr>
        <p:spPr>
          <a:xfrm>
            <a:off x="502919" y="6572163"/>
            <a:ext cx="722376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900">
                <a:solidFill>
                  <a:srgbClr val="5C6484"/>
                </a:solidFill>
                <a:latin typeface="Calibri"/>
              </a:defRPr>
            </a:lvl1pPr>
          </a:lstStyle>
          <a:p>
            <a:pPr/>
            <a:r>
              <a:t>OpenSpec — Spec-Driven Development</a:t>
            </a:r>
          </a:p>
        </p:txBody>
      </p:sp>
      <p:sp>
        <p:nvSpPr>
          <p:cNvPr id="159" name="Text 26"/>
          <p:cNvSpPr txBox="1"/>
          <p:nvPr/>
        </p:nvSpPr>
        <p:spPr>
          <a:xfrm>
            <a:off x="11475719" y="6572163"/>
            <a:ext cx="27432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900">
                <a:solidFill>
                  <a:srgbClr val="5C6484"/>
                </a:solidFill>
                <a:latin typeface="Calibri"/>
              </a:defRPr>
            </a:lvl1pPr>
          </a:lstStyle>
          <a:p>
            <a:pPr/>
            <a:r>
              <a:t>9</a:t>
            </a:r>
          </a:p>
        </p:txBody>
      </p:sp>
      <p:sp>
        <p:nvSpPr>
          <p:cNvPr id="301" name="Flow 640080"/>
          <p:cNvSpPr/>
          <p:nvPr/>
        </p:nvSpPr>
        <p:spPr>
          <a:xfrm>
            <a:off x="640080" y="1965960"/>
            <a:ext cx="3246121" cy="1371601"/>
          </a:xfrm>
          <a:prstGeom prst="roundRect">
            <a:avLst>
              <a:gd name="adj" fmla="val 5000"/>
            </a:avLst>
          </a:prstGeom>
          <a:solidFill>
            <a:srgbClr val="2A3070"/>
          </a:solidFill>
          <a:ln w="12700">
            <a:noFill/>
            <a:miter lim="400000"/>
          </a:ln>
        </p:spPr>
        <p:txBody>
          <a:bodyPr lIns="45719" rIns="45719"/>
          <a:lstStyle/>
          <a:p>
            <a:pPr/>
          </a:p>
        </p:txBody>
      </p:sp>
      <p:sp>
        <p:nvSpPr>
          <p:cNvPr id="302" name="Flow t640080"/>
          <p:cNvSpPr txBox="1"/>
          <p:nvPr/>
        </p:nvSpPr>
        <p:spPr>
          <a:xfrm>
            <a:off x="777239" y="2237040"/>
            <a:ext cx="2971803" cy="509400"/>
          </a:xfrm>
          <a:prstGeom prst="rect">
            <a:avLst/>
          </a:prstGeom>
          <a:ln w="12700">
            <a:noFill/>
            <a:miter lim="400000"/>
          </a:ln>
        </p:spPr>
        <p:txBody>
          <a:bodyPr lIns="45719" rIns="45719" tIns="0" bIns="0" anchor="t"/>
          <a:lstStyle>
            <a:lvl1pPr algn="ctr">
              <a:defRPr b="1" sz="1600">
                <a:solidFill>
                  <a:srgbClr val="FFFFFF"/>
                </a:solidFill>
                <a:latin typeface="Calibri"/>
              </a:defRPr>
            </a:lvl1pPr>
          </a:lstStyle>
          <a:p>
            <a:pPr/>
            <a:r>
              <a:t>ASP.NET WebForms</a:t>
            </a:r>
          </a:p>
          <a:p>
            <a:pPr/>
            <a:r>
              <a:t>and C# batch jobs</a:t>
            </a:r>
          </a:p>
        </p:txBody>
      </p:sp>
      <p:sp>
        <p:nvSpPr>
          <p:cNvPr id="303" name="Flow s640080"/>
          <p:cNvSpPr txBox="1"/>
          <p:nvPr/>
        </p:nvSpPr>
        <p:spPr>
          <a:xfrm>
            <a:off x="777239" y="2948984"/>
            <a:ext cx="2971803" cy="228512"/>
          </a:xfrm>
          <a:prstGeom prst="rect">
            <a:avLst/>
          </a:prstGeom>
          <a:ln w="12700">
            <a:noFill/>
            <a:miter lim="400000"/>
          </a:ln>
        </p:spPr>
        <p:txBody>
          <a:bodyPr lIns="45719" rIns="45719" tIns="0" bIns="0" anchor="t"/>
          <a:lstStyle>
            <a:lvl1pPr algn="ctr">
              <a:defRPr sz="1200">
                <a:solidFill>
                  <a:srgbClr val="9AA3C0"/>
                </a:solidFill>
                <a:latin typeface="Calibri"/>
              </a:defRPr>
            </a:lvl1pPr>
          </a:lstStyle>
          <a:p>
            <a:pPr/>
            <a:r>
              <a:t>Watchlist, today</a:t>
            </a:r>
          </a:p>
        </p:txBody>
      </p:sp>
      <p:sp>
        <p:nvSpPr>
          <p:cNvPr id="304" name="Arr1"/>
          <p:cNvSpPr txBox="1"/>
          <p:nvPr/>
        </p:nvSpPr>
        <p:spPr>
          <a:xfrm>
            <a:off x="3931919" y="2481669"/>
            <a:ext cx="320042" cy="340182"/>
          </a:xfrm>
          <a:prstGeom prst="rect">
            <a:avLst/>
          </a:prstGeom>
          <a:ln w="12700">
            <a:noFill/>
            <a:miter lim="400000"/>
          </a:ln>
        </p:spPr>
        <p:txBody>
          <a:bodyPr lIns="45719" rIns="45719" tIns="0" bIns="0" anchor="ctr"/>
          <a:lstStyle>
            <a:lvl1pPr algn="ctr">
              <a:defRPr sz="1600">
                <a:solidFill>
                  <a:srgbClr val="9AA3C0"/>
                </a:solidFill>
                <a:latin typeface="Calibri"/>
              </a:defRPr>
            </a:lvl1pPr>
          </a:lstStyle>
          <a:p>
            <a:pPr/>
            <a:r>
              <a:t>→</a:t>
            </a:r>
          </a:p>
        </p:txBody>
      </p:sp>
      <p:sp>
        <p:nvSpPr>
          <p:cNvPr id="305" name="Flow 4297679"/>
          <p:cNvSpPr/>
          <p:nvPr/>
        </p:nvSpPr>
        <p:spPr>
          <a:xfrm>
            <a:off x="4297679" y="1965960"/>
            <a:ext cx="3246121" cy="1371601"/>
          </a:xfrm>
          <a:prstGeom prst="roundRect">
            <a:avLst>
              <a:gd name="adj" fmla="val 5000"/>
            </a:avLst>
          </a:prstGeom>
          <a:solidFill>
            <a:srgbClr val="FF6B4A"/>
          </a:solidFill>
          <a:ln w="12700">
            <a:noFill/>
            <a:miter lim="400000"/>
          </a:ln>
        </p:spPr>
        <p:txBody>
          <a:bodyPr lIns="45719" rIns="45719"/>
          <a:lstStyle/>
          <a:p>
            <a:pPr/>
          </a:p>
        </p:txBody>
      </p:sp>
      <p:sp>
        <p:nvSpPr>
          <p:cNvPr id="306" name="Flow t4297679"/>
          <p:cNvSpPr txBox="1"/>
          <p:nvPr/>
        </p:nvSpPr>
        <p:spPr>
          <a:xfrm>
            <a:off x="4434838" y="2237040"/>
            <a:ext cx="2971803" cy="509400"/>
          </a:xfrm>
          <a:prstGeom prst="rect">
            <a:avLst/>
          </a:prstGeom>
          <a:ln w="12700">
            <a:noFill/>
            <a:miter lim="400000"/>
          </a:ln>
        </p:spPr>
        <p:txBody>
          <a:bodyPr lIns="45719" rIns="45719" tIns="0" bIns="0" anchor="t"/>
          <a:lstStyle>
            <a:lvl1pPr algn="ctr">
              <a:defRPr b="1" sz="1600">
                <a:solidFill>
                  <a:srgbClr val="1E2761"/>
                </a:solidFill>
                <a:latin typeface="Calibri"/>
              </a:defRPr>
            </a:lvl1pPr>
          </a:lstStyle>
          <a:p>
            <a:pPr/>
            <a:r>
              <a:t>AI migration agent</a:t>
            </a:r>
          </a:p>
        </p:txBody>
      </p:sp>
      <p:sp>
        <p:nvSpPr>
          <p:cNvPr id="307" name="Flow s4297679"/>
          <p:cNvSpPr txBox="1"/>
          <p:nvPr/>
        </p:nvSpPr>
        <p:spPr>
          <a:xfrm>
            <a:off x="4434838" y="2948984"/>
            <a:ext cx="2971803" cy="228512"/>
          </a:xfrm>
          <a:prstGeom prst="rect">
            <a:avLst/>
          </a:prstGeom>
          <a:ln w="12700">
            <a:noFill/>
            <a:miter lim="400000"/>
          </a:ln>
        </p:spPr>
        <p:txBody>
          <a:bodyPr lIns="45719" rIns="45719" tIns="0" bIns="0" anchor="t"/>
          <a:lstStyle>
            <a:lvl1pPr algn="ctr">
              <a:defRPr sz="1200">
                <a:solidFill>
                  <a:srgbClr val="5A1A0A"/>
                </a:solidFill>
                <a:latin typeface="Calibri"/>
              </a:defRPr>
            </a:lvl1pPr>
          </a:lstStyle>
          <a:p>
            <a:pPr/>
            <a:r>
              <a:t>runs the OpenSpec workflow</a:t>
            </a:r>
          </a:p>
        </p:txBody>
      </p:sp>
      <p:sp>
        <p:nvSpPr>
          <p:cNvPr id="308" name="Arr2"/>
          <p:cNvSpPr txBox="1"/>
          <p:nvPr/>
        </p:nvSpPr>
        <p:spPr>
          <a:xfrm>
            <a:off x="7589519" y="2481669"/>
            <a:ext cx="320042" cy="340182"/>
          </a:xfrm>
          <a:prstGeom prst="rect">
            <a:avLst/>
          </a:prstGeom>
          <a:ln w="12700">
            <a:noFill/>
            <a:miter lim="400000"/>
          </a:ln>
        </p:spPr>
        <p:txBody>
          <a:bodyPr lIns="45719" rIns="45719" tIns="0" bIns="0" anchor="ctr"/>
          <a:lstStyle>
            <a:lvl1pPr algn="ctr">
              <a:defRPr sz="1600">
                <a:solidFill>
                  <a:srgbClr val="9AA3C0"/>
                </a:solidFill>
                <a:latin typeface="Calibri"/>
              </a:defRPr>
            </a:lvl1pPr>
          </a:lstStyle>
          <a:p>
            <a:pPr/>
            <a:r>
              <a:t>→</a:t>
            </a:r>
          </a:p>
        </p:txBody>
      </p:sp>
      <p:sp>
        <p:nvSpPr>
          <p:cNvPr id="309" name="Flow 7955280"/>
          <p:cNvSpPr/>
          <p:nvPr/>
        </p:nvSpPr>
        <p:spPr>
          <a:xfrm>
            <a:off x="7955280" y="1965960"/>
            <a:ext cx="3246121" cy="1371601"/>
          </a:xfrm>
          <a:prstGeom prst="roundRect">
            <a:avLst>
              <a:gd name="adj" fmla="val 5000"/>
            </a:avLst>
          </a:prstGeom>
          <a:solidFill>
            <a:srgbClr val="2A3070"/>
          </a:solidFill>
          <a:ln w="12700">
            <a:noFill/>
            <a:miter lim="400000"/>
          </a:ln>
        </p:spPr>
        <p:txBody>
          <a:bodyPr lIns="45719" rIns="45719"/>
          <a:lstStyle/>
          <a:p>
            <a:pPr/>
          </a:p>
        </p:txBody>
      </p:sp>
      <p:sp>
        <p:nvSpPr>
          <p:cNvPr id="310" name="Flow t7955280"/>
          <p:cNvSpPr txBox="1"/>
          <p:nvPr/>
        </p:nvSpPr>
        <p:spPr>
          <a:xfrm>
            <a:off x="8092439" y="2237040"/>
            <a:ext cx="2971803" cy="509400"/>
          </a:xfrm>
          <a:prstGeom prst="rect">
            <a:avLst/>
          </a:prstGeom>
          <a:ln w="12700">
            <a:noFill/>
            <a:miter lim="400000"/>
          </a:ln>
        </p:spPr>
        <p:txBody>
          <a:bodyPr lIns="45719" rIns="45719" tIns="0" bIns="0" anchor="t"/>
          <a:lstStyle>
            <a:lvl1pPr algn="ctr">
              <a:defRPr b="1" sz="1600">
                <a:solidFill>
                  <a:srgbClr val="FFFFFF"/>
                </a:solidFill>
                <a:latin typeface="Calibri"/>
              </a:defRPr>
            </a:lvl1pPr>
          </a:lstStyle>
          <a:p>
            <a:pPr/>
            <a:r>
              <a:t>Spring Boot, Spring Batch</a:t>
            </a:r>
          </a:p>
          <a:p>
            <a:pPr/>
            <a:r>
              <a:t>and ReactJS</a:t>
            </a:r>
          </a:p>
        </p:txBody>
      </p:sp>
      <p:sp>
        <p:nvSpPr>
          <p:cNvPr id="311" name="Flow s7955280"/>
          <p:cNvSpPr txBox="1"/>
          <p:nvPr/>
        </p:nvSpPr>
        <p:spPr>
          <a:xfrm>
            <a:off x="8092439" y="2948984"/>
            <a:ext cx="2971803" cy="228512"/>
          </a:xfrm>
          <a:prstGeom prst="rect">
            <a:avLst/>
          </a:prstGeom>
          <a:ln w="12700">
            <a:noFill/>
            <a:miter lim="400000"/>
          </a:ln>
        </p:spPr>
        <p:txBody>
          <a:bodyPr lIns="45719" rIns="45719" tIns="0" bIns="0" anchor="t"/>
          <a:lstStyle>
            <a:lvl1pPr algn="ctr">
              <a:defRPr sz="1200">
                <a:solidFill>
                  <a:srgbClr val="9AA3C0"/>
                </a:solidFill>
                <a:latin typeface="Calibri"/>
              </a:defRPr>
            </a:lvl1pPr>
          </a:lstStyle>
          <a:p>
            <a:pPr/>
            <a:r>
              <a:t>Watchlist, target</a:t>
            </a:r>
          </a:p>
        </p:txBody>
      </p:sp>
      <p:sp>
        <p:nvSpPr>
          <p:cNvPr id="312" name="Dot 0"/>
          <p:cNvSpPr/>
          <p:nvPr/>
        </p:nvSpPr>
        <p:spPr>
          <a:xfrm>
            <a:off x="640080" y="4000500"/>
            <a:ext cx="109729" cy="109729"/>
          </a:xfrm>
          <a:prstGeom prst="rect">
            <a:avLst/>
          </a:prstGeom>
          <a:solidFill>
            <a:srgbClr val="FF6B4A"/>
          </a:solidFill>
          <a:ln w="12700">
            <a:noFill/>
            <a:miter lim="400000"/>
          </a:ln>
        </p:spPr>
        <p:txBody>
          <a:bodyPr lIns="45719" rIns="45719"/>
          <a:lstStyle/>
          <a:p>
            <a:pPr/>
          </a:p>
        </p:txBody>
      </p:sp>
      <p:sp>
        <p:nvSpPr>
          <p:cNvPr id="313" name="H 0"/>
          <p:cNvSpPr txBox="1"/>
          <p:nvPr/>
        </p:nvSpPr>
        <p:spPr>
          <a:xfrm>
            <a:off x="960119" y="3931920"/>
            <a:ext cx="4983481" cy="320040"/>
          </a:xfrm>
          <a:prstGeom prst="rect">
            <a:avLst/>
          </a:prstGeom>
          <a:ln w="12700">
            <a:noFill/>
            <a:miter lim="400000"/>
          </a:ln>
        </p:spPr>
        <p:txBody>
          <a:bodyPr lIns="45719" rIns="45719" tIns="0" bIns="0" anchor="t"/>
          <a:lstStyle>
            <a:lvl1pPr algn="l">
              <a:defRPr b="1" sz="1500">
                <a:solidFill>
                  <a:srgbClr val="FFFFFF"/>
                </a:solidFill>
                <a:latin typeface="Cambria"/>
              </a:defRPr>
            </a:lvl1pPr>
          </a:lstStyle>
          <a:p>
            <a:pPr/>
            <a:r>
              <a:t>Extracts the business rules</a:t>
            </a:r>
          </a:p>
        </p:txBody>
      </p:sp>
      <p:sp>
        <p:nvSpPr>
          <p:cNvPr id="314" name="B 0"/>
          <p:cNvSpPr txBox="1"/>
          <p:nvPr/>
        </p:nvSpPr>
        <p:spPr>
          <a:xfrm>
            <a:off x="960119" y="4343400"/>
            <a:ext cx="4983481" cy="731520"/>
          </a:xfrm>
          <a:prstGeom prst="rect">
            <a:avLst/>
          </a:prstGeom>
          <a:ln w="12700">
            <a:noFill/>
            <a:miter lim="400000"/>
          </a:ln>
        </p:spPr>
        <p:txBody>
          <a:bodyPr lIns="45719" rIns="45719" tIns="0" bIns="0" anchor="t"/>
          <a:lstStyle>
            <a:lvl1pPr algn="l">
              <a:defRPr sz="1250">
                <a:solidFill>
                  <a:srgbClr val="9AA3C0"/>
                </a:solidFill>
                <a:latin typeface="Calibri"/>
              </a:defRPr>
            </a:lvl1pPr>
          </a:lstStyle>
          <a:p>
            <a:pPr/>
            <a:r>
              <a:t>The agent reads Watchlist and drafts the requirements it actually implements.</a:t>
            </a:r>
          </a:p>
        </p:txBody>
      </p:sp>
      <p:sp>
        <p:nvSpPr>
          <p:cNvPr id="315" name="Dot 1"/>
          <p:cNvSpPr/>
          <p:nvPr/>
        </p:nvSpPr>
        <p:spPr>
          <a:xfrm>
            <a:off x="6217920" y="4000500"/>
            <a:ext cx="109729" cy="109729"/>
          </a:xfrm>
          <a:prstGeom prst="rect">
            <a:avLst/>
          </a:prstGeom>
          <a:solidFill>
            <a:srgbClr val="FF6B4A"/>
          </a:solidFill>
          <a:ln w="12700">
            <a:noFill/>
            <a:miter lim="400000"/>
          </a:ln>
        </p:spPr>
        <p:txBody>
          <a:bodyPr lIns="45719" rIns="45719"/>
          <a:lstStyle/>
          <a:p>
            <a:pPr/>
          </a:p>
        </p:txBody>
      </p:sp>
      <p:sp>
        <p:nvSpPr>
          <p:cNvPr id="316" name="H 1"/>
          <p:cNvSpPr txBox="1"/>
          <p:nvPr/>
        </p:nvSpPr>
        <p:spPr>
          <a:xfrm>
            <a:off x="6537959" y="3931920"/>
            <a:ext cx="4983481" cy="320040"/>
          </a:xfrm>
          <a:prstGeom prst="rect">
            <a:avLst/>
          </a:prstGeom>
          <a:ln w="12700">
            <a:noFill/>
            <a:miter lim="400000"/>
          </a:ln>
        </p:spPr>
        <p:txBody>
          <a:bodyPr lIns="45719" rIns="45719" tIns="0" bIns="0" anchor="t"/>
          <a:lstStyle>
            <a:lvl1pPr algn="l">
              <a:defRPr b="1" sz="1500">
                <a:solidFill>
                  <a:srgbClr val="FFFFFF"/>
                </a:solidFill>
                <a:latin typeface="Cambria"/>
              </a:defRPr>
            </a:lvl1pPr>
          </a:lstStyle>
          <a:p>
            <a:pPr/>
            <a:r>
              <a:t>The teams review before any code</a:t>
            </a:r>
          </a:p>
        </p:txBody>
      </p:sp>
      <p:sp>
        <p:nvSpPr>
          <p:cNvPr id="317" name="B 1"/>
          <p:cNvSpPr txBox="1"/>
          <p:nvPr/>
        </p:nvSpPr>
        <p:spPr>
          <a:xfrm>
            <a:off x="6537959" y="4343400"/>
            <a:ext cx="4983481" cy="731520"/>
          </a:xfrm>
          <a:prstGeom prst="rect">
            <a:avLst/>
          </a:prstGeom>
          <a:ln w="12700">
            <a:noFill/>
            <a:miter lim="400000"/>
          </a:ln>
        </p:spPr>
        <p:txBody>
          <a:bodyPr lIns="45719" rIns="45719" tIns="0" bIns="0" anchor="t"/>
          <a:lstStyle>
            <a:lvl1pPr algn="l">
              <a:defRPr sz="1250">
                <a:solidFill>
                  <a:srgbClr val="9AA3C0"/>
                </a:solidFill>
                <a:latin typeface="Calibri"/>
              </a:defRPr>
            </a:lvl1pPr>
          </a:lstStyle>
          <a:p>
            <a:pPr/>
            <a:r>
              <a:t>Extraction is where things get lost — so that is where a person checks, not at the end.</a:t>
            </a:r>
          </a:p>
        </p:txBody>
      </p:sp>
      <p:sp>
        <p:nvSpPr>
          <p:cNvPr id="318" name="Dot 2"/>
          <p:cNvSpPr/>
          <p:nvPr/>
        </p:nvSpPr>
        <p:spPr>
          <a:xfrm>
            <a:off x="640080" y="5189220"/>
            <a:ext cx="109729" cy="109729"/>
          </a:xfrm>
          <a:prstGeom prst="rect">
            <a:avLst/>
          </a:prstGeom>
          <a:solidFill>
            <a:srgbClr val="FF6B4A"/>
          </a:solidFill>
          <a:ln w="12700">
            <a:noFill/>
            <a:miter lim="400000"/>
          </a:ln>
        </p:spPr>
        <p:txBody>
          <a:bodyPr lIns="45719" rIns="45719"/>
          <a:lstStyle/>
          <a:p>
            <a:pPr/>
          </a:p>
        </p:txBody>
      </p:sp>
      <p:sp>
        <p:nvSpPr>
          <p:cNvPr id="319" name="H 2"/>
          <p:cNvSpPr txBox="1"/>
          <p:nvPr/>
        </p:nvSpPr>
        <p:spPr>
          <a:xfrm>
            <a:off x="960119" y="5120640"/>
            <a:ext cx="4983481" cy="320040"/>
          </a:xfrm>
          <a:prstGeom prst="rect">
            <a:avLst/>
          </a:prstGeom>
          <a:ln w="12700">
            <a:noFill/>
            <a:miter lim="400000"/>
          </a:ln>
        </p:spPr>
        <p:txBody>
          <a:bodyPr lIns="45719" rIns="45719" tIns="0" bIns="0" anchor="t"/>
          <a:lstStyle>
            <a:lvl1pPr algn="l">
              <a:defRPr b="1" sz="1500">
                <a:solidFill>
                  <a:srgbClr val="FFFFFF"/>
                </a:solidFill>
                <a:latin typeface="Cambria"/>
              </a:defRPr>
            </a:lvl1pPr>
          </a:lstStyle>
          <a:p>
            <a:pPr/>
            <a:r>
              <a:t>Generates the new implementation</a:t>
            </a:r>
          </a:p>
        </p:txBody>
      </p:sp>
      <p:sp>
        <p:nvSpPr>
          <p:cNvPr id="320" name="B 2"/>
          <p:cNvSpPr txBox="1"/>
          <p:nvPr/>
        </p:nvSpPr>
        <p:spPr>
          <a:xfrm>
            <a:off x="960119" y="5532120"/>
            <a:ext cx="4983481" cy="731520"/>
          </a:xfrm>
          <a:prstGeom prst="rect">
            <a:avLst/>
          </a:prstGeom>
          <a:ln w="12700">
            <a:noFill/>
            <a:miter lim="400000"/>
          </a:ln>
        </p:spPr>
        <p:txBody>
          <a:bodyPr lIns="45719" rIns="45719" tIns="0" bIns="0" anchor="t"/>
          <a:lstStyle>
            <a:lvl1pPr algn="l">
              <a:defRPr sz="1250">
                <a:solidFill>
                  <a:srgbClr val="9AA3C0"/>
                </a:solidFill>
                <a:latin typeface="Calibri"/>
              </a:defRPr>
            </a:lvl1pPr>
          </a:lstStyle>
          <a:p>
            <a:pPr/>
            <a:r>
              <a:t>Screens and jobs alike, task by task, against the spec that was approved.</a:t>
            </a:r>
          </a:p>
        </p:txBody>
      </p:sp>
      <p:sp>
        <p:nvSpPr>
          <p:cNvPr id="321" name="Dot 3"/>
          <p:cNvSpPr/>
          <p:nvPr/>
        </p:nvSpPr>
        <p:spPr>
          <a:xfrm>
            <a:off x="6217920" y="5189220"/>
            <a:ext cx="109729" cy="109729"/>
          </a:xfrm>
          <a:prstGeom prst="rect">
            <a:avLst/>
          </a:prstGeom>
          <a:solidFill>
            <a:srgbClr val="FF6B4A"/>
          </a:solidFill>
          <a:ln w="12700">
            <a:noFill/>
            <a:miter lim="400000"/>
          </a:ln>
        </p:spPr>
        <p:txBody>
          <a:bodyPr lIns="45719" rIns="45719"/>
          <a:lstStyle/>
          <a:p>
            <a:pPr/>
          </a:p>
        </p:txBody>
      </p:sp>
      <p:sp>
        <p:nvSpPr>
          <p:cNvPr id="322" name="H 3"/>
          <p:cNvSpPr txBox="1"/>
          <p:nvPr/>
        </p:nvSpPr>
        <p:spPr>
          <a:xfrm>
            <a:off x="6537959" y="5120640"/>
            <a:ext cx="4983481" cy="320040"/>
          </a:xfrm>
          <a:prstGeom prst="rect">
            <a:avLst/>
          </a:prstGeom>
          <a:ln w="12700">
            <a:noFill/>
            <a:miter lim="400000"/>
          </a:ln>
        </p:spPr>
        <p:txBody>
          <a:bodyPr lIns="45719" rIns="45719" tIns="0" bIns="0" anchor="t"/>
          <a:lstStyle>
            <a:lvl1pPr algn="l">
              <a:defRPr b="1" sz="1500">
                <a:solidFill>
                  <a:srgbClr val="FFFFFF"/>
                </a:solidFill>
                <a:latin typeface="Cambria"/>
              </a:defRPr>
            </a:lvl1pPr>
          </a:lstStyle>
          <a:p>
            <a:pPr/>
            <a:r>
              <a:t>Scenarios become acceptance tests</a:t>
            </a:r>
          </a:p>
        </p:txBody>
      </p:sp>
      <p:sp>
        <p:nvSpPr>
          <p:cNvPr id="323" name="B 3"/>
          <p:cNvSpPr txBox="1"/>
          <p:nvPr/>
        </p:nvSpPr>
        <p:spPr>
          <a:xfrm>
            <a:off x="6537959" y="5532120"/>
            <a:ext cx="4983481" cy="731520"/>
          </a:xfrm>
          <a:prstGeom prst="rect">
            <a:avLst/>
          </a:prstGeom>
          <a:ln w="12700">
            <a:noFill/>
            <a:miter lim="400000"/>
          </a:ln>
        </p:spPr>
        <p:txBody>
          <a:bodyPr lIns="45719" rIns="45719" tIns="0" bIns="0" anchor="t"/>
          <a:lstStyle>
            <a:lvl1pPr algn="l">
              <a:defRPr sz="1250">
                <a:solidFill>
                  <a:srgbClr val="9AA3C0"/>
                </a:solidFill>
                <a:latin typeface="Calibri"/>
              </a:defRPr>
            </a:lvl1pPr>
          </a:lstStyle>
          <a:p>
            <a:pPr/>
            <a:r>
              <a:t>Each requirement states the behaviour to expect, in plain markdown — the new implementation is checked against it, not assumed.</a:t>
            </a:r>
          </a:p>
        </p:txBody>
      </p:sp>
      <p:sp>
        <p:nvSpPr>
          <p:cNvPr id="304" name="Scope2"/>
          <p:cNvSpPr txBox="1"/>
          <p:nvPr/>
        </p:nvSpPr>
        <p:spPr>
          <a:xfrm>
            <a:off x="640080" y="6172200"/>
            <a:ext cx="10881360" cy="228600"/>
          </a:xfrm>
          <a:prstGeom prst="rect">
            <a:avLst/>
          </a:prstGeom>
          <a:ln w="12700">
            <a:noFill/>
            <a:miter lim="400000"/>
          </a:ln>
        </p:spPr>
        <p:txBody>
          <a:bodyPr lIns="45719" rIns="45719" tIns="0" bIns="0" anchor="t"/>
          <a:lstStyle>
            <a:lvl1pPr algn="l">
              <a:defRPr i="1" sz="1000">
                <a:solidFill>
                  <a:srgbClr val="9AA3C0"/>
                </a:solidFill>
                <a:latin typeface="Calibri"/>
              </a:defRPr>
            </a:lvl1pPr>
          </a:lstStyle>
          <a:p>
            <a:pPr/>
            <a:r>
              <a:t>Proven on the batch jobs. The WebForms screens are next — the same workflow, a harder extraction.</a:t>
            </a:r>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1" name="Text 0"/>
          <p:cNvSpPr txBox="1"/>
          <p:nvPr/>
        </p:nvSpPr>
        <p:spPr>
          <a:xfrm>
            <a:off x="685800" y="545400"/>
            <a:ext cx="7223761" cy="28080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200" sz="1100">
                <a:solidFill>
                  <a:srgbClr val="FF6B4A"/>
                </a:solidFill>
                <a:latin typeface="Calibri"/>
              </a:defRPr>
            </a:lvl1pPr>
          </a:lstStyle>
          <a:p>
            <a:pPr/>
            <a:r>
              <a:t>The impact</a:t>
            </a:r>
          </a:p>
        </p:txBody>
      </p:sp>
      <p:sp>
        <p:nvSpPr>
          <p:cNvPr id="162" name="Text 1"/>
          <p:cNvSpPr txBox="1"/>
          <p:nvPr/>
        </p:nvSpPr>
        <p:spPr>
          <a:xfrm>
            <a:off x="685800" y="989463"/>
            <a:ext cx="10789920" cy="48995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3000">
                <a:solidFill>
                  <a:srgbClr val="1E2761"/>
                </a:solidFill>
                <a:latin typeface="Cambria"/>
              </a:defRPr>
            </a:lvl1pPr>
          </a:lstStyle>
          <a:p>
            <a:pPr/>
            <a:r>
              <a:t>What actually changes</a:t>
            </a:r>
          </a:p>
        </p:txBody>
      </p:sp>
      <p:sp>
        <p:nvSpPr>
          <p:cNvPr id="179" name="Text 18"/>
          <p:cNvSpPr txBox="1"/>
          <p:nvPr/>
        </p:nvSpPr>
        <p:spPr>
          <a:xfrm>
            <a:off x="502919" y="6572163"/>
            <a:ext cx="722376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900">
                <a:solidFill>
                  <a:srgbClr val="5C6484"/>
                </a:solidFill>
                <a:latin typeface="Calibri"/>
              </a:defRPr>
            </a:lvl1pPr>
          </a:lstStyle>
          <a:p>
            <a:pPr/>
            <a:r>
              <a:t>OpenSpec — Spec-Driven Development</a:t>
            </a:r>
          </a:p>
        </p:txBody>
      </p:sp>
      <p:sp>
        <p:nvSpPr>
          <p:cNvPr id="180" name="Text 19"/>
          <p:cNvSpPr txBox="1"/>
          <p:nvPr/>
        </p:nvSpPr>
        <p:spPr>
          <a:xfrm>
            <a:off x="11475719" y="6572163"/>
            <a:ext cx="27432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900">
                <a:solidFill>
                  <a:srgbClr val="5C6484"/>
                </a:solidFill>
                <a:latin typeface="Calibri"/>
              </a:defRPr>
            </a:lvl1pPr>
          </a:lstStyle>
          <a:p>
            <a:pPr/>
            <a:r>
              <a:t>13</a:t>
            </a:r>
          </a:p>
        </p:txBody>
      </p:sp>
      <p:sp>
        <p:nvSpPr>
          <p:cNvPr id="301" name="Lead"/>
          <p:cNvSpPr txBox="1"/>
          <p:nvPr/>
        </p:nvSpPr>
        <p:spPr>
          <a:xfrm>
            <a:off x="685800" y="1600200"/>
            <a:ext cx="10607042" cy="548640"/>
          </a:xfrm>
          <a:prstGeom prst="rect">
            <a:avLst/>
          </a:prstGeom>
          <a:ln w="12700">
            <a:noFill/>
            <a:miter lim="400000"/>
          </a:ln>
        </p:spPr>
        <p:txBody>
          <a:bodyPr lIns="45719" rIns="45719" tIns="0" bIns="0" anchor="t"/>
          <a:lstStyle>
            <a:lvl1pPr algn="l">
              <a:defRPr sz="1550">
                <a:solidFill>
                  <a:srgbClr val="2C3352"/>
                </a:solidFill>
                <a:latin typeface="Calibri"/>
              </a:defRPr>
            </a:lvl1pPr>
          </a:lstStyle>
          <a:p>
            <a:pPr/>
            <a:r>
              <a:t>None of this depends on the model getting better. It is what a team can do differently once the intent is written down.</a:t>
            </a:r>
          </a:p>
        </p:txBody>
      </p:sp>
      <p:sp>
        <p:nvSpPr>
          <p:cNvPr id="302" name="Dot 0"/>
          <p:cNvSpPr/>
          <p:nvPr/>
        </p:nvSpPr>
        <p:spPr>
          <a:xfrm>
            <a:off x="640080" y="2834640"/>
            <a:ext cx="137160" cy="137160"/>
          </a:xfrm>
          <a:prstGeom prst="ellipse">
            <a:avLst/>
          </a:prstGeom>
          <a:solidFill>
            <a:srgbClr val="FF6B4A"/>
          </a:solidFill>
          <a:ln w="12700">
            <a:noFill/>
            <a:miter lim="400000"/>
          </a:ln>
        </p:spPr>
        <p:txBody>
          <a:bodyPr lIns="45719" rIns="45719"/>
          <a:lstStyle/>
          <a:p>
            <a:pPr/>
          </a:p>
        </p:txBody>
      </p:sp>
      <p:sp>
        <p:nvSpPr>
          <p:cNvPr id="303" name="H 0"/>
          <p:cNvSpPr txBox="1"/>
          <p:nvPr/>
        </p:nvSpPr>
        <p:spPr>
          <a:xfrm>
            <a:off x="1005840" y="2743200"/>
            <a:ext cx="4937760" cy="340182"/>
          </a:xfrm>
          <a:prstGeom prst="rect">
            <a:avLst/>
          </a:prstGeom>
          <a:ln w="12700">
            <a:noFill/>
            <a:miter lim="400000"/>
          </a:ln>
        </p:spPr>
        <p:txBody>
          <a:bodyPr lIns="45719" rIns="45719" tIns="0" bIns="0" anchor="t"/>
          <a:lstStyle>
            <a:lvl1pPr algn="l">
              <a:defRPr b="1" sz="1800">
                <a:solidFill>
                  <a:srgbClr val="1E2761"/>
                </a:solidFill>
                <a:latin typeface="Cambria"/>
              </a:defRPr>
            </a:lvl1pPr>
          </a:lstStyle>
          <a:p>
            <a:pPr/>
            <a:r>
              <a:t>Review changes</a:t>
            </a:r>
          </a:p>
        </p:txBody>
      </p:sp>
      <p:sp>
        <p:nvSpPr>
          <p:cNvPr id="304" name="B 0"/>
          <p:cNvSpPr txBox="1"/>
          <p:nvPr/>
        </p:nvSpPr>
        <p:spPr>
          <a:xfrm>
            <a:off x="1005840" y="3200400"/>
            <a:ext cx="4937760" cy="914400"/>
          </a:xfrm>
          <a:prstGeom prst="rect">
            <a:avLst/>
          </a:prstGeom>
          <a:ln w="12700">
            <a:noFill/>
            <a:miter lim="400000"/>
          </a:ln>
        </p:spPr>
        <p:txBody>
          <a:bodyPr lIns="45719" rIns="45719" tIns="0" bIns="0" anchor="t"/>
          <a:lstStyle>
            <a:lvl1pPr algn="l">
              <a:defRPr sz="1350">
                <a:solidFill>
                  <a:srgbClr val="2C3352"/>
                </a:solidFill>
                <a:latin typeface="Calibri"/>
              </a:defRPr>
            </a:lvl1pPr>
          </a:lstStyle>
          <a:p>
            <a:pPr/>
            <a:r>
              <a:t>A reviewer reads a 50-line spec instead of reverse-engineering 2,000 lines of code — and checks the intent, not the wording.</a:t>
            </a:r>
          </a:p>
        </p:txBody>
      </p:sp>
      <p:sp>
        <p:nvSpPr>
          <p:cNvPr id="305" name="Dot 1"/>
          <p:cNvSpPr/>
          <p:nvPr/>
        </p:nvSpPr>
        <p:spPr>
          <a:xfrm>
            <a:off x="6217920" y="2834640"/>
            <a:ext cx="137160" cy="137160"/>
          </a:xfrm>
          <a:prstGeom prst="ellipse">
            <a:avLst/>
          </a:prstGeom>
          <a:solidFill>
            <a:srgbClr val="FF6B4A"/>
          </a:solidFill>
          <a:ln w="12700">
            <a:noFill/>
            <a:miter lim="400000"/>
          </a:ln>
        </p:spPr>
        <p:txBody>
          <a:bodyPr lIns="45719" rIns="45719"/>
          <a:lstStyle/>
          <a:p>
            <a:pPr/>
          </a:p>
        </p:txBody>
      </p:sp>
      <p:sp>
        <p:nvSpPr>
          <p:cNvPr id="306" name="H 1"/>
          <p:cNvSpPr txBox="1"/>
          <p:nvPr/>
        </p:nvSpPr>
        <p:spPr>
          <a:xfrm>
            <a:off x="6583680" y="2743200"/>
            <a:ext cx="4937760" cy="340182"/>
          </a:xfrm>
          <a:prstGeom prst="rect">
            <a:avLst/>
          </a:prstGeom>
          <a:ln w="12700">
            <a:noFill/>
            <a:miter lim="400000"/>
          </a:ln>
        </p:spPr>
        <p:txBody>
          <a:bodyPr lIns="45719" rIns="45719" tIns="0" bIns="0" anchor="t"/>
          <a:lstStyle>
            <a:lvl1pPr algn="l">
              <a:defRPr b="1" sz="1800">
                <a:solidFill>
                  <a:srgbClr val="1E2761"/>
                </a:solidFill>
                <a:latin typeface="Cambria"/>
              </a:defRPr>
            </a:lvl1pPr>
          </a:lstStyle>
          <a:p>
            <a:pPr/>
            <a:r>
              <a:t>Disagreement moves earlier</a:t>
            </a:r>
          </a:p>
        </p:txBody>
      </p:sp>
      <p:sp>
        <p:nvSpPr>
          <p:cNvPr id="307" name="B 1"/>
          <p:cNvSpPr txBox="1"/>
          <p:nvPr/>
        </p:nvSpPr>
        <p:spPr>
          <a:xfrm>
            <a:off x="6583680" y="3200400"/>
            <a:ext cx="4937760" cy="914400"/>
          </a:xfrm>
          <a:prstGeom prst="rect">
            <a:avLst/>
          </a:prstGeom>
          <a:ln w="12700">
            <a:noFill/>
            <a:miter lim="400000"/>
          </a:ln>
        </p:spPr>
        <p:txBody>
          <a:bodyPr lIns="45719" rIns="45719" tIns="0" bIns="0" anchor="t"/>
          <a:lstStyle>
            <a:lvl1pPr algn="l">
              <a:defRPr sz="1350">
                <a:solidFill>
                  <a:srgbClr val="2C3352"/>
                </a:solidFill>
                <a:latin typeface="Calibri"/>
              </a:defRPr>
            </a:lvl1pPr>
          </a:lstStyle>
          <a:p>
            <a:pPr/>
            <a:r>
              <a:t>The cheapest moment to say no is before the code exists. A contradiction costs minutes in a document, days once it is built.</a:t>
            </a:r>
          </a:p>
        </p:txBody>
      </p:sp>
      <p:sp>
        <p:nvSpPr>
          <p:cNvPr id="308" name="Dot 2"/>
          <p:cNvSpPr/>
          <p:nvPr/>
        </p:nvSpPr>
        <p:spPr>
          <a:xfrm>
            <a:off x="640080" y="4389120"/>
            <a:ext cx="137160" cy="137160"/>
          </a:xfrm>
          <a:prstGeom prst="ellipse">
            <a:avLst/>
          </a:prstGeom>
          <a:solidFill>
            <a:srgbClr val="FF6B4A"/>
          </a:solidFill>
          <a:ln w="12700">
            <a:noFill/>
            <a:miter lim="400000"/>
          </a:ln>
        </p:spPr>
        <p:txBody>
          <a:bodyPr lIns="45719" rIns="45719"/>
          <a:lstStyle/>
          <a:p>
            <a:pPr/>
          </a:p>
        </p:txBody>
      </p:sp>
      <p:sp>
        <p:nvSpPr>
          <p:cNvPr id="309" name="H 2"/>
          <p:cNvSpPr txBox="1"/>
          <p:nvPr/>
        </p:nvSpPr>
        <p:spPr>
          <a:xfrm>
            <a:off x="1005840" y="4297680"/>
            <a:ext cx="4937760" cy="340182"/>
          </a:xfrm>
          <a:prstGeom prst="rect">
            <a:avLst/>
          </a:prstGeom>
          <a:ln w="12700">
            <a:noFill/>
            <a:miter lim="400000"/>
          </a:ln>
        </p:spPr>
        <p:txBody>
          <a:bodyPr lIns="45719" rIns="45719" tIns="0" bIns="0" anchor="t"/>
          <a:lstStyle>
            <a:lvl1pPr algn="l">
              <a:defRPr b="1" sz="1800">
                <a:solidFill>
                  <a:srgbClr val="1E2761"/>
                </a:solidFill>
                <a:latin typeface="Cambria"/>
              </a:defRPr>
            </a:lvl1pPr>
          </a:lstStyle>
          <a:p>
            <a:pPr/>
            <a:r>
              <a:t>Handover changes</a:t>
            </a:r>
          </a:p>
        </p:txBody>
      </p:sp>
      <p:sp>
        <p:nvSpPr>
          <p:cNvPr id="310" name="B 2"/>
          <p:cNvSpPr txBox="1"/>
          <p:nvPr/>
        </p:nvSpPr>
        <p:spPr>
          <a:xfrm>
            <a:off x="1005840" y="4754880"/>
            <a:ext cx="4937760" cy="914400"/>
          </a:xfrm>
          <a:prstGeom prst="rect">
            <a:avLst/>
          </a:prstGeom>
          <a:ln w="12700">
            <a:noFill/>
            <a:miter lim="400000"/>
          </a:ln>
        </p:spPr>
        <p:txBody>
          <a:bodyPr lIns="45719" rIns="45719" tIns="0" bIns="0" anchor="t"/>
          <a:lstStyle>
            <a:lvl1pPr algn="l">
              <a:defRPr sz="1350">
                <a:solidFill>
                  <a:srgbClr val="2C3352"/>
                </a:solidFill>
                <a:latin typeface="Calibri"/>
              </a:defRPr>
            </a:lvl1pPr>
          </a:lstStyle>
          <a:p>
            <a:pPr/>
            <a:r>
              <a:t>A new joiner — or the next agent — reads what the system must do, instead of inferring it from what it happens to do.</a:t>
            </a:r>
          </a:p>
        </p:txBody>
      </p:sp>
      <p:sp>
        <p:nvSpPr>
          <p:cNvPr id="311" name="Dot 3"/>
          <p:cNvSpPr/>
          <p:nvPr/>
        </p:nvSpPr>
        <p:spPr>
          <a:xfrm>
            <a:off x="6217920" y="4389120"/>
            <a:ext cx="137160" cy="137160"/>
          </a:xfrm>
          <a:prstGeom prst="ellipse">
            <a:avLst/>
          </a:prstGeom>
          <a:solidFill>
            <a:srgbClr val="FF6B4A"/>
          </a:solidFill>
          <a:ln w="12700">
            <a:noFill/>
            <a:miter lim="400000"/>
          </a:ln>
        </p:spPr>
        <p:txBody>
          <a:bodyPr lIns="45719" rIns="45719"/>
          <a:lstStyle/>
          <a:p>
            <a:pPr/>
          </a:p>
        </p:txBody>
      </p:sp>
      <p:sp>
        <p:nvSpPr>
          <p:cNvPr id="312" name="H 3"/>
          <p:cNvSpPr txBox="1"/>
          <p:nvPr/>
        </p:nvSpPr>
        <p:spPr>
          <a:xfrm>
            <a:off x="6583680" y="4297680"/>
            <a:ext cx="4937760" cy="340182"/>
          </a:xfrm>
          <a:prstGeom prst="rect">
            <a:avLst/>
          </a:prstGeom>
          <a:ln w="12700">
            <a:noFill/>
            <a:miter lim="400000"/>
          </a:ln>
        </p:spPr>
        <p:txBody>
          <a:bodyPr lIns="45719" rIns="45719" tIns="0" bIns="0" anchor="t"/>
          <a:lstStyle>
            <a:lvl1pPr algn="l">
              <a:defRPr b="1" sz="1800">
                <a:solidFill>
                  <a:srgbClr val="1E2761"/>
                </a:solidFill>
                <a:latin typeface="Cambria"/>
              </a:defRPr>
            </a:lvl1pPr>
          </a:lstStyle>
          <a:p>
            <a:pPr/>
            <a:r>
              <a:t>The record outlives the model</a:t>
            </a:r>
          </a:p>
        </p:txBody>
      </p:sp>
      <p:sp>
        <p:nvSpPr>
          <p:cNvPr id="313" name="B 3"/>
          <p:cNvSpPr txBox="1"/>
          <p:nvPr/>
        </p:nvSpPr>
        <p:spPr>
          <a:xfrm>
            <a:off x="6583680" y="4754880"/>
            <a:ext cx="4937760" cy="914400"/>
          </a:xfrm>
          <a:prstGeom prst="rect">
            <a:avLst/>
          </a:prstGeom>
          <a:ln w="12700">
            <a:noFill/>
            <a:miter lim="400000"/>
          </a:ln>
        </p:spPr>
        <p:txBody>
          <a:bodyPr lIns="45719" rIns="45719" tIns="0" bIns="0" anchor="t"/>
          <a:lstStyle>
            <a:lvl1pPr algn="l">
              <a:defRPr sz="1350">
                <a:solidFill>
                  <a:srgbClr val="2C3352"/>
                </a:solidFill>
                <a:latin typeface="Calibri"/>
              </a:defRPr>
            </a:lvl1pPr>
          </a:lstStyle>
          <a:p>
            <a:pPr/>
            <a:r>
              <a:t>Models change every few months. The spec is what stays, and what the next agent starts from.</a:t>
            </a:r>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1E2761"/>
        </a:solidFill>
      </p:bgPr>
    </p:bg>
    <p:spTree>
      <p:nvGrpSpPr>
        <p:cNvPr id="1" name=""/>
        <p:cNvGrpSpPr/>
        <p:nvPr/>
      </p:nvGrpSpPr>
      <p:grpSpPr>
        <a:xfrm>
          <a:off x="0" y="0"/>
          <a:ext cx="0" cy="0"/>
          <a:chOff x="0" y="0"/>
          <a:chExt cx="0" cy="0"/>
        </a:xfrm>
      </p:grpSpPr>
      <p:sp>
        <p:nvSpPr>
          <p:cNvPr id="240" name="Shape 0"/>
          <p:cNvSpPr/>
          <p:nvPr/>
        </p:nvSpPr>
        <p:spPr>
          <a:xfrm>
            <a:off x="9601200" y="-2743200"/>
            <a:ext cx="5120640" cy="5120640"/>
          </a:xfrm>
          <a:prstGeom prst="roundRect">
            <a:avLst>
              <a:gd name="adj" fmla="val 8929"/>
            </a:avLst>
          </a:prstGeom>
          <a:solidFill>
            <a:srgbClr val="2A3070"/>
          </a:solidFill>
          <a:ln w="12700">
            <a:solidFill>
              <a:srgbClr val="3B4468"/>
            </a:solidFill>
            <a:prstDash val="solid"/>
          </a:ln>
        </p:spPr>
      </p:sp>
      <p:sp>
        <p:nvSpPr>
          <p:cNvPr id="183" name="Text 1"/>
          <p:cNvSpPr txBox="1"/>
          <p:nvPr/>
        </p:nvSpPr>
        <p:spPr>
          <a:xfrm>
            <a:off x="868680" y="1260236"/>
            <a:ext cx="9052561" cy="49704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3200">
                <a:solidFill>
                  <a:srgbClr val="FFFFFF"/>
                </a:solidFill>
                <a:latin typeface="Cambria"/>
              </a:defRPr>
            </a:lvl1pPr>
          </a:lstStyle>
          <a:p>
            <a:pPr/>
            <a:r>
              <a:t>Key takeaways</a:t>
            </a:r>
          </a:p>
        </p:txBody>
      </p:sp>
      <p:sp>
        <p:nvSpPr>
          <p:cNvPr id="901" name="Lead"/>
          <p:cNvSpPr txBox="1"/>
          <p:nvPr/>
        </p:nvSpPr>
        <p:spPr>
          <a:xfrm>
            <a:off x="868680" y="1874520"/>
            <a:ext cx="10241282" cy="320040"/>
          </a:xfrm>
          <a:prstGeom prst="rect">
            <a:avLst/>
          </a:prstGeom>
          <a:ln w="12700">
            <a:noFill/>
            <a:miter lim="400000"/>
          </a:ln>
        </p:spPr>
        <p:txBody>
          <a:bodyPr lIns="45719" rIns="45719" tIns="0" bIns="0" anchor="t"/>
          <a:lstStyle>
            <a:lvl1pPr algn="l">
              <a:defRPr b="0" sz="1400">
                <a:solidFill>
                  <a:srgbClr val="CADCFC"/>
                </a:solidFill>
                <a:latin typeface="Calibri"/>
              </a:defRPr>
            </a:lvl1pPr>
          </a:lstStyle>
          <a:p>
            <a:pPr/>
            <a:r>
              <a:t>AI changes the equation — and spec-driven development comes out stronger.</a:t>
            </a:r>
          </a:p>
        </p:txBody>
      </p:sp>
      <p:sp>
        <p:nvSpPr>
          <p:cNvPr id="901" name="Pastille0"/>
          <p:cNvSpPr/>
          <p:nvPr/>
        </p:nvSpPr>
        <p:spPr>
          <a:xfrm>
            <a:off x="822960" y="2560320"/>
            <a:ext cx="457201" cy="457200"/>
          </a:xfrm>
          <a:prstGeom prst="ellipse">
            <a:avLst/>
          </a:prstGeom>
          <a:solidFill>
            <a:srgbClr val="FF6B4A"/>
          </a:solidFill>
          <a:ln w="12700">
            <a:noFill/>
            <a:miter lim="400000"/>
          </a:ln>
        </p:spPr>
        <p:txBody>
          <a:bodyPr lIns="45719" rIns="45719"/>
          <a:lstStyle/>
          <a:p>
            <a:pPr/>
          </a:p>
        </p:txBody>
      </p:sp>
      <p:sp>
        <p:nvSpPr>
          <p:cNvPr id="902" name="Num0"/>
          <p:cNvSpPr txBox="1"/>
          <p:nvPr/>
        </p:nvSpPr>
        <p:spPr>
          <a:xfrm>
            <a:off x="822960" y="2628900"/>
            <a:ext cx="457201" cy="320040"/>
          </a:xfrm>
          <a:prstGeom prst="rect">
            <a:avLst/>
          </a:prstGeom>
          <a:ln w="12700">
            <a:noFill/>
            <a:miter lim="400000"/>
          </a:ln>
        </p:spPr>
        <p:txBody>
          <a:bodyPr lIns="45719" rIns="45719" tIns="0" bIns="0" anchor="t"/>
          <a:lstStyle>
            <a:lvl1pPr algn="ctr">
              <a:defRPr b="1" sz="1200">
                <a:solidFill>
                  <a:srgbClr val="1E2761"/>
                </a:solidFill>
                <a:latin typeface="Cambria"/>
              </a:defRPr>
            </a:lvl1pPr>
          </a:lstStyle>
          <a:p>
            <a:pPr/>
            <a:r>
              <a:t>1</a:t>
            </a:r>
          </a:p>
        </p:txBody>
      </p:sp>
      <p:sp>
        <p:nvSpPr>
          <p:cNvPr id="903" name="H0"/>
          <p:cNvSpPr txBox="1"/>
          <p:nvPr/>
        </p:nvSpPr>
        <p:spPr>
          <a:xfrm>
            <a:off x="1554480" y="2583180"/>
            <a:ext cx="9601200" cy="320040"/>
          </a:xfrm>
          <a:prstGeom prst="rect">
            <a:avLst/>
          </a:prstGeom>
          <a:ln w="12700">
            <a:noFill/>
            <a:miter lim="400000"/>
          </a:ln>
        </p:spPr>
        <p:txBody>
          <a:bodyPr lIns="45719" rIns="45719" tIns="0" bIns="0" anchor="t"/>
          <a:lstStyle>
            <a:lvl1pPr algn="l">
              <a:defRPr b="1" sz="1500">
                <a:solidFill>
                  <a:srgbClr val="FFFFFF"/>
                </a:solidFill>
                <a:latin typeface="Cambria"/>
              </a:defRPr>
            </a:lvl1pPr>
          </a:lstStyle>
          <a:p>
            <a:pPr/>
            <a:r>
              <a:t>AI accelerates, the spec directs</a:t>
            </a:r>
          </a:p>
        </p:txBody>
      </p:sp>
      <p:sp>
        <p:nvSpPr>
          <p:cNvPr id="904" name="B0"/>
          <p:cNvSpPr txBox="1"/>
          <p:nvPr/>
        </p:nvSpPr>
        <p:spPr>
          <a:xfrm>
            <a:off x="1554480" y="3017520"/>
            <a:ext cx="9601200" cy="685800"/>
          </a:xfrm>
          <a:prstGeom prst="rect">
            <a:avLst/>
          </a:prstGeom>
          <a:ln w="12700">
            <a:noFill/>
            <a:miter lim="400000"/>
          </a:ln>
        </p:spPr>
        <p:txBody>
          <a:bodyPr lIns="45719" rIns="45719" tIns="0" bIns="0" anchor="t"/>
          <a:lstStyle>
            <a:lvl1pPr algn="l">
              <a:defRPr b="0" sz="1150">
                <a:solidFill>
                  <a:srgbClr val="9AA3C0"/>
                </a:solidFill>
                <a:latin typeface="Calibri"/>
              </a:defRPr>
            </a:lvl1pPr>
          </a:lstStyle>
          <a:p>
            <a:pPr/>
            <a:r>
              <a:t>A model generates fast, but it does not decide architecture or security. The spec is the frame it generates inside: speed, under control.</a:t>
            </a:r>
          </a:p>
        </p:txBody>
      </p:sp>
      <p:sp>
        <p:nvSpPr>
          <p:cNvPr id="904" name="Pastille1"/>
          <p:cNvSpPr/>
          <p:nvPr/>
        </p:nvSpPr>
        <p:spPr>
          <a:xfrm>
            <a:off x="822960" y="3703320"/>
            <a:ext cx="457201" cy="457200"/>
          </a:xfrm>
          <a:prstGeom prst="ellipse">
            <a:avLst/>
          </a:prstGeom>
          <a:solidFill>
            <a:srgbClr val="FF6B4A"/>
          </a:solidFill>
          <a:ln w="12700">
            <a:noFill/>
            <a:miter lim="400000"/>
          </a:ln>
        </p:spPr>
        <p:txBody>
          <a:bodyPr lIns="45719" rIns="45719"/>
          <a:lstStyle/>
          <a:p>
            <a:pPr/>
          </a:p>
        </p:txBody>
      </p:sp>
      <p:sp>
        <p:nvSpPr>
          <p:cNvPr id="905" name="Num1"/>
          <p:cNvSpPr txBox="1"/>
          <p:nvPr/>
        </p:nvSpPr>
        <p:spPr>
          <a:xfrm>
            <a:off x="822960" y="3771900"/>
            <a:ext cx="457201" cy="320040"/>
          </a:xfrm>
          <a:prstGeom prst="rect">
            <a:avLst/>
          </a:prstGeom>
          <a:ln w="12700">
            <a:noFill/>
            <a:miter lim="400000"/>
          </a:ln>
        </p:spPr>
        <p:txBody>
          <a:bodyPr lIns="45719" rIns="45719" tIns="0" bIns="0" anchor="t"/>
          <a:lstStyle>
            <a:lvl1pPr algn="ctr">
              <a:defRPr b="1" sz="1200">
                <a:solidFill>
                  <a:srgbClr val="1E2761"/>
                </a:solidFill>
                <a:latin typeface="Cambria"/>
              </a:defRPr>
            </a:lvl1pPr>
          </a:lstStyle>
          <a:p>
            <a:pPr/>
            <a:r>
              <a:t>2</a:t>
            </a:r>
          </a:p>
        </p:txBody>
      </p:sp>
      <p:sp>
        <p:nvSpPr>
          <p:cNvPr id="906" name="H1"/>
          <p:cNvSpPr txBox="1"/>
          <p:nvPr/>
        </p:nvSpPr>
        <p:spPr>
          <a:xfrm>
            <a:off x="1554480" y="3726180"/>
            <a:ext cx="9601200" cy="320040"/>
          </a:xfrm>
          <a:prstGeom prst="rect">
            <a:avLst/>
          </a:prstGeom>
          <a:ln w="12700">
            <a:noFill/>
            <a:miter lim="400000"/>
          </a:ln>
        </p:spPr>
        <p:txBody>
          <a:bodyPr lIns="45719" rIns="45719" tIns="0" bIns="0" anchor="t"/>
          <a:lstStyle>
            <a:lvl1pPr algn="l">
              <a:defRPr b="1" sz="1500">
                <a:solidFill>
                  <a:srgbClr val="FFFFFF"/>
                </a:solidFill>
                <a:latin typeface="Cambria"/>
              </a:defRPr>
            </a:lvl1pPr>
          </a:lstStyle>
          <a:p>
            <a:pPr/>
            <a:r>
              <a:t>The spec outlives the models</a:t>
            </a:r>
          </a:p>
        </p:txBody>
      </p:sp>
      <p:sp>
        <p:nvSpPr>
          <p:cNvPr id="907" name="B1"/>
          <p:cNvSpPr txBox="1"/>
          <p:nvPr/>
        </p:nvSpPr>
        <p:spPr>
          <a:xfrm>
            <a:off x="1554480" y="4160520"/>
            <a:ext cx="9601200" cy="685800"/>
          </a:xfrm>
          <a:prstGeom prst="rect">
            <a:avLst/>
          </a:prstGeom>
          <a:ln w="12700">
            <a:noFill/>
            <a:miter lim="400000"/>
          </a:ln>
        </p:spPr>
        <p:txBody>
          <a:bodyPr lIns="45719" rIns="45719" tIns="0" bIns="0" anchor="t"/>
          <a:lstStyle>
            <a:lvl1pPr algn="l">
              <a:defRPr b="0" sz="1150">
                <a:solidFill>
                  <a:srgbClr val="9AA3C0"/>
                </a:solidFill>
                <a:latin typeface="Calibri"/>
              </a:defRPr>
            </a:lvl1pPr>
          </a:lstStyle>
          <a:p>
            <a:pPr/>
            <a:r>
              <a:t>The best models change every few months; the spec lasts. You move from one to the next without rewriting the product — the asset is the spec.</a:t>
            </a:r>
          </a:p>
        </p:txBody>
      </p:sp>
      <p:sp>
        <p:nvSpPr>
          <p:cNvPr id="907" name="Pastille2"/>
          <p:cNvSpPr/>
          <p:nvPr/>
        </p:nvSpPr>
        <p:spPr>
          <a:xfrm>
            <a:off x="822960" y="4846320"/>
            <a:ext cx="457201" cy="457200"/>
          </a:xfrm>
          <a:prstGeom prst="ellipse">
            <a:avLst/>
          </a:prstGeom>
          <a:solidFill>
            <a:srgbClr val="FF6B4A"/>
          </a:solidFill>
          <a:ln w="12700">
            <a:noFill/>
            <a:miter lim="400000"/>
          </a:ln>
        </p:spPr>
        <p:txBody>
          <a:bodyPr lIns="45719" rIns="45719"/>
          <a:lstStyle/>
          <a:p>
            <a:pPr/>
          </a:p>
        </p:txBody>
      </p:sp>
      <p:sp>
        <p:nvSpPr>
          <p:cNvPr id="908" name="Num2"/>
          <p:cNvSpPr txBox="1"/>
          <p:nvPr/>
        </p:nvSpPr>
        <p:spPr>
          <a:xfrm>
            <a:off x="822960" y="4914900"/>
            <a:ext cx="457201" cy="320040"/>
          </a:xfrm>
          <a:prstGeom prst="rect">
            <a:avLst/>
          </a:prstGeom>
          <a:ln w="12700">
            <a:noFill/>
            <a:miter lim="400000"/>
          </a:ln>
        </p:spPr>
        <p:txBody>
          <a:bodyPr lIns="45719" rIns="45719" tIns="0" bIns="0" anchor="t"/>
          <a:lstStyle>
            <a:lvl1pPr algn="ctr">
              <a:defRPr b="1" sz="1200">
                <a:solidFill>
                  <a:srgbClr val="1E2761"/>
                </a:solidFill>
                <a:latin typeface="Cambria"/>
              </a:defRPr>
            </a:lvl1pPr>
          </a:lstStyle>
          <a:p>
            <a:pPr/>
            <a:r>
              <a:t>3</a:t>
            </a:r>
          </a:p>
        </p:txBody>
      </p:sp>
      <p:sp>
        <p:nvSpPr>
          <p:cNvPr id="909" name="H2"/>
          <p:cNvSpPr txBox="1"/>
          <p:nvPr/>
        </p:nvSpPr>
        <p:spPr>
          <a:xfrm>
            <a:off x="1554480" y="4869180"/>
            <a:ext cx="9601200" cy="320040"/>
          </a:xfrm>
          <a:prstGeom prst="rect">
            <a:avLst/>
          </a:prstGeom>
          <a:ln w="12700">
            <a:noFill/>
            <a:miter lim="400000"/>
          </a:ln>
        </p:spPr>
        <p:txBody>
          <a:bodyPr lIns="45719" rIns="45719" tIns="0" bIns="0" anchor="t"/>
          <a:lstStyle>
            <a:lvl1pPr algn="l">
              <a:defRPr b="1" sz="1500">
                <a:solidFill>
                  <a:srgbClr val="FFFFFF"/>
                </a:solidFill>
                <a:latin typeface="Cambria"/>
              </a:defRPr>
            </a:lvl1pPr>
          </a:lstStyle>
          <a:p>
            <a:pPr/>
            <a:r>
              <a:t>Traceability becomes vital</a:t>
            </a:r>
          </a:p>
        </p:txBody>
      </p:sp>
      <p:sp>
        <p:nvSpPr>
          <p:cNvPr id="910" name="B2"/>
          <p:cNvSpPr txBox="1"/>
          <p:nvPr/>
        </p:nvSpPr>
        <p:spPr>
          <a:xfrm>
            <a:off x="1554480" y="5303520"/>
            <a:ext cx="9601200" cy="685800"/>
          </a:xfrm>
          <a:prstGeom prst="rect">
            <a:avLst/>
          </a:prstGeom>
          <a:ln w="12700">
            <a:noFill/>
            <a:miter lim="400000"/>
          </a:ln>
        </p:spPr>
        <p:txBody>
          <a:bodyPr lIns="45719" rIns="45719" tIns="0" bIns="0" anchor="t"/>
          <a:lstStyle>
            <a:lvl1pPr algn="l">
              <a:defRPr b="0" sz="1150">
                <a:solidFill>
                  <a:srgbClr val="9AA3C0"/>
                </a:solidFill>
                <a:latin typeface="Calibri"/>
              </a:defRPr>
            </a:lvl1pPr>
          </a:lstStyle>
          <a:p>
            <a:pPr/>
            <a:r>
              <a:t>When a machine produces a lot of code, knowing why each decision was taken — written, reviewed, versioned — stops being a luxury. It is what keeps the product auditable.</a:t>
            </a:r>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6" name="Text 0"/>
          <p:cNvSpPr txBox="1"/>
          <p:nvPr/>
        </p:nvSpPr>
        <p:spPr>
          <a:xfrm>
            <a:off x="685800" y="545400"/>
            <a:ext cx="7223761" cy="28080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200" sz="1100">
                <a:solidFill>
                  <a:srgbClr val="FF6B4A"/>
                </a:solidFill>
                <a:latin typeface="Calibri"/>
              </a:defRPr>
            </a:lvl1pPr>
          </a:lstStyle>
          <a:p>
            <a:pPr/>
            <a:r>
              <a:t>Mindset</a:t>
            </a:r>
          </a:p>
        </p:txBody>
      </p:sp>
      <p:sp>
        <p:nvSpPr>
          <p:cNvPr id="197" name="Text 1"/>
          <p:cNvSpPr txBox="1"/>
          <p:nvPr/>
        </p:nvSpPr>
        <p:spPr>
          <a:xfrm>
            <a:off x="685800" y="989463"/>
            <a:ext cx="10789920" cy="48995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3000">
                <a:solidFill>
                  <a:srgbClr val="1E2761"/>
                </a:solidFill>
                <a:latin typeface="Cambria"/>
              </a:defRPr>
            </a:lvl1pPr>
          </a:lstStyle>
          <a:p>
            <a:pPr/>
            <a:r>
              <a:t>Define intent before building</a:t>
            </a:r>
          </a:p>
        </p:txBody>
      </p:sp>
      <p:sp>
        <p:nvSpPr>
          <p:cNvPr id="198" name="Vibe Trap card"/>
          <p:cNvSpPr/>
          <p:nvPr/>
        </p:nvSpPr>
        <p:spPr>
          <a:xfrm>
            <a:off x="640080" y="2011679"/>
            <a:ext cx="5257801" cy="2560321"/>
          </a:xfrm>
          <a:prstGeom prst="roundRect">
            <a:avLst>
              <a:gd name="adj" fmla="val 3158"/>
            </a:avLst>
          </a:prstGeom>
          <a:solidFill>
            <a:srgbClr val="EEF2FC"/>
          </a:solidFill>
          <a:ln w="19050">
            <a:solidFill>
              <a:srgbClr val="9AA3C0"/>
            </a:solidFill>
            <a:prstDash val="dash"/>
          </a:ln>
        </p:spPr>
        <p:txBody>
          <a:bodyPr lIns="45719" rIns="45719"/>
          <a:lstStyle/>
          <a:p>
            <a:pPr/>
          </a:p>
        </p:txBody>
      </p:sp>
      <p:sp>
        <p:nvSpPr>
          <p:cNvPr id="199" name="Badge circle"/>
          <p:cNvSpPr/>
          <p:nvPr/>
        </p:nvSpPr>
        <p:spPr>
          <a:xfrm>
            <a:off x="365759" y="1737360"/>
            <a:ext cx="548641" cy="548641"/>
          </a:xfrm>
          <a:prstGeom prst="ellipse">
            <a:avLst/>
          </a:prstGeom>
          <a:solidFill>
            <a:srgbClr val="B8422A"/>
          </a:solidFill>
          <a:ln w="12700">
            <a:miter lim="400000"/>
          </a:ln>
        </p:spPr>
        <p:txBody>
          <a:bodyPr lIns="45719" rIns="45719"/>
          <a:lstStyle/>
          <a:p>
            <a:pPr/>
          </a:p>
        </p:txBody>
      </p:sp>
      <p:sp>
        <p:nvSpPr>
          <p:cNvPr id="200" name="Badge glyph"/>
          <p:cNvSpPr txBox="1"/>
          <p:nvPr/>
        </p:nvSpPr>
        <p:spPr>
          <a:xfrm>
            <a:off x="411479" y="1858010"/>
            <a:ext cx="457201" cy="3073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700">
                <a:solidFill>
                  <a:srgbClr val="FFFFFF"/>
                </a:solidFill>
                <a:latin typeface="Cambria"/>
              </a:defRPr>
            </a:lvl1pPr>
          </a:lstStyle>
          <a:p>
            <a:pPr/>
            <a:r>
              <a:t>✕</a:t>
            </a:r>
          </a:p>
        </p:txBody>
      </p:sp>
      <p:sp>
        <p:nvSpPr>
          <p:cNvPr id="201" name="Trap title"/>
          <p:cNvSpPr txBox="1"/>
          <p:nvPr/>
        </p:nvSpPr>
        <p:spPr>
          <a:xfrm>
            <a:off x="1005839" y="2382214"/>
            <a:ext cx="4526282" cy="31049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700">
                <a:solidFill>
                  <a:srgbClr val="1E2761"/>
                </a:solidFill>
                <a:latin typeface="Cambria"/>
              </a:defRPr>
            </a:lvl1pPr>
          </a:lstStyle>
          <a:p>
            <a:pPr/>
            <a:r>
              <a:t>The Vibe Trap</a:t>
            </a:r>
          </a:p>
        </p:txBody>
      </p:sp>
      <p:sp>
        <p:nvSpPr>
          <p:cNvPr id="202" name="Trap subtitle"/>
          <p:cNvSpPr txBox="1"/>
          <p:nvPr/>
        </p:nvSpPr>
        <p:spPr>
          <a:xfrm>
            <a:off x="1005839" y="2847647"/>
            <a:ext cx="4526282" cy="24830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defRPr sz="1200">
                <a:solidFill>
                  <a:srgbClr val="5C6484"/>
                </a:solidFill>
                <a:latin typeface="Calibri"/>
              </a:defRPr>
            </a:pPr>
            <a:r>
              <a:t>Idea </a:t>
            </a:r>
            <a:r>
              <a:rPr>
                <a:solidFill>
                  <a:srgbClr val="5C6484"/>
                </a:solidFill>
              </a:rPr>
              <a:t>→  </a:t>
            </a:r>
            <a:r>
              <a:rPr b="1">
                <a:solidFill>
                  <a:srgbClr val="B8422A"/>
                </a:solidFill>
              </a:rPr>
              <a:t>AI Chaos</a:t>
            </a:r>
          </a:p>
        </p:txBody>
      </p:sp>
      <p:sp>
        <p:nvSpPr>
          <p:cNvPr id="203" name="Trap description"/>
          <p:cNvSpPr txBox="1"/>
          <p:nvPr/>
        </p:nvSpPr>
        <p:spPr>
          <a:xfrm>
            <a:off x="1005839" y="3246120"/>
            <a:ext cx="4526282" cy="43880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200">
                <a:solidFill>
                  <a:srgbClr val="2C3352"/>
                </a:solidFill>
                <a:latin typeface="Calibri"/>
              </a:defRPr>
            </a:lvl1pPr>
          </a:lstStyle>
          <a:p>
            <a:pPr/>
            <a:r>
              <a:t>Skipping the spec leads to unguided guessing, scope creep and technical debt.</a:t>
            </a:r>
          </a:p>
        </p:txBody>
      </p:sp>
      <p:sp>
        <p:nvSpPr>
          <p:cNvPr id="204" name="OpenSpec Way card"/>
          <p:cNvSpPr/>
          <p:nvPr/>
        </p:nvSpPr>
        <p:spPr>
          <a:xfrm>
            <a:off x="6263640" y="2011679"/>
            <a:ext cx="5257801" cy="2560321"/>
          </a:xfrm>
          <a:prstGeom prst="roundRect">
            <a:avLst>
              <a:gd name="adj" fmla="val 3158"/>
            </a:avLst>
          </a:prstGeom>
          <a:solidFill>
            <a:srgbClr val="EEF2FC"/>
          </a:solidFill>
          <a:ln w="19050">
            <a:solidFill>
              <a:srgbClr val="9EE7D5"/>
            </a:solidFill>
          </a:ln>
          <a:effectLst>
            <a:outerShdw sx="100000" sy="100000" kx="0" ky="0" algn="b" rotWithShape="0" blurRad="101600" dist="38100" dir="5400000">
              <a:srgbClr val="1E2761">
                <a:alpha val="12000"/>
              </a:srgbClr>
            </a:outerShdw>
          </a:effectLst>
        </p:spPr>
        <p:txBody>
          <a:bodyPr lIns="45719" rIns="45719"/>
          <a:lstStyle/>
          <a:p>
            <a:pPr/>
          </a:p>
        </p:txBody>
      </p:sp>
      <p:sp>
        <p:nvSpPr>
          <p:cNvPr id="205" name="Badge circle"/>
          <p:cNvSpPr/>
          <p:nvPr/>
        </p:nvSpPr>
        <p:spPr>
          <a:xfrm>
            <a:off x="5989320" y="1737360"/>
            <a:ext cx="548641" cy="548641"/>
          </a:xfrm>
          <a:prstGeom prst="ellipse">
            <a:avLst/>
          </a:prstGeom>
          <a:solidFill>
            <a:srgbClr val="9EE7D5"/>
          </a:solidFill>
          <a:ln w="12700">
            <a:miter lim="400000"/>
          </a:ln>
        </p:spPr>
        <p:txBody>
          <a:bodyPr lIns="45719" rIns="45719"/>
          <a:lstStyle/>
          <a:p>
            <a:pPr/>
          </a:p>
        </p:txBody>
      </p:sp>
      <p:sp>
        <p:nvSpPr>
          <p:cNvPr id="206" name="Badge glyph"/>
          <p:cNvSpPr txBox="1"/>
          <p:nvPr/>
        </p:nvSpPr>
        <p:spPr>
          <a:xfrm>
            <a:off x="6035040" y="1838960"/>
            <a:ext cx="457201" cy="3454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700">
                <a:solidFill>
                  <a:srgbClr val="FFFFFF"/>
                </a:solidFill>
                <a:latin typeface="Cambria"/>
              </a:defRPr>
            </a:lvl1pPr>
          </a:lstStyle>
          <a:p>
            <a:pPr/>
            <a:r>
              <a:t>✓</a:t>
            </a:r>
          </a:p>
        </p:txBody>
      </p:sp>
      <p:sp>
        <p:nvSpPr>
          <p:cNvPr id="207" name="Way title"/>
          <p:cNvSpPr txBox="1"/>
          <p:nvPr/>
        </p:nvSpPr>
        <p:spPr>
          <a:xfrm>
            <a:off x="6629400" y="2382214"/>
            <a:ext cx="4526281" cy="31049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700">
                <a:solidFill>
                  <a:srgbClr val="1E2761"/>
                </a:solidFill>
                <a:latin typeface="Cambria"/>
              </a:defRPr>
            </a:lvl1pPr>
          </a:lstStyle>
          <a:p>
            <a:pPr/>
            <a:r>
              <a:t>The OpenSpec Way</a:t>
            </a:r>
          </a:p>
        </p:txBody>
      </p:sp>
      <p:sp>
        <p:nvSpPr>
          <p:cNvPr id="208" name="Way idea+arrow"/>
          <p:cNvSpPr txBox="1"/>
          <p:nvPr/>
        </p:nvSpPr>
        <p:spPr>
          <a:xfrm>
            <a:off x="6583680" y="2893367"/>
            <a:ext cx="521321" cy="156866"/>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nchor="ctr">
            <a:spAutoFit/>
          </a:bodyPr>
          <a:lstStyle/>
          <a:p>
            <a:pPr>
              <a:defRPr sz="1200">
                <a:solidFill>
                  <a:srgbClr val="5C6484"/>
                </a:solidFill>
                <a:latin typeface="Calibri"/>
              </a:defRPr>
            </a:pPr>
            <a:r>
              <a:t>Idea </a:t>
            </a:r>
            <a:r>
              <a:rPr>
                <a:solidFill>
                  <a:srgbClr val="5C6484"/>
                </a:solidFill>
              </a:rPr>
              <a:t>→  </a:t>
            </a:r>
          </a:p>
        </p:txBody>
      </p:sp>
      <p:sp>
        <p:nvSpPr>
          <p:cNvPr id="209" name="Spec pill bg"/>
          <p:cNvSpPr/>
          <p:nvPr/>
        </p:nvSpPr>
        <p:spPr>
          <a:xfrm>
            <a:off x="7112672" y="2811779"/>
            <a:ext cx="568604" cy="320041"/>
          </a:xfrm>
          <a:prstGeom prst="roundRect">
            <a:avLst>
              <a:gd name="adj" fmla="val 30000"/>
            </a:avLst>
          </a:prstGeom>
          <a:solidFill>
            <a:srgbClr val="1E2761"/>
          </a:solidFill>
          <a:ln w="12700">
            <a:miter lim="400000"/>
          </a:ln>
        </p:spPr>
        <p:txBody>
          <a:bodyPr lIns="45719" rIns="45719"/>
          <a:lstStyle/>
          <a:p>
            <a:pPr/>
          </a:p>
        </p:txBody>
      </p:sp>
      <p:sp>
        <p:nvSpPr>
          <p:cNvPr id="210" name="Spec pill text"/>
          <p:cNvSpPr txBox="1"/>
          <p:nvPr/>
        </p:nvSpPr>
        <p:spPr>
          <a:xfrm>
            <a:off x="7243469" y="2893367"/>
            <a:ext cx="307009" cy="156866"/>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nchor="ctr">
            <a:spAutoFit/>
          </a:bodyPr>
          <a:lstStyle>
            <a:lvl1pPr algn="ctr">
              <a:defRPr b="1" sz="1200">
                <a:solidFill>
                  <a:srgbClr val="FFFFFF"/>
                </a:solidFill>
                <a:latin typeface="Calibri"/>
              </a:defRPr>
            </a:lvl1pPr>
          </a:lstStyle>
          <a:p>
            <a:pPr/>
            <a:r>
              <a:t>Spec</a:t>
            </a:r>
          </a:p>
        </p:txBody>
      </p:sp>
      <p:sp>
        <p:nvSpPr>
          <p:cNvPr id="211" name="Way arrow+cleancode"/>
          <p:cNvSpPr txBox="1"/>
          <p:nvPr/>
        </p:nvSpPr>
        <p:spPr>
          <a:xfrm>
            <a:off x="7681275" y="2893367"/>
            <a:ext cx="926952" cy="156866"/>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nchor="ctr">
            <a:spAutoFit/>
          </a:bodyPr>
          <a:lstStyle/>
          <a:p>
            <a:pPr>
              <a:defRPr sz="1200">
                <a:solidFill>
                  <a:srgbClr val="5C6484"/>
                </a:solidFill>
                <a:latin typeface="Calibri"/>
              </a:defRPr>
            </a:pPr>
            <a:r>
              <a:t>→  </a:t>
            </a:r>
            <a:r>
              <a:rPr b="1">
                <a:solidFill>
                  <a:srgbClr val="9EE7D5"/>
                </a:solidFill>
              </a:rPr>
              <a:t>Clean Code</a:t>
            </a:r>
          </a:p>
        </p:txBody>
      </p:sp>
      <p:sp>
        <p:nvSpPr>
          <p:cNvPr id="212" name="Way description"/>
          <p:cNvSpPr txBox="1"/>
          <p:nvPr/>
        </p:nvSpPr>
        <p:spPr>
          <a:xfrm>
            <a:off x="6629400" y="3246120"/>
            <a:ext cx="4526281" cy="43880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200">
                <a:solidFill>
                  <a:srgbClr val="2C3352"/>
                </a:solidFill>
                <a:latin typeface="Calibri"/>
              </a:defRPr>
            </a:lvl1pPr>
          </a:lstStyle>
          <a:p>
            <a:pPr/>
            <a:r>
              <a:t>Aligning precisely on the target state before generation guarantees predictable delivery.</a:t>
            </a:r>
          </a:p>
        </p:txBody>
      </p:sp>
      <p:sp>
        <p:nvSpPr>
          <p:cNvPr id="213" name="Text 17"/>
          <p:cNvSpPr txBox="1"/>
          <p:nvPr/>
        </p:nvSpPr>
        <p:spPr>
          <a:xfrm>
            <a:off x="502919" y="6572163"/>
            <a:ext cx="722376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900">
                <a:solidFill>
                  <a:srgbClr val="5C6484"/>
                </a:solidFill>
                <a:latin typeface="Calibri"/>
              </a:defRPr>
            </a:lvl1pPr>
          </a:lstStyle>
          <a:p>
            <a:pPr/>
            <a:r>
              <a:t>OpenSpec — Spec-Driven Development</a:t>
            </a:r>
          </a:p>
        </p:txBody>
      </p:sp>
      <p:sp>
        <p:nvSpPr>
          <p:cNvPr id="214" name="Text 18"/>
          <p:cNvSpPr txBox="1"/>
          <p:nvPr/>
        </p:nvSpPr>
        <p:spPr>
          <a:xfrm>
            <a:off x="11475719" y="6572163"/>
            <a:ext cx="27432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900">
                <a:solidFill>
                  <a:srgbClr val="5C6484"/>
                </a:solidFill>
                <a:latin typeface="Calibri"/>
              </a:defRPr>
            </a:lvl1pPr>
          </a:lstStyle>
          <a:p>
            <a:pPr/>
            <a:r>
              <a:t>14</a:t>
            </a:r>
          </a:p>
        </p:txBody>
      </p:sp>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6" name="Text 0"/>
          <p:cNvSpPr txBox="1"/>
          <p:nvPr/>
        </p:nvSpPr>
        <p:spPr>
          <a:xfrm>
            <a:off x="685800" y="545400"/>
            <a:ext cx="7223761" cy="28080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200" sz="1100">
                <a:solidFill>
                  <a:srgbClr val="FF6B4A"/>
                </a:solidFill>
                <a:latin typeface="Calibri"/>
              </a:defRPr>
            </a:lvl1pPr>
          </a:lstStyle>
          <a:p>
            <a:pPr/>
            <a:r>
              <a:t>What is OpenSpec?</a:t>
            </a:r>
          </a:p>
        </p:txBody>
      </p:sp>
      <p:sp>
        <p:nvSpPr>
          <p:cNvPr id="217" name="Text 1"/>
          <p:cNvSpPr txBox="1"/>
          <p:nvPr/>
        </p:nvSpPr>
        <p:spPr>
          <a:xfrm>
            <a:off x="640080" y="1215183"/>
            <a:ext cx="10881360" cy="39851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000">
                <a:solidFill>
                  <a:srgbClr val="1E2761"/>
                </a:solidFill>
                <a:latin typeface="Cambria"/>
              </a:defRPr>
            </a:lvl1pPr>
          </a:lstStyle>
          <a:p>
            <a:pPr/>
            <a:r>
              <a:t>A lightweight, open-source framework for spec-driven development with AI agents</a:t>
            </a:r>
          </a:p>
        </p:txBody>
      </p:sp>
      <p:sp>
        <p:nvSpPr>
          <p:cNvPr id="218" name="Shape 2"/>
          <p:cNvSpPr/>
          <p:nvPr/>
        </p:nvSpPr>
        <p:spPr>
          <a:xfrm>
            <a:off x="640080" y="2011679"/>
            <a:ext cx="3474721" cy="3566161"/>
          </a:xfrm>
          <a:prstGeom prst="roundRect">
            <a:avLst>
              <a:gd name="adj" fmla="val 3158"/>
            </a:avLst>
          </a:prstGeom>
          <a:solidFill>
            <a:srgbClr val="EEF2FC"/>
          </a:solidFill>
          <a:ln w="12700">
            <a:solidFill>
              <a:srgbClr val="CADCFC"/>
            </a:solidFill>
            <a:miter lim="400000"/>
          </a:ln>
          <a:effectLst>
            <a:outerShdw sx="100000" sy="100000" kx="0" ky="0" algn="b" rotWithShape="0" blurRad="101600" dist="38100" dir="5400000">
              <a:srgbClr val="1E2761">
                <a:alpha val="12000"/>
              </a:srgbClr>
            </a:outerShdw>
          </a:effectLst>
        </p:spPr>
        <p:txBody>
          <a:bodyPr lIns="45719" rIns="45719"/>
          <a:lstStyle/>
          <a:p>
            <a:pPr/>
          </a:p>
        </p:txBody>
      </p:sp>
      <p:sp>
        <p:nvSpPr>
          <p:cNvPr id="219" name="Shape 3"/>
          <p:cNvSpPr/>
          <p:nvPr/>
        </p:nvSpPr>
        <p:spPr>
          <a:xfrm>
            <a:off x="960119" y="2377439"/>
            <a:ext cx="640081" cy="640081"/>
          </a:xfrm>
          <a:prstGeom prst="ellipse">
            <a:avLst/>
          </a:prstGeom>
          <a:solidFill>
            <a:srgbClr val="1E2761"/>
          </a:solidFill>
          <a:ln w="12700">
            <a:miter lim="400000"/>
          </a:ln>
        </p:spPr>
        <p:txBody>
          <a:bodyPr lIns="45719" rIns="45719"/>
          <a:lstStyle/>
          <a:p>
            <a:pPr/>
          </a:p>
        </p:txBody>
      </p:sp>
      <p:sp>
        <p:nvSpPr>
          <p:cNvPr id="220" name="Text 4"/>
          <p:cNvSpPr txBox="1"/>
          <p:nvPr/>
        </p:nvSpPr>
        <p:spPr>
          <a:xfrm>
            <a:off x="1005839" y="2532337"/>
            <a:ext cx="548641" cy="33028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900">
                <a:solidFill>
                  <a:srgbClr val="FFFFFF"/>
                </a:solidFill>
                <a:latin typeface="Cambria"/>
              </a:defRPr>
            </a:lvl1pPr>
          </a:lstStyle>
          <a:p>
            <a:pPr/>
            <a:r>
              <a:t>&gt;</a:t>
            </a:r>
          </a:p>
        </p:txBody>
      </p:sp>
      <p:sp>
        <p:nvSpPr>
          <p:cNvPr id="221" name="Text 5"/>
          <p:cNvSpPr txBox="1"/>
          <p:nvPr/>
        </p:nvSpPr>
        <p:spPr>
          <a:xfrm>
            <a:off x="960119" y="3365194"/>
            <a:ext cx="2834642" cy="31049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700">
                <a:solidFill>
                  <a:srgbClr val="1E2761"/>
                </a:solidFill>
                <a:latin typeface="Cambria"/>
              </a:defRPr>
            </a:lvl1pPr>
          </a:lstStyle>
          <a:p>
            <a:pPr/>
            <a:r>
              <a:t>Open source and free</a:t>
            </a:r>
          </a:p>
        </p:txBody>
      </p:sp>
      <p:sp>
        <p:nvSpPr>
          <p:cNvPr id="222" name="Text 6"/>
          <p:cNvSpPr txBox="1"/>
          <p:nvPr/>
        </p:nvSpPr>
        <p:spPr>
          <a:xfrm>
            <a:off x="960119" y="3840479"/>
            <a:ext cx="2834642" cy="438806"/>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200">
                <a:solidFill>
                  <a:srgbClr val="2C3352"/>
                </a:solidFill>
                <a:latin typeface="Calibri"/>
              </a:defRPr>
            </a:lvl1pPr>
          </a:lstStyle>
          <a:p>
            <a:pPr/>
            <a:r>
              <a:t>MIT-licensed, installed with a single command — no new platform, no account, no data leaving your repository.</a:t>
            </a:r>
          </a:p>
        </p:txBody>
      </p:sp>
      <p:sp>
        <p:nvSpPr>
          <p:cNvPr id="223" name="Shape 7"/>
          <p:cNvSpPr/>
          <p:nvPr/>
        </p:nvSpPr>
        <p:spPr>
          <a:xfrm>
            <a:off x="4434840" y="2011679"/>
            <a:ext cx="3474721" cy="3566161"/>
          </a:xfrm>
          <a:prstGeom prst="roundRect">
            <a:avLst>
              <a:gd name="adj" fmla="val 3158"/>
            </a:avLst>
          </a:prstGeom>
          <a:solidFill>
            <a:srgbClr val="EEF2FC"/>
          </a:solidFill>
          <a:ln w="12700">
            <a:solidFill>
              <a:srgbClr val="CADCFC"/>
            </a:solidFill>
            <a:miter lim="400000"/>
          </a:ln>
          <a:effectLst>
            <a:outerShdw sx="100000" sy="100000" kx="0" ky="0" algn="b" rotWithShape="0" blurRad="101600" dist="38100" dir="5400000">
              <a:srgbClr val="1E2761">
                <a:alpha val="12000"/>
              </a:srgbClr>
            </a:outerShdw>
          </a:effectLst>
        </p:spPr>
        <p:txBody>
          <a:bodyPr lIns="45719" rIns="45719"/>
          <a:lstStyle/>
          <a:p>
            <a:pPr/>
          </a:p>
        </p:txBody>
      </p:sp>
      <p:sp>
        <p:nvSpPr>
          <p:cNvPr id="224" name="Shape 8"/>
          <p:cNvSpPr/>
          <p:nvPr/>
        </p:nvSpPr>
        <p:spPr>
          <a:xfrm>
            <a:off x="4754879" y="2377439"/>
            <a:ext cx="640081" cy="640081"/>
          </a:xfrm>
          <a:prstGeom prst="ellipse">
            <a:avLst/>
          </a:prstGeom>
          <a:solidFill>
            <a:srgbClr val="1E2761"/>
          </a:solidFill>
          <a:ln w="12700">
            <a:miter lim="400000"/>
          </a:ln>
        </p:spPr>
        <p:txBody>
          <a:bodyPr lIns="45719" rIns="45719"/>
          <a:lstStyle/>
          <a:p>
            <a:pPr/>
          </a:p>
        </p:txBody>
      </p:sp>
      <p:sp>
        <p:nvSpPr>
          <p:cNvPr id="225" name="Text 9"/>
          <p:cNvSpPr txBox="1"/>
          <p:nvPr/>
        </p:nvSpPr>
        <p:spPr>
          <a:xfrm>
            <a:off x="4800599" y="2532337"/>
            <a:ext cx="548641" cy="33028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900">
                <a:solidFill>
                  <a:srgbClr val="FFFFFF"/>
                </a:solidFill>
                <a:latin typeface="Cambria"/>
              </a:defRPr>
            </a:lvl1pPr>
          </a:lstStyle>
          <a:p>
            <a:pPr/>
            <a:r>
              <a:t>+</a:t>
            </a:r>
          </a:p>
        </p:txBody>
      </p:sp>
      <p:sp>
        <p:nvSpPr>
          <p:cNvPr id="226" name="Text 10"/>
          <p:cNvSpPr txBox="1"/>
          <p:nvPr/>
        </p:nvSpPr>
        <p:spPr>
          <a:xfrm>
            <a:off x="4754879" y="3365194"/>
            <a:ext cx="2834641" cy="31049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700">
                <a:solidFill>
                  <a:srgbClr val="1E2761"/>
                </a:solidFill>
                <a:latin typeface="Cambria"/>
              </a:defRPr>
            </a:lvl1pPr>
          </a:lstStyle>
          <a:p>
            <a:pPr/>
            <a:r>
              <a:t>Works with any AI agent</a:t>
            </a:r>
          </a:p>
        </p:txBody>
      </p:sp>
      <p:sp>
        <p:nvSpPr>
          <p:cNvPr id="227" name="Text 11"/>
          <p:cNvSpPr txBox="1"/>
          <p:nvPr/>
        </p:nvSpPr>
        <p:spPr>
          <a:xfrm>
            <a:off x="4754879" y="3840479"/>
            <a:ext cx="2834641" cy="629306"/>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200">
                <a:solidFill>
                  <a:srgbClr val="2C3352"/>
                </a:solidFill>
                <a:latin typeface="Calibri"/>
              </a:defRPr>
            </a:lvl1pPr>
          </a:lstStyle>
          <a:p>
            <a:pPr/>
            <a:r>
              <a:t>Runs inside the coding assistant your team already uses, Claude included — a shared workflow, not a specific product.</a:t>
            </a:r>
          </a:p>
        </p:txBody>
      </p:sp>
      <p:sp>
        <p:nvSpPr>
          <p:cNvPr id="228" name="Shape 12"/>
          <p:cNvSpPr/>
          <p:nvPr/>
        </p:nvSpPr>
        <p:spPr>
          <a:xfrm>
            <a:off x="8229600" y="2011679"/>
            <a:ext cx="3474721" cy="3566161"/>
          </a:xfrm>
          <a:prstGeom prst="roundRect">
            <a:avLst>
              <a:gd name="adj" fmla="val 3158"/>
            </a:avLst>
          </a:prstGeom>
          <a:solidFill>
            <a:srgbClr val="EEF2FC"/>
          </a:solidFill>
          <a:ln w="12700">
            <a:solidFill>
              <a:srgbClr val="CADCFC"/>
            </a:solidFill>
            <a:miter lim="400000"/>
          </a:ln>
          <a:effectLst>
            <a:outerShdw sx="100000" sy="100000" kx="0" ky="0" algn="b" rotWithShape="0" blurRad="101600" dist="38100" dir="5400000">
              <a:srgbClr val="1E2761">
                <a:alpha val="12000"/>
              </a:srgbClr>
            </a:outerShdw>
          </a:effectLst>
        </p:spPr>
        <p:txBody>
          <a:bodyPr lIns="45719" rIns="45719"/>
          <a:lstStyle/>
          <a:p>
            <a:pPr/>
          </a:p>
        </p:txBody>
      </p:sp>
      <p:sp>
        <p:nvSpPr>
          <p:cNvPr id="229" name="Shape 13"/>
          <p:cNvSpPr/>
          <p:nvPr/>
        </p:nvSpPr>
        <p:spPr>
          <a:xfrm>
            <a:off x="8549640" y="2377439"/>
            <a:ext cx="640081" cy="640081"/>
          </a:xfrm>
          <a:prstGeom prst="ellipse">
            <a:avLst/>
          </a:prstGeom>
          <a:solidFill>
            <a:srgbClr val="1E2761"/>
          </a:solidFill>
          <a:ln w="12700">
            <a:miter lim="400000"/>
          </a:ln>
        </p:spPr>
        <p:txBody>
          <a:bodyPr lIns="45719" rIns="45719"/>
          <a:lstStyle/>
          <a:p>
            <a:pPr/>
          </a:p>
        </p:txBody>
      </p:sp>
      <p:sp>
        <p:nvSpPr>
          <p:cNvPr id="230" name="Text 14"/>
          <p:cNvSpPr txBox="1"/>
          <p:nvPr/>
        </p:nvSpPr>
        <p:spPr>
          <a:xfrm>
            <a:off x="8595360" y="2512059"/>
            <a:ext cx="548641" cy="370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900">
                <a:solidFill>
                  <a:srgbClr val="FFFFFF"/>
                </a:solidFill>
                <a:latin typeface="Cambria"/>
              </a:defRPr>
            </a:lvl1pPr>
          </a:lstStyle>
          <a:p>
            <a:pPr/>
            <a:r>
              <a:t>✓</a:t>
            </a:r>
          </a:p>
        </p:txBody>
      </p:sp>
      <p:sp>
        <p:nvSpPr>
          <p:cNvPr id="231" name="Text 15"/>
          <p:cNvSpPr txBox="1"/>
          <p:nvPr/>
        </p:nvSpPr>
        <p:spPr>
          <a:xfrm>
            <a:off x="8549639" y="3365194"/>
            <a:ext cx="2834641" cy="31049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700">
                <a:solidFill>
                  <a:srgbClr val="1E2761"/>
                </a:solidFill>
                <a:latin typeface="Cambria"/>
              </a:defRPr>
            </a:lvl1pPr>
          </a:lstStyle>
          <a:p>
            <a:pPr/>
            <a:r>
              <a:t>Structures every change</a:t>
            </a:r>
          </a:p>
        </p:txBody>
      </p:sp>
      <p:sp>
        <p:nvSpPr>
          <p:cNvPr id="232" name="Text 16"/>
          <p:cNvSpPr txBox="1"/>
          <p:nvPr/>
        </p:nvSpPr>
        <p:spPr>
          <a:xfrm>
            <a:off x="8549639" y="3840479"/>
            <a:ext cx="2834641" cy="629306"/>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200">
                <a:solidFill>
                  <a:srgbClr val="2C3352"/>
                </a:solidFill>
                <a:latin typeface="Calibri"/>
              </a:defRPr>
            </a:lvl1pPr>
          </a:lstStyle>
          <a:p>
            <a:pPr/>
            <a:r>
              <a:t>Each change gets its own folder — proposal, spec, tasks — reviewed like any change to the code, in your repository.</a:t>
            </a:r>
          </a:p>
        </p:txBody>
      </p:sp>
      <p:sp>
        <p:nvSpPr>
          <p:cNvPr id="233" name="Text 17"/>
          <p:cNvSpPr txBox="1"/>
          <p:nvPr/>
        </p:nvSpPr>
        <p:spPr>
          <a:xfrm>
            <a:off x="502919" y="6572163"/>
            <a:ext cx="722376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900">
                <a:solidFill>
                  <a:srgbClr val="5C6484"/>
                </a:solidFill>
                <a:latin typeface="Calibri"/>
              </a:defRPr>
            </a:lvl1pPr>
          </a:lstStyle>
          <a:p>
            <a:pPr/>
            <a:r>
              <a:t>OpenSpec — Spec-Driven Development</a:t>
            </a:r>
          </a:p>
        </p:txBody>
      </p:sp>
      <p:sp>
        <p:nvSpPr>
          <p:cNvPr id="234" name="Text 18"/>
          <p:cNvSpPr txBox="1"/>
          <p:nvPr/>
        </p:nvSpPr>
        <p:spPr>
          <a:xfrm>
            <a:off x="11475719" y="6572163"/>
            <a:ext cx="27432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900">
                <a:solidFill>
                  <a:srgbClr val="5C6484"/>
                </a:solidFill>
                <a:latin typeface="Calibri"/>
              </a:defRPr>
            </a:lvl1pPr>
          </a:lstStyle>
          <a:p>
            <a:pPr/>
            <a:r>
              <a:t>35</a:t>
            </a:r>
          </a:p>
        </p:txBody>
      </p:sp>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3" name="Shape 0"/>
          <p:cNvSpPr/>
          <p:nvPr/>
        </p:nvSpPr>
        <p:spPr>
          <a:xfrm>
            <a:off x="7818120" y="-1005840"/>
            <a:ext cx="5120640" cy="5120640"/>
          </a:xfrm>
          <a:prstGeom prst="roundRect">
            <a:avLst>
              <a:gd name="adj" fmla="val 8929"/>
            </a:avLst>
          </a:prstGeom>
          <a:solidFill>
            <a:srgbClr val="2A3070"/>
          </a:solidFill>
          <a:ln w="12700">
            <a:solidFill>
              <a:srgbClr val="3B4468"/>
            </a:solidFill>
            <a:prstDash val="solid"/>
          </a:ln>
        </p:spPr>
      </p:sp>
      <p:sp>
        <p:nvSpPr>
          <p:cNvPr id="4" name="Shape 1"/>
          <p:cNvSpPr/>
          <p:nvPr/>
        </p:nvSpPr>
        <p:spPr>
          <a:xfrm>
            <a:off x="8686800" y="3108960"/>
            <a:ext cx="4206240" cy="4206240"/>
          </a:xfrm>
          <a:prstGeom prst="roundRect">
            <a:avLst>
              <a:gd name="adj" fmla="val 8696"/>
            </a:avLst>
          </a:prstGeom>
          <a:solidFill>
            <a:srgbClr val="171C48"/>
          </a:solidFill>
          <a:ln w="12700">
            <a:solidFill>
              <a:srgbClr val="3B4468"/>
            </a:solidFill>
            <a:prstDash val="solid"/>
          </a:ln>
        </p:spPr>
      </p:sp>
      <p:sp>
        <p:nvSpPr>
          <p:cNvPr id="5" name="Shape 2"/>
          <p:cNvSpPr/>
          <p:nvPr/>
        </p:nvSpPr>
        <p:spPr>
          <a:xfrm>
            <a:off x="10332720" y="2331720"/>
            <a:ext cx="914400" cy="914400"/>
          </a:xfrm>
          <a:prstGeom prst="ellipse">
            <a:avLst/>
          </a:prstGeom>
          <a:solidFill>
            <a:srgbClr val="FF6B4A"/>
          </a:solidFill>
          <a:ln w="12700">
            <a:solidFill>
              <a:srgbClr val="FF6B4A"/>
            </a:solidFill>
            <a:prstDash val="solid"/>
          </a:ln>
        </p:spPr>
      </p:sp>
      <p:sp>
        <p:nvSpPr>
          <p:cNvPr id="6" name="Text 3"/>
          <p:cNvSpPr/>
          <p:nvPr/>
        </p:nvSpPr>
        <p:spPr>
          <a:xfrm>
            <a:off x="640080" y="1371600"/>
            <a:ext cx="7315200" cy="274320"/>
          </a:xfrm>
          <a:prstGeom prst="rect">
            <a:avLst/>
          </a:prstGeom>
          <a:noFill/>
          <a:ln/>
        </p:spPr>
        <p:txBody>
          <a:bodyPr wrap="square" lIns="0" tIns="0" rIns="0" bIns="0" rtlCol="0" anchor="ctr"/>
          <a:lstStyle/>
          <a:p>
            <a:pPr indent="0" marL="0">
              <a:buNone/>
            </a:pPr>
            <a:r>
              <a:rPr lang="en-US" sz="1150" b="1" spc="220" kern="0" dirty="0">
                <a:solidFill>
                  <a:srgbClr val="FF6B4A"/>
                </a:solidFill>
                <a:latin typeface="Calibri" pitchFamily="34" charset="0"/>
                <a:ea typeface="Calibri" pitchFamily="34" charset="-122"/>
                <a:cs typeface="Calibri" pitchFamily="34" charset="-120"/>
              </a:rPr>
              <a:t>ANNEXES</a:t>
            </a:r>
            <a:endParaRPr lang="en-US" sz="1150" dirty="0"/>
          </a:p>
        </p:txBody>
      </p:sp>
      <p:sp>
        <p:nvSpPr>
          <p:cNvPr id="7" name="Text 4"/>
          <p:cNvSpPr/>
          <p:nvPr/>
        </p:nvSpPr>
        <p:spPr>
          <a:xfrm>
            <a:off x="640080" y="1783080"/>
            <a:ext cx="7315200" cy="1051560"/>
          </a:xfrm>
          <a:prstGeom prst="rect">
            <a:avLst/>
          </a:prstGeom>
          <a:noFill/>
          <a:ln/>
        </p:spPr>
        <p:txBody>
          <a:bodyPr wrap="square" lIns="0" tIns="0" rIns="0" bIns="0" rtlCol="0" anchor="ctr"/>
          <a:lstStyle/>
          <a:p>
            <a:pPr indent="0" marL="0">
              <a:buNone/>
            </a:pPr>
            <a:r>
              <a:rPr lang="en-US" sz="6200" b="1" dirty="0">
                <a:solidFill>
                  <a:srgbClr val="FFFFFF"/>
                </a:solidFill>
                <a:latin typeface="Cambria" pitchFamily="34" charset="0"/>
                <a:ea typeface="Cambria" pitchFamily="34" charset="-122"/>
                <a:cs typeface="Cambria" pitchFamily="34" charset="-120"/>
              </a:rPr>
              <a:t>Reference material</a:t>
            </a:r>
            <a:endParaRPr lang="en-US" sz="6200" dirty="0"/>
          </a:p>
        </p:txBody>
      </p:sp>
      <p:sp>
        <p:nvSpPr>
          <p:cNvPr id="8" name="Text 5"/>
          <p:cNvSpPr/>
          <p:nvPr/>
        </p:nvSpPr>
        <p:spPr>
          <a:xfrm>
            <a:off x="640080" y="3200400"/>
            <a:ext cx="9144000" cy="822960"/>
          </a:xfrm>
          <a:prstGeom prst="rect">
            <a:avLst/>
          </a:prstGeom>
          <a:noFill/>
          <a:ln/>
        </p:spPr>
        <p:txBody>
          <a:bodyPr wrap="square" lIns="0" tIns="0" rIns="0" bIns="0" rtlCol="0" anchor="ctr"/>
          <a:lstStyle/>
          <a:p>
            <a:pPr indent="0" marL="0">
              <a:buNone/>
            </a:pPr>
            <a:r>
              <a:rPr lang="en-US" sz="1400" dirty="0">
                <a:solidFill>
                  <a:srgbClr val="9AA3C0"/>
                </a:solidFill>
                <a:latin typeface="Calibri" pitchFamily="34" charset="0"/>
                <a:ea typeface="Calibri" pitchFamily="34" charset="-122"/>
                <a:cs typeface="Calibri" pitchFamily="34" charset="-120"/>
              </a:rPr>
              <a:t>Mindset  ·  BMAD  ·  Limits  ·  Pilot  ·  Business requirements  ·  Explore  ·  Commands  ·  The workflow  ·  Roles  ·  Alt. conclusion  ·  JIRA and SharePoint  ·  Old vs new process  ·  What a spec looks like  ·  The four artefacts  ·  Several repositories  ·  Making it fit your process  ·  Earlier versions</a:t>
            </a:r>
            <a:endParaRPr lang="en-US" sz="2200" dirty="0"/>
          </a:p>
        </p:txBody>
      </p:sp>
      <p:sp>
        <p:nvSpPr>
          <p:cNvPr id="11" name="Text 8"/>
          <p:cNvSpPr/>
          <p:nvPr/>
        </p:nvSpPr>
        <p:spPr>
          <a:xfrm>
            <a:off x="640080" y="5806440"/>
            <a:ext cx="7315200" cy="320040"/>
          </a:xfrm>
          <a:prstGeom prst="rect">
            <a:avLst/>
          </a:prstGeom>
          <a:noFill/>
          <a:ln/>
        </p:spPr>
        <p:txBody>
          <a:bodyPr wrap="square" lIns="0" tIns="0" rIns="0" bIns="0" rtlCol="0" anchor="ctr"/>
          <a:lstStyle/>
          <a:p>
            <a:pPr indent="0" marL="0">
              <a:buNone/>
            </a:pPr>
            <a:r>
              <a:rPr lang="en-US" sz="1200" dirty="0">
                <a:solidFill>
                  <a:srgbClr val="6C74A0"/>
                </a:solidFill>
                <a:latin typeface="Calibri" pitchFamily="34" charset="0"/>
                <a:ea typeface="Calibri" pitchFamily="34" charset="-122"/>
                <a:cs typeface="Calibri" pitchFamily="34" charset="-120"/>
              </a:rPr>
              <a:t>OpenSpec — Spec-Driven Development</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6">
    <p:bg>
      <p:bgPr>
        <a:solidFill>
          <a:srgbClr val="1E2761"/>
        </a:solidFill>
      </p:bgPr>
    </p:bg>
    <p:spTree>
      <p:nvGrpSpPr>
        <p:cNvPr id="1" name=""/>
        <p:cNvGrpSpPr/>
        <p:nvPr/>
      </p:nvGrpSpPr>
      <p:grpSpPr>
        <a:xfrm>
          <a:off x="0" y="0"/>
          <a:ext cx="0" cy="0"/>
          <a:chOff x="0" y="0"/>
          <a:chExt cx="0" cy="0"/>
        </a:xfrm>
      </p:grpSpPr>
      <p:sp>
        <p:nvSpPr>
          <p:cNvPr id="301" name="Eyebrow"/>
          <p:cNvSpPr txBox="1"/>
          <p:nvPr/>
        </p:nvSpPr>
        <p:spPr>
          <a:xfrm>
            <a:off x="640080" y="1005840"/>
            <a:ext cx="7315200" cy="274320"/>
          </a:xfrm>
          <a:prstGeom prst="rect">
            <a:avLst/>
          </a:prstGeom>
          <a:ln w="12700">
            <a:noFill/>
            <a:miter lim="400000"/>
          </a:ln>
        </p:spPr>
        <p:txBody>
          <a:bodyPr lIns="45719" rIns="45719" tIns="0" bIns="0" anchor="t"/>
          <a:lstStyle>
            <a:lvl1pPr algn="l">
              <a:defRPr b="1" sz="1100" spc="200">
                <a:solidFill>
                  <a:srgbClr val="FF6B4A"/>
                </a:solidFill>
                <a:latin typeface="Calibri"/>
              </a:defRPr>
            </a:lvl1pPr>
          </a:lstStyle>
          <a:p>
            <a:pPr/>
            <a:r>
              <a:t>The idea</a:t>
            </a:r>
          </a:p>
        </p:txBody>
      </p:sp>
      <p:sp>
        <p:nvSpPr>
          <p:cNvPr id="903" name="Lead"/>
          <p:cNvSpPr txBox="1"/>
          <p:nvPr/>
        </p:nvSpPr>
        <p:spPr>
          <a:xfrm>
            <a:off x="640080" y="2011680"/>
            <a:ext cx="9144000" cy="320040"/>
          </a:xfrm>
          <a:prstGeom prst="rect">
            <a:avLst/>
          </a:prstGeom>
          <a:ln w="12700">
            <a:noFill/>
            <a:miter lim="400000"/>
          </a:ln>
        </p:spPr>
        <p:txBody>
          <a:bodyPr lIns="45719" rIns="45719" tIns="0" bIns="0" anchor="t"/>
          <a:lstStyle>
            <a:lvl1pPr algn="l">
              <a:defRPr b="0" sz="1400">
                <a:solidFill>
                  <a:srgbClr val="CADCFC"/>
                </a:solidFill>
                <a:latin typeface="Calibri"/>
              </a:defRPr>
            </a:lvl1pPr>
          </a:lstStyle>
          <a:p>
            <a:pPr/>
            <a:r>
              <a:t>Agree on what to build before any code is written.</a:t>
            </a:r>
          </a:p>
        </p:txBody>
      </p:sp>
      <p:sp>
        <p:nvSpPr>
          <p:cNvPr id="302" name="Title"/>
          <p:cNvSpPr txBox="1"/>
          <p:nvPr/>
        </p:nvSpPr>
        <p:spPr>
          <a:xfrm>
            <a:off x="640080" y="1417320"/>
            <a:ext cx="9144000" cy="1188720"/>
          </a:xfrm>
          <a:prstGeom prst="rect">
            <a:avLst/>
          </a:prstGeom>
          <a:ln w="12700">
            <a:noFill/>
            <a:miter lim="400000"/>
          </a:ln>
        </p:spPr>
        <p:txBody>
          <a:bodyPr lIns="45719" rIns="45719" tIns="0" bIns="0" anchor="t"/>
          <a:lstStyle>
            <a:lvl1pPr algn="l">
              <a:defRPr b="1" sz="3400">
                <a:solidFill>
                  <a:srgbClr val="FFFFFF"/>
                </a:solidFill>
                <a:latin typeface="Cambria"/>
              </a:defRPr>
            </a:lvl1pPr>
          </a:lstStyle>
          <a:p>
            <a:pPr/>
            <a:r>
              <a:t>A spec layer between your intent and the code</a:t>
            </a:r>
          </a:p>
        </p:txBody>
      </p:sp>
      <p:sp>
        <p:nvSpPr>
          <p:cNvPr id="303" name="labTODAY"/>
          <p:cNvSpPr txBox="1"/>
          <p:nvPr/>
        </p:nvSpPr>
        <p:spPr>
          <a:xfrm>
            <a:off x="640080" y="2606040"/>
            <a:ext cx="10881360" cy="251460"/>
          </a:xfrm>
          <a:prstGeom prst="rect">
            <a:avLst/>
          </a:prstGeom>
          <a:ln w="12700">
            <a:noFill/>
            <a:miter lim="400000"/>
          </a:ln>
        </p:spPr>
        <p:txBody>
          <a:bodyPr lIns="45719" rIns="45719" tIns="0" bIns="0" anchor="t"/>
          <a:lstStyle>
            <a:lvl1pPr algn="l">
              <a:defRPr b="1" sz="1000" spc="160">
                <a:solidFill>
                  <a:srgbClr val="5C6484"/>
                </a:solidFill>
                <a:latin typeface="Calibri"/>
              </a:defRPr>
            </a:lvl1pPr>
          </a:lstStyle>
          <a:p>
            <a:pPr/>
            <a:r>
              <a:t>TODAY</a:t>
            </a:r>
          </a:p>
        </p:txBody>
      </p:sp>
      <p:sp>
        <p:nvSpPr>
          <p:cNvPr id="301" name="bTODAY0"/>
          <p:cNvSpPr/>
          <p:nvPr/>
        </p:nvSpPr>
        <p:spPr>
          <a:xfrm>
            <a:off x="640080" y="2971800"/>
            <a:ext cx="3200400" cy="1005840"/>
          </a:xfrm>
          <a:prstGeom prst="roundRect">
            <a:avLst>
              <a:gd name="adj" fmla="val 9000"/>
            </a:avLst>
          </a:prstGeom>
          <a:solidFill>
            <a:srgbClr val="2A3070"/>
          </a:solidFill>
          <a:ln w="12700">
            <a:noFill/>
            <a:miter lim="400000"/>
          </a:ln>
        </p:spPr>
        <p:txBody>
          <a:bodyPr lIns="45719" rIns="45719"/>
          <a:lstStyle/>
          <a:p>
            <a:pPr/>
          </a:p>
        </p:txBody>
      </p:sp>
      <p:sp>
        <p:nvSpPr>
          <p:cNvPr id="304" name="tTODAY0"/>
          <p:cNvSpPr txBox="1"/>
          <p:nvPr/>
        </p:nvSpPr>
        <p:spPr>
          <a:xfrm>
            <a:off x="777240" y="3337560"/>
            <a:ext cx="2926080" cy="300594"/>
          </a:xfrm>
          <a:prstGeom prst="rect">
            <a:avLst/>
          </a:prstGeom>
          <a:ln w="12700">
            <a:noFill/>
            <a:miter lim="400000"/>
          </a:ln>
        </p:spPr>
        <p:txBody>
          <a:bodyPr lIns="45719" rIns="45719" tIns="0" bIns="0" anchor="t"/>
          <a:lstStyle>
            <a:lvl1pPr algn="ctr">
              <a:defRPr b="1" sz="1500">
                <a:solidFill>
                  <a:srgbClr val="FFFFFF"/>
                </a:solidFill>
                <a:latin typeface="Cambria"/>
              </a:defRPr>
            </a:lvl1pPr>
          </a:lstStyle>
          <a:p>
            <a:pPr/>
            <a:r>
              <a:t>Your intent</a:t>
            </a:r>
          </a:p>
        </p:txBody>
      </p:sp>
      <p:sp>
        <p:nvSpPr>
          <p:cNvPr id="305" name="aTODAY0"/>
          <p:cNvSpPr txBox="1"/>
          <p:nvPr/>
        </p:nvSpPr>
        <p:spPr>
          <a:xfrm>
            <a:off x="3840480" y="3304629"/>
            <a:ext cx="640080" cy="340182"/>
          </a:xfrm>
          <a:prstGeom prst="rect">
            <a:avLst/>
          </a:prstGeom>
          <a:ln w="12700">
            <a:noFill/>
            <a:miter lim="400000"/>
          </a:ln>
        </p:spPr>
        <p:txBody>
          <a:bodyPr lIns="45719" rIns="45719" tIns="0" bIns="0" anchor="ctr"/>
          <a:lstStyle>
            <a:lvl1pPr algn="ctr">
              <a:defRPr sz="1600">
                <a:solidFill>
                  <a:srgbClr val="9AA3C0"/>
                </a:solidFill>
                <a:latin typeface="Calibri"/>
              </a:defRPr>
            </a:lvl1pPr>
          </a:lstStyle>
          <a:p>
            <a:pPr/>
            <a:r>
              <a:t>→</a:t>
            </a:r>
          </a:p>
        </p:txBody>
      </p:sp>
      <p:sp>
        <p:nvSpPr>
          <p:cNvPr id="302" name="bTODAY1"/>
          <p:cNvSpPr/>
          <p:nvPr/>
        </p:nvSpPr>
        <p:spPr>
          <a:xfrm>
            <a:off x="4480560" y="2971800"/>
            <a:ext cx="3200400" cy="1005840"/>
          </a:xfrm>
          <a:prstGeom prst="roundRect">
            <a:avLst>
              <a:gd name="adj" fmla="val 9000"/>
            </a:avLst>
          </a:prstGeom>
          <a:noFill/>
          <a:ln w="19050">
            <a:solidFill>
              <a:srgbClr val="6C74A0"/>
            </a:solidFill>
            <a:prstDash val="dash"/>
            <a:miter lim="400000"/>
          </a:ln>
        </p:spPr>
        <p:txBody>
          <a:bodyPr lIns="45719" rIns="45719"/>
          <a:lstStyle/>
          <a:p>
            <a:pPr/>
          </a:p>
        </p:txBody>
      </p:sp>
      <p:sp>
        <p:nvSpPr>
          <p:cNvPr id="306" name="tTODAY1"/>
          <p:cNvSpPr txBox="1"/>
          <p:nvPr/>
        </p:nvSpPr>
        <p:spPr>
          <a:xfrm>
            <a:off x="4617720" y="3246120"/>
            <a:ext cx="2926080" cy="300594"/>
          </a:xfrm>
          <a:prstGeom prst="rect">
            <a:avLst/>
          </a:prstGeom>
          <a:ln w="12700">
            <a:noFill/>
            <a:miter lim="400000"/>
          </a:ln>
        </p:spPr>
        <p:txBody>
          <a:bodyPr lIns="45719" rIns="45719" tIns="0" bIns="0" anchor="t"/>
          <a:lstStyle>
            <a:lvl1pPr algn="ctr">
              <a:defRPr b="1" sz="1500">
                <a:solidFill>
                  <a:srgbClr val="FFFFFF"/>
                </a:solidFill>
                <a:latin typeface="Cambria"/>
              </a:defRPr>
            </a:lvl1pPr>
          </a:lstStyle>
          <a:p>
            <a:pPr/>
            <a:r>
              <a:t>prompt</a:t>
            </a:r>
          </a:p>
        </p:txBody>
      </p:sp>
      <p:sp>
        <p:nvSpPr>
          <p:cNvPr id="307" name="sTODAY1"/>
          <p:cNvSpPr txBox="1"/>
          <p:nvPr/>
        </p:nvSpPr>
        <p:spPr>
          <a:xfrm>
            <a:off x="4617720" y="3611880"/>
            <a:ext cx="2926080" cy="251460"/>
          </a:xfrm>
          <a:prstGeom prst="rect">
            <a:avLst/>
          </a:prstGeom>
          <a:ln w="12700">
            <a:noFill/>
            <a:miter lim="400000"/>
          </a:ln>
        </p:spPr>
        <p:txBody>
          <a:bodyPr lIns="45719" rIns="45719" tIns="0" bIns="0" anchor="t"/>
          <a:lstStyle>
            <a:lvl1pPr algn="ctr">
              <a:defRPr sz="1000">
                <a:solidFill>
                  <a:srgbClr val="5C6484"/>
                </a:solidFill>
                <a:latin typeface="Calibri"/>
              </a:defRPr>
            </a:lvl1pPr>
          </a:lstStyle>
          <a:p>
            <a:pPr/>
            <a:r>
              <a:t>typed once, gone tomorrow</a:t>
            </a:r>
          </a:p>
        </p:txBody>
      </p:sp>
      <p:sp>
        <p:nvSpPr>
          <p:cNvPr id="308" name="aTODAY1"/>
          <p:cNvSpPr txBox="1"/>
          <p:nvPr/>
        </p:nvSpPr>
        <p:spPr>
          <a:xfrm>
            <a:off x="7680960" y="3304629"/>
            <a:ext cx="640080" cy="340182"/>
          </a:xfrm>
          <a:prstGeom prst="rect">
            <a:avLst/>
          </a:prstGeom>
          <a:ln w="12700">
            <a:noFill/>
            <a:miter lim="400000"/>
          </a:ln>
        </p:spPr>
        <p:txBody>
          <a:bodyPr lIns="45719" rIns="45719" tIns="0" bIns="0" anchor="ctr"/>
          <a:lstStyle>
            <a:lvl1pPr algn="ctr">
              <a:defRPr sz="1600">
                <a:solidFill>
                  <a:srgbClr val="9AA3C0"/>
                </a:solidFill>
                <a:latin typeface="Calibri"/>
              </a:defRPr>
            </a:lvl1pPr>
          </a:lstStyle>
          <a:p>
            <a:pPr/>
            <a:r>
              <a:t>→</a:t>
            </a:r>
          </a:p>
        </p:txBody>
      </p:sp>
      <p:sp>
        <p:nvSpPr>
          <p:cNvPr id="303" name="bTODAY2"/>
          <p:cNvSpPr/>
          <p:nvPr/>
        </p:nvSpPr>
        <p:spPr>
          <a:xfrm>
            <a:off x="8321040" y="2971800"/>
            <a:ext cx="3200400" cy="1005840"/>
          </a:xfrm>
          <a:prstGeom prst="roundRect">
            <a:avLst>
              <a:gd name="adj" fmla="val 9000"/>
            </a:avLst>
          </a:prstGeom>
          <a:solidFill>
            <a:srgbClr val="2A3070"/>
          </a:solidFill>
          <a:ln w="12700">
            <a:noFill/>
            <a:miter lim="400000"/>
          </a:ln>
        </p:spPr>
        <p:txBody>
          <a:bodyPr lIns="45719" rIns="45719"/>
          <a:lstStyle/>
          <a:p>
            <a:pPr/>
          </a:p>
        </p:txBody>
      </p:sp>
      <p:sp>
        <p:nvSpPr>
          <p:cNvPr id="309" name="tTODAY2"/>
          <p:cNvSpPr txBox="1"/>
          <p:nvPr/>
        </p:nvSpPr>
        <p:spPr>
          <a:xfrm>
            <a:off x="8458200" y="3337560"/>
            <a:ext cx="2926080" cy="300594"/>
          </a:xfrm>
          <a:prstGeom prst="rect">
            <a:avLst/>
          </a:prstGeom>
          <a:ln w="12700">
            <a:noFill/>
            <a:miter lim="400000"/>
          </a:ln>
        </p:spPr>
        <p:txBody>
          <a:bodyPr lIns="45719" rIns="45719" tIns="0" bIns="0" anchor="t"/>
          <a:lstStyle>
            <a:lvl1pPr algn="ctr">
              <a:defRPr b="1" sz="1500">
                <a:solidFill>
                  <a:srgbClr val="FFFFFF"/>
                </a:solidFill>
                <a:latin typeface="Cambria"/>
              </a:defRPr>
            </a:lvl1pPr>
          </a:lstStyle>
          <a:p>
            <a:pPr/>
            <a:r>
              <a:t>Code the AI writes</a:t>
            </a:r>
          </a:p>
        </p:txBody>
      </p:sp>
      <p:sp>
        <p:nvSpPr>
          <p:cNvPr id="310" name="fTODAY"/>
          <p:cNvSpPr txBox="1"/>
          <p:nvPr/>
        </p:nvSpPr>
        <p:spPr>
          <a:xfrm>
            <a:off x="640080" y="4137660"/>
            <a:ext cx="10881360" cy="251460"/>
          </a:xfrm>
          <a:prstGeom prst="rect">
            <a:avLst/>
          </a:prstGeom>
          <a:ln w="12700">
            <a:noFill/>
            <a:miter lim="400000"/>
          </a:ln>
        </p:spPr>
        <p:txBody>
          <a:bodyPr lIns="45719" rIns="45719" tIns="0" bIns="0" anchor="t"/>
          <a:lstStyle>
            <a:lvl1pPr algn="l">
              <a:defRPr i="1" sz="1150">
                <a:solidFill>
                  <a:srgbClr val="9AA3C0"/>
                </a:solidFill>
                <a:latin typeface="Calibri"/>
              </a:defRPr>
            </a:lvl1pPr>
          </a:lstStyle>
          <a:p>
            <a:pPr/>
            <a:r>
              <a:t>Nothing between them but a conversation.</a:t>
            </a:r>
          </a:p>
        </p:txBody>
      </p:sp>
      <p:sp>
        <p:nvSpPr>
          <p:cNvPr id="311" name="labWITH OPENSPEC"/>
          <p:cNvSpPr txBox="1"/>
          <p:nvPr/>
        </p:nvSpPr>
        <p:spPr>
          <a:xfrm>
            <a:off x="640080" y="4663440"/>
            <a:ext cx="10881360" cy="251460"/>
          </a:xfrm>
          <a:prstGeom prst="rect">
            <a:avLst/>
          </a:prstGeom>
          <a:ln w="12700">
            <a:noFill/>
            <a:miter lim="400000"/>
          </a:ln>
        </p:spPr>
        <p:txBody>
          <a:bodyPr lIns="45719" rIns="45719" tIns="0" bIns="0" anchor="t"/>
          <a:lstStyle>
            <a:lvl1pPr algn="l">
              <a:defRPr b="1" sz="1000" spc="160">
                <a:solidFill>
                  <a:srgbClr val="FF6B4A"/>
                </a:solidFill>
                <a:latin typeface="Calibri"/>
              </a:defRPr>
            </a:lvl1pPr>
          </a:lstStyle>
          <a:p>
            <a:pPr/>
            <a:r>
              <a:t>WITH OPENSPEC</a:t>
            </a:r>
          </a:p>
        </p:txBody>
      </p:sp>
      <p:sp>
        <p:nvSpPr>
          <p:cNvPr id="304" name="bWITH OPENSPEC0"/>
          <p:cNvSpPr/>
          <p:nvPr/>
        </p:nvSpPr>
        <p:spPr>
          <a:xfrm>
            <a:off x="640080" y="5029200"/>
            <a:ext cx="3200400" cy="1005840"/>
          </a:xfrm>
          <a:prstGeom prst="roundRect">
            <a:avLst>
              <a:gd name="adj" fmla="val 9000"/>
            </a:avLst>
          </a:prstGeom>
          <a:solidFill>
            <a:srgbClr val="2A3070"/>
          </a:solidFill>
          <a:ln w="12700">
            <a:noFill/>
            <a:miter lim="400000"/>
          </a:ln>
        </p:spPr>
        <p:txBody>
          <a:bodyPr lIns="45719" rIns="45719"/>
          <a:lstStyle/>
          <a:p>
            <a:pPr/>
          </a:p>
        </p:txBody>
      </p:sp>
      <p:sp>
        <p:nvSpPr>
          <p:cNvPr id="312" name="tWITH OPENSPEC0"/>
          <p:cNvSpPr txBox="1"/>
          <p:nvPr/>
        </p:nvSpPr>
        <p:spPr>
          <a:xfrm>
            <a:off x="777240" y="5394960"/>
            <a:ext cx="2926080" cy="300594"/>
          </a:xfrm>
          <a:prstGeom prst="rect">
            <a:avLst/>
          </a:prstGeom>
          <a:ln w="12700">
            <a:noFill/>
            <a:miter lim="400000"/>
          </a:ln>
        </p:spPr>
        <p:txBody>
          <a:bodyPr lIns="45719" rIns="45719" tIns="0" bIns="0" anchor="t"/>
          <a:lstStyle>
            <a:lvl1pPr algn="ctr">
              <a:defRPr b="1" sz="1500">
                <a:solidFill>
                  <a:srgbClr val="FFFFFF"/>
                </a:solidFill>
                <a:latin typeface="Cambria"/>
              </a:defRPr>
            </a:lvl1pPr>
          </a:lstStyle>
          <a:p>
            <a:pPr/>
            <a:r>
              <a:t>Your intent</a:t>
            </a:r>
          </a:p>
        </p:txBody>
      </p:sp>
      <p:sp>
        <p:nvSpPr>
          <p:cNvPr id="313" name="aWITH OPENSPEC0"/>
          <p:cNvSpPr txBox="1"/>
          <p:nvPr/>
        </p:nvSpPr>
        <p:spPr>
          <a:xfrm>
            <a:off x="3840480" y="5362029"/>
            <a:ext cx="640080" cy="340182"/>
          </a:xfrm>
          <a:prstGeom prst="rect">
            <a:avLst/>
          </a:prstGeom>
          <a:ln w="12700">
            <a:noFill/>
            <a:miter lim="400000"/>
          </a:ln>
        </p:spPr>
        <p:txBody>
          <a:bodyPr lIns="45719" rIns="45719" tIns="0" bIns="0" anchor="ctr"/>
          <a:lstStyle>
            <a:lvl1pPr algn="ctr">
              <a:defRPr sz="1600">
                <a:solidFill>
                  <a:srgbClr val="9AA3C0"/>
                </a:solidFill>
                <a:latin typeface="Calibri"/>
              </a:defRPr>
            </a:lvl1pPr>
          </a:lstStyle>
          <a:p>
            <a:pPr/>
            <a:r>
              <a:t>→</a:t>
            </a:r>
          </a:p>
        </p:txBody>
      </p:sp>
      <p:sp>
        <p:nvSpPr>
          <p:cNvPr id="900" name="specCard"/>
          <p:cNvSpPr/>
          <p:nvPr/>
        </p:nvSpPr>
        <p:spPr>
          <a:xfrm>
            <a:off x="4480560" y="5029200"/>
            <a:ext cx="3200400" cy="1005840"/>
          </a:xfrm>
          <a:prstGeom prst="roundRect">
            <a:avLst>
              <a:gd name="adj" fmla="val 9000"/>
            </a:avLst>
          </a:prstGeom>
          <a:solidFill>
            <a:srgbClr val="FF6B4A"/>
          </a:solidFill>
          <a:ln w="12700">
            <a:noFill/>
            <a:miter lim="400000"/>
          </a:ln>
        </p:spPr>
        <p:txBody>
          <a:bodyPr lIns="45719" rIns="45719"/>
          <a:lstStyle/>
          <a:p>
            <a:pPr/>
          </a:p>
        </p:txBody>
      </p:sp>
      <p:sp>
        <p:nvSpPr>
          <p:cNvPr id="901" name="specH"/>
          <p:cNvSpPr txBox="1"/>
          <p:nvPr/>
        </p:nvSpPr>
        <p:spPr>
          <a:xfrm>
            <a:off x="4617720" y="5257800"/>
            <a:ext cx="2926080" cy="320040"/>
          </a:xfrm>
          <a:prstGeom prst="rect">
            <a:avLst/>
          </a:prstGeom>
          <a:ln w="12700">
            <a:noFill/>
            <a:miter lim="400000"/>
          </a:ln>
        </p:spPr>
        <p:txBody>
          <a:bodyPr lIns="45719" rIns="45719" tIns="0" bIns="0" anchor="t"/>
          <a:lstStyle>
            <a:lvl1pPr algn="ctr">
              <a:defRPr b="1" sz="1500">
                <a:solidFill>
                  <a:srgbClr val="1E2761"/>
                </a:solidFill>
                <a:latin typeface="Cambria"/>
              </a:defRPr>
            </a:lvl1pPr>
          </a:lstStyle>
          <a:p>
            <a:pPr/>
            <a:r>
              <a:t>spec</a:t>
            </a:r>
          </a:p>
        </p:txBody>
      </p:sp>
      <p:sp>
        <p:nvSpPr>
          <p:cNvPr id="902" name="specS"/>
          <p:cNvSpPr txBox="1"/>
          <p:nvPr/>
        </p:nvSpPr>
        <p:spPr>
          <a:xfrm>
            <a:off x="4617720" y="5623560"/>
            <a:ext cx="2926080" cy="251460"/>
          </a:xfrm>
          <a:prstGeom prst="rect">
            <a:avLst/>
          </a:prstGeom>
          <a:ln w="12700">
            <a:noFill/>
            <a:miter lim="400000"/>
          </a:ln>
        </p:spPr>
        <p:txBody>
          <a:bodyPr lIns="45719" rIns="45719" tIns="0" bIns="0" anchor="t"/>
          <a:lstStyle>
            <a:lvl1pPr algn="ctr">
              <a:defRPr b="0" sz="950">
                <a:solidFill>
                  <a:srgbClr val="5A1A0A"/>
                </a:solidFill>
                <a:latin typeface="Calibri"/>
              </a:defRPr>
            </a:lvl1pPr>
          </a:lstStyle>
          <a:p>
            <a:pPr/>
            <a:r>
              <a:t>reviewable  ·  versioned  ·  shared</a:t>
            </a:r>
          </a:p>
        </p:txBody>
      </p:sp>
      <p:sp>
        <p:nvSpPr>
          <p:cNvPr id="316" name="aWITH OPENSPEC1"/>
          <p:cNvSpPr txBox="1"/>
          <p:nvPr/>
        </p:nvSpPr>
        <p:spPr>
          <a:xfrm>
            <a:off x="7680960" y="5362029"/>
            <a:ext cx="640080" cy="340182"/>
          </a:xfrm>
          <a:prstGeom prst="rect">
            <a:avLst/>
          </a:prstGeom>
          <a:ln w="12700">
            <a:noFill/>
            <a:miter lim="400000"/>
          </a:ln>
        </p:spPr>
        <p:txBody>
          <a:bodyPr lIns="45719" rIns="45719" tIns="0" bIns="0" anchor="ctr"/>
          <a:lstStyle>
            <a:lvl1pPr algn="ctr">
              <a:defRPr sz="1600">
                <a:solidFill>
                  <a:srgbClr val="9AA3C0"/>
                </a:solidFill>
                <a:latin typeface="Calibri"/>
              </a:defRPr>
            </a:lvl1pPr>
          </a:lstStyle>
          <a:p>
            <a:pPr/>
            <a:r>
              <a:t>→</a:t>
            </a:r>
          </a:p>
        </p:txBody>
      </p:sp>
      <p:sp>
        <p:nvSpPr>
          <p:cNvPr id="306" name="bWITH OPENSPEC2"/>
          <p:cNvSpPr/>
          <p:nvPr/>
        </p:nvSpPr>
        <p:spPr>
          <a:xfrm>
            <a:off x="8321040" y="5029200"/>
            <a:ext cx="3200400" cy="1005840"/>
          </a:xfrm>
          <a:prstGeom prst="roundRect">
            <a:avLst>
              <a:gd name="adj" fmla="val 9000"/>
            </a:avLst>
          </a:prstGeom>
          <a:solidFill>
            <a:srgbClr val="2A3070"/>
          </a:solidFill>
          <a:ln w="12700">
            <a:noFill/>
            <a:miter lim="400000"/>
          </a:ln>
        </p:spPr>
        <p:txBody>
          <a:bodyPr lIns="45719" rIns="45719"/>
          <a:lstStyle/>
          <a:p>
            <a:pPr/>
          </a:p>
        </p:txBody>
      </p:sp>
      <p:sp>
        <p:nvSpPr>
          <p:cNvPr id="317" name="tWITH OPENSPEC2"/>
          <p:cNvSpPr txBox="1"/>
          <p:nvPr/>
        </p:nvSpPr>
        <p:spPr>
          <a:xfrm>
            <a:off x="8458200" y="5394960"/>
            <a:ext cx="2926080" cy="300594"/>
          </a:xfrm>
          <a:prstGeom prst="rect">
            <a:avLst/>
          </a:prstGeom>
          <a:ln w="12700">
            <a:noFill/>
            <a:miter lim="400000"/>
          </a:ln>
        </p:spPr>
        <p:txBody>
          <a:bodyPr lIns="45719" rIns="45719" tIns="0" bIns="0" anchor="t"/>
          <a:lstStyle>
            <a:lvl1pPr algn="ctr">
              <a:defRPr b="1" sz="1500">
                <a:solidFill>
                  <a:srgbClr val="FFFFFF"/>
                </a:solidFill>
                <a:latin typeface="Cambria"/>
              </a:defRPr>
            </a:lvl1pPr>
          </a:lstStyle>
          <a:p>
            <a:pPr/>
            <a:r>
              <a:t>Code the AI writes</a:t>
            </a:r>
          </a:p>
        </p:txBody>
      </p:sp>
      <p:sp>
        <p:nvSpPr>
          <p:cNvPr id="318" name="fWITH OPENSPEC"/>
          <p:cNvSpPr txBox="1"/>
          <p:nvPr/>
        </p:nvSpPr>
        <p:spPr>
          <a:xfrm>
            <a:off x="640080" y="6195060"/>
            <a:ext cx="10881360" cy="251460"/>
          </a:xfrm>
          <a:prstGeom prst="rect">
            <a:avLst/>
          </a:prstGeom>
          <a:ln w="12700">
            <a:noFill/>
            <a:miter lim="400000"/>
          </a:ln>
        </p:spPr>
        <p:txBody>
          <a:bodyPr lIns="45719" rIns="45719" tIns="0" bIns="0" anchor="t"/>
          <a:lstStyle>
            <a:lvl1pPr algn="l">
              <a:defRPr i="1" sz="1150">
                <a:solidFill>
                  <a:srgbClr val="9EE7D5"/>
                </a:solidFill>
                <a:latin typeface="Calibri"/>
              </a:defRPr>
            </a:lvl1pPr>
          </a:lstStyle>
          <a:p>
            <a:pPr/>
            <a:r>
              <a:t>The layer OpenSpec adds — a few written files, and the only thing the agent implements.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1" name="Text 0"/>
          <p:cNvSpPr txBox="1"/>
          <p:nvPr/>
        </p:nvSpPr>
        <p:spPr>
          <a:xfrm>
            <a:off x="685800" y="545400"/>
            <a:ext cx="7223761" cy="28080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200" sz="1100">
                <a:solidFill>
                  <a:srgbClr val="FF6B4A"/>
                </a:solidFill>
                <a:latin typeface="Calibri"/>
              </a:defRPr>
            </a:lvl1pPr>
          </a:lstStyle>
          <a:p>
            <a:pPr/>
            <a:r>
              <a:t>What a spec looks like</a:t>
            </a:r>
          </a:p>
        </p:txBody>
      </p:sp>
      <p:sp>
        <p:nvSpPr>
          <p:cNvPr id="92" name="Text 1"/>
          <p:cNvSpPr txBox="1"/>
          <p:nvPr/>
        </p:nvSpPr>
        <p:spPr>
          <a:xfrm>
            <a:off x="685800" y="989463"/>
            <a:ext cx="10789920" cy="48995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3000">
                <a:solidFill>
                  <a:srgbClr val="1E2761"/>
                </a:solidFill>
                <a:latin typeface="Cambria"/>
              </a:defRPr>
            </a:lvl1pPr>
          </a:lstStyle>
          <a:p>
            <a:pPr/>
            <a:r>
              <a:t>A spec anyone can read</a:t>
            </a:r>
          </a:p>
        </p:txBody>
      </p:sp>
      <p:sp>
        <p:nvSpPr>
          <p:cNvPr id="115" name="Text 24"/>
          <p:cNvSpPr txBox="1"/>
          <p:nvPr/>
        </p:nvSpPr>
        <p:spPr>
          <a:xfrm>
            <a:off x="502919" y="6572163"/>
            <a:ext cx="722376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900">
                <a:solidFill>
                  <a:srgbClr val="5C6484"/>
                </a:solidFill>
                <a:latin typeface="Calibri"/>
              </a:defRPr>
            </a:lvl1pPr>
          </a:lstStyle>
          <a:p>
            <a:pPr/>
            <a:r>
              <a:t>OpenSpec — Spec-Driven Development</a:t>
            </a:r>
          </a:p>
        </p:txBody>
      </p:sp>
      <p:sp>
        <p:nvSpPr>
          <p:cNvPr id="116" name="Text 25"/>
          <p:cNvSpPr txBox="1"/>
          <p:nvPr/>
        </p:nvSpPr>
        <p:spPr>
          <a:xfrm>
            <a:off x="11475719" y="6572163"/>
            <a:ext cx="27432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900">
                <a:solidFill>
                  <a:srgbClr val="5C6484"/>
                </a:solidFill>
                <a:latin typeface="Calibri"/>
              </a:defRPr>
            </a:lvl1pPr>
          </a:lstStyle>
          <a:p>
            <a:pPr/>
            <a:r>
              <a:t>26</a:t>
            </a:r>
          </a:p>
        </p:txBody>
      </p:sp>
      <p:sp>
        <p:nvSpPr>
          <p:cNvPr id="301" name="Lead"/>
          <p:cNvSpPr txBox="1"/>
          <p:nvPr/>
        </p:nvSpPr>
        <p:spPr>
          <a:xfrm>
            <a:off x="640080" y="1691640"/>
            <a:ext cx="5029200" cy="548640"/>
          </a:xfrm>
          <a:prstGeom prst="rect">
            <a:avLst/>
          </a:prstGeom>
          <a:ln w="12700">
            <a:noFill/>
            <a:miter lim="400000"/>
          </a:ln>
        </p:spPr>
        <p:txBody>
          <a:bodyPr lIns="45719" rIns="45719" tIns="0" bIns="0" anchor="t"/>
          <a:lstStyle>
            <a:lvl1pPr algn="l">
              <a:defRPr sz="1550">
                <a:solidFill>
                  <a:srgbClr val="2C3352"/>
                </a:solidFill>
                <a:latin typeface="Calibri"/>
              </a:defRPr>
            </a:lvl1pPr>
          </a:lstStyle>
          <a:p>
            <a:pPr/>
            <a:r>
              <a:t>At the centre of every change sits the requirements file — what the system must do, agreed before anything is built. This is what it looks like.</a:t>
            </a:r>
          </a:p>
        </p:txBody>
      </p:sp>
      <p:sp>
        <p:nvSpPr>
          <p:cNvPr id="302" name="Dot 0"/>
          <p:cNvSpPr/>
          <p:nvPr/>
        </p:nvSpPr>
        <p:spPr>
          <a:xfrm>
            <a:off x="640080" y="2743200"/>
            <a:ext cx="137160" cy="137160"/>
          </a:xfrm>
          <a:prstGeom prst="ellipse">
            <a:avLst/>
          </a:prstGeom>
          <a:solidFill>
            <a:srgbClr val="FF6B4A"/>
          </a:solidFill>
          <a:ln w="12700">
            <a:noFill/>
            <a:miter lim="400000"/>
          </a:ln>
        </p:spPr>
        <p:txBody>
          <a:bodyPr lIns="45719" rIns="45719"/>
          <a:lstStyle/>
          <a:p>
            <a:pPr/>
          </a:p>
        </p:txBody>
      </p:sp>
      <p:sp>
        <p:nvSpPr>
          <p:cNvPr id="303" name="H 0"/>
          <p:cNvSpPr txBox="1"/>
          <p:nvPr/>
        </p:nvSpPr>
        <p:spPr>
          <a:xfrm>
            <a:off x="960120" y="2651760"/>
            <a:ext cx="4709160" cy="320040"/>
          </a:xfrm>
          <a:prstGeom prst="rect">
            <a:avLst/>
          </a:prstGeom>
          <a:ln w="12700">
            <a:noFill/>
            <a:miter lim="400000"/>
          </a:ln>
        </p:spPr>
        <p:txBody>
          <a:bodyPr lIns="45719" rIns="45719" tIns="0" bIns="0" anchor="t"/>
          <a:lstStyle>
            <a:lvl1pPr algn="l">
              <a:defRPr b="1" sz="1600">
                <a:solidFill>
                  <a:srgbClr val="1E2761"/>
                </a:solidFill>
                <a:latin typeface="Cambria"/>
              </a:defRPr>
            </a:lvl1pPr>
          </a:lstStyle>
          <a:p>
            <a:pPr/>
            <a:r>
              <a:t>Written in plain English</a:t>
            </a:r>
          </a:p>
        </p:txBody>
      </p:sp>
      <p:sp>
        <p:nvSpPr>
          <p:cNvPr id="304" name="B 0"/>
          <p:cNvSpPr txBox="1"/>
          <p:nvPr/>
        </p:nvSpPr>
        <p:spPr>
          <a:xfrm>
            <a:off x="960120" y="3063240"/>
            <a:ext cx="4709160" cy="640080"/>
          </a:xfrm>
          <a:prstGeom prst="rect">
            <a:avLst/>
          </a:prstGeom>
          <a:ln w="12700">
            <a:noFill/>
            <a:miter lim="400000"/>
          </a:ln>
        </p:spPr>
        <p:txBody>
          <a:bodyPr lIns="45719" rIns="45719" tIns="0" bIns="0" anchor="t"/>
          <a:lstStyle>
            <a:lvl1pPr algn="l">
              <a:defRPr sz="1300">
                <a:solidFill>
                  <a:srgbClr val="2C3352"/>
                </a:solidFill>
                <a:latin typeface="Calibri"/>
              </a:defRPr>
            </a:lvl1pPr>
          </a:lstStyle>
          <a:p>
            <a:pPr/>
            <a:r>
              <a:t>No notation to learn. Anyone on the team can read it, correct it and sign it off.</a:t>
            </a:r>
          </a:p>
        </p:txBody>
      </p:sp>
      <p:sp>
        <p:nvSpPr>
          <p:cNvPr id="305" name="Dot 1"/>
          <p:cNvSpPr/>
          <p:nvPr/>
        </p:nvSpPr>
        <p:spPr>
          <a:xfrm>
            <a:off x="640080" y="3749040"/>
            <a:ext cx="137160" cy="137160"/>
          </a:xfrm>
          <a:prstGeom prst="ellipse">
            <a:avLst/>
          </a:prstGeom>
          <a:solidFill>
            <a:srgbClr val="FF6B4A"/>
          </a:solidFill>
          <a:ln w="12700">
            <a:noFill/>
            <a:miter lim="400000"/>
          </a:ln>
        </p:spPr>
        <p:txBody>
          <a:bodyPr lIns="45719" rIns="45719"/>
          <a:lstStyle/>
          <a:p>
            <a:pPr/>
          </a:p>
        </p:txBody>
      </p:sp>
      <p:sp>
        <p:nvSpPr>
          <p:cNvPr id="306" name="H 1"/>
          <p:cNvSpPr txBox="1"/>
          <p:nvPr/>
        </p:nvSpPr>
        <p:spPr>
          <a:xfrm>
            <a:off x="960120" y="3657600"/>
            <a:ext cx="4709160" cy="320040"/>
          </a:xfrm>
          <a:prstGeom prst="rect">
            <a:avLst/>
          </a:prstGeom>
          <a:ln w="12700">
            <a:noFill/>
            <a:miter lim="400000"/>
          </a:ln>
        </p:spPr>
        <p:txBody>
          <a:bodyPr lIns="45719" rIns="45719" tIns="0" bIns="0" anchor="t"/>
          <a:lstStyle>
            <a:lvl1pPr algn="l">
              <a:defRPr b="1" sz="1600">
                <a:solidFill>
                  <a:srgbClr val="1E2761"/>
                </a:solidFill>
                <a:latin typeface="Cambria"/>
              </a:defRPr>
            </a:lvl1pPr>
          </a:lstStyle>
          <a:p>
            <a:pPr/>
            <a:r>
              <a:t>Behaviour, not implementation</a:t>
            </a:r>
          </a:p>
        </p:txBody>
      </p:sp>
      <p:sp>
        <p:nvSpPr>
          <p:cNvPr id="307" name="B 1"/>
          <p:cNvSpPr txBox="1"/>
          <p:nvPr/>
        </p:nvSpPr>
        <p:spPr>
          <a:xfrm>
            <a:off x="960120" y="4069080"/>
            <a:ext cx="4709160" cy="640080"/>
          </a:xfrm>
          <a:prstGeom prst="rect">
            <a:avLst/>
          </a:prstGeom>
          <a:ln w="12700">
            <a:noFill/>
            <a:miter lim="400000"/>
          </a:ln>
        </p:spPr>
        <p:txBody>
          <a:bodyPr lIns="45719" rIns="45719" tIns="0" bIns="0" anchor="t"/>
          <a:lstStyle>
            <a:lvl1pPr algn="l">
              <a:defRPr sz="1300">
                <a:solidFill>
                  <a:srgbClr val="2C3352"/>
                </a:solidFill>
                <a:latin typeface="Calibri"/>
              </a:defRPr>
            </a:lvl1pPr>
          </a:lstStyle>
          <a:p>
            <a:pPr/>
            <a:r>
              <a:t>What the system must do — not how the code goes about it.</a:t>
            </a:r>
          </a:p>
        </p:txBody>
      </p:sp>
      <p:sp>
        <p:nvSpPr>
          <p:cNvPr id="308" name="Dot 2"/>
          <p:cNvSpPr/>
          <p:nvPr/>
        </p:nvSpPr>
        <p:spPr>
          <a:xfrm>
            <a:off x="640080" y="4754880"/>
            <a:ext cx="137160" cy="137160"/>
          </a:xfrm>
          <a:prstGeom prst="ellipse">
            <a:avLst/>
          </a:prstGeom>
          <a:solidFill>
            <a:srgbClr val="FF6B4A"/>
          </a:solidFill>
          <a:ln w="12700">
            <a:noFill/>
            <a:miter lim="400000"/>
          </a:ln>
        </p:spPr>
        <p:txBody>
          <a:bodyPr lIns="45719" rIns="45719"/>
          <a:lstStyle/>
          <a:p>
            <a:pPr/>
          </a:p>
        </p:txBody>
      </p:sp>
      <p:sp>
        <p:nvSpPr>
          <p:cNvPr id="309" name="H 2"/>
          <p:cNvSpPr txBox="1"/>
          <p:nvPr/>
        </p:nvSpPr>
        <p:spPr>
          <a:xfrm>
            <a:off x="960120" y="4663440"/>
            <a:ext cx="4709160" cy="320040"/>
          </a:xfrm>
          <a:prstGeom prst="rect">
            <a:avLst/>
          </a:prstGeom>
          <a:ln w="12700">
            <a:noFill/>
            <a:miter lim="400000"/>
          </a:ln>
        </p:spPr>
        <p:txBody>
          <a:bodyPr lIns="45719" rIns="45719" tIns="0" bIns="0" anchor="t"/>
          <a:lstStyle>
            <a:lvl1pPr algn="l">
              <a:defRPr b="1" sz="1600">
                <a:solidFill>
                  <a:srgbClr val="1E2761"/>
                </a:solidFill>
                <a:latin typeface="Cambria"/>
              </a:defRPr>
            </a:lvl1pPr>
          </a:lstStyle>
          <a:p>
            <a:pPr/>
            <a:r>
              <a:t>Only what changes</a:t>
            </a:r>
          </a:p>
        </p:txBody>
      </p:sp>
      <p:sp>
        <p:nvSpPr>
          <p:cNvPr id="310" name="B 2"/>
          <p:cNvSpPr txBox="1"/>
          <p:nvPr/>
        </p:nvSpPr>
        <p:spPr>
          <a:xfrm>
            <a:off x="960120" y="5074920"/>
            <a:ext cx="4709160" cy="640080"/>
          </a:xfrm>
          <a:prstGeom prst="rect">
            <a:avLst/>
          </a:prstGeom>
          <a:ln w="12700">
            <a:noFill/>
            <a:miter lim="400000"/>
          </a:ln>
        </p:spPr>
        <p:txBody>
          <a:bodyPr lIns="45719" rIns="45719" tIns="0" bIns="0" anchor="t"/>
          <a:lstStyle>
            <a:lvl1pPr algn="l">
              <a:defRPr sz="1300">
                <a:solidFill>
                  <a:srgbClr val="2C3352"/>
                </a:solidFill>
                <a:latin typeface="Calibri"/>
              </a:defRPr>
            </a:lvl1pPr>
          </a:lstStyle>
          <a:p>
            <a:pPr/>
            <a:r>
              <a:t>A change states what it adds, modifies or removes, so an existing application needs no rewrite.</a:t>
            </a:r>
          </a:p>
        </p:txBody>
      </p:sp>
      <p:sp>
        <p:nvSpPr>
          <p:cNvPr id="311" name="Code card"/>
          <p:cNvSpPr/>
          <p:nvPr/>
        </p:nvSpPr>
        <p:spPr>
          <a:xfrm>
            <a:off x="6217920" y="1691640"/>
            <a:ext cx="5303520" cy="4114800"/>
          </a:xfrm>
          <a:prstGeom prst="roundRect">
            <a:avLst>
              <a:gd name="adj" fmla="val 3158"/>
            </a:avLst>
          </a:prstGeom>
          <a:solidFill>
            <a:srgbClr val="EEF2FC"/>
          </a:solidFill>
          <a:ln w="12700">
            <a:solidFill>
              <a:srgbClr val="CADCFC"/>
            </a:solidFill>
            <a:miter lim="400000"/>
          </a:ln>
        </p:spPr>
        <p:txBody>
          <a:bodyPr lIns="45719" rIns="45719"/>
          <a:lstStyle/>
          <a:p>
            <a:pPr/>
          </a:p>
        </p:txBody>
      </p:sp>
      <p:sp>
        <p:nvSpPr>
          <p:cNvPr id="312" name="Code path"/>
          <p:cNvSpPr txBox="1"/>
          <p:nvPr/>
        </p:nvSpPr>
        <p:spPr>
          <a:xfrm>
            <a:off x="6537960" y="1965960"/>
            <a:ext cx="4663440" cy="205740"/>
          </a:xfrm>
          <a:prstGeom prst="rect">
            <a:avLst/>
          </a:prstGeom>
          <a:ln w="12700">
            <a:noFill/>
            <a:miter lim="400000"/>
          </a:ln>
        </p:spPr>
        <p:txBody>
          <a:bodyPr lIns="45719" rIns="45719" tIns="0" bIns="0" anchor="t"/>
          <a:lstStyle>
            <a:lvl1pPr algn="l">
              <a:defRPr sz="800">
                <a:solidFill>
                  <a:srgbClr val="5C6484"/>
                </a:solidFill>
                <a:latin typeface="Courier New"/>
              </a:defRPr>
            </a:lvl1pPr>
          </a:lstStyle>
          <a:p>
            <a:pPr/>
            <a:r>
              <a:t>changes/add-password-reset/specs/auth/spec.md</a:t>
            </a:r>
          </a:p>
        </p:txBody>
      </p:sp>
      <p:sp>
        <p:nvSpPr>
          <p:cNvPr id="313" name="Code body"/>
          <p:cNvSpPr txBox="1"/>
          <p:nvPr/>
        </p:nvSpPr>
        <p:spPr>
          <a:xfrm>
            <a:off x="6537960" y="2331720"/>
            <a:ext cx="4663440" cy="3017520"/>
          </a:xfrm>
          <a:prstGeom prst="rect">
            <a:avLst/>
          </a:prstGeom>
          <a:ln w="12700">
            <a:noFill/>
            <a:miter lim="400000"/>
          </a:ln>
        </p:spPr>
        <p:txBody>
          <a:bodyPr lIns="45719" rIns="45719" tIns="0" bIns="0" anchor="t"/>
          <a:lstStyle>
            <a:lvl1pPr algn="l">
              <a:defRPr sz="950">
                <a:solidFill>
                  <a:srgbClr val="1E2761"/>
                </a:solidFill>
                <a:latin typeface="Courier New"/>
              </a:defRPr>
            </a:lvl1pPr>
          </a:lstStyle>
          <a:p>
            <a:pPr/>
            <a:r>
              <a:t>## ADDED Requirements</a:t>
            </a:r>
          </a:p>
          <a:p>
            <a:pPr/>
          </a:p>
          <a:p>
            <a:pPr/>
            <a:r>
              <a:t>### Requirement: Password reset</a:t>
            </a:r>
          </a:p>
          <a:p>
            <a:pPr/>
            <a:r>
              <a:t>The system MUST let a user request a</a:t>
            </a:r>
          </a:p>
          <a:p>
            <a:pPr/>
            <a:r>
              <a:t>reset link by email.</a:t>
            </a:r>
          </a:p>
          <a:p>
            <a:pPr/>
          </a:p>
          <a:p>
            <a:pPr/>
            <a:r>
              <a:t>#### Scenario: Link has expired</a:t>
            </a:r>
          </a:p>
          <a:p>
            <a:pPr/>
            <a:r>
              <a:t>- WHEN the link is older than 30 minutes</a:t>
            </a:r>
          </a:p>
          <a:p>
            <a:pPr/>
            <a:r>
              <a:t>- THEN the system MUST refuse it</a:t>
            </a:r>
          </a:p>
          <a:p>
            <a:pPr/>
          </a:p>
          <a:p>
            <a:pPr/>
            <a:r>
              <a:t>## REMOVED Requirements</a:t>
            </a:r>
          </a:p>
          <a:p>
            <a:pPr/>
          </a:p>
          <a:p>
            <a:pPr/>
            <a:r>
              <a:t>### Requirement: Legacy SSO login</a:t>
            </a:r>
          </a:p>
        </p:txBody>
      </p:sp>
      <p:sp>
        <p:nvSpPr>
          <p:cNvPr id="314" name="Code note"/>
          <p:cNvSpPr txBox="1"/>
          <p:nvPr/>
        </p:nvSpPr>
        <p:spPr>
          <a:xfrm>
            <a:off x="640080" y="5943600"/>
            <a:ext cx="10881360" cy="205740"/>
          </a:xfrm>
          <a:prstGeom prst="rect">
            <a:avLst/>
          </a:prstGeom>
          <a:ln w="12700">
            <a:noFill/>
            <a:miter lim="400000"/>
          </a:ln>
        </p:spPr>
        <p:txBody>
          <a:bodyPr lIns="45719" rIns="45719" tIns="0" bIns="0" anchor="t"/>
          <a:lstStyle>
            <a:lvl1pPr algn="l">
              <a:defRPr i="1" sz="900">
                <a:solidFill>
                  <a:srgbClr val="5C6484"/>
                </a:solidFill>
                <a:latin typeface="Calibri"/>
              </a:defRPr>
            </a:lvl1pPr>
          </a:lstStyle>
          <a:p>
            <a:pPr/>
            <a:r>
              <a:t>Illustrative example.</a:t>
            </a:r>
          </a:p>
        </p:txBody>
      </p:sp>
    </p:spTree>
  </p:cSld>
  <p:clrMapOvr>
    <a:masterClrMapping/>
  </p:clrMapOvr>
  <p:transition xmlns:p14="http://schemas.microsoft.com/office/powerpoint/2010/main" spd="med" advClick="1"/>
</p:sld>
</file>

<file path=ppt/slides/slide15.xml><?xml version="1.0" encoding="utf-8"?>
<p:sld xmlns:a="http://schemas.openxmlformats.org/drawingml/2006/main" xmlns:r="http://schemas.openxmlformats.org/officeDocument/2006/relationships" xmlns:p="http://schemas.openxmlformats.org/presentationml/2006/main">
  <p:cSld name="Slide 6">
    <p:bg>
      <p:bgPr>
        <a:solidFill>
          <a:srgbClr val="1E2761"/>
        </a:solidFill>
      </p:bgPr>
    </p:bg>
    <p:spTree>
      <p:nvGrpSpPr>
        <p:cNvPr id="1" name=""/>
        <p:cNvGrpSpPr/>
        <p:nvPr/>
      </p:nvGrpSpPr>
      <p:grpSpPr>
        <a:xfrm>
          <a:off x="0" y="0"/>
          <a:ext cx="0" cy="0"/>
          <a:chOff x="0" y="0"/>
          <a:chExt cx="0" cy="0"/>
        </a:xfrm>
      </p:grpSpPr>
      <p:sp>
        <p:nvSpPr>
          <p:cNvPr id="3" name="Shape 0"/>
          <p:cNvSpPr/>
          <p:nvPr/>
        </p:nvSpPr>
        <p:spPr>
          <a:xfrm>
            <a:off x="9509760" y="-1280160"/>
            <a:ext cx="4754880" cy="4754880"/>
          </a:xfrm>
          <a:prstGeom prst="roundRect">
            <a:avLst>
              <a:gd name="adj" fmla="val 8654"/>
            </a:avLst>
          </a:prstGeom>
          <a:solidFill>
            <a:srgbClr val="171C48"/>
          </a:solidFill>
          <a:ln w="12700">
            <a:solidFill>
              <a:srgbClr val="3B4468"/>
            </a:solidFill>
            <a:prstDash val="solid"/>
          </a:ln>
        </p:spPr>
      </p:sp>
      <p:sp>
        <p:nvSpPr>
          <p:cNvPr id="301" name="Eyebrow"/>
          <p:cNvSpPr txBox="1"/>
          <p:nvPr/>
        </p:nvSpPr>
        <p:spPr>
          <a:xfrm>
            <a:off x="640080" y="1371600"/>
            <a:ext cx="7315200" cy="274320"/>
          </a:xfrm>
          <a:prstGeom prst="rect">
            <a:avLst/>
          </a:prstGeom>
          <a:ln w="12700">
            <a:noFill/>
            <a:miter lim="400000"/>
          </a:ln>
        </p:spPr>
        <p:txBody>
          <a:bodyPr lIns="45719" rIns="45719" tIns="0" bIns="0" anchor="t"/>
          <a:lstStyle>
            <a:lvl1pPr algn="l">
              <a:defRPr b="1" sz="1100" spc="200">
                <a:solidFill>
                  <a:srgbClr val="FF6B4A"/>
                </a:solidFill>
                <a:latin typeface="Calibri"/>
              </a:defRPr>
            </a:lvl1pPr>
          </a:lstStyle>
          <a:p>
            <a:pPr/>
            <a:r>
              <a:t>DEMO</a:t>
            </a:r>
          </a:p>
        </p:txBody>
      </p:sp>
      <p:sp>
        <p:nvSpPr>
          <p:cNvPr id="302" name="Title"/>
          <p:cNvSpPr txBox="1"/>
          <p:nvPr/>
        </p:nvSpPr>
        <p:spPr>
          <a:xfrm>
            <a:off x="640080" y="1783080"/>
            <a:ext cx="9144000" cy="731520"/>
          </a:xfrm>
          <a:prstGeom prst="rect">
            <a:avLst/>
          </a:prstGeom>
          <a:ln w="12700">
            <a:noFill/>
            <a:miter lim="400000"/>
          </a:ln>
        </p:spPr>
        <p:txBody>
          <a:bodyPr lIns="45719" rIns="45719" tIns="0" bIns="0" anchor="t"/>
          <a:lstStyle>
            <a:lvl1pPr algn="l">
              <a:defRPr b="1" sz="3600">
                <a:solidFill>
                  <a:srgbClr val="FFFFFF"/>
                </a:solidFill>
                <a:latin typeface="Cambria"/>
              </a:defRPr>
            </a:lvl1pPr>
          </a:lstStyle>
          <a:p>
            <a:pPr/>
            <a:r>
              <a:t>C# batch jobs → Spring Batch</a:t>
            </a:r>
          </a:p>
        </p:txBody>
      </p:sp>
      <p:sp>
        <p:nvSpPr>
          <p:cNvPr id="303" name="Lead"/>
          <p:cNvSpPr txBox="1"/>
          <p:nvPr/>
        </p:nvSpPr>
        <p:spPr>
          <a:xfrm>
            <a:off x="640080" y="2834640"/>
            <a:ext cx="7315200" cy="548640"/>
          </a:xfrm>
          <a:prstGeom prst="rect">
            <a:avLst/>
          </a:prstGeom>
          <a:ln w="12700">
            <a:noFill/>
            <a:miter lim="400000"/>
          </a:ln>
        </p:spPr>
        <p:txBody>
          <a:bodyPr lIns="45719" rIns="45719" tIns="0" bIns="0" anchor="t"/>
          <a:lstStyle>
            <a:lvl1pPr algn="l">
              <a:defRPr sz="1550">
                <a:solidFill>
                  <a:srgbClr val="CADCFC"/>
                </a:solidFill>
                <a:latin typeface="Calibri"/>
              </a:defRPr>
            </a:lvl1pPr>
          </a:lstStyle>
          <a:p>
            <a:pPr/>
            <a:r>
              <a:t>The migration agent, running the OpenSpec workflow on a real Watchlist batch job.</a:t>
            </a:r>
          </a:p>
        </p:txBody>
      </p:sp>
      <p:sp>
        <p:nvSpPr>
          <p:cNvPr id="304" name="Dot 0"/>
          <p:cNvSpPr/>
          <p:nvPr/>
        </p:nvSpPr>
        <p:spPr>
          <a:xfrm>
            <a:off x="640080" y="4023360"/>
            <a:ext cx="137160" cy="137160"/>
          </a:xfrm>
          <a:prstGeom prst="ellipse">
            <a:avLst/>
          </a:prstGeom>
          <a:solidFill>
            <a:srgbClr val="FF6B4A"/>
          </a:solidFill>
          <a:ln w="12700">
            <a:noFill/>
            <a:miter lim="400000"/>
          </a:ln>
        </p:spPr>
        <p:txBody>
          <a:bodyPr lIns="45719" rIns="45719"/>
          <a:lstStyle/>
          <a:p>
            <a:pPr/>
          </a:p>
        </p:txBody>
      </p:sp>
      <p:sp>
        <p:nvSpPr>
          <p:cNvPr id="305" name="H 0"/>
          <p:cNvSpPr txBox="1"/>
          <p:nvPr/>
        </p:nvSpPr>
        <p:spPr>
          <a:xfrm>
            <a:off x="960120" y="3931920"/>
            <a:ext cx="1828800" cy="320040"/>
          </a:xfrm>
          <a:prstGeom prst="rect">
            <a:avLst/>
          </a:prstGeom>
          <a:ln w="12700">
            <a:noFill/>
            <a:miter lim="400000"/>
          </a:ln>
        </p:spPr>
        <p:txBody>
          <a:bodyPr lIns="45719" rIns="45719" tIns="0" bIns="0" anchor="t"/>
          <a:lstStyle>
            <a:lvl1pPr algn="l">
              <a:defRPr b="1" sz="1400">
                <a:solidFill>
                  <a:srgbClr val="FFFFFF"/>
                </a:solidFill>
                <a:latin typeface="Cambria"/>
              </a:defRPr>
            </a:lvl1pPr>
          </a:lstStyle>
          <a:p>
            <a:pPr/>
            <a:r>
              <a:t>Extraction</a:t>
            </a:r>
          </a:p>
        </p:txBody>
      </p:sp>
      <p:sp>
        <p:nvSpPr>
          <p:cNvPr id="306" name="B 0"/>
          <p:cNvSpPr txBox="1"/>
          <p:nvPr/>
        </p:nvSpPr>
        <p:spPr>
          <a:xfrm>
            <a:off x="2926080" y="3931920"/>
            <a:ext cx="7315200" cy="320040"/>
          </a:xfrm>
          <a:prstGeom prst="rect">
            <a:avLst/>
          </a:prstGeom>
          <a:ln w="12700">
            <a:noFill/>
            <a:miter lim="400000"/>
          </a:ln>
        </p:spPr>
        <p:txBody>
          <a:bodyPr lIns="45719" rIns="45719" tIns="0" bIns="0" anchor="t"/>
          <a:lstStyle>
            <a:lvl1pPr algn="l">
              <a:defRPr sz="1400">
                <a:solidFill>
                  <a:srgbClr val="9AA3C0"/>
                </a:solidFill>
                <a:latin typeface="Calibri"/>
              </a:defRPr>
            </a:lvl1pPr>
          </a:lstStyle>
          <a:p>
            <a:pPr/>
            <a:r>
              <a:t>the agent reads the existing job and drafts the rules it actually implements</a:t>
            </a:r>
          </a:p>
        </p:txBody>
      </p:sp>
      <p:sp>
        <p:nvSpPr>
          <p:cNvPr id="307" name="Dot 1"/>
          <p:cNvSpPr/>
          <p:nvPr/>
        </p:nvSpPr>
        <p:spPr>
          <a:xfrm>
            <a:off x="640080" y="4663440"/>
            <a:ext cx="137160" cy="137160"/>
          </a:xfrm>
          <a:prstGeom prst="ellipse">
            <a:avLst/>
          </a:prstGeom>
          <a:solidFill>
            <a:srgbClr val="FF6B4A"/>
          </a:solidFill>
          <a:ln w="12700">
            <a:noFill/>
            <a:miter lim="400000"/>
          </a:ln>
        </p:spPr>
        <p:txBody>
          <a:bodyPr lIns="45719" rIns="45719"/>
          <a:lstStyle/>
          <a:p>
            <a:pPr/>
          </a:p>
        </p:txBody>
      </p:sp>
      <p:sp>
        <p:nvSpPr>
          <p:cNvPr id="308" name="H 1"/>
          <p:cNvSpPr txBox="1"/>
          <p:nvPr/>
        </p:nvSpPr>
        <p:spPr>
          <a:xfrm>
            <a:off x="960120" y="4572000"/>
            <a:ext cx="1828800" cy="320040"/>
          </a:xfrm>
          <a:prstGeom prst="rect">
            <a:avLst/>
          </a:prstGeom>
          <a:ln w="12700">
            <a:noFill/>
            <a:miter lim="400000"/>
          </a:ln>
        </p:spPr>
        <p:txBody>
          <a:bodyPr lIns="45719" rIns="45719" tIns="0" bIns="0" anchor="t"/>
          <a:lstStyle>
            <a:lvl1pPr algn="l">
              <a:defRPr b="1" sz="1400">
                <a:solidFill>
                  <a:srgbClr val="FFFFFF"/>
                </a:solidFill>
                <a:latin typeface="Cambria"/>
              </a:defRPr>
            </a:lvl1pPr>
          </a:lstStyle>
          <a:p>
            <a:pPr/>
            <a:r>
              <a:t>Review</a:t>
            </a:r>
          </a:p>
        </p:txBody>
      </p:sp>
      <p:sp>
        <p:nvSpPr>
          <p:cNvPr id="309" name="B 1"/>
          <p:cNvSpPr txBox="1"/>
          <p:nvPr/>
        </p:nvSpPr>
        <p:spPr>
          <a:xfrm>
            <a:off x="2926080" y="4572000"/>
            <a:ext cx="7315200" cy="320040"/>
          </a:xfrm>
          <a:prstGeom prst="rect">
            <a:avLst/>
          </a:prstGeom>
          <a:ln w="12700">
            <a:noFill/>
            <a:miter lim="400000"/>
          </a:ln>
        </p:spPr>
        <p:txBody>
          <a:bodyPr lIns="45719" rIns="45719" tIns="0" bIns="0" anchor="t"/>
          <a:lstStyle>
            <a:lvl1pPr algn="l">
              <a:defRPr sz="1400">
                <a:solidFill>
                  <a:srgbClr val="9AA3C0"/>
                </a:solidFill>
                <a:latin typeface="Calibri"/>
              </a:defRPr>
            </a:lvl1pPr>
          </a:lstStyle>
          <a:p>
            <a:pPr/>
            <a:r>
              <a:t>we read the spec on screen and correct it before a single line of code is written</a:t>
            </a:r>
          </a:p>
        </p:txBody>
      </p:sp>
      <p:sp>
        <p:nvSpPr>
          <p:cNvPr id="310" name="Dot 2"/>
          <p:cNvSpPr/>
          <p:nvPr/>
        </p:nvSpPr>
        <p:spPr>
          <a:xfrm>
            <a:off x="640080" y="5303520"/>
            <a:ext cx="137160" cy="137160"/>
          </a:xfrm>
          <a:prstGeom prst="ellipse">
            <a:avLst/>
          </a:prstGeom>
          <a:solidFill>
            <a:srgbClr val="FF6B4A"/>
          </a:solidFill>
          <a:ln w="12700">
            <a:noFill/>
            <a:miter lim="400000"/>
          </a:ln>
        </p:spPr>
        <p:txBody>
          <a:bodyPr lIns="45719" rIns="45719"/>
          <a:lstStyle/>
          <a:p>
            <a:pPr/>
          </a:p>
        </p:txBody>
      </p:sp>
      <p:sp>
        <p:nvSpPr>
          <p:cNvPr id="311" name="H 2"/>
          <p:cNvSpPr txBox="1"/>
          <p:nvPr/>
        </p:nvSpPr>
        <p:spPr>
          <a:xfrm>
            <a:off x="960120" y="5212080"/>
            <a:ext cx="1828800" cy="320040"/>
          </a:xfrm>
          <a:prstGeom prst="rect">
            <a:avLst/>
          </a:prstGeom>
          <a:ln w="12700">
            <a:noFill/>
            <a:miter lim="400000"/>
          </a:ln>
        </p:spPr>
        <p:txBody>
          <a:bodyPr lIns="45719" rIns="45719" tIns="0" bIns="0" anchor="t"/>
          <a:lstStyle>
            <a:lvl1pPr algn="l">
              <a:defRPr b="1" sz="1400">
                <a:solidFill>
                  <a:srgbClr val="FFFFFF"/>
                </a:solidFill>
                <a:latin typeface="Cambria"/>
              </a:defRPr>
            </a:lvl1pPr>
          </a:lstStyle>
          <a:p>
            <a:pPr/>
            <a:r>
              <a:t>Generation</a:t>
            </a:r>
          </a:p>
        </p:txBody>
      </p:sp>
      <p:sp>
        <p:nvSpPr>
          <p:cNvPr id="312" name="B 2"/>
          <p:cNvSpPr txBox="1"/>
          <p:nvPr/>
        </p:nvSpPr>
        <p:spPr>
          <a:xfrm>
            <a:off x="2926080" y="5212080"/>
            <a:ext cx="7315200" cy="320040"/>
          </a:xfrm>
          <a:prstGeom prst="rect">
            <a:avLst/>
          </a:prstGeom>
          <a:ln w="12700">
            <a:noFill/>
            <a:miter lim="400000"/>
          </a:ln>
        </p:spPr>
        <p:txBody>
          <a:bodyPr lIns="45719" rIns="45719" tIns="0" bIns="0" anchor="t"/>
          <a:lstStyle>
            <a:lvl1pPr algn="l">
              <a:defRPr sz="1400">
                <a:solidFill>
                  <a:srgbClr val="9AA3C0"/>
                </a:solidFill>
                <a:latin typeface="Calibri"/>
              </a:defRPr>
            </a:lvl1pPr>
          </a:lstStyle>
          <a:p>
            <a:pPr/>
            <a:r>
              <a:t>the new implementation follows the spec that was approved, not a prompt</a:t>
            </a:r>
          </a:p>
        </p:txBody>
      </p:sp>
      <p:sp>
        <p:nvSpPr>
          <p:cNvPr id="313" name="Fallback"/>
          <p:cNvSpPr txBox="1"/>
          <p:nvPr/>
        </p:nvSpPr>
        <p:spPr>
          <a:xfrm>
            <a:off x="640080" y="5943600"/>
            <a:ext cx="9144000" cy="228600"/>
          </a:xfrm>
          <a:prstGeom prst="rect">
            <a:avLst/>
          </a:prstGeom>
          <a:ln w="12700">
            <a:noFill/>
            <a:miter lim="400000"/>
          </a:ln>
        </p:spPr>
        <p:txBody>
          <a:bodyPr lIns="45719" rIns="45719" tIns="0" bIns="0" anchor="t"/>
          <a:lstStyle>
            <a:lvl1pPr algn="l">
              <a:defRPr i="1" sz="1000">
                <a:solidFill>
                  <a:srgbClr val="6C74A0"/>
                </a:solidFill>
                <a:latin typeface="Calibri"/>
              </a:defRPr>
            </a:lvl1pPr>
          </a:lstStyle>
          <a:p>
            <a:pPr/>
            <a:r>
              <a:t>If the demo misbehaves: the same change is in the repository, already archived.</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8" name="Text 0"/>
          <p:cNvSpPr txBox="1"/>
          <p:nvPr/>
        </p:nvSpPr>
        <p:spPr>
          <a:xfrm>
            <a:off x="685800" y="545400"/>
            <a:ext cx="7223761" cy="28080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200" sz="1100">
                <a:solidFill>
                  <a:srgbClr val="FF6B4A"/>
                </a:solidFill>
                <a:latin typeface="Calibri"/>
              </a:defRPr>
            </a:lvl1pPr>
          </a:lstStyle>
          <a:p>
            <a:pPr/>
            <a:r>
              <a:t>The landscape</a:t>
            </a:r>
          </a:p>
        </p:txBody>
      </p:sp>
      <p:sp>
        <p:nvSpPr>
          <p:cNvPr id="119" name="Text 1"/>
          <p:cNvSpPr txBox="1"/>
          <p:nvPr/>
        </p:nvSpPr>
        <p:spPr>
          <a:xfrm>
            <a:off x="685800" y="989463"/>
            <a:ext cx="10789920" cy="48995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3000">
                <a:solidFill>
                  <a:srgbClr val="1E2761"/>
                </a:solidFill>
                <a:latin typeface="Cambria"/>
              </a:defRPr>
            </a:lvl1pPr>
          </a:lstStyle>
          <a:p>
            <a:pPr/>
            <a:r>
              <a:t>Two roads to the same principle</a:t>
            </a:r>
          </a:p>
        </p:txBody>
      </p:sp>
      <p:sp>
        <p:nvSpPr>
          <p:cNvPr id="132" name="Text 14"/>
          <p:cNvSpPr txBox="1"/>
          <p:nvPr/>
        </p:nvSpPr>
        <p:spPr>
          <a:xfrm>
            <a:off x="502919" y="6572163"/>
            <a:ext cx="722376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900">
                <a:solidFill>
                  <a:srgbClr val="5C6484"/>
                </a:solidFill>
                <a:latin typeface="Calibri"/>
              </a:defRPr>
            </a:lvl1pPr>
          </a:lstStyle>
          <a:p>
            <a:pPr/>
            <a:r>
              <a:t>OpenSpec — Spec-Driven Development</a:t>
            </a:r>
          </a:p>
        </p:txBody>
      </p:sp>
      <p:sp>
        <p:nvSpPr>
          <p:cNvPr id="133" name="Text 15"/>
          <p:cNvSpPr txBox="1"/>
          <p:nvPr/>
        </p:nvSpPr>
        <p:spPr>
          <a:xfrm>
            <a:off x="11475719" y="6572163"/>
            <a:ext cx="27432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900">
                <a:solidFill>
                  <a:srgbClr val="5C6484"/>
                </a:solidFill>
                <a:latin typeface="Calibri"/>
              </a:defRPr>
            </a:lvl1pPr>
          </a:lstStyle>
          <a:p>
            <a:pPr/>
            <a:r>
              <a:t>15</a:t>
            </a:r>
          </a:p>
        </p:txBody>
      </p:sp>
      <p:sp>
        <p:nvSpPr>
          <p:cNvPr id="301" name="Lead"/>
          <p:cNvSpPr txBox="1"/>
          <p:nvPr/>
        </p:nvSpPr>
        <p:spPr>
          <a:xfrm>
            <a:off x="685800" y="1691640"/>
            <a:ext cx="10607042" cy="548640"/>
          </a:xfrm>
          <a:prstGeom prst="rect">
            <a:avLst/>
          </a:prstGeom>
          <a:ln w="12700">
            <a:noFill/>
            <a:miter lim="400000"/>
          </a:ln>
        </p:spPr>
        <p:txBody>
          <a:bodyPr lIns="45719" rIns="45719" tIns="0" bIns="0" anchor="t"/>
          <a:lstStyle>
            <a:lvl1pPr algn="l">
              <a:defRPr sz="1500">
                <a:solidFill>
                  <a:srgbClr val="2C3352"/>
                </a:solidFill>
                <a:latin typeface="Calibri"/>
              </a:defRPr>
            </a:lvl1pPr>
          </a:lstStyle>
          <a:p>
            <a:pPr/>
            <a:r>
              <a:t>Another team here uses BMAD. Both frameworks reach the same conclusion — write the intent down before the agent builds — and differ in how much process they carry.</a:t>
            </a:r>
          </a:p>
        </p:txBody>
      </p:sp>
      <p:sp>
        <p:nvSpPr>
          <p:cNvPr id="302" name="Card BMAD-METHOD"/>
          <p:cNvSpPr/>
          <p:nvPr/>
        </p:nvSpPr>
        <p:spPr>
          <a:xfrm>
            <a:off x="640080" y="2560320"/>
            <a:ext cx="4937760" cy="3200400"/>
          </a:xfrm>
          <a:prstGeom prst="roundRect">
            <a:avLst>
              <a:gd name="adj" fmla="val 3500"/>
            </a:avLst>
          </a:prstGeom>
          <a:solidFill>
            <a:srgbClr val="EEF2FC"/>
          </a:solidFill>
          <a:ln w="12700">
            <a:solidFill>
              <a:srgbClr val="CADCFC"/>
            </a:solidFill>
            <a:miter lim="400000"/>
          </a:ln>
        </p:spPr>
        <p:txBody>
          <a:bodyPr lIns="45719" rIns="45719"/>
          <a:lstStyle/>
          <a:p>
            <a:pPr/>
          </a:p>
        </p:txBody>
      </p:sp>
      <p:sp>
        <p:nvSpPr>
          <p:cNvPr id="303" name="Head BMAD-METHOD"/>
          <p:cNvSpPr/>
          <p:nvPr/>
        </p:nvSpPr>
        <p:spPr>
          <a:xfrm>
            <a:off x="640080" y="2560320"/>
            <a:ext cx="4937760" cy="548641"/>
          </a:xfrm>
          <a:prstGeom prst="roundRect">
            <a:avLst>
              <a:gd name="adj" fmla="val 19000"/>
            </a:avLst>
          </a:prstGeom>
          <a:solidFill>
            <a:srgbClr val="1E2761"/>
          </a:solidFill>
          <a:ln w="12700">
            <a:noFill/>
            <a:miter lim="400000"/>
          </a:ln>
        </p:spPr>
        <p:txBody>
          <a:bodyPr lIns="45719" rIns="45719"/>
          <a:lstStyle/>
          <a:p>
            <a:pPr/>
          </a:p>
        </p:txBody>
      </p:sp>
      <p:sp>
        <p:nvSpPr>
          <p:cNvPr id="304" name="Name BMAD-METHOD"/>
          <p:cNvSpPr txBox="1"/>
          <p:nvPr/>
        </p:nvSpPr>
        <p:spPr>
          <a:xfrm>
            <a:off x="640080" y="2684344"/>
            <a:ext cx="4937760" cy="300594"/>
          </a:xfrm>
          <a:prstGeom prst="rect">
            <a:avLst/>
          </a:prstGeom>
          <a:ln w="12700">
            <a:noFill/>
            <a:miter lim="400000"/>
          </a:ln>
        </p:spPr>
        <p:txBody>
          <a:bodyPr lIns="45719" rIns="45719" tIns="0" bIns="0" anchor="t"/>
          <a:lstStyle>
            <a:lvl1pPr algn="ctr">
              <a:defRPr b="1" sz="1400">
                <a:solidFill>
                  <a:srgbClr val="FFFFFF"/>
                </a:solidFill>
                <a:latin typeface="Cambria"/>
              </a:defRPr>
            </a:lvl1pPr>
          </a:lstStyle>
          <a:p>
            <a:pPr/>
            <a:r>
              <a:t>BMAD-METHOD</a:t>
            </a:r>
          </a:p>
        </p:txBody>
      </p:sp>
      <p:sp>
        <p:nvSpPr>
          <p:cNvPr id="305" name="BBMAD-METHOD0"/>
          <p:cNvSpPr/>
          <p:nvPr/>
        </p:nvSpPr>
        <p:spPr>
          <a:xfrm>
            <a:off x="960120" y="3451860"/>
            <a:ext cx="91440" cy="91440"/>
          </a:xfrm>
          <a:prstGeom prst="rect">
            <a:avLst/>
          </a:prstGeom>
          <a:solidFill>
            <a:srgbClr val="FF6B4A"/>
          </a:solidFill>
          <a:ln w="12700">
            <a:noFill/>
            <a:miter lim="400000"/>
          </a:ln>
        </p:spPr>
        <p:txBody>
          <a:bodyPr lIns="45719" rIns="45719"/>
          <a:lstStyle/>
          <a:p>
            <a:pPr/>
          </a:p>
        </p:txBody>
      </p:sp>
      <p:sp>
        <p:nvSpPr>
          <p:cNvPr id="306" name="TBMAD-METHOD0"/>
          <p:cNvSpPr txBox="1"/>
          <p:nvPr/>
        </p:nvSpPr>
        <p:spPr>
          <a:xfrm>
            <a:off x="1188720" y="3383280"/>
            <a:ext cx="4069080" cy="411480"/>
          </a:xfrm>
          <a:prstGeom prst="rect">
            <a:avLst/>
          </a:prstGeom>
          <a:ln w="12700">
            <a:noFill/>
            <a:miter lim="400000"/>
          </a:ln>
        </p:spPr>
        <p:txBody>
          <a:bodyPr lIns="45719" rIns="45719" tIns="0" bIns="0" anchor="t"/>
          <a:lstStyle>
            <a:lvl1pPr algn="l">
              <a:defRPr sz="1250">
                <a:solidFill>
                  <a:srgbClr val="2C3352"/>
                </a:solidFill>
                <a:latin typeface="Calibri"/>
              </a:defRPr>
            </a:lvl1pPr>
          </a:lstStyle>
          <a:p>
            <a:pPr/>
            <a:r>
              <a:t>Covers the whole delivery loop: clarify, plan, build, learn</a:t>
            </a:r>
          </a:p>
        </p:txBody>
      </p:sp>
      <p:sp>
        <p:nvSpPr>
          <p:cNvPr id="307" name="BBMAD-METHOD1"/>
          <p:cNvSpPr/>
          <p:nvPr/>
        </p:nvSpPr>
        <p:spPr>
          <a:xfrm>
            <a:off x="960120" y="3909060"/>
            <a:ext cx="91440" cy="91440"/>
          </a:xfrm>
          <a:prstGeom prst="rect">
            <a:avLst/>
          </a:prstGeom>
          <a:solidFill>
            <a:srgbClr val="FF6B4A"/>
          </a:solidFill>
          <a:ln w="12700">
            <a:noFill/>
            <a:miter lim="400000"/>
          </a:ln>
        </p:spPr>
        <p:txBody>
          <a:bodyPr lIns="45719" rIns="45719"/>
          <a:lstStyle/>
          <a:p>
            <a:pPr/>
          </a:p>
        </p:txBody>
      </p:sp>
      <p:sp>
        <p:nvSpPr>
          <p:cNvPr id="308" name="TBMAD-METHOD1"/>
          <p:cNvSpPr txBox="1"/>
          <p:nvPr/>
        </p:nvSpPr>
        <p:spPr>
          <a:xfrm>
            <a:off x="1188720" y="3840480"/>
            <a:ext cx="4069080" cy="411480"/>
          </a:xfrm>
          <a:prstGeom prst="rect">
            <a:avLst/>
          </a:prstGeom>
          <a:ln w="12700">
            <a:noFill/>
            <a:miter lim="400000"/>
          </a:ln>
        </p:spPr>
        <p:txBody>
          <a:bodyPr lIns="45719" rIns="45719" tIns="0" bIns="0" anchor="t"/>
          <a:lstStyle>
            <a:lvl1pPr algn="l">
              <a:defRPr sz="1250">
                <a:solidFill>
                  <a:srgbClr val="2C3352"/>
                </a:solidFill>
                <a:latin typeface="Calibri"/>
              </a:defRPr>
            </a:lvl1pPr>
          </a:lstStyle>
          <a:p>
            <a:pPr/>
            <a:r>
              <a:t>Specialised agents for product, architecture, UX, dev and testing</a:t>
            </a:r>
          </a:p>
        </p:txBody>
      </p:sp>
      <p:sp>
        <p:nvSpPr>
          <p:cNvPr id="309" name="BBMAD-METHOD2"/>
          <p:cNvSpPr/>
          <p:nvPr/>
        </p:nvSpPr>
        <p:spPr>
          <a:xfrm>
            <a:off x="960120" y="4366260"/>
            <a:ext cx="91440" cy="91440"/>
          </a:xfrm>
          <a:prstGeom prst="rect">
            <a:avLst/>
          </a:prstGeom>
          <a:solidFill>
            <a:srgbClr val="FF6B4A"/>
          </a:solidFill>
          <a:ln w="12700">
            <a:noFill/>
            <a:miter lim="400000"/>
          </a:ln>
        </p:spPr>
        <p:txBody>
          <a:bodyPr lIns="45719" rIns="45719"/>
          <a:lstStyle/>
          <a:p>
            <a:pPr/>
          </a:p>
        </p:txBody>
      </p:sp>
      <p:sp>
        <p:nvSpPr>
          <p:cNvPr id="310" name="TBMAD-METHOD2"/>
          <p:cNvSpPr txBox="1"/>
          <p:nvPr/>
        </p:nvSpPr>
        <p:spPr>
          <a:xfrm>
            <a:off x="1188720" y="4297680"/>
            <a:ext cx="4069080" cy="411480"/>
          </a:xfrm>
          <a:prstGeom prst="rect">
            <a:avLst/>
          </a:prstGeom>
          <a:ln w="12700">
            <a:noFill/>
            <a:miter lim="400000"/>
          </a:ln>
        </p:spPr>
        <p:txBody>
          <a:bodyPr lIns="45719" rIns="45719" tIns="0" bIns="0" anchor="t"/>
          <a:lstStyle>
            <a:lvl1pPr algn="l">
              <a:defRPr sz="1250">
                <a:solidFill>
                  <a:srgbClr val="2C3352"/>
                </a:solidFill>
                <a:latin typeface="Calibri"/>
              </a:defRPr>
            </a:lvl1pPr>
          </a:lstStyle>
          <a:p>
            <a:pPr/>
            <a:r>
              <a:t>Produces briefs, specifications and architecture documents</a:t>
            </a:r>
          </a:p>
        </p:txBody>
      </p:sp>
      <p:sp>
        <p:nvSpPr>
          <p:cNvPr id="311" name="BBMAD-METHOD3"/>
          <p:cNvSpPr/>
          <p:nvPr/>
        </p:nvSpPr>
        <p:spPr>
          <a:xfrm>
            <a:off x="960120" y="4823460"/>
            <a:ext cx="91440" cy="91440"/>
          </a:xfrm>
          <a:prstGeom prst="rect">
            <a:avLst/>
          </a:prstGeom>
          <a:solidFill>
            <a:srgbClr val="FF6B4A"/>
          </a:solidFill>
          <a:ln w="12700">
            <a:noFill/>
            <a:miter lim="400000"/>
          </a:ln>
        </p:spPr>
        <p:txBody>
          <a:bodyPr lIns="45719" rIns="45719"/>
          <a:lstStyle/>
          <a:p>
            <a:pPr/>
          </a:p>
        </p:txBody>
      </p:sp>
      <p:sp>
        <p:nvSpPr>
          <p:cNvPr id="312" name="TBMAD-METHOD3"/>
          <p:cNvSpPr txBox="1"/>
          <p:nvPr/>
        </p:nvSpPr>
        <p:spPr>
          <a:xfrm>
            <a:off x="1188720" y="4754880"/>
            <a:ext cx="4069080" cy="411480"/>
          </a:xfrm>
          <a:prstGeom prst="rect">
            <a:avLst/>
          </a:prstGeom>
          <a:ln w="12700">
            <a:noFill/>
            <a:miter lim="400000"/>
          </a:ln>
        </p:spPr>
        <p:txBody>
          <a:bodyPr lIns="45719" rIns="45719" tIns="0" bIns="0" anchor="t"/>
          <a:lstStyle>
            <a:lvl1pPr algn="l">
              <a:defRPr sz="1250">
                <a:solidFill>
                  <a:srgbClr val="2C3352"/>
                </a:solidFill>
                <a:latin typeface="Calibri"/>
              </a:defRPr>
            </a:lvl1pPr>
          </a:lstStyle>
          <a:p>
            <a:pPr/>
            <a:r>
              <a:t>Planning can start in a web assistant, then move to the editor</a:t>
            </a:r>
          </a:p>
        </p:txBody>
      </p:sp>
      <p:sp>
        <p:nvSpPr>
          <p:cNvPr id="313" name="BBMAD-METHOD4"/>
          <p:cNvSpPr/>
          <p:nvPr/>
        </p:nvSpPr>
        <p:spPr>
          <a:xfrm>
            <a:off x="960120" y="5280660"/>
            <a:ext cx="91440" cy="91440"/>
          </a:xfrm>
          <a:prstGeom prst="rect">
            <a:avLst/>
          </a:prstGeom>
          <a:solidFill>
            <a:srgbClr val="FF6B4A"/>
          </a:solidFill>
          <a:ln w="12700">
            <a:noFill/>
            <a:miter lim="400000"/>
          </a:ln>
        </p:spPr>
        <p:txBody>
          <a:bodyPr lIns="45719" rIns="45719"/>
          <a:lstStyle/>
          <a:p>
            <a:pPr/>
          </a:p>
        </p:txBody>
      </p:sp>
      <p:sp>
        <p:nvSpPr>
          <p:cNvPr id="314" name="TBMAD-METHOD4"/>
          <p:cNvSpPr txBox="1"/>
          <p:nvPr/>
        </p:nvSpPr>
        <p:spPr>
          <a:xfrm>
            <a:off x="1188720" y="5212080"/>
            <a:ext cx="4069080" cy="411480"/>
          </a:xfrm>
          <a:prstGeom prst="rect">
            <a:avLst/>
          </a:prstGeom>
          <a:ln w="12700">
            <a:noFill/>
            <a:miter lim="400000"/>
          </a:ln>
        </p:spPr>
        <p:txBody>
          <a:bodyPr lIns="45719" rIns="45719" tIns="0" bIns="0" anchor="t"/>
          <a:lstStyle>
            <a:lvl1pPr algn="l">
              <a:defRPr sz="1250">
                <a:solidFill>
                  <a:srgbClr val="2C3352"/>
                </a:solidFill>
                <a:latin typeface="Calibri"/>
              </a:defRPr>
            </a:lvl1pPr>
          </a:lstStyle>
          <a:p>
            <a:pPr/>
            <a:r>
              <a:t>MIT licence  ·  npx bmad-method install</a:t>
            </a:r>
          </a:p>
        </p:txBody>
      </p:sp>
      <p:sp>
        <p:nvSpPr>
          <p:cNvPr id="315" name="Card OpenSpec"/>
          <p:cNvSpPr/>
          <p:nvPr/>
        </p:nvSpPr>
        <p:spPr>
          <a:xfrm>
            <a:off x="6583680" y="2560320"/>
            <a:ext cx="4937760" cy="3200400"/>
          </a:xfrm>
          <a:prstGeom prst="roundRect">
            <a:avLst>
              <a:gd name="adj" fmla="val 3500"/>
            </a:avLst>
          </a:prstGeom>
          <a:solidFill>
            <a:srgbClr val="EEF2FC"/>
          </a:solidFill>
          <a:ln w="12700">
            <a:solidFill>
              <a:srgbClr val="CADCFC"/>
            </a:solidFill>
            <a:miter lim="400000"/>
          </a:ln>
        </p:spPr>
        <p:txBody>
          <a:bodyPr lIns="45719" rIns="45719"/>
          <a:lstStyle/>
          <a:p>
            <a:pPr/>
          </a:p>
        </p:txBody>
      </p:sp>
      <p:sp>
        <p:nvSpPr>
          <p:cNvPr id="316" name="Head OpenSpec"/>
          <p:cNvSpPr/>
          <p:nvPr/>
        </p:nvSpPr>
        <p:spPr>
          <a:xfrm>
            <a:off x="6583680" y="2560320"/>
            <a:ext cx="4937760" cy="548641"/>
          </a:xfrm>
          <a:prstGeom prst="roundRect">
            <a:avLst>
              <a:gd name="adj" fmla="val 19000"/>
            </a:avLst>
          </a:prstGeom>
          <a:solidFill>
            <a:srgbClr val="1E2761"/>
          </a:solidFill>
          <a:ln w="12700">
            <a:noFill/>
            <a:miter lim="400000"/>
          </a:ln>
        </p:spPr>
        <p:txBody>
          <a:bodyPr lIns="45719" rIns="45719"/>
          <a:lstStyle/>
          <a:p>
            <a:pPr/>
          </a:p>
        </p:txBody>
      </p:sp>
      <p:sp>
        <p:nvSpPr>
          <p:cNvPr id="317" name="Name OpenSpec"/>
          <p:cNvSpPr txBox="1"/>
          <p:nvPr/>
        </p:nvSpPr>
        <p:spPr>
          <a:xfrm>
            <a:off x="6583680" y="2684344"/>
            <a:ext cx="4937760" cy="300594"/>
          </a:xfrm>
          <a:prstGeom prst="rect">
            <a:avLst/>
          </a:prstGeom>
          <a:ln w="12700">
            <a:noFill/>
            <a:miter lim="400000"/>
          </a:ln>
        </p:spPr>
        <p:txBody>
          <a:bodyPr lIns="45719" rIns="45719" tIns="0" bIns="0" anchor="t"/>
          <a:lstStyle>
            <a:lvl1pPr algn="ctr">
              <a:defRPr b="1" sz="1400">
                <a:solidFill>
                  <a:srgbClr val="FFFFFF"/>
                </a:solidFill>
                <a:latin typeface="Cambria"/>
              </a:defRPr>
            </a:lvl1pPr>
          </a:lstStyle>
          <a:p>
            <a:pPr/>
            <a:r>
              <a:t>OpenSpec</a:t>
            </a:r>
          </a:p>
        </p:txBody>
      </p:sp>
      <p:sp>
        <p:nvSpPr>
          <p:cNvPr id="318" name="BOpenSpec0"/>
          <p:cNvSpPr/>
          <p:nvPr/>
        </p:nvSpPr>
        <p:spPr>
          <a:xfrm>
            <a:off x="6903720" y="3451860"/>
            <a:ext cx="91440" cy="91440"/>
          </a:xfrm>
          <a:prstGeom prst="rect">
            <a:avLst/>
          </a:prstGeom>
          <a:solidFill>
            <a:srgbClr val="FF6B4A"/>
          </a:solidFill>
          <a:ln w="12700">
            <a:noFill/>
            <a:miter lim="400000"/>
          </a:ln>
        </p:spPr>
        <p:txBody>
          <a:bodyPr lIns="45719" rIns="45719"/>
          <a:lstStyle/>
          <a:p>
            <a:pPr/>
          </a:p>
        </p:txBody>
      </p:sp>
      <p:sp>
        <p:nvSpPr>
          <p:cNvPr id="319" name="TOpenSpec0"/>
          <p:cNvSpPr txBox="1"/>
          <p:nvPr/>
        </p:nvSpPr>
        <p:spPr>
          <a:xfrm>
            <a:off x="7132320" y="3383280"/>
            <a:ext cx="4069080" cy="411480"/>
          </a:xfrm>
          <a:prstGeom prst="rect">
            <a:avLst/>
          </a:prstGeom>
          <a:ln w="12700">
            <a:noFill/>
            <a:miter lim="400000"/>
          </a:ln>
        </p:spPr>
        <p:txBody>
          <a:bodyPr lIns="45719" rIns="45719" tIns="0" bIns="0" anchor="t"/>
          <a:lstStyle>
            <a:lvl1pPr algn="l">
              <a:defRPr sz="1250">
                <a:solidFill>
                  <a:srgbClr val="2C3352"/>
                </a:solidFill>
                <a:latin typeface="Calibri"/>
              </a:defRPr>
            </a:lvl1pPr>
          </a:lstStyle>
          <a:p>
            <a:pPr/>
            <a:r>
              <a:t>Covers one change at a time: propose, apply, archive</a:t>
            </a:r>
          </a:p>
        </p:txBody>
      </p:sp>
      <p:sp>
        <p:nvSpPr>
          <p:cNvPr id="320" name="BOpenSpec1"/>
          <p:cNvSpPr/>
          <p:nvPr/>
        </p:nvSpPr>
        <p:spPr>
          <a:xfrm>
            <a:off x="6903720" y="3909060"/>
            <a:ext cx="91440" cy="91440"/>
          </a:xfrm>
          <a:prstGeom prst="rect">
            <a:avLst/>
          </a:prstGeom>
          <a:solidFill>
            <a:srgbClr val="FF6B4A"/>
          </a:solidFill>
          <a:ln w="12700">
            <a:noFill/>
            <a:miter lim="400000"/>
          </a:ln>
        </p:spPr>
        <p:txBody>
          <a:bodyPr lIns="45719" rIns="45719"/>
          <a:lstStyle/>
          <a:p>
            <a:pPr/>
          </a:p>
        </p:txBody>
      </p:sp>
      <p:sp>
        <p:nvSpPr>
          <p:cNvPr id="321" name="TOpenSpec1"/>
          <p:cNvSpPr txBox="1"/>
          <p:nvPr/>
        </p:nvSpPr>
        <p:spPr>
          <a:xfrm>
            <a:off x="7132320" y="3840480"/>
            <a:ext cx="4069080" cy="411480"/>
          </a:xfrm>
          <a:prstGeom prst="rect">
            <a:avLst/>
          </a:prstGeom>
          <a:ln w="12700">
            <a:noFill/>
            <a:miter lim="400000"/>
          </a:ln>
        </p:spPr>
        <p:txBody>
          <a:bodyPr lIns="45719" rIns="45719" tIns="0" bIns="0" anchor="t"/>
          <a:lstStyle>
            <a:lvl1pPr algn="l">
              <a:defRPr sz="1250">
                <a:solidFill>
                  <a:srgbClr val="2C3352"/>
                </a:solidFill>
                <a:latin typeface="Calibri"/>
              </a:defRPr>
            </a:lvl1pPr>
          </a:lstStyle>
          <a:p>
            <a:pPr/>
            <a:r>
              <a:t>No roles — the spec is the interface between people and the agent</a:t>
            </a:r>
          </a:p>
        </p:txBody>
      </p:sp>
      <p:sp>
        <p:nvSpPr>
          <p:cNvPr id="322" name="BOpenSpec2"/>
          <p:cNvSpPr/>
          <p:nvPr/>
        </p:nvSpPr>
        <p:spPr>
          <a:xfrm>
            <a:off x="6903720" y="4366260"/>
            <a:ext cx="91440" cy="91440"/>
          </a:xfrm>
          <a:prstGeom prst="rect">
            <a:avLst/>
          </a:prstGeom>
          <a:solidFill>
            <a:srgbClr val="FF6B4A"/>
          </a:solidFill>
          <a:ln w="12700">
            <a:noFill/>
            <a:miter lim="400000"/>
          </a:ln>
        </p:spPr>
        <p:txBody>
          <a:bodyPr lIns="45719" rIns="45719"/>
          <a:lstStyle/>
          <a:p>
            <a:pPr/>
          </a:p>
        </p:txBody>
      </p:sp>
      <p:sp>
        <p:nvSpPr>
          <p:cNvPr id="323" name="TOpenSpec2"/>
          <p:cNvSpPr txBox="1"/>
          <p:nvPr/>
        </p:nvSpPr>
        <p:spPr>
          <a:xfrm>
            <a:off x="7132320" y="4297680"/>
            <a:ext cx="4069080" cy="411480"/>
          </a:xfrm>
          <a:prstGeom prst="rect">
            <a:avLst/>
          </a:prstGeom>
          <a:ln w="12700">
            <a:noFill/>
            <a:miter lim="400000"/>
          </a:ln>
        </p:spPr>
        <p:txBody>
          <a:bodyPr lIns="45719" rIns="45719" tIns="0" bIns="0" anchor="t"/>
          <a:lstStyle>
            <a:lvl1pPr algn="l">
              <a:defRPr sz="1250">
                <a:solidFill>
                  <a:srgbClr val="2C3352"/>
                </a:solidFill>
                <a:latin typeface="Calibri"/>
              </a:defRPr>
            </a:lvl1pPr>
          </a:lstStyle>
          <a:p>
            <a:pPr/>
            <a:r>
              <a:t>Produces a proposal, a spec and a task list, in the repository</a:t>
            </a:r>
          </a:p>
        </p:txBody>
      </p:sp>
      <p:sp>
        <p:nvSpPr>
          <p:cNvPr id="324" name="BOpenSpec3"/>
          <p:cNvSpPr/>
          <p:nvPr/>
        </p:nvSpPr>
        <p:spPr>
          <a:xfrm>
            <a:off x="6903720" y="4823460"/>
            <a:ext cx="91440" cy="91440"/>
          </a:xfrm>
          <a:prstGeom prst="rect">
            <a:avLst/>
          </a:prstGeom>
          <a:solidFill>
            <a:srgbClr val="FF6B4A"/>
          </a:solidFill>
          <a:ln w="12700">
            <a:noFill/>
            <a:miter lim="400000"/>
          </a:ln>
        </p:spPr>
        <p:txBody>
          <a:bodyPr lIns="45719" rIns="45719"/>
          <a:lstStyle/>
          <a:p>
            <a:pPr/>
          </a:p>
        </p:txBody>
      </p:sp>
      <p:sp>
        <p:nvSpPr>
          <p:cNvPr id="325" name="TOpenSpec3"/>
          <p:cNvSpPr txBox="1"/>
          <p:nvPr/>
        </p:nvSpPr>
        <p:spPr>
          <a:xfrm>
            <a:off x="7132320" y="4754880"/>
            <a:ext cx="4069080" cy="411480"/>
          </a:xfrm>
          <a:prstGeom prst="rect">
            <a:avLst/>
          </a:prstGeom>
          <a:ln w="12700">
            <a:noFill/>
            <a:miter lim="400000"/>
          </a:ln>
        </p:spPr>
        <p:txBody>
          <a:bodyPr lIns="45719" rIns="45719" tIns="0" bIns="0" anchor="t"/>
          <a:lstStyle>
            <a:lvl1pPr algn="l">
              <a:defRPr sz="1250">
                <a:solidFill>
                  <a:srgbClr val="2C3352"/>
                </a:solidFill>
                <a:latin typeface="Calibri"/>
              </a:defRPr>
            </a:lvl1pPr>
          </a:lstStyle>
          <a:p>
            <a:pPr/>
            <a:r>
              <a:t>Runs inside the coding assistant the team already uses</a:t>
            </a:r>
          </a:p>
        </p:txBody>
      </p:sp>
      <p:sp>
        <p:nvSpPr>
          <p:cNvPr id="326" name="BOpenSpec4"/>
          <p:cNvSpPr/>
          <p:nvPr/>
        </p:nvSpPr>
        <p:spPr>
          <a:xfrm>
            <a:off x="6903720" y="5280660"/>
            <a:ext cx="91440" cy="91440"/>
          </a:xfrm>
          <a:prstGeom prst="rect">
            <a:avLst/>
          </a:prstGeom>
          <a:solidFill>
            <a:srgbClr val="FF6B4A"/>
          </a:solidFill>
          <a:ln w="12700">
            <a:noFill/>
            <a:miter lim="400000"/>
          </a:ln>
        </p:spPr>
        <p:txBody>
          <a:bodyPr lIns="45719" rIns="45719"/>
          <a:lstStyle/>
          <a:p>
            <a:pPr/>
          </a:p>
        </p:txBody>
      </p:sp>
      <p:sp>
        <p:nvSpPr>
          <p:cNvPr id="327" name="TOpenSpec4"/>
          <p:cNvSpPr txBox="1"/>
          <p:nvPr/>
        </p:nvSpPr>
        <p:spPr>
          <a:xfrm>
            <a:off x="7132320" y="5212080"/>
            <a:ext cx="4069080" cy="411480"/>
          </a:xfrm>
          <a:prstGeom prst="rect">
            <a:avLst/>
          </a:prstGeom>
          <a:ln w="12700">
            <a:noFill/>
            <a:miter lim="400000"/>
          </a:ln>
        </p:spPr>
        <p:txBody>
          <a:bodyPr lIns="45719" rIns="45719" tIns="0" bIns="0" anchor="t"/>
          <a:lstStyle>
            <a:lvl1pPr algn="l">
              <a:defRPr sz="1250">
                <a:solidFill>
                  <a:srgbClr val="2C3352"/>
                </a:solidFill>
                <a:latin typeface="Calibri"/>
              </a:defRPr>
            </a:lvl1pPr>
          </a:lstStyle>
          <a:p>
            <a:pPr/>
            <a:r>
              <a:t>MIT licence  ·  npm i -g @fission-ai/openspec</a:t>
            </a:r>
          </a:p>
        </p:txBody>
      </p:sp>
      <p:sp>
        <p:nvSpPr>
          <p:cNvPr id="328" name="Close"/>
          <p:cNvSpPr txBox="1"/>
          <p:nvPr/>
        </p:nvSpPr>
        <p:spPr>
          <a:xfrm>
            <a:off x="685800" y="5943600"/>
            <a:ext cx="10607042" cy="228600"/>
          </a:xfrm>
          <a:prstGeom prst="rect">
            <a:avLst/>
          </a:prstGeom>
          <a:ln w="12700">
            <a:noFill/>
            <a:miter lim="400000"/>
          </a:ln>
        </p:spPr>
        <p:txBody>
          <a:bodyPr lIns="45719" rIns="45719" tIns="0" bIns="0" anchor="t"/>
          <a:lstStyle>
            <a:lvl1pPr algn="l">
              <a:defRPr b="1" sz="1300">
                <a:solidFill>
                  <a:srgbClr val="1E2761"/>
                </a:solidFill>
                <a:latin typeface="Cambria"/>
              </a:defRPr>
            </a:lvl1pPr>
          </a:lstStyle>
          <a:p>
            <a:pPr/>
            <a:r>
              <a:t>The choice is one of weight, not of principle — and neither replaces the other.</a:t>
            </a:r>
          </a:p>
        </p:txBody>
      </p:sp>
      <p:sp>
        <p:nvSpPr>
          <p:cNvPr id="329" name="Src"/>
          <p:cNvSpPr txBox="1"/>
          <p:nvPr/>
        </p:nvSpPr>
        <p:spPr>
          <a:xfrm>
            <a:off x="685800" y="6248400"/>
            <a:ext cx="10607042" cy="205740"/>
          </a:xfrm>
          <a:prstGeom prst="rect">
            <a:avLst/>
          </a:prstGeom>
          <a:ln w="12700">
            <a:noFill/>
            <a:miter lim="400000"/>
          </a:ln>
        </p:spPr>
        <p:txBody>
          <a:bodyPr lIns="45719" rIns="45719" tIns="0" bIns="0" anchor="t"/>
          <a:lstStyle>
            <a:lvl1pPr algn="l">
              <a:defRPr i="1" sz="850">
                <a:solidFill>
                  <a:srgbClr val="5C6484"/>
                </a:solidFill>
                <a:latin typeface="Calibri"/>
              </a:defRPr>
            </a:lvl1pPr>
          </a:lstStyle>
          <a:p>
            <a:pPr/>
            <a:r>
              <a:t>Sources: github.com/bmad-code-org/BMAD-METHOD · openspec.dev — checked August 2026.</a:t>
            </a:r>
          </a:p>
        </p:txBody>
      </p:sp>
    </p:spTree>
  </p:cSld>
  <p:clrMapOvr>
    <a:masterClrMapping/>
  </p:clrMapOvr>
  <p:transition xmlns:p14="http://schemas.microsoft.com/office/powerpoint/2010/main" spd="med" advClick="1"/>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8" name="Text 0"/>
          <p:cNvSpPr txBox="1"/>
          <p:nvPr/>
        </p:nvSpPr>
        <p:spPr>
          <a:xfrm>
            <a:off x="685800" y="545400"/>
            <a:ext cx="7223761" cy="28080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200" sz="1100">
                <a:solidFill>
                  <a:srgbClr val="FF6B4A"/>
                </a:solidFill>
                <a:latin typeface="Calibri"/>
              </a:defRPr>
            </a:lvl1pPr>
          </a:lstStyle>
          <a:p>
            <a:pPr/>
            <a:r>
              <a:t>Honest limits</a:t>
            </a:r>
          </a:p>
        </p:txBody>
      </p:sp>
      <p:sp>
        <p:nvSpPr>
          <p:cNvPr id="119" name="Text 1"/>
          <p:cNvSpPr txBox="1"/>
          <p:nvPr/>
        </p:nvSpPr>
        <p:spPr>
          <a:xfrm>
            <a:off x="685800" y="989463"/>
            <a:ext cx="10789920" cy="48995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3000">
                <a:solidFill>
                  <a:srgbClr val="1E2761"/>
                </a:solidFill>
                <a:latin typeface="Cambria"/>
              </a:defRPr>
            </a:lvl1pPr>
          </a:lstStyle>
          <a:p>
            <a:pPr/>
            <a:r>
              <a:t>What it costs, and what it does not solve</a:t>
            </a:r>
          </a:p>
        </p:txBody>
      </p:sp>
      <p:sp>
        <p:nvSpPr>
          <p:cNvPr id="132" name="Text 14"/>
          <p:cNvSpPr txBox="1"/>
          <p:nvPr/>
        </p:nvSpPr>
        <p:spPr>
          <a:xfrm>
            <a:off x="502919" y="6572163"/>
            <a:ext cx="722376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900">
                <a:solidFill>
                  <a:srgbClr val="5C6484"/>
                </a:solidFill>
                <a:latin typeface="Calibri"/>
              </a:defRPr>
            </a:lvl1pPr>
          </a:lstStyle>
          <a:p>
            <a:pPr/>
            <a:r>
              <a:t>OpenSpec — Spec-Driven Development</a:t>
            </a:r>
          </a:p>
        </p:txBody>
      </p:sp>
      <p:sp>
        <p:nvSpPr>
          <p:cNvPr id="133" name="Text 15"/>
          <p:cNvSpPr txBox="1"/>
          <p:nvPr/>
        </p:nvSpPr>
        <p:spPr>
          <a:xfrm>
            <a:off x="11475719" y="6572163"/>
            <a:ext cx="27432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900">
                <a:solidFill>
                  <a:srgbClr val="5C6484"/>
                </a:solidFill>
                <a:latin typeface="Calibri"/>
              </a:defRPr>
            </a:lvl1pPr>
          </a:lstStyle>
          <a:p>
            <a:pPr/>
            <a:r>
              <a:t>16</a:t>
            </a:r>
          </a:p>
        </p:txBody>
      </p:sp>
      <p:sp>
        <p:nvSpPr>
          <p:cNvPr id="301" name="Lead"/>
          <p:cNvSpPr txBox="1"/>
          <p:nvPr/>
        </p:nvSpPr>
        <p:spPr>
          <a:xfrm>
            <a:off x="685800" y="1691640"/>
            <a:ext cx="10607042" cy="320040"/>
          </a:xfrm>
          <a:prstGeom prst="rect">
            <a:avLst/>
          </a:prstGeom>
          <a:ln w="12700">
            <a:noFill/>
            <a:miter lim="400000"/>
          </a:ln>
        </p:spPr>
        <p:txBody>
          <a:bodyPr lIns="45719" rIns="45719" tIns="0" bIns="0" anchor="t"/>
          <a:lstStyle>
            <a:lvl1pPr algn="l">
              <a:defRPr sz="1500">
                <a:solidFill>
                  <a:srgbClr val="2C3352"/>
                </a:solidFill>
                <a:latin typeface="Calibri"/>
              </a:defRPr>
            </a:lvl1pPr>
          </a:lstStyle>
          <a:p>
            <a:pPr/>
            <a:r>
              <a:t>Every method has a bill. Here is this one, stated before anyone has to discover it.</a:t>
            </a:r>
          </a:p>
        </p:txBody>
      </p:sp>
      <p:sp>
        <p:nvSpPr>
          <p:cNvPr id="302" name="Card WHAT IT COSTS"/>
          <p:cNvSpPr/>
          <p:nvPr/>
        </p:nvSpPr>
        <p:spPr>
          <a:xfrm>
            <a:off x="640080" y="2560320"/>
            <a:ext cx="4937760" cy="2926080"/>
          </a:xfrm>
          <a:prstGeom prst="roundRect">
            <a:avLst>
              <a:gd name="adj" fmla="val 3500"/>
            </a:avLst>
          </a:prstGeom>
          <a:solidFill>
            <a:srgbClr val="EEF2FC"/>
          </a:solidFill>
          <a:ln w="12700">
            <a:solidFill>
              <a:srgbClr val="CADCFC"/>
            </a:solidFill>
            <a:miter lim="400000"/>
          </a:ln>
        </p:spPr>
        <p:txBody>
          <a:bodyPr lIns="45719" rIns="45719"/>
          <a:lstStyle/>
          <a:p>
            <a:pPr/>
          </a:p>
        </p:txBody>
      </p:sp>
      <p:sp>
        <p:nvSpPr>
          <p:cNvPr id="303" name="Head WHAT IT COSTS"/>
          <p:cNvSpPr/>
          <p:nvPr/>
        </p:nvSpPr>
        <p:spPr>
          <a:xfrm>
            <a:off x="640080" y="2560320"/>
            <a:ext cx="4937760" cy="548641"/>
          </a:xfrm>
          <a:prstGeom prst="roundRect">
            <a:avLst>
              <a:gd name="adj" fmla="val 19000"/>
            </a:avLst>
          </a:prstGeom>
          <a:solidFill>
            <a:srgbClr val="1E2761"/>
          </a:solidFill>
          <a:ln w="12700">
            <a:noFill/>
            <a:miter lim="400000"/>
          </a:ln>
        </p:spPr>
        <p:txBody>
          <a:bodyPr lIns="45719" rIns="45719"/>
          <a:lstStyle/>
          <a:p>
            <a:pPr/>
          </a:p>
        </p:txBody>
      </p:sp>
      <p:sp>
        <p:nvSpPr>
          <p:cNvPr id="304" name="N WHAT IT COSTS"/>
          <p:cNvSpPr txBox="1"/>
          <p:nvPr/>
        </p:nvSpPr>
        <p:spPr>
          <a:xfrm>
            <a:off x="640080" y="2684344"/>
            <a:ext cx="4937760" cy="300594"/>
          </a:xfrm>
          <a:prstGeom prst="rect">
            <a:avLst/>
          </a:prstGeom>
          <a:ln w="12700">
            <a:noFill/>
            <a:miter lim="400000"/>
          </a:ln>
        </p:spPr>
        <p:txBody>
          <a:bodyPr lIns="45719" rIns="45719" tIns="0" bIns="0" anchor="t"/>
          <a:lstStyle>
            <a:lvl1pPr algn="ctr">
              <a:defRPr b="1" sz="1400">
                <a:solidFill>
                  <a:srgbClr val="FFFFFF"/>
                </a:solidFill>
                <a:latin typeface="Cambria"/>
              </a:defRPr>
            </a:lvl1pPr>
          </a:lstStyle>
          <a:p>
            <a:pPr/>
            <a:r>
              <a:t>WHAT IT COSTS</a:t>
            </a:r>
          </a:p>
        </p:txBody>
      </p:sp>
      <p:sp>
        <p:nvSpPr>
          <p:cNvPr id="305" name="bWHAT IT COSTS0"/>
          <p:cNvSpPr/>
          <p:nvPr/>
        </p:nvSpPr>
        <p:spPr>
          <a:xfrm>
            <a:off x="960120" y="3451860"/>
            <a:ext cx="91440" cy="91440"/>
          </a:xfrm>
          <a:prstGeom prst="rect">
            <a:avLst/>
          </a:prstGeom>
          <a:solidFill>
            <a:srgbClr val="FF6B4A"/>
          </a:solidFill>
          <a:ln w="12700">
            <a:noFill/>
            <a:miter lim="400000"/>
          </a:ln>
        </p:spPr>
        <p:txBody>
          <a:bodyPr lIns="45719" rIns="45719"/>
          <a:lstStyle/>
          <a:p>
            <a:pPr/>
          </a:p>
        </p:txBody>
      </p:sp>
      <p:sp>
        <p:nvSpPr>
          <p:cNvPr id="306" name="tWHAT IT COSTS0"/>
          <p:cNvSpPr txBox="1"/>
          <p:nvPr/>
        </p:nvSpPr>
        <p:spPr>
          <a:xfrm>
            <a:off x="1188720" y="3383280"/>
            <a:ext cx="4069080" cy="685800"/>
          </a:xfrm>
          <a:prstGeom prst="rect">
            <a:avLst/>
          </a:prstGeom>
          <a:ln w="12700">
            <a:noFill/>
            <a:miter lim="400000"/>
          </a:ln>
        </p:spPr>
        <p:txBody>
          <a:bodyPr lIns="45719" rIns="45719" tIns="0" bIns="0" anchor="t"/>
          <a:lstStyle>
            <a:lvl1pPr algn="l">
              <a:defRPr sz="1250">
                <a:solidFill>
                  <a:srgbClr val="2C3352"/>
                </a:solidFill>
                <a:latin typeface="Calibri"/>
              </a:defRPr>
            </a:lvl1pPr>
          </a:lstStyle>
          <a:p>
            <a:pPr/>
            <a:r>
              <a:t>Someone writes the spec — usually the engineer who would have written the prompt, before writing it</a:t>
            </a:r>
          </a:p>
        </p:txBody>
      </p:sp>
      <p:sp>
        <p:nvSpPr>
          <p:cNvPr id="307" name="bWHAT IT COSTS1"/>
          <p:cNvSpPr/>
          <p:nvPr/>
        </p:nvSpPr>
        <p:spPr>
          <a:xfrm>
            <a:off x="960120" y="4183380"/>
            <a:ext cx="91440" cy="91440"/>
          </a:xfrm>
          <a:prstGeom prst="rect">
            <a:avLst/>
          </a:prstGeom>
          <a:solidFill>
            <a:srgbClr val="FF6B4A"/>
          </a:solidFill>
          <a:ln w="12700">
            <a:noFill/>
            <a:miter lim="400000"/>
          </a:ln>
        </p:spPr>
        <p:txBody>
          <a:bodyPr lIns="45719" rIns="45719"/>
          <a:lstStyle/>
          <a:p>
            <a:pPr/>
          </a:p>
        </p:txBody>
      </p:sp>
      <p:sp>
        <p:nvSpPr>
          <p:cNvPr id="308" name="tWHAT IT COSTS1"/>
          <p:cNvSpPr txBox="1"/>
          <p:nvPr/>
        </p:nvSpPr>
        <p:spPr>
          <a:xfrm>
            <a:off x="1188720" y="4114800"/>
            <a:ext cx="4069080" cy="685800"/>
          </a:xfrm>
          <a:prstGeom prst="rect">
            <a:avLst/>
          </a:prstGeom>
          <a:ln w="12700">
            <a:noFill/>
            <a:miter lim="400000"/>
          </a:ln>
        </p:spPr>
        <p:txBody>
          <a:bodyPr lIns="45719" rIns="45719" tIns="0" bIns="0" anchor="t"/>
          <a:lstStyle>
            <a:lvl1pPr algn="l">
              <a:defRPr sz="1250">
                <a:solidFill>
                  <a:srgbClr val="2C3352"/>
                </a:solidFill>
                <a:latin typeface="Calibri"/>
              </a:defRPr>
            </a:lvl1pPr>
          </a:lstStyle>
          <a:p>
            <a:pPr/>
            <a:r>
              <a:t>The review adds a step: minutes on a small change, longer on a large one</a:t>
            </a:r>
          </a:p>
        </p:txBody>
      </p:sp>
      <p:sp>
        <p:nvSpPr>
          <p:cNvPr id="309" name="bWHAT IT COSTS2"/>
          <p:cNvSpPr/>
          <p:nvPr/>
        </p:nvSpPr>
        <p:spPr>
          <a:xfrm>
            <a:off x="960120" y="4914900"/>
            <a:ext cx="91440" cy="91440"/>
          </a:xfrm>
          <a:prstGeom prst="rect">
            <a:avLst/>
          </a:prstGeom>
          <a:solidFill>
            <a:srgbClr val="FF6B4A"/>
          </a:solidFill>
          <a:ln w="12700">
            <a:noFill/>
            <a:miter lim="400000"/>
          </a:ln>
        </p:spPr>
        <p:txBody>
          <a:bodyPr lIns="45719" rIns="45719"/>
          <a:lstStyle/>
          <a:p>
            <a:pPr/>
          </a:p>
        </p:txBody>
      </p:sp>
      <p:sp>
        <p:nvSpPr>
          <p:cNvPr id="310" name="tWHAT IT COSTS2"/>
          <p:cNvSpPr txBox="1"/>
          <p:nvPr/>
        </p:nvSpPr>
        <p:spPr>
          <a:xfrm>
            <a:off x="1188720" y="4846320"/>
            <a:ext cx="4069080" cy="685800"/>
          </a:xfrm>
          <a:prstGeom prst="rect">
            <a:avLst/>
          </a:prstGeom>
          <a:ln w="12700">
            <a:noFill/>
            <a:miter lim="400000"/>
          </a:ln>
        </p:spPr>
        <p:txBody>
          <a:bodyPr lIns="45719" rIns="45719" tIns="0" bIns="0" anchor="t"/>
          <a:lstStyle>
            <a:lvl1pPr algn="l">
              <a:defRPr sz="1250">
                <a:solidFill>
                  <a:srgbClr val="2C3352"/>
                </a:solidFill>
                <a:latin typeface="Calibri"/>
              </a:defRPr>
            </a:lvl1pPr>
          </a:lstStyle>
          <a:p>
            <a:pPr/>
            <a:r>
              <a:t>Nothing enforces the discipline but the review itself</a:t>
            </a:r>
          </a:p>
        </p:txBody>
      </p:sp>
      <p:sp>
        <p:nvSpPr>
          <p:cNvPr id="311" name="Card WHAT IT DOES NOT SOLVE"/>
          <p:cNvSpPr/>
          <p:nvPr/>
        </p:nvSpPr>
        <p:spPr>
          <a:xfrm>
            <a:off x="6583680" y="2560320"/>
            <a:ext cx="4937760" cy="2926080"/>
          </a:xfrm>
          <a:prstGeom prst="roundRect">
            <a:avLst>
              <a:gd name="adj" fmla="val 3500"/>
            </a:avLst>
          </a:prstGeom>
          <a:solidFill>
            <a:srgbClr val="EEF2FC"/>
          </a:solidFill>
          <a:ln w="12700">
            <a:solidFill>
              <a:srgbClr val="CADCFC"/>
            </a:solidFill>
            <a:miter lim="400000"/>
          </a:ln>
        </p:spPr>
        <p:txBody>
          <a:bodyPr lIns="45719" rIns="45719"/>
          <a:lstStyle/>
          <a:p>
            <a:pPr/>
          </a:p>
        </p:txBody>
      </p:sp>
      <p:sp>
        <p:nvSpPr>
          <p:cNvPr id="312" name="Head WHAT IT DOES NOT SOLVE"/>
          <p:cNvSpPr/>
          <p:nvPr/>
        </p:nvSpPr>
        <p:spPr>
          <a:xfrm>
            <a:off x="6583680" y="2560320"/>
            <a:ext cx="4937760" cy="548641"/>
          </a:xfrm>
          <a:prstGeom prst="roundRect">
            <a:avLst>
              <a:gd name="adj" fmla="val 19000"/>
            </a:avLst>
          </a:prstGeom>
          <a:solidFill>
            <a:srgbClr val="1E2761"/>
          </a:solidFill>
          <a:ln w="12700">
            <a:noFill/>
            <a:miter lim="400000"/>
          </a:ln>
        </p:spPr>
        <p:txBody>
          <a:bodyPr lIns="45719" rIns="45719"/>
          <a:lstStyle/>
          <a:p>
            <a:pPr/>
          </a:p>
        </p:txBody>
      </p:sp>
      <p:sp>
        <p:nvSpPr>
          <p:cNvPr id="313" name="N WHAT IT DOES NOT SOLVE"/>
          <p:cNvSpPr txBox="1"/>
          <p:nvPr/>
        </p:nvSpPr>
        <p:spPr>
          <a:xfrm>
            <a:off x="6583680" y="2684344"/>
            <a:ext cx="4937760" cy="300594"/>
          </a:xfrm>
          <a:prstGeom prst="rect">
            <a:avLst/>
          </a:prstGeom>
          <a:ln w="12700">
            <a:noFill/>
            <a:miter lim="400000"/>
          </a:ln>
        </p:spPr>
        <p:txBody>
          <a:bodyPr lIns="45719" rIns="45719" tIns="0" bIns="0" anchor="t"/>
          <a:lstStyle>
            <a:lvl1pPr algn="ctr">
              <a:defRPr b="1" sz="1400">
                <a:solidFill>
                  <a:srgbClr val="FFFFFF"/>
                </a:solidFill>
                <a:latin typeface="Cambria"/>
              </a:defRPr>
            </a:lvl1pPr>
          </a:lstStyle>
          <a:p>
            <a:pPr/>
            <a:r>
              <a:t>WHAT IT DOES NOT SOLVE</a:t>
            </a:r>
          </a:p>
        </p:txBody>
      </p:sp>
      <p:sp>
        <p:nvSpPr>
          <p:cNvPr id="314" name="bWHAT IT DOES NOT SOLVE0"/>
          <p:cNvSpPr/>
          <p:nvPr/>
        </p:nvSpPr>
        <p:spPr>
          <a:xfrm>
            <a:off x="6903720" y="3451860"/>
            <a:ext cx="91440" cy="91440"/>
          </a:xfrm>
          <a:prstGeom prst="rect">
            <a:avLst/>
          </a:prstGeom>
          <a:solidFill>
            <a:srgbClr val="FF6B4A"/>
          </a:solidFill>
          <a:ln w="12700">
            <a:noFill/>
            <a:miter lim="400000"/>
          </a:ln>
        </p:spPr>
        <p:txBody>
          <a:bodyPr lIns="45719" rIns="45719"/>
          <a:lstStyle/>
          <a:p>
            <a:pPr/>
          </a:p>
        </p:txBody>
      </p:sp>
      <p:sp>
        <p:nvSpPr>
          <p:cNvPr id="315" name="tWHAT IT DOES NOT SOLVE0"/>
          <p:cNvSpPr txBox="1"/>
          <p:nvPr/>
        </p:nvSpPr>
        <p:spPr>
          <a:xfrm>
            <a:off x="7132320" y="3383280"/>
            <a:ext cx="4069080" cy="685800"/>
          </a:xfrm>
          <a:prstGeom prst="rect">
            <a:avLst/>
          </a:prstGeom>
          <a:ln w="12700">
            <a:noFill/>
            <a:miter lim="400000"/>
          </a:ln>
        </p:spPr>
        <p:txBody>
          <a:bodyPr lIns="45719" rIns="45719" tIns="0" bIns="0" anchor="t"/>
          <a:lstStyle>
            <a:lvl1pPr algn="l">
              <a:defRPr sz="1250">
                <a:solidFill>
                  <a:srgbClr val="2C3352"/>
                </a:solidFill>
                <a:latin typeface="Calibri"/>
              </a:defRPr>
            </a:lvl1pPr>
          </a:lstStyle>
          <a:p>
            <a:pPr/>
            <a:r>
              <a:t>A wrong requirement stays wrong — a spec makes intent explicit, not correct</a:t>
            </a:r>
          </a:p>
        </p:txBody>
      </p:sp>
      <p:sp>
        <p:nvSpPr>
          <p:cNvPr id="316" name="bWHAT IT DOES NOT SOLVE1"/>
          <p:cNvSpPr/>
          <p:nvPr/>
        </p:nvSpPr>
        <p:spPr>
          <a:xfrm>
            <a:off x="6903720" y="4183380"/>
            <a:ext cx="91440" cy="91440"/>
          </a:xfrm>
          <a:prstGeom prst="rect">
            <a:avLst/>
          </a:prstGeom>
          <a:solidFill>
            <a:srgbClr val="FF6B4A"/>
          </a:solidFill>
          <a:ln w="12700">
            <a:noFill/>
            <a:miter lim="400000"/>
          </a:ln>
        </p:spPr>
        <p:txBody>
          <a:bodyPr lIns="45719" rIns="45719"/>
          <a:lstStyle/>
          <a:p>
            <a:pPr/>
          </a:p>
        </p:txBody>
      </p:sp>
      <p:sp>
        <p:nvSpPr>
          <p:cNvPr id="317" name="tWHAT IT DOES NOT SOLVE1"/>
          <p:cNvSpPr txBox="1"/>
          <p:nvPr/>
        </p:nvSpPr>
        <p:spPr>
          <a:xfrm>
            <a:off x="7132320" y="4114800"/>
            <a:ext cx="4069080" cy="685800"/>
          </a:xfrm>
          <a:prstGeom prst="rect">
            <a:avLst/>
          </a:prstGeom>
          <a:ln w="12700">
            <a:noFill/>
            <a:miter lim="400000"/>
          </a:ln>
        </p:spPr>
        <p:txBody>
          <a:bodyPr lIns="45719" rIns="45719" tIns="0" bIns="0" anchor="t"/>
          <a:lstStyle>
            <a:lvl1pPr algn="l">
              <a:defRPr sz="1250">
                <a:solidFill>
                  <a:srgbClr val="2C3352"/>
                </a:solidFill>
                <a:latin typeface="Calibri"/>
              </a:defRPr>
            </a:lvl1pPr>
          </a:lstStyle>
          <a:p>
            <a:pPr/>
            <a:r>
              <a:t>It does not make the model better; it changes what the model is told</a:t>
            </a:r>
          </a:p>
        </p:txBody>
      </p:sp>
      <p:sp>
        <p:nvSpPr>
          <p:cNvPr id="318" name="bWHAT IT DOES NOT SOLVE2"/>
          <p:cNvSpPr/>
          <p:nvPr/>
        </p:nvSpPr>
        <p:spPr>
          <a:xfrm>
            <a:off x="6903720" y="4914900"/>
            <a:ext cx="91440" cy="91440"/>
          </a:xfrm>
          <a:prstGeom prst="rect">
            <a:avLst/>
          </a:prstGeom>
          <a:solidFill>
            <a:srgbClr val="FF6B4A"/>
          </a:solidFill>
          <a:ln w="12700">
            <a:noFill/>
            <a:miter lim="400000"/>
          </a:ln>
        </p:spPr>
        <p:txBody>
          <a:bodyPr lIns="45719" rIns="45719"/>
          <a:lstStyle/>
          <a:p>
            <a:pPr/>
          </a:p>
        </p:txBody>
      </p:sp>
      <p:sp>
        <p:nvSpPr>
          <p:cNvPr id="319" name="tWHAT IT DOES NOT SOLVE2"/>
          <p:cNvSpPr txBox="1"/>
          <p:nvPr/>
        </p:nvSpPr>
        <p:spPr>
          <a:xfrm>
            <a:off x="7132320" y="4846320"/>
            <a:ext cx="4069080" cy="685800"/>
          </a:xfrm>
          <a:prstGeom prst="rect">
            <a:avLst/>
          </a:prstGeom>
          <a:ln w="12700">
            <a:noFill/>
            <a:miter lim="400000"/>
          </a:ln>
        </p:spPr>
        <p:txBody>
          <a:bodyPr lIns="45719" rIns="45719" tIns="0" bIns="0" anchor="t"/>
          <a:lstStyle>
            <a:lvl1pPr algn="l">
              <a:defRPr sz="1250">
                <a:solidFill>
                  <a:srgbClr val="2C3352"/>
                </a:solidFill>
                <a:latin typeface="Calibri"/>
              </a:defRPr>
            </a:lvl1pPr>
          </a:lstStyle>
          <a:p>
            <a:pPr/>
            <a:r>
              <a:t>A one-line fix does not need a spec — forcing it through the loop is waste</a:t>
            </a:r>
          </a:p>
        </p:txBody>
      </p:sp>
      <p:sp>
        <p:nvSpPr>
          <p:cNvPr id="320" name="Close"/>
          <p:cNvSpPr txBox="1"/>
          <p:nvPr/>
        </p:nvSpPr>
        <p:spPr>
          <a:xfrm>
            <a:off x="685800" y="5806440"/>
            <a:ext cx="10607042" cy="274320"/>
          </a:xfrm>
          <a:prstGeom prst="rect">
            <a:avLst/>
          </a:prstGeom>
          <a:ln w="12700">
            <a:noFill/>
            <a:miter lim="400000"/>
          </a:ln>
        </p:spPr>
        <p:txBody>
          <a:bodyPr lIns="45719" rIns="45719" tIns="0" bIns="0" anchor="t"/>
          <a:lstStyle>
            <a:lvl1pPr algn="l">
              <a:defRPr b="1" sz="1300">
                <a:solidFill>
                  <a:srgbClr val="1E2761"/>
                </a:solidFill>
                <a:latin typeface="Cambria"/>
              </a:defRPr>
            </a:lvl1pPr>
          </a:lstStyle>
          <a:p>
            <a:pPr/>
            <a:r>
              <a:t>The bet: stating the intent costs less than discovering it was wrong once the code exists.</a:t>
            </a:r>
          </a:p>
        </p:txBody>
      </p:sp>
    </p:spTree>
  </p:cSld>
  <p:clrMapOvr>
    <a:masterClrMapping/>
  </p:clrMapOvr>
  <p:transition xmlns:p14="http://schemas.microsoft.com/office/powerpoint/2010/main" spd="med" advClick="1"/>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8" name="Text 0"/>
          <p:cNvSpPr txBox="1"/>
          <p:nvPr/>
        </p:nvSpPr>
        <p:spPr>
          <a:xfrm>
            <a:off x="685800" y="545400"/>
            <a:ext cx="7223761" cy="28080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200" sz="1100">
                <a:solidFill>
                  <a:srgbClr val="FF6B4A"/>
                </a:solidFill>
                <a:latin typeface="Calibri"/>
              </a:defRPr>
            </a:lvl1pPr>
          </a:lstStyle>
          <a:p>
            <a:pPr/>
            <a:r>
              <a:t>If we wanted to try</a:t>
            </a:r>
          </a:p>
        </p:txBody>
      </p:sp>
      <p:sp>
        <p:nvSpPr>
          <p:cNvPr id="119" name="Text 1"/>
          <p:cNvSpPr txBox="1"/>
          <p:nvPr/>
        </p:nvSpPr>
        <p:spPr>
          <a:xfrm>
            <a:off x="685800" y="989463"/>
            <a:ext cx="10789920" cy="48995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3000">
                <a:solidFill>
                  <a:srgbClr val="1E2761"/>
                </a:solidFill>
                <a:latin typeface="Cambria"/>
              </a:defRPr>
            </a:lvl1pPr>
          </a:lstStyle>
          <a:p>
            <a:pPr/>
            <a:r>
              <a:t>One team, one application, one month</a:t>
            </a:r>
          </a:p>
        </p:txBody>
      </p:sp>
      <p:sp>
        <p:nvSpPr>
          <p:cNvPr id="132" name="Text 14"/>
          <p:cNvSpPr txBox="1"/>
          <p:nvPr/>
        </p:nvSpPr>
        <p:spPr>
          <a:xfrm>
            <a:off x="502919" y="6572163"/>
            <a:ext cx="722376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900">
                <a:solidFill>
                  <a:srgbClr val="5C6484"/>
                </a:solidFill>
                <a:latin typeface="Calibri"/>
              </a:defRPr>
            </a:lvl1pPr>
          </a:lstStyle>
          <a:p>
            <a:pPr/>
            <a:r>
              <a:t>OpenSpec — Spec-Driven Development</a:t>
            </a:r>
          </a:p>
        </p:txBody>
      </p:sp>
      <p:sp>
        <p:nvSpPr>
          <p:cNvPr id="133" name="Text 15"/>
          <p:cNvSpPr txBox="1"/>
          <p:nvPr/>
        </p:nvSpPr>
        <p:spPr>
          <a:xfrm>
            <a:off x="11475719" y="6572163"/>
            <a:ext cx="27432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900">
                <a:solidFill>
                  <a:srgbClr val="5C6484"/>
                </a:solidFill>
                <a:latin typeface="Calibri"/>
              </a:defRPr>
            </a:lvl1pPr>
          </a:lstStyle>
          <a:p>
            <a:pPr/>
            <a:r>
              <a:t>17</a:t>
            </a:r>
          </a:p>
        </p:txBody>
      </p:sp>
      <p:sp>
        <p:nvSpPr>
          <p:cNvPr id="321" name="Lead"/>
          <p:cNvSpPr txBox="1"/>
          <p:nvPr/>
        </p:nvSpPr>
        <p:spPr>
          <a:xfrm>
            <a:off x="685800" y="1691640"/>
            <a:ext cx="10607042" cy="320040"/>
          </a:xfrm>
          <a:prstGeom prst="rect">
            <a:avLst/>
          </a:prstGeom>
          <a:ln w="12700">
            <a:noFill/>
            <a:miter lim="400000"/>
          </a:ln>
        </p:spPr>
        <p:txBody>
          <a:bodyPr lIns="45719" rIns="45719" tIns="0" bIns="0" anchor="t"/>
          <a:lstStyle>
            <a:lvl1pPr algn="l">
              <a:defRPr sz="1500">
                <a:solidFill>
                  <a:srgbClr val="2C3352"/>
                </a:solidFill>
                <a:latin typeface="Calibri"/>
              </a:defRPr>
            </a:lvl1pPr>
          </a:lstStyle>
          <a:p>
            <a:pPr/>
            <a:r>
              <a:t>Nothing to procure, nothing to migrate. The cost of finding out is one team’s discipline for a month.</a:t>
            </a:r>
          </a:p>
        </p:txBody>
      </p:sp>
      <p:sp>
        <p:nvSpPr>
          <p:cNvPr id="322" name="C0"/>
          <p:cNvSpPr/>
          <p:nvPr/>
        </p:nvSpPr>
        <p:spPr>
          <a:xfrm>
            <a:off x="640080" y="2651760"/>
            <a:ext cx="2468880" cy="2560320"/>
          </a:xfrm>
          <a:prstGeom prst="roundRect">
            <a:avLst>
              <a:gd name="adj" fmla="val 4000"/>
            </a:avLst>
          </a:prstGeom>
          <a:solidFill>
            <a:srgbClr val="EEF2FC"/>
          </a:solidFill>
          <a:ln w="12700">
            <a:solidFill>
              <a:srgbClr val="CADCFC"/>
            </a:solidFill>
            <a:miter lim="400000"/>
          </a:ln>
        </p:spPr>
        <p:txBody>
          <a:bodyPr lIns="45719" rIns="45719"/>
          <a:lstStyle/>
          <a:p>
            <a:pPr/>
          </a:p>
        </p:txBody>
      </p:sp>
      <p:sp>
        <p:nvSpPr>
          <p:cNvPr id="323" name="D0"/>
          <p:cNvSpPr/>
          <p:nvPr/>
        </p:nvSpPr>
        <p:spPr>
          <a:xfrm>
            <a:off x="960120" y="2971800"/>
            <a:ext cx="457200" cy="457200"/>
          </a:xfrm>
          <a:prstGeom prst="ellipse">
            <a:avLst/>
          </a:prstGeom>
          <a:solidFill>
            <a:srgbClr val="FF6B4A"/>
          </a:solidFill>
          <a:ln w="12700">
            <a:noFill/>
            <a:miter lim="400000"/>
          </a:ln>
        </p:spPr>
        <p:txBody>
          <a:bodyPr lIns="45719" rIns="45719"/>
          <a:lstStyle/>
          <a:p>
            <a:pPr/>
          </a:p>
        </p:txBody>
      </p:sp>
      <p:sp>
        <p:nvSpPr>
          <p:cNvPr id="324" name="N0"/>
          <p:cNvSpPr txBox="1"/>
          <p:nvPr/>
        </p:nvSpPr>
        <p:spPr>
          <a:xfrm>
            <a:off x="960120" y="2971800"/>
            <a:ext cx="457200" cy="457200"/>
          </a:xfrm>
          <a:prstGeom prst="rect">
            <a:avLst/>
          </a:prstGeom>
          <a:ln w="12700">
            <a:noFill/>
            <a:miter lim="400000"/>
          </a:ln>
        </p:spPr>
        <p:txBody>
          <a:bodyPr lIns="45719" rIns="45719" tIns="0" bIns="0" anchor="ctr"/>
          <a:lstStyle>
            <a:lvl1pPr algn="ctr">
              <a:defRPr b="1" sz="1600">
                <a:solidFill>
                  <a:srgbClr val="1E2761"/>
                </a:solidFill>
                <a:latin typeface="Cambria"/>
              </a:defRPr>
            </a:lvl1pPr>
          </a:lstStyle>
          <a:p>
            <a:pPr/>
            <a:r>
              <a:t>1</a:t>
            </a:r>
          </a:p>
        </p:txBody>
      </p:sp>
      <p:sp>
        <p:nvSpPr>
          <p:cNvPr id="325" name="H0"/>
          <p:cNvSpPr txBox="1"/>
          <p:nvPr/>
        </p:nvSpPr>
        <p:spPr>
          <a:xfrm>
            <a:off x="960120" y="3611880"/>
            <a:ext cx="1828800" cy="320040"/>
          </a:xfrm>
          <a:prstGeom prst="rect">
            <a:avLst/>
          </a:prstGeom>
          <a:ln w="12700">
            <a:noFill/>
            <a:miter lim="400000"/>
          </a:ln>
        </p:spPr>
        <p:txBody>
          <a:bodyPr lIns="45719" rIns="45719" tIns="0" bIns="0" anchor="t"/>
          <a:lstStyle>
            <a:lvl1pPr algn="l">
              <a:defRPr b="1" sz="1600">
                <a:solidFill>
                  <a:srgbClr val="1E2761"/>
                </a:solidFill>
                <a:latin typeface="Cambria"/>
              </a:defRPr>
            </a:lvl1pPr>
          </a:lstStyle>
          <a:p>
            <a:pPr/>
            <a:r>
              <a:t>Scope</a:t>
            </a:r>
          </a:p>
        </p:txBody>
      </p:sp>
      <p:sp>
        <p:nvSpPr>
          <p:cNvPr id="326" name="B0"/>
          <p:cNvSpPr txBox="1"/>
          <p:nvPr/>
        </p:nvSpPr>
        <p:spPr>
          <a:xfrm>
            <a:off x="960120" y="4069080"/>
            <a:ext cx="1828800" cy="1005840"/>
          </a:xfrm>
          <a:prstGeom prst="rect">
            <a:avLst/>
          </a:prstGeom>
          <a:ln w="12700">
            <a:noFill/>
            <a:miter lim="400000"/>
          </a:ln>
        </p:spPr>
        <p:txBody>
          <a:bodyPr lIns="45719" rIns="45719" tIns="0" bIns="0" anchor="t"/>
          <a:lstStyle>
            <a:lvl1pPr algn="l">
              <a:defRPr sz="1250">
                <a:solidFill>
                  <a:srgbClr val="2C3352"/>
                </a:solidFill>
                <a:latin typeface="Calibri"/>
              </a:defRPr>
            </a:lvl1pPr>
          </a:lstStyle>
          <a:p>
            <a:pPr/>
            <a:r>
              <a:t>One existing application, one team already using a coding agent.</a:t>
            </a:r>
          </a:p>
        </p:txBody>
      </p:sp>
      <p:sp>
        <p:nvSpPr>
          <p:cNvPr id="327" name="C1"/>
          <p:cNvSpPr/>
          <p:nvPr/>
        </p:nvSpPr>
        <p:spPr>
          <a:xfrm>
            <a:off x="3429000" y="2651760"/>
            <a:ext cx="2468880" cy="2560320"/>
          </a:xfrm>
          <a:prstGeom prst="roundRect">
            <a:avLst>
              <a:gd name="adj" fmla="val 4000"/>
            </a:avLst>
          </a:prstGeom>
          <a:solidFill>
            <a:srgbClr val="EEF2FC"/>
          </a:solidFill>
          <a:ln w="12700">
            <a:solidFill>
              <a:srgbClr val="CADCFC"/>
            </a:solidFill>
            <a:miter lim="400000"/>
          </a:ln>
        </p:spPr>
        <p:txBody>
          <a:bodyPr lIns="45719" rIns="45719"/>
          <a:lstStyle/>
          <a:p>
            <a:pPr/>
          </a:p>
        </p:txBody>
      </p:sp>
      <p:sp>
        <p:nvSpPr>
          <p:cNvPr id="328" name="D1"/>
          <p:cNvSpPr/>
          <p:nvPr/>
        </p:nvSpPr>
        <p:spPr>
          <a:xfrm>
            <a:off x="3749040" y="2971800"/>
            <a:ext cx="457200" cy="457200"/>
          </a:xfrm>
          <a:prstGeom prst="ellipse">
            <a:avLst/>
          </a:prstGeom>
          <a:solidFill>
            <a:srgbClr val="FF6B4A"/>
          </a:solidFill>
          <a:ln w="12700">
            <a:noFill/>
            <a:miter lim="400000"/>
          </a:ln>
        </p:spPr>
        <p:txBody>
          <a:bodyPr lIns="45719" rIns="45719"/>
          <a:lstStyle/>
          <a:p>
            <a:pPr/>
          </a:p>
        </p:txBody>
      </p:sp>
      <p:sp>
        <p:nvSpPr>
          <p:cNvPr id="329" name="N1"/>
          <p:cNvSpPr txBox="1"/>
          <p:nvPr/>
        </p:nvSpPr>
        <p:spPr>
          <a:xfrm>
            <a:off x="3749040" y="2971800"/>
            <a:ext cx="457200" cy="457200"/>
          </a:xfrm>
          <a:prstGeom prst="rect">
            <a:avLst/>
          </a:prstGeom>
          <a:ln w="12700">
            <a:noFill/>
            <a:miter lim="400000"/>
          </a:ln>
        </p:spPr>
        <p:txBody>
          <a:bodyPr lIns="45719" rIns="45719" tIns="0" bIns="0" anchor="ctr"/>
          <a:lstStyle>
            <a:lvl1pPr algn="ctr">
              <a:defRPr b="1" sz="1600">
                <a:solidFill>
                  <a:srgbClr val="1E2761"/>
                </a:solidFill>
                <a:latin typeface="Cambria"/>
              </a:defRPr>
            </a:lvl1pPr>
          </a:lstStyle>
          <a:p>
            <a:pPr/>
            <a:r>
              <a:t>2</a:t>
            </a:r>
          </a:p>
        </p:txBody>
      </p:sp>
      <p:sp>
        <p:nvSpPr>
          <p:cNvPr id="330" name="H1"/>
          <p:cNvSpPr txBox="1"/>
          <p:nvPr/>
        </p:nvSpPr>
        <p:spPr>
          <a:xfrm>
            <a:off x="3749040" y="3611880"/>
            <a:ext cx="1828800" cy="320040"/>
          </a:xfrm>
          <a:prstGeom prst="rect">
            <a:avLst/>
          </a:prstGeom>
          <a:ln w="12700">
            <a:noFill/>
            <a:miter lim="400000"/>
          </a:ln>
        </p:spPr>
        <p:txBody>
          <a:bodyPr lIns="45719" rIns="45719" tIns="0" bIns="0" anchor="t"/>
          <a:lstStyle>
            <a:lvl1pPr algn="l">
              <a:defRPr b="1" sz="1600">
                <a:solidFill>
                  <a:srgbClr val="1E2761"/>
                </a:solidFill>
                <a:latin typeface="Cambria"/>
              </a:defRPr>
            </a:lvl1pPr>
          </a:lstStyle>
          <a:p>
            <a:pPr/>
            <a:r>
              <a:t>Duration</a:t>
            </a:r>
          </a:p>
        </p:txBody>
      </p:sp>
      <p:sp>
        <p:nvSpPr>
          <p:cNvPr id="331" name="B1"/>
          <p:cNvSpPr txBox="1"/>
          <p:nvPr/>
        </p:nvSpPr>
        <p:spPr>
          <a:xfrm>
            <a:off x="3749040" y="4069080"/>
            <a:ext cx="1828800" cy="1005840"/>
          </a:xfrm>
          <a:prstGeom prst="rect">
            <a:avLst/>
          </a:prstGeom>
          <a:ln w="12700">
            <a:noFill/>
            <a:miter lim="400000"/>
          </a:ln>
        </p:spPr>
        <p:txBody>
          <a:bodyPr lIns="45719" rIns="45719" tIns="0" bIns="0" anchor="t"/>
          <a:lstStyle>
            <a:lvl1pPr algn="l">
              <a:defRPr sz="1250">
                <a:solidFill>
                  <a:srgbClr val="2C3352"/>
                </a:solidFill>
                <a:latin typeface="Calibri"/>
              </a:defRPr>
            </a:lvl1pPr>
          </a:lstStyle>
          <a:p>
            <a:pPr/>
            <a:r>
              <a:t>One month. No tooling change beyond installing the CLI.</a:t>
            </a:r>
          </a:p>
        </p:txBody>
      </p:sp>
      <p:sp>
        <p:nvSpPr>
          <p:cNvPr id="332" name="C2"/>
          <p:cNvSpPr/>
          <p:nvPr/>
        </p:nvSpPr>
        <p:spPr>
          <a:xfrm>
            <a:off x="6217920" y="2651760"/>
            <a:ext cx="2468880" cy="2560320"/>
          </a:xfrm>
          <a:prstGeom prst="roundRect">
            <a:avLst>
              <a:gd name="adj" fmla="val 4000"/>
            </a:avLst>
          </a:prstGeom>
          <a:solidFill>
            <a:srgbClr val="EEF2FC"/>
          </a:solidFill>
          <a:ln w="12700">
            <a:solidFill>
              <a:srgbClr val="CADCFC"/>
            </a:solidFill>
            <a:miter lim="400000"/>
          </a:ln>
        </p:spPr>
        <p:txBody>
          <a:bodyPr lIns="45719" rIns="45719"/>
          <a:lstStyle/>
          <a:p>
            <a:pPr/>
          </a:p>
        </p:txBody>
      </p:sp>
      <p:sp>
        <p:nvSpPr>
          <p:cNvPr id="333" name="D2"/>
          <p:cNvSpPr/>
          <p:nvPr/>
        </p:nvSpPr>
        <p:spPr>
          <a:xfrm>
            <a:off x="6537960" y="2971800"/>
            <a:ext cx="457200" cy="457200"/>
          </a:xfrm>
          <a:prstGeom prst="ellipse">
            <a:avLst/>
          </a:prstGeom>
          <a:solidFill>
            <a:srgbClr val="FF6B4A"/>
          </a:solidFill>
          <a:ln w="12700">
            <a:noFill/>
            <a:miter lim="400000"/>
          </a:ln>
        </p:spPr>
        <p:txBody>
          <a:bodyPr lIns="45719" rIns="45719"/>
          <a:lstStyle/>
          <a:p>
            <a:pPr/>
          </a:p>
        </p:txBody>
      </p:sp>
      <p:sp>
        <p:nvSpPr>
          <p:cNvPr id="334" name="N2"/>
          <p:cNvSpPr txBox="1"/>
          <p:nvPr/>
        </p:nvSpPr>
        <p:spPr>
          <a:xfrm>
            <a:off x="6537960" y="2971800"/>
            <a:ext cx="457200" cy="457200"/>
          </a:xfrm>
          <a:prstGeom prst="rect">
            <a:avLst/>
          </a:prstGeom>
          <a:ln w="12700">
            <a:noFill/>
            <a:miter lim="400000"/>
          </a:ln>
        </p:spPr>
        <p:txBody>
          <a:bodyPr lIns="45719" rIns="45719" tIns="0" bIns="0" anchor="ctr"/>
          <a:lstStyle>
            <a:lvl1pPr algn="ctr">
              <a:defRPr b="1" sz="1600">
                <a:solidFill>
                  <a:srgbClr val="1E2761"/>
                </a:solidFill>
                <a:latin typeface="Cambria"/>
              </a:defRPr>
            </a:lvl1pPr>
          </a:lstStyle>
          <a:p>
            <a:pPr/>
            <a:r>
              <a:t>3</a:t>
            </a:r>
          </a:p>
        </p:txBody>
      </p:sp>
      <p:sp>
        <p:nvSpPr>
          <p:cNvPr id="335" name="H2"/>
          <p:cNvSpPr txBox="1"/>
          <p:nvPr/>
        </p:nvSpPr>
        <p:spPr>
          <a:xfrm>
            <a:off x="6537960" y="3611880"/>
            <a:ext cx="1828800" cy="320040"/>
          </a:xfrm>
          <a:prstGeom prst="rect">
            <a:avLst/>
          </a:prstGeom>
          <a:ln w="12700">
            <a:noFill/>
            <a:miter lim="400000"/>
          </a:ln>
        </p:spPr>
        <p:txBody>
          <a:bodyPr lIns="45719" rIns="45719" tIns="0" bIns="0" anchor="t"/>
          <a:lstStyle>
            <a:lvl1pPr algn="l">
              <a:defRPr b="1" sz="1600">
                <a:solidFill>
                  <a:srgbClr val="1E2761"/>
                </a:solidFill>
                <a:latin typeface="Cambria"/>
              </a:defRPr>
            </a:lvl1pPr>
          </a:lstStyle>
          <a:p>
            <a:pPr/>
            <a:r>
              <a:t>The rule</a:t>
            </a:r>
          </a:p>
        </p:txBody>
      </p:sp>
      <p:sp>
        <p:nvSpPr>
          <p:cNvPr id="336" name="B2"/>
          <p:cNvSpPr txBox="1"/>
          <p:nvPr/>
        </p:nvSpPr>
        <p:spPr>
          <a:xfrm>
            <a:off x="6537960" y="4069080"/>
            <a:ext cx="1828800" cy="1005840"/>
          </a:xfrm>
          <a:prstGeom prst="rect">
            <a:avLst/>
          </a:prstGeom>
          <a:ln w="12700">
            <a:noFill/>
            <a:miter lim="400000"/>
          </a:ln>
        </p:spPr>
        <p:txBody>
          <a:bodyPr lIns="45719" rIns="45719" tIns="0" bIns="0" anchor="t"/>
          <a:lstStyle>
            <a:lvl1pPr algn="l">
              <a:defRPr sz="1250">
                <a:solidFill>
                  <a:srgbClr val="2C3352"/>
                </a:solidFill>
                <a:latin typeface="Calibri"/>
              </a:defRPr>
            </a:lvl1pPr>
          </a:lstStyle>
          <a:p>
            <a:pPr/>
            <a:r>
              <a:t>Every change in that period goes through a spec — no exception, so we learn the real cost.</a:t>
            </a:r>
          </a:p>
        </p:txBody>
      </p:sp>
      <p:sp>
        <p:nvSpPr>
          <p:cNvPr id="337" name="C3"/>
          <p:cNvSpPr/>
          <p:nvPr/>
        </p:nvSpPr>
        <p:spPr>
          <a:xfrm>
            <a:off x="9006840" y="2651760"/>
            <a:ext cx="2468880" cy="2560320"/>
          </a:xfrm>
          <a:prstGeom prst="roundRect">
            <a:avLst>
              <a:gd name="adj" fmla="val 4000"/>
            </a:avLst>
          </a:prstGeom>
          <a:solidFill>
            <a:srgbClr val="EEF2FC"/>
          </a:solidFill>
          <a:ln w="12700">
            <a:solidFill>
              <a:srgbClr val="CADCFC"/>
            </a:solidFill>
            <a:miter lim="400000"/>
          </a:ln>
        </p:spPr>
        <p:txBody>
          <a:bodyPr lIns="45719" rIns="45719"/>
          <a:lstStyle/>
          <a:p>
            <a:pPr/>
          </a:p>
        </p:txBody>
      </p:sp>
      <p:sp>
        <p:nvSpPr>
          <p:cNvPr id="338" name="D3"/>
          <p:cNvSpPr/>
          <p:nvPr/>
        </p:nvSpPr>
        <p:spPr>
          <a:xfrm>
            <a:off x="9326880" y="2971800"/>
            <a:ext cx="457200" cy="457200"/>
          </a:xfrm>
          <a:prstGeom prst="ellipse">
            <a:avLst/>
          </a:prstGeom>
          <a:solidFill>
            <a:srgbClr val="FF6B4A"/>
          </a:solidFill>
          <a:ln w="12700">
            <a:noFill/>
            <a:miter lim="400000"/>
          </a:ln>
        </p:spPr>
        <p:txBody>
          <a:bodyPr lIns="45719" rIns="45719"/>
          <a:lstStyle/>
          <a:p>
            <a:pPr/>
          </a:p>
        </p:txBody>
      </p:sp>
      <p:sp>
        <p:nvSpPr>
          <p:cNvPr id="339" name="N3"/>
          <p:cNvSpPr txBox="1"/>
          <p:nvPr/>
        </p:nvSpPr>
        <p:spPr>
          <a:xfrm>
            <a:off x="9326880" y="2971800"/>
            <a:ext cx="457200" cy="457200"/>
          </a:xfrm>
          <a:prstGeom prst="rect">
            <a:avLst/>
          </a:prstGeom>
          <a:ln w="12700">
            <a:noFill/>
            <a:miter lim="400000"/>
          </a:ln>
        </p:spPr>
        <p:txBody>
          <a:bodyPr lIns="45719" rIns="45719" tIns="0" bIns="0" anchor="ctr"/>
          <a:lstStyle>
            <a:lvl1pPr algn="ctr">
              <a:defRPr b="1" sz="1600">
                <a:solidFill>
                  <a:srgbClr val="1E2761"/>
                </a:solidFill>
                <a:latin typeface="Cambria"/>
              </a:defRPr>
            </a:lvl1pPr>
          </a:lstStyle>
          <a:p>
            <a:pPr/>
            <a:r>
              <a:t>4</a:t>
            </a:r>
          </a:p>
        </p:txBody>
      </p:sp>
      <p:sp>
        <p:nvSpPr>
          <p:cNvPr id="340" name="H3"/>
          <p:cNvSpPr txBox="1"/>
          <p:nvPr/>
        </p:nvSpPr>
        <p:spPr>
          <a:xfrm>
            <a:off x="9326880" y="3611880"/>
            <a:ext cx="1828800" cy="320040"/>
          </a:xfrm>
          <a:prstGeom prst="rect">
            <a:avLst/>
          </a:prstGeom>
          <a:ln w="12700">
            <a:noFill/>
            <a:miter lim="400000"/>
          </a:ln>
        </p:spPr>
        <p:txBody>
          <a:bodyPr lIns="45719" rIns="45719" tIns="0" bIns="0" anchor="t"/>
          <a:lstStyle>
            <a:lvl1pPr algn="l">
              <a:defRPr b="1" sz="1600">
                <a:solidFill>
                  <a:srgbClr val="1E2761"/>
                </a:solidFill>
                <a:latin typeface="Cambria"/>
              </a:defRPr>
            </a:lvl1pPr>
          </a:lstStyle>
          <a:p>
            <a:pPr/>
            <a:r>
              <a:t>The verdict</a:t>
            </a:r>
          </a:p>
        </p:txBody>
      </p:sp>
      <p:sp>
        <p:nvSpPr>
          <p:cNvPr id="341" name="B3"/>
          <p:cNvSpPr txBox="1"/>
          <p:nvPr/>
        </p:nvSpPr>
        <p:spPr>
          <a:xfrm>
            <a:off x="9326880" y="4069080"/>
            <a:ext cx="1828800" cy="1005840"/>
          </a:xfrm>
          <a:prstGeom prst="rect">
            <a:avLst/>
          </a:prstGeom>
          <a:ln w="12700">
            <a:noFill/>
            <a:miter lim="400000"/>
          </a:ln>
        </p:spPr>
        <p:txBody>
          <a:bodyPr lIns="45719" rIns="45719" tIns="0" bIns="0" anchor="t"/>
          <a:lstStyle>
            <a:lvl1pPr algn="l">
              <a:defRPr sz="1250">
                <a:solidFill>
                  <a:srgbClr val="2C3352"/>
                </a:solidFill>
                <a:latin typeface="Calibri"/>
              </a:defRPr>
            </a:lvl1pPr>
          </a:lstStyle>
          <a:p>
            <a:pPr/>
            <a:r>
              <a:t>Criteria agreed before we start. The simplest one: does the team keep doing it once the month ends?</a:t>
            </a:r>
          </a:p>
        </p:txBody>
      </p:sp>
    </p:spTree>
  </p:cSld>
  <p:clrMapOvr>
    <a:masterClrMapping/>
  </p:clrMapOvr>
  <p:transition xmlns:p14="http://schemas.microsoft.com/office/powerpoint/2010/main" spd="med" advClick="1"/>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8" name="Text 0"/>
          <p:cNvSpPr txBox="1"/>
          <p:nvPr/>
        </p:nvSpPr>
        <p:spPr>
          <a:xfrm>
            <a:off x="685800" y="545400"/>
            <a:ext cx="7223761" cy="28080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200" sz="1100">
                <a:solidFill>
                  <a:srgbClr val="FF6B4A"/>
                </a:solidFill>
                <a:latin typeface="Calibri"/>
              </a:defRPr>
            </a:lvl1pPr>
          </a:lstStyle>
          <a:p>
            <a:pPr/>
            <a:r>
              <a:t>The artefacts</a:t>
            </a:r>
          </a:p>
        </p:txBody>
      </p:sp>
      <p:sp>
        <p:nvSpPr>
          <p:cNvPr id="119" name="Text 1"/>
          <p:cNvSpPr txBox="1"/>
          <p:nvPr/>
        </p:nvSpPr>
        <p:spPr>
          <a:xfrm>
            <a:off x="685800" y="989463"/>
            <a:ext cx="10789920" cy="48995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3000">
                <a:solidFill>
                  <a:srgbClr val="1E2761"/>
                </a:solidFill>
                <a:latin typeface="Cambria"/>
              </a:defRPr>
            </a:lvl1pPr>
          </a:lstStyle>
          <a:p>
            <a:pPr/>
            <a:r>
              <a:t>What one change produces</a:t>
            </a:r>
          </a:p>
        </p:txBody>
      </p:sp>
      <p:sp>
        <p:nvSpPr>
          <p:cNvPr id="132" name="Text 14"/>
          <p:cNvSpPr txBox="1"/>
          <p:nvPr/>
        </p:nvSpPr>
        <p:spPr>
          <a:xfrm>
            <a:off x="502919" y="6572163"/>
            <a:ext cx="722376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900">
                <a:solidFill>
                  <a:srgbClr val="5C6484"/>
                </a:solidFill>
                <a:latin typeface="Calibri"/>
              </a:defRPr>
            </a:lvl1pPr>
          </a:lstStyle>
          <a:p>
            <a:pPr/>
            <a:r>
              <a:t>OpenSpec — Spec-Driven Development</a:t>
            </a:r>
          </a:p>
        </p:txBody>
      </p:sp>
      <p:sp>
        <p:nvSpPr>
          <p:cNvPr id="133" name="Text 15"/>
          <p:cNvSpPr txBox="1"/>
          <p:nvPr/>
        </p:nvSpPr>
        <p:spPr>
          <a:xfrm>
            <a:off x="11475719" y="6572163"/>
            <a:ext cx="27432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900">
                <a:solidFill>
                  <a:srgbClr val="5C6484"/>
                </a:solidFill>
                <a:latin typeface="Calibri"/>
              </a:defRPr>
            </a:lvl1pPr>
          </a:lstStyle>
          <a:p>
            <a:pPr/>
            <a:r>
              <a:t>6</a:t>
            </a:r>
          </a:p>
        </p:txBody>
      </p:sp>
      <p:sp>
        <p:nvSpPr>
          <p:cNvPr id="342" name="Lead"/>
          <p:cNvSpPr txBox="1"/>
          <p:nvPr/>
        </p:nvSpPr>
        <p:spPr>
          <a:xfrm>
            <a:off x="685800" y="1691640"/>
            <a:ext cx="10607042" cy="320040"/>
          </a:xfrm>
          <a:prstGeom prst="rect">
            <a:avLst/>
          </a:prstGeom>
          <a:ln w="12700">
            <a:noFill/>
            <a:miter lim="400000"/>
          </a:ln>
        </p:spPr>
        <p:txBody>
          <a:bodyPr lIns="45719" rIns="45719" tIns="0" bIns="0" anchor="t"/>
          <a:lstStyle>
            <a:lvl1pPr algn="l">
              <a:defRPr sz="1500">
                <a:solidFill>
                  <a:srgbClr val="2C3352"/>
                </a:solidFill>
                <a:latin typeface="Calibri"/>
              </a:defRPr>
            </a:lvl1pPr>
          </a:lstStyle>
          <a:p>
            <a:pPr/>
            <a:r>
              <a:t>One folder per change, in plain markdown, in your repository.</a:t>
            </a:r>
          </a:p>
        </p:txBody>
      </p:sp>
      <p:sp>
        <p:nvSpPr>
          <p:cNvPr id="916" name="cB"/>
          <p:cNvSpPr/>
          <p:nvPr/>
        </p:nvSpPr>
        <p:spPr>
          <a:xfrm>
            <a:off x="640080" y="2377440"/>
            <a:ext cx="10911840" cy="2926080"/>
          </a:xfrm>
          <a:prstGeom prst="roundRect">
            <a:avLst>
              <a:gd name="adj" fmla="val 3000"/>
            </a:avLst>
          </a:prstGeom>
          <a:solidFill>
            <a:srgbClr val="EEF2FC"/>
          </a:solidFill>
          <a:ln w="12700">
            <a:solidFill>
              <a:srgbClr val="CADCFC"/>
            </a:solidFill>
            <a:miter lim="400000"/>
          </a:ln>
        </p:spPr>
        <p:txBody>
          <a:bodyPr lIns="45719" rIns="45719"/>
          <a:lstStyle/>
          <a:p>
            <a:pPr/>
          </a:p>
        </p:txBody>
      </p:sp>
      <p:sp>
        <p:nvSpPr>
          <p:cNvPr id="917" name="hB"/>
          <p:cNvSpPr txBox="1"/>
          <p:nvPr/>
        </p:nvSpPr>
        <p:spPr>
          <a:xfrm>
            <a:off x="960120" y="2651760"/>
            <a:ext cx="6400800" cy="274320"/>
          </a:xfrm>
          <a:prstGeom prst="rect">
            <a:avLst/>
          </a:prstGeom>
          <a:ln w="12700">
            <a:noFill/>
            <a:miter lim="400000"/>
          </a:ln>
        </p:spPr>
        <p:txBody>
          <a:bodyPr lIns="45719" rIns="45719" tIns="0" bIns="0" anchor="t"/>
          <a:lstStyle>
            <a:lvl1pPr algn="l">
              <a:defRPr b="1" sz="1150">
                <a:solidFill>
                  <a:srgbClr val="1E2761"/>
                </a:solidFill>
                <a:latin typeface="Courier New"/>
              </a:defRPr>
            </a:lvl1pPr>
          </a:lstStyle>
          <a:p>
            <a:pPr/>
            <a:r>
              <a:t>openspec/changes/add-password-reset/</a:t>
            </a:r>
          </a:p>
        </p:txBody>
      </p:sp>
      <p:sp>
        <p:nvSpPr>
          <p:cNvPr id="918" name="nB0"/>
          <p:cNvSpPr txBox="1"/>
          <p:nvPr/>
        </p:nvSpPr>
        <p:spPr>
          <a:xfrm>
            <a:off x="960120" y="3063240"/>
            <a:ext cx="320040" cy="274320"/>
          </a:xfrm>
          <a:prstGeom prst="rect">
            <a:avLst/>
          </a:prstGeom>
          <a:ln w="12700">
            <a:noFill/>
            <a:miter lim="400000"/>
          </a:ln>
        </p:spPr>
        <p:txBody>
          <a:bodyPr lIns="45719" rIns="45719" tIns="0" bIns="0" anchor="t"/>
          <a:lstStyle>
            <a:lvl1pPr algn="l">
              <a:defRPr b="1" sz="1150">
                <a:solidFill>
                  <a:srgbClr val="FF6B4A"/>
                </a:solidFill>
                <a:latin typeface="Cambria"/>
              </a:defRPr>
            </a:lvl1pPr>
          </a:lstStyle>
          <a:p>
            <a:pPr/>
            <a:r>
              <a:t>1</a:t>
            </a:r>
          </a:p>
        </p:txBody>
      </p:sp>
      <p:sp>
        <p:nvSpPr>
          <p:cNvPr id="919" name="fB0">
            <a:hlinkClick xmlns:r="http://schemas.openxmlformats.org/officeDocument/2006/relationships" r:id="rIdArt0" action="ppaction://hlinksldjump"/>
          </p:cNvPr>
          <p:cNvSpPr txBox="1"/>
          <p:nvPr/>
        </p:nvSpPr>
        <p:spPr>
          <a:xfrm>
            <a:off x="1280160" y="3063240"/>
            <a:ext cx="2560320" cy="274320"/>
          </a:xfrm>
          <a:prstGeom prst="rect">
            <a:avLst/>
          </a:prstGeom>
          <a:ln w="12700">
            <a:noFill/>
            <a:miter lim="400000"/>
          </a:ln>
        </p:spPr>
        <p:txBody>
          <a:bodyPr lIns="45719" rIns="45719" tIns="0" bIns="0" anchor="t"/>
          <a:lstStyle>
            <a:lvl1pPr algn="l">
              <a:defRPr b="1" sz="1150">
                <a:solidFill>
                  <a:srgbClr val="1E2761"/>
                </a:solidFill>
                <a:latin typeface="Courier New"/>
              </a:defRPr>
            </a:lvl1pPr>
          </a:lstStyle>
          <a:p>
            <a:pPr/>
            <a:r>
              <a:t>├─ proposal.md</a:t>
            </a:r>
          </a:p>
        </p:txBody>
      </p:sp>
      <p:sp>
        <p:nvSpPr>
          <p:cNvPr id="920" name="lB0"/>
          <p:cNvSpPr txBox="1"/>
          <p:nvPr/>
        </p:nvSpPr>
        <p:spPr>
          <a:xfrm>
            <a:off x="4023360" y="3086100"/>
            <a:ext cx="1737360" cy="251460"/>
          </a:xfrm>
          <a:prstGeom prst="rect">
            <a:avLst/>
          </a:prstGeom>
          <a:ln w="12700">
            <a:noFill/>
            <a:miter lim="400000"/>
          </a:ln>
        </p:spPr>
        <p:txBody>
          <a:bodyPr lIns="45719" rIns="45719" tIns="0" bIns="0" anchor="t"/>
          <a:lstStyle>
            <a:lvl1pPr algn="l">
              <a:defRPr spc="100" b="1" sz="850">
                <a:solidFill>
                  <a:srgbClr val="FF6B4A"/>
                </a:solidFill>
                <a:latin typeface="Calibri"/>
              </a:defRPr>
            </a:lvl1pPr>
          </a:lstStyle>
          <a:p>
            <a:pPr/>
            <a:r>
              <a:t>WHY</a:t>
            </a:r>
          </a:p>
        </p:txBody>
      </p:sp>
      <p:sp>
        <p:nvSpPr>
          <p:cNvPr id="921" name="eB0"/>
          <p:cNvSpPr txBox="1"/>
          <p:nvPr/>
        </p:nvSpPr>
        <p:spPr>
          <a:xfrm>
            <a:off x="5943600" y="3074670"/>
            <a:ext cx="5943600" cy="457200"/>
          </a:xfrm>
          <a:prstGeom prst="rect">
            <a:avLst/>
          </a:prstGeom>
          <a:ln w="12700">
            <a:noFill/>
            <a:miter lim="400000"/>
          </a:ln>
        </p:spPr>
        <p:txBody>
          <a:bodyPr lIns="45719" rIns="45719" tIns="0" bIns="0" anchor="t"/>
          <a:lstStyle>
            <a:lvl1pPr algn="l">
              <a:defRPr b="0" sz="1150">
                <a:solidFill>
                  <a:srgbClr val="2C3352"/>
                </a:solidFill>
                <a:latin typeface="Calibri"/>
              </a:defRPr>
            </a:lvl1pPr>
          </a:lstStyle>
          <a:p>
            <a:pPr/>
            <a:r>
              <a:t>The problem this change exists to solve, in language a non-author can follow.</a:t>
            </a:r>
          </a:p>
        </p:txBody>
      </p:sp>
      <p:sp>
        <p:nvSpPr>
          <p:cNvPr id="922" name="nB1"/>
          <p:cNvSpPr txBox="1"/>
          <p:nvPr/>
        </p:nvSpPr>
        <p:spPr>
          <a:xfrm>
            <a:off x="960120" y="3611880"/>
            <a:ext cx="320040" cy="274320"/>
          </a:xfrm>
          <a:prstGeom prst="rect">
            <a:avLst/>
          </a:prstGeom>
          <a:ln w="12700">
            <a:noFill/>
            <a:miter lim="400000"/>
          </a:ln>
        </p:spPr>
        <p:txBody>
          <a:bodyPr lIns="45719" rIns="45719" tIns="0" bIns="0" anchor="t"/>
          <a:lstStyle>
            <a:lvl1pPr algn="l">
              <a:defRPr b="1" sz="1150">
                <a:solidFill>
                  <a:srgbClr val="FF6B4A"/>
                </a:solidFill>
                <a:latin typeface="Cambria"/>
              </a:defRPr>
            </a:lvl1pPr>
          </a:lstStyle>
          <a:p>
            <a:pPr/>
            <a:r>
              <a:t>2</a:t>
            </a:r>
          </a:p>
        </p:txBody>
      </p:sp>
      <p:sp>
        <p:nvSpPr>
          <p:cNvPr id="923" name="fB1">
            <a:hlinkClick xmlns:r="http://schemas.openxmlformats.org/officeDocument/2006/relationships" r:id="rIdArt1" action="ppaction://hlinksldjump"/>
          </p:cNvPr>
          <p:cNvSpPr txBox="1"/>
          <p:nvPr/>
        </p:nvSpPr>
        <p:spPr>
          <a:xfrm>
            <a:off x="1280160" y="3611880"/>
            <a:ext cx="2560320" cy="274320"/>
          </a:xfrm>
          <a:prstGeom prst="rect">
            <a:avLst/>
          </a:prstGeom>
          <a:ln w="12700">
            <a:noFill/>
            <a:miter lim="400000"/>
          </a:ln>
        </p:spPr>
        <p:txBody>
          <a:bodyPr lIns="45719" rIns="45719" tIns="0" bIns="0" anchor="t"/>
          <a:lstStyle>
            <a:lvl1pPr algn="l">
              <a:defRPr b="1" sz="1150">
                <a:solidFill>
                  <a:srgbClr val="1E2761"/>
                </a:solidFill>
                <a:latin typeface="Courier New"/>
              </a:defRPr>
            </a:lvl1pPr>
          </a:lstStyle>
          <a:p>
            <a:pPr/>
            <a:r>
              <a:t>├─ specs/</a:t>
            </a:r>
          </a:p>
        </p:txBody>
      </p:sp>
      <p:sp>
        <p:nvSpPr>
          <p:cNvPr id="924" name="lB1"/>
          <p:cNvSpPr txBox="1"/>
          <p:nvPr/>
        </p:nvSpPr>
        <p:spPr>
          <a:xfrm>
            <a:off x="4023360" y="3634740"/>
            <a:ext cx="1737360" cy="251460"/>
          </a:xfrm>
          <a:prstGeom prst="rect">
            <a:avLst/>
          </a:prstGeom>
          <a:ln w="12700">
            <a:noFill/>
            <a:miter lim="400000"/>
          </a:ln>
        </p:spPr>
        <p:txBody>
          <a:bodyPr lIns="45719" rIns="45719" tIns="0" bIns="0" anchor="t"/>
          <a:lstStyle>
            <a:lvl1pPr algn="l">
              <a:defRPr spc="100" b="1" sz="850">
                <a:solidFill>
                  <a:srgbClr val="FF6B4A"/>
                </a:solidFill>
                <a:latin typeface="Calibri"/>
              </a:defRPr>
            </a:lvl1pPr>
          </a:lstStyle>
          <a:p>
            <a:pPr/>
            <a:r>
              <a:t>WHAT</a:t>
            </a:r>
          </a:p>
        </p:txBody>
      </p:sp>
      <p:sp>
        <p:nvSpPr>
          <p:cNvPr id="925" name="eB1"/>
          <p:cNvSpPr txBox="1"/>
          <p:nvPr/>
        </p:nvSpPr>
        <p:spPr>
          <a:xfrm>
            <a:off x="5943600" y="3623310"/>
            <a:ext cx="5943600" cy="457200"/>
          </a:xfrm>
          <a:prstGeom prst="rect">
            <a:avLst/>
          </a:prstGeom>
          <a:ln w="12700">
            <a:noFill/>
            <a:miter lim="400000"/>
          </a:ln>
        </p:spPr>
        <p:txBody>
          <a:bodyPr lIns="45719" rIns="45719" tIns="0" bIns="0" anchor="t"/>
          <a:lstStyle>
            <a:lvl1pPr algn="l">
              <a:defRPr b="0" sz="1150">
                <a:solidFill>
                  <a:srgbClr val="2C3352"/>
                </a:solidFill>
                <a:latin typeface="Calibri"/>
              </a:defRPr>
            </a:lvl1pPr>
          </a:lstStyle>
          <a:p>
            <a:pPr/>
            <a:r>
              <a:t>The requirements it adds, modifies or removes, with their scenarios.</a:t>
            </a:r>
          </a:p>
        </p:txBody>
      </p:sp>
      <p:sp>
        <p:nvSpPr>
          <p:cNvPr id="926" name="nB2"/>
          <p:cNvSpPr txBox="1"/>
          <p:nvPr/>
        </p:nvSpPr>
        <p:spPr>
          <a:xfrm>
            <a:off x="960120" y="4160520"/>
            <a:ext cx="320040" cy="274320"/>
          </a:xfrm>
          <a:prstGeom prst="rect">
            <a:avLst/>
          </a:prstGeom>
          <a:ln w="12700">
            <a:noFill/>
            <a:miter lim="400000"/>
          </a:ln>
        </p:spPr>
        <p:txBody>
          <a:bodyPr lIns="45719" rIns="45719" tIns="0" bIns="0" anchor="t"/>
          <a:lstStyle>
            <a:lvl1pPr algn="l">
              <a:defRPr b="1" sz="1150">
                <a:solidFill>
                  <a:srgbClr val="FF6B4A"/>
                </a:solidFill>
                <a:latin typeface="Cambria"/>
              </a:defRPr>
            </a:lvl1pPr>
          </a:lstStyle>
          <a:p>
            <a:pPr/>
            <a:r>
              <a:t>3</a:t>
            </a:r>
          </a:p>
        </p:txBody>
      </p:sp>
      <p:sp>
        <p:nvSpPr>
          <p:cNvPr id="927" name="fB2">
            <a:hlinkClick xmlns:r="http://schemas.openxmlformats.org/officeDocument/2006/relationships" r:id="rIdArt2" action="ppaction://hlinksldjump"/>
          </p:cNvPr>
          <p:cNvSpPr txBox="1"/>
          <p:nvPr/>
        </p:nvSpPr>
        <p:spPr>
          <a:xfrm>
            <a:off x="1280160" y="4160520"/>
            <a:ext cx="2560320" cy="274320"/>
          </a:xfrm>
          <a:prstGeom prst="rect">
            <a:avLst/>
          </a:prstGeom>
          <a:ln w="12700">
            <a:noFill/>
            <a:miter lim="400000"/>
          </a:ln>
        </p:spPr>
        <p:txBody>
          <a:bodyPr lIns="45719" rIns="45719" tIns="0" bIns="0" anchor="t"/>
          <a:lstStyle>
            <a:lvl1pPr algn="l">
              <a:defRPr b="1" sz="1150">
                <a:solidFill>
                  <a:srgbClr val="1E2761"/>
                </a:solidFill>
                <a:latin typeface="Courier New"/>
              </a:defRPr>
            </a:lvl1pPr>
          </a:lstStyle>
          <a:p>
            <a:pPr/>
            <a:r>
              <a:t>├─ design.md</a:t>
            </a:r>
          </a:p>
        </p:txBody>
      </p:sp>
      <p:sp>
        <p:nvSpPr>
          <p:cNvPr id="928" name="lB2"/>
          <p:cNvSpPr txBox="1"/>
          <p:nvPr/>
        </p:nvSpPr>
        <p:spPr>
          <a:xfrm>
            <a:off x="4023360" y="4183380"/>
            <a:ext cx="1737360" cy="251460"/>
          </a:xfrm>
          <a:prstGeom prst="rect">
            <a:avLst/>
          </a:prstGeom>
          <a:ln w="12700">
            <a:noFill/>
            <a:miter lim="400000"/>
          </a:ln>
        </p:spPr>
        <p:txBody>
          <a:bodyPr lIns="45719" rIns="45719" tIns="0" bIns="0" anchor="t"/>
          <a:lstStyle>
            <a:lvl1pPr algn="l">
              <a:defRPr spc="100" b="1" sz="850">
                <a:solidFill>
                  <a:srgbClr val="FF6B4A"/>
                </a:solidFill>
                <a:latin typeface="Calibri"/>
              </a:defRPr>
            </a:lvl1pPr>
          </a:lstStyle>
          <a:p>
            <a:pPr/>
            <a:r>
              <a:t>HOW</a:t>
            </a:r>
          </a:p>
        </p:txBody>
      </p:sp>
      <p:sp>
        <p:nvSpPr>
          <p:cNvPr id="929" name="eB2"/>
          <p:cNvSpPr txBox="1"/>
          <p:nvPr/>
        </p:nvSpPr>
        <p:spPr>
          <a:xfrm>
            <a:off x="5943600" y="4171950"/>
            <a:ext cx="5943600" cy="457200"/>
          </a:xfrm>
          <a:prstGeom prst="rect">
            <a:avLst/>
          </a:prstGeom>
          <a:ln w="12700">
            <a:noFill/>
            <a:miter lim="400000"/>
          </a:ln>
        </p:spPr>
        <p:txBody>
          <a:bodyPr lIns="45719" rIns="45719" tIns="0" bIns="0" anchor="t"/>
          <a:lstStyle>
            <a:lvl1pPr algn="l">
              <a:defRPr b="0" sz="1150">
                <a:solidFill>
                  <a:srgbClr val="2C3352"/>
                </a:solidFill>
                <a:latin typeface="Calibri"/>
              </a:defRPr>
            </a:lvl1pPr>
          </a:lstStyle>
          <a:p>
            <a:pPr/>
            <a:r>
              <a:t>The technical approach and the decisions taken, including options rejected.</a:t>
            </a:r>
          </a:p>
        </p:txBody>
      </p:sp>
      <p:sp>
        <p:nvSpPr>
          <p:cNvPr id="930" name="nB3"/>
          <p:cNvSpPr txBox="1"/>
          <p:nvPr/>
        </p:nvSpPr>
        <p:spPr>
          <a:xfrm>
            <a:off x="960120" y="4709160"/>
            <a:ext cx="320040" cy="274320"/>
          </a:xfrm>
          <a:prstGeom prst="rect">
            <a:avLst/>
          </a:prstGeom>
          <a:ln w="12700">
            <a:noFill/>
            <a:miter lim="400000"/>
          </a:ln>
        </p:spPr>
        <p:txBody>
          <a:bodyPr lIns="45719" rIns="45719" tIns="0" bIns="0" anchor="t"/>
          <a:lstStyle>
            <a:lvl1pPr algn="l">
              <a:defRPr b="1" sz="1150">
                <a:solidFill>
                  <a:srgbClr val="FF6B4A"/>
                </a:solidFill>
                <a:latin typeface="Cambria"/>
              </a:defRPr>
            </a:lvl1pPr>
          </a:lstStyle>
          <a:p>
            <a:pPr/>
            <a:r>
              <a:t>4</a:t>
            </a:r>
          </a:p>
        </p:txBody>
      </p:sp>
      <p:sp>
        <p:nvSpPr>
          <p:cNvPr id="931" name="fB3">
            <a:hlinkClick xmlns:r="http://schemas.openxmlformats.org/officeDocument/2006/relationships" r:id="rIdArt3" action="ppaction://hlinksldjump"/>
          </p:cNvPr>
          <p:cNvSpPr txBox="1"/>
          <p:nvPr/>
        </p:nvSpPr>
        <p:spPr>
          <a:xfrm>
            <a:off x="1280160" y="4709160"/>
            <a:ext cx="2560320" cy="274320"/>
          </a:xfrm>
          <a:prstGeom prst="rect">
            <a:avLst/>
          </a:prstGeom>
          <a:ln w="12700">
            <a:noFill/>
            <a:miter lim="400000"/>
          </a:ln>
        </p:spPr>
        <p:txBody>
          <a:bodyPr lIns="45719" rIns="45719" tIns="0" bIns="0" anchor="t"/>
          <a:lstStyle>
            <a:lvl1pPr algn="l">
              <a:defRPr b="1" sz="1150">
                <a:solidFill>
                  <a:srgbClr val="1E2761"/>
                </a:solidFill>
                <a:latin typeface="Courier New"/>
              </a:defRPr>
            </a:lvl1pPr>
          </a:lstStyle>
          <a:p>
            <a:pPr/>
            <a:r>
              <a:t>└─ tasks.md</a:t>
            </a:r>
          </a:p>
        </p:txBody>
      </p:sp>
      <p:sp>
        <p:nvSpPr>
          <p:cNvPr id="932" name="lB3"/>
          <p:cNvSpPr txBox="1"/>
          <p:nvPr/>
        </p:nvSpPr>
        <p:spPr>
          <a:xfrm>
            <a:off x="4023360" y="4732020"/>
            <a:ext cx="1737360" cy="251460"/>
          </a:xfrm>
          <a:prstGeom prst="rect">
            <a:avLst/>
          </a:prstGeom>
          <a:ln w="12700">
            <a:noFill/>
            <a:miter lim="400000"/>
          </a:ln>
        </p:spPr>
        <p:txBody>
          <a:bodyPr lIns="45719" rIns="45719" tIns="0" bIns="0" anchor="t"/>
          <a:lstStyle>
            <a:lvl1pPr algn="l">
              <a:defRPr spc="100" b="1" sz="850">
                <a:solidFill>
                  <a:srgbClr val="FF6B4A"/>
                </a:solidFill>
                <a:latin typeface="Calibri"/>
              </a:defRPr>
            </a:lvl1pPr>
          </a:lstStyle>
          <a:p>
            <a:pPr/>
            <a:r>
              <a:t>IN WHAT ORDER</a:t>
            </a:r>
          </a:p>
        </p:txBody>
      </p:sp>
      <p:sp>
        <p:nvSpPr>
          <p:cNvPr id="933" name="eB3"/>
          <p:cNvSpPr txBox="1"/>
          <p:nvPr/>
        </p:nvSpPr>
        <p:spPr>
          <a:xfrm>
            <a:off x="5943600" y="4720590"/>
            <a:ext cx="5943600" cy="457200"/>
          </a:xfrm>
          <a:prstGeom prst="rect">
            <a:avLst/>
          </a:prstGeom>
          <a:ln w="12700">
            <a:noFill/>
            <a:miter lim="400000"/>
          </a:ln>
        </p:spPr>
        <p:txBody>
          <a:bodyPr lIns="45719" rIns="45719" tIns="0" bIns="0" anchor="t"/>
          <a:lstStyle>
            <a:lvl1pPr algn="l">
              <a:defRPr b="0" sz="1150">
                <a:solidFill>
                  <a:srgbClr val="2C3352"/>
                </a:solidFill>
                <a:latin typeface="Calibri"/>
              </a:defRPr>
            </a:lvl1pPr>
          </a:lstStyle>
          <a:p>
            <a:pPr/>
            <a:r>
              <a:t>The checklist the agent works through, one item at a time.</a:t>
            </a:r>
          </a:p>
        </p:txBody>
      </p:sp>
    </p:spTree>
  </p:cSld>
  <p:clrMapOvr>
    <a:masterClrMapping/>
  </p:clrMapOvr>
  <p:transition xmlns:p14="http://schemas.microsoft.com/office/powerpoint/2010/main" spd="med" advClick="1"/>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8" name="Text 0"/>
          <p:cNvSpPr txBox="1"/>
          <p:nvPr/>
        </p:nvSpPr>
        <p:spPr>
          <a:xfrm>
            <a:off x="685800" y="545400"/>
            <a:ext cx="7223761" cy="28080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200" sz="1100">
                <a:solidFill>
                  <a:srgbClr val="FF6B4A"/>
                </a:solidFill>
                <a:latin typeface="Calibri"/>
              </a:defRPr>
            </a:lvl1pPr>
          </a:lstStyle>
          <a:p>
            <a:pPr/>
            <a:r>
              <a:t>Artefact example</a:t>
            </a:r>
          </a:p>
        </p:txBody>
      </p:sp>
      <p:sp>
        <p:nvSpPr>
          <p:cNvPr id="119" name="Text 1"/>
          <p:cNvSpPr txBox="1"/>
          <p:nvPr/>
        </p:nvSpPr>
        <p:spPr>
          <a:xfrm>
            <a:off x="685800" y="989463"/>
            <a:ext cx="10789920" cy="48995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3000">
                <a:solidFill>
                  <a:srgbClr val="1E2761"/>
                </a:solidFill>
                <a:latin typeface="Cambria"/>
              </a:defRPr>
            </a:lvl1pPr>
          </a:lstStyle>
          <a:p>
            <a:pPr/>
            <a:r>
              <a:t>proposal.md</a:t>
            </a:r>
          </a:p>
        </p:txBody>
      </p:sp>
      <p:sp>
        <p:nvSpPr>
          <p:cNvPr id="301" name="Sub"/>
          <p:cNvSpPr txBox="1"/>
          <p:nvPr/>
        </p:nvSpPr>
        <p:spPr>
          <a:xfrm>
            <a:off x="685800" y="1691640"/>
            <a:ext cx="10607042" cy="320040"/>
          </a:xfrm>
          <a:prstGeom prst="rect">
            <a:avLst/>
          </a:prstGeom>
          <a:ln w="12700">
            <a:noFill/>
            <a:miter lim="400000"/>
          </a:ln>
        </p:spPr>
        <p:txBody>
          <a:bodyPr lIns="45719" rIns="45719" tIns="0" bIns="0" anchor="t"/>
          <a:lstStyle>
            <a:lvl1pPr algn="l">
              <a:defRPr sz="1500">
                <a:solidFill>
                  <a:srgbClr val="2C3352"/>
                </a:solidFill>
                <a:latin typeface="Calibri"/>
              </a:defRPr>
            </a:lvl1pPr>
          </a:lstStyle>
          <a:p>
            <a:pPr/>
            <a:r>
              <a:t>WHY the change exists</a:t>
            </a:r>
          </a:p>
        </p:txBody>
      </p:sp>
      <p:sp>
        <p:nvSpPr>
          <p:cNvPr id="302" name="Card"/>
          <p:cNvSpPr/>
          <p:nvPr/>
        </p:nvSpPr>
        <p:spPr>
          <a:xfrm>
            <a:off x="640080" y="2286000"/>
            <a:ext cx="10881360" cy="3703320"/>
          </a:xfrm>
          <a:prstGeom prst="roundRect">
            <a:avLst>
              <a:gd name="adj" fmla="val 2500"/>
            </a:avLst>
          </a:prstGeom>
          <a:solidFill>
            <a:srgbClr val="EEF2FC"/>
          </a:solidFill>
          <a:ln w="12700">
            <a:solidFill>
              <a:srgbClr val="CADCFC"/>
            </a:solidFill>
            <a:miter lim="400000"/>
          </a:ln>
        </p:spPr>
        <p:txBody>
          <a:bodyPr lIns="45719" rIns="45719"/>
          <a:lstStyle/>
          <a:p>
            <a:pPr/>
          </a:p>
        </p:txBody>
      </p:sp>
      <p:sp>
        <p:nvSpPr>
          <p:cNvPr id="303" name="Path"/>
          <p:cNvSpPr txBox="1"/>
          <p:nvPr/>
        </p:nvSpPr>
        <p:spPr>
          <a:xfrm>
            <a:off x="960120" y="2560320"/>
            <a:ext cx="10241280" cy="205740"/>
          </a:xfrm>
          <a:prstGeom prst="rect">
            <a:avLst/>
          </a:prstGeom>
          <a:ln w="12700">
            <a:noFill/>
            <a:miter lim="400000"/>
          </a:ln>
        </p:spPr>
        <p:txBody>
          <a:bodyPr lIns="45719" rIns="45719" tIns="0" bIns="0" anchor="t"/>
          <a:lstStyle>
            <a:lvl1pPr algn="l">
              <a:defRPr sz="850">
                <a:solidFill>
                  <a:srgbClr val="5C6484"/>
                </a:solidFill>
                <a:latin typeface="Courier New"/>
              </a:defRPr>
            </a:lvl1pPr>
          </a:lstStyle>
          <a:p>
            <a:pPr/>
            <a:r>
              <a:t>openspec/changes/add-password-reset/proposal.md</a:t>
            </a:r>
          </a:p>
        </p:txBody>
      </p:sp>
      <p:sp>
        <p:nvSpPr>
          <p:cNvPr id="304" name="Body"/>
          <p:cNvSpPr txBox="1"/>
          <p:nvPr/>
        </p:nvSpPr>
        <p:spPr>
          <a:xfrm>
            <a:off x="960120" y="2926080"/>
            <a:ext cx="10241280" cy="2926080"/>
          </a:xfrm>
          <a:prstGeom prst="rect">
            <a:avLst/>
          </a:prstGeom>
          <a:ln w="12700">
            <a:noFill/>
            <a:miter lim="400000"/>
          </a:ln>
        </p:spPr>
        <p:txBody>
          <a:bodyPr lIns="45719" rIns="45719" tIns="0" bIns="0" anchor="t"/>
          <a:lstStyle>
            <a:lvl1pPr algn="l">
              <a:defRPr sz="1000">
                <a:solidFill>
                  <a:srgbClr val="1E2761"/>
                </a:solidFill>
                <a:latin typeface="Courier New"/>
              </a:defRPr>
            </a:lvl1pPr>
          </a:lstStyle>
          <a:p>
            <a:pPr/>
            <a:r>
              <a:t># Add password reset</a:t>
            </a:r>
          </a:p>
          <a:p>
            <a:pPr/>
          </a:p>
          <a:p>
            <a:pPr/>
            <a:r>
              <a:t>## Why</a:t>
            </a:r>
          </a:p>
          <a:p>
            <a:pPr/>
            <a:r>
              <a:t>Users who forget their password contact support today.</a:t>
            </a:r>
          </a:p>
          <a:p>
            <a:pPr/>
            <a:r>
              <a:t>Every reset is a ticket and a wait of up to a day.</a:t>
            </a:r>
          </a:p>
          <a:p>
            <a:pPr/>
          </a:p>
          <a:p>
            <a:pPr/>
            <a:r>
              <a:t>## What changes</a:t>
            </a:r>
          </a:p>
          <a:p>
            <a:pPr/>
            <a:r>
              <a:t>A self-service flow: the user requests a link by email</a:t>
            </a:r>
          </a:p>
          <a:p>
            <a:pPr/>
            <a:r>
              <a:t>and sets a new password. The link expires after 30</a:t>
            </a:r>
          </a:p>
          <a:p>
            <a:pPr/>
            <a:r>
              <a:t>minutes and works only once.</a:t>
            </a:r>
          </a:p>
          <a:p>
            <a:pPr/>
          </a:p>
          <a:p>
            <a:pPr/>
            <a:r>
              <a:t>## Out of scope</a:t>
            </a:r>
          </a:p>
          <a:p>
            <a:pPr/>
            <a:r>
              <a:t>- The password policy itself</a:t>
            </a:r>
          </a:p>
          <a:p>
            <a:pPr/>
            <a:r>
              <a:t>- Recovery for social logins</a:t>
            </a:r>
          </a:p>
        </p:txBody>
      </p:sp>
      <p:sp>
        <p:nvSpPr>
          <p:cNvPr id="305" name="Back">
            <a:hlinkClick xmlns:r="http://schemas.openxmlformats.org/officeDocument/2006/relationships" r:id="rIdBack" action="ppaction://hlinksldjump"/>
          </p:cNvPr>
          <p:cNvSpPr txBox="1"/>
          <p:nvPr/>
        </p:nvSpPr>
        <p:spPr>
          <a:xfrm>
            <a:off x="640080" y="6126480"/>
            <a:ext cx="4572000" cy="228600"/>
          </a:xfrm>
          <a:prstGeom prst="rect">
            <a:avLst/>
          </a:prstGeom>
          <a:ln w="12700">
            <a:noFill/>
            <a:miter lim="400000"/>
          </a:ln>
        </p:spPr>
        <p:txBody>
          <a:bodyPr lIns="45719" rIns="45719" tIns="0" bIns="0" anchor="t"/>
          <a:lstStyle>
            <a:lvl1pPr algn="l">
              <a:defRPr b="1" sz="1050">
                <a:solidFill>
                  <a:srgbClr val="FF6B4A"/>
                </a:solidFill>
                <a:latin typeface="Calibri"/>
              </a:defRPr>
            </a:lvl1pPr>
          </a:lstStyle>
          <a:p>
            <a:pPr/>
            <a:r>
              <a:t>←  Back to the artefacts</a:t>
            </a:r>
          </a:p>
        </p:txBody>
      </p:sp>
      <p:sp>
        <p:nvSpPr>
          <p:cNvPr id="306" name="Note"/>
          <p:cNvSpPr txBox="1"/>
          <p:nvPr/>
        </p:nvSpPr>
        <p:spPr>
          <a:xfrm>
            <a:off x="7315200" y="6126480"/>
            <a:ext cx="4206240" cy="228600"/>
          </a:xfrm>
          <a:prstGeom prst="rect">
            <a:avLst/>
          </a:prstGeom>
          <a:ln w="12700">
            <a:noFill/>
            <a:miter lim="400000"/>
          </a:ln>
        </p:spPr>
        <p:txBody>
          <a:bodyPr lIns="45719" rIns="45719" tIns="0" bIns="0" anchor="t"/>
          <a:lstStyle>
            <a:lvl1pPr algn="r">
              <a:defRPr i="1" sz="900">
                <a:solidFill>
                  <a:srgbClr val="5C6484"/>
                </a:solidFill>
                <a:latin typeface="Calibri"/>
              </a:defRPr>
            </a:lvl1pPr>
          </a:lstStyle>
          <a:p>
            <a:pPr/>
            <a:r>
              <a:t>Illustrative example.</a:t>
            </a:r>
          </a:p>
        </p:txBody>
      </p:sp>
      <p:sp>
        <p:nvSpPr>
          <p:cNvPr id="132" name="Text 14"/>
          <p:cNvSpPr txBox="1"/>
          <p:nvPr/>
        </p:nvSpPr>
        <p:spPr>
          <a:xfrm>
            <a:off x="502919" y="6572163"/>
            <a:ext cx="722376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900">
                <a:solidFill>
                  <a:srgbClr val="5C6484"/>
                </a:solidFill>
                <a:latin typeface="Calibri"/>
              </a:defRPr>
            </a:lvl1pPr>
          </a:lstStyle>
          <a:p>
            <a:pPr/>
            <a:r>
              <a:t>OpenSpec — Spec-Driven Development</a:t>
            </a:r>
          </a:p>
        </p:txBody>
      </p:sp>
      <p:sp>
        <p:nvSpPr>
          <p:cNvPr id="133" name="Text 15"/>
          <p:cNvSpPr txBox="1"/>
          <p:nvPr/>
        </p:nvSpPr>
        <p:spPr>
          <a:xfrm>
            <a:off x="11475719" y="6572163"/>
            <a:ext cx="27432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900">
                <a:solidFill>
                  <a:srgbClr val="5C6484"/>
                </a:solidFill>
                <a:latin typeface="Calibri"/>
              </a:defRPr>
            </a:lvl1pPr>
          </a:lstStyle>
          <a:p>
            <a:pPr/>
            <a:r>
              <a:t>27</a:t>
            </a:r>
          </a:p>
        </p:txBody>
      </p:sp>
    </p:spTree>
  </p:cSld>
  <p:clrMapOvr>
    <a:masterClrMapping/>
  </p:clrMapOvr>
  <p:transition xmlns:p14="http://schemas.microsoft.com/office/powerpoint/2010/main" spd="med" advClick="1"/>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8" name="Text 0"/>
          <p:cNvSpPr txBox="1"/>
          <p:nvPr/>
        </p:nvSpPr>
        <p:spPr>
          <a:xfrm>
            <a:off x="685800" y="545400"/>
            <a:ext cx="7223761" cy="28080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200" sz="1100">
                <a:solidFill>
                  <a:srgbClr val="FF6B4A"/>
                </a:solidFill>
                <a:latin typeface="Calibri"/>
              </a:defRPr>
            </a:lvl1pPr>
          </a:lstStyle>
          <a:p>
            <a:pPr/>
            <a:r>
              <a:t>Artefact example</a:t>
            </a:r>
          </a:p>
        </p:txBody>
      </p:sp>
      <p:sp>
        <p:nvSpPr>
          <p:cNvPr id="119" name="Text 1"/>
          <p:cNvSpPr txBox="1"/>
          <p:nvPr/>
        </p:nvSpPr>
        <p:spPr>
          <a:xfrm>
            <a:off x="685800" y="989463"/>
            <a:ext cx="10789920" cy="48995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3000">
                <a:solidFill>
                  <a:srgbClr val="1E2761"/>
                </a:solidFill>
                <a:latin typeface="Cambria"/>
              </a:defRPr>
            </a:lvl1pPr>
          </a:lstStyle>
          <a:p>
            <a:pPr/>
            <a:r>
              <a:t>specs/</a:t>
            </a:r>
          </a:p>
        </p:txBody>
      </p:sp>
      <p:sp>
        <p:nvSpPr>
          <p:cNvPr id="307" name="Sub"/>
          <p:cNvSpPr txBox="1"/>
          <p:nvPr/>
        </p:nvSpPr>
        <p:spPr>
          <a:xfrm>
            <a:off x="685800" y="1691640"/>
            <a:ext cx="10607042" cy="320040"/>
          </a:xfrm>
          <a:prstGeom prst="rect">
            <a:avLst/>
          </a:prstGeom>
          <a:ln w="12700">
            <a:noFill/>
            <a:miter lim="400000"/>
          </a:ln>
        </p:spPr>
        <p:txBody>
          <a:bodyPr lIns="45719" rIns="45719" tIns="0" bIns="0" anchor="t"/>
          <a:lstStyle>
            <a:lvl1pPr algn="l">
              <a:defRPr sz="1500">
                <a:solidFill>
                  <a:srgbClr val="2C3352"/>
                </a:solidFill>
                <a:latin typeface="Calibri"/>
              </a:defRPr>
            </a:lvl1pPr>
          </a:lstStyle>
          <a:p>
            <a:pPr/>
            <a:r>
              <a:t>WHAT this change adds or removes</a:t>
            </a:r>
          </a:p>
        </p:txBody>
      </p:sp>
      <p:sp>
        <p:nvSpPr>
          <p:cNvPr id="308" name="Card"/>
          <p:cNvSpPr/>
          <p:nvPr/>
        </p:nvSpPr>
        <p:spPr>
          <a:xfrm>
            <a:off x="640080" y="2286000"/>
            <a:ext cx="10881360" cy="3703320"/>
          </a:xfrm>
          <a:prstGeom prst="roundRect">
            <a:avLst>
              <a:gd name="adj" fmla="val 2500"/>
            </a:avLst>
          </a:prstGeom>
          <a:solidFill>
            <a:srgbClr val="EEF2FC"/>
          </a:solidFill>
          <a:ln w="12700">
            <a:solidFill>
              <a:srgbClr val="CADCFC"/>
            </a:solidFill>
            <a:miter lim="400000"/>
          </a:ln>
        </p:spPr>
        <p:txBody>
          <a:bodyPr lIns="45719" rIns="45719"/>
          <a:lstStyle/>
          <a:p>
            <a:pPr/>
          </a:p>
        </p:txBody>
      </p:sp>
      <p:sp>
        <p:nvSpPr>
          <p:cNvPr id="309" name="Path"/>
          <p:cNvSpPr txBox="1"/>
          <p:nvPr/>
        </p:nvSpPr>
        <p:spPr>
          <a:xfrm>
            <a:off x="960120" y="2560320"/>
            <a:ext cx="10241280" cy="205740"/>
          </a:xfrm>
          <a:prstGeom prst="rect">
            <a:avLst/>
          </a:prstGeom>
          <a:ln w="12700">
            <a:noFill/>
            <a:miter lim="400000"/>
          </a:ln>
        </p:spPr>
        <p:txBody>
          <a:bodyPr lIns="45719" rIns="45719" tIns="0" bIns="0" anchor="t"/>
          <a:lstStyle>
            <a:lvl1pPr algn="l">
              <a:defRPr sz="850">
                <a:solidFill>
                  <a:srgbClr val="5C6484"/>
                </a:solidFill>
                <a:latin typeface="Courier New"/>
              </a:defRPr>
            </a:lvl1pPr>
          </a:lstStyle>
          <a:p>
            <a:pPr/>
            <a:r>
              <a:t>openspec/changes/add-password-reset/specs/auth/spec.md</a:t>
            </a:r>
          </a:p>
        </p:txBody>
      </p:sp>
      <p:sp>
        <p:nvSpPr>
          <p:cNvPr id="310" name="Body"/>
          <p:cNvSpPr txBox="1"/>
          <p:nvPr/>
        </p:nvSpPr>
        <p:spPr>
          <a:xfrm>
            <a:off x="960120" y="2926080"/>
            <a:ext cx="10241280" cy="2926080"/>
          </a:xfrm>
          <a:prstGeom prst="rect">
            <a:avLst/>
          </a:prstGeom>
          <a:ln w="12700">
            <a:noFill/>
            <a:miter lim="400000"/>
          </a:ln>
        </p:spPr>
        <p:txBody>
          <a:bodyPr lIns="45719" rIns="45719" tIns="0" bIns="0" anchor="t"/>
          <a:lstStyle>
            <a:lvl1pPr algn="l">
              <a:defRPr sz="1000">
                <a:solidFill>
                  <a:srgbClr val="1E2761"/>
                </a:solidFill>
                <a:latin typeface="Courier New"/>
              </a:defRPr>
            </a:lvl1pPr>
          </a:lstStyle>
          <a:p>
            <a:pPr/>
            <a:r>
              <a:t>## ADDED Requirements</a:t>
            </a:r>
          </a:p>
          <a:p>
            <a:pPr/>
          </a:p>
          <a:p>
            <a:pPr/>
            <a:r>
              <a:t>### Requirement: Password reset</a:t>
            </a:r>
          </a:p>
          <a:p>
            <a:pPr/>
            <a:r>
              <a:t>The system MUST let a user request a reset</a:t>
            </a:r>
          </a:p>
          <a:p>
            <a:pPr/>
            <a:r>
              <a:t>link by email.</a:t>
            </a:r>
          </a:p>
          <a:p>
            <a:pPr/>
          </a:p>
          <a:p>
            <a:pPr/>
            <a:r>
              <a:t>#### Scenario: Link has expired</a:t>
            </a:r>
          </a:p>
          <a:p>
            <a:pPr/>
            <a:r>
              <a:t>- WHEN the link is older than 30 minutes</a:t>
            </a:r>
          </a:p>
          <a:p>
            <a:pPr/>
            <a:r>
              <a:t>- THEN the system MUST refuse it</a:t>
            </a:r>
          </a:p>
          <a:p>
            <a:pPr/>
          </a:p>
          <a:p>
            <a:pPr/>
            <a:r>
              <a:t>#### Scenario: Link already used</a:t>
            </a:r>
          </a:p>
          <a:p>
            <a:pPr/>
            <a:r>
              <a:t>- WHEN the link has been used once</a:t>
            </a:r>
          </a:p>
          <a:p>
            <a:pPr/>
            <a:r>
              <a:t>- THEN the system MUST refuse it</a:t>
            </a:r>
          </a:p>
        </p:txBody>
      </p:sp>
      <p:sp>
        <p:nvSpPr>
          <p:cNvPr id="311" name="Back">
            <a:hlinkClick xmlns:r="http://schemas.openxmlformats.org/officeDocument/2006/relationships" r:id="rIdBack" action="ppaction://hlinksldjump"/>
          </p:cNvPr>
          <p:cNvSpPr txBox="1"/>
          <p:nvPr/>
        </p:nvSpPr>
        <p:spPr>
          <a:xfrm>
            <a:off x="640080" y="6126480"/>
            <a:ext cx="4572000" cy="228600"/>
          </a:xfrm>
          <a:prstGeom prst="rect">
            <a:avLst/>
          </a:prstGeom>
          <a:ln w="12700">
            <a:noFill/>
            <a:miter lim="400000"/>
          </a:ln>
        </p:spPr>
        <p:txBody>
          <a:bodyPr lIns="45719" rIns="45719" tIns="0" bIns="0" anchor="t"/>
          <a:lstStyle>
            <a:lvl1pPr algn="l">
              <a:defRPr b="1" sz="1050">
                <a:solidFill>
                  <a:srgbClr val="FF6B4A"/>
                </a:solidFill>
                <a:latin typeface="Calibri"/>
              </a:defRPr>
            </a:lvl1pPr>
          </a:lstStyle>
          <a:p>
            <a:pPr/>
            <a:r>
              <a:t>←  Back to the artefacts</a:t>
            </a:r>
          </a:p>
        </p:txBody>
      </p:sp>
      <p:sp>
        <p:nvSpPr>
          <p:cNvPr id="312" name="Note"/>
          <p:cNvSpPr txBox="1"/>
          <p:nvPr/>
        </p:nvSpPr>
        <p:spPr>
          <a:xfrm>
            <a:off x="7315200" y="6126480"/>
            <a:ext cx="4206240" cy="228600"/>
          </a:xfrm>
          <a:prstGeom prst="rect">
            <a:avLst/>
          </a:prstGeom>
          <a:ln w="12700">
            <a:noFill/>
            <a:miter lim="400000"/>
          </a:ln>
        </p:spPr>
        <p:txBody>
          <a:bodyPr lIns="45719" rIns="45719" tIns="0" bIns="0" anchor="t"/>
          <a:lstStyle>
            <a:lvl1pPr algn="r">
              <a:defRPr i="1" sz="900">
                <a:solidFill>
                  <a:srgbClr val="5C6484"/>
                </a:solidFill>
                <a:latin typeface="Calibri"/>
              </a:defRPr>
            </a:lvl1pPr>
          </a:lstStyle>
          <a:p>
            <a:pPr/>
            <a:r>
              <a:t>Illustrative example.</a:t>
            </a:r>
          </a:p>
        </p:txBody>
      </p:sp>
      <p:sp>
        <p:nvSpPr>
          <p:cNvPr id="132" name="Text 14"/>
          <p:cNvSpPr txBox="1"/>
          <p:nvPr/>
        </p:nvSpPr>
        <p:spPr>
          <a:xfrm>
            <a:off x="502919" y="6572163"/>
            <a:ext cx="722376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900">
                <a:solidFill>
                  <a:srgbClr val="5C6484"/>
                </a:solidFill>
                <a:latin typeface="Calibri"/>
              </a:defRPr>
            </a:lvl1pPr>
          </a:lstStyle>
          <a:p>
            <a:pPr/>
            <a:r>
              <a:t>OpenSpec — Spec-Driven Development</a:t>
            </a:r>
          </a:p>
        </p:txBody>
      </p:sp>
      <p:sp>
        <p:nvSpPr>
          <p:cNvPr id="133" name="Text 15"/>
          <p:cNvSpPr txBox="1"/>
          <p:nvPr/>
        </p:nvSpPr>
        <p:spPr>
          <a:xfrm>
            <a:off x="11475719" y="6572163"/>
            <a:ext cx="27432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900">
                <a:solidFill>
                  <a:srgbClr val="5C6484"/>
                </a:solidFill>
                <a:latin typeface="Calibri"/>
              </a:defRPr>
            </a:lvl1pPr>
          </a:lstStyle>
          <a:p>
            <a:pPr/>
            <a:r>
              <a:t>28</a:t>
            </a:r>
          </a:p>
        </p:txBody>
      </p:sp>
    </p:spTree>
  </p:cSld>
  <p:clrMapOvr>
    <a:masterClrMapping/>
  </p:clrMapOvr>
  <p:transition xmlns:p14="http://schemas.microsoft.com/office/powerpoint/2010/main" spd="med" advClick="1"/>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8" name="Text 0"/>
          <p:cNvSpPr txBox="1"/>
          <p:nvPr/>
        </p:nvSpPr>
        <p:spPr>
          <a:xfrm>
            <a:off x="685800" y="545400"/>
            <a:ext cx="7223761" cy="28080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200" sz="1100">
                <a:solidFill>
                  <a:srgbClr val="FF6B4A"/>
                </a:solidFill>
                <a:latin typeface="Calibri"/>
              </a:defRPr>
            </a:lvl1pPr>
          </a:lstStyle>
          <a:p>
            <a:pPr/>
            <a:r>
              <a:t>Artefact example</a:t>
            </a:r>
          </a:p>
        </p:txBody>
      </p:sp>
      <p:sp>
        <p:nvSpPr>
          <p:cNvPr id="119" name="Text 1"/>
          <p:cNvSpPr txBox="1"/>
          <p:nvPr/>
        </p:nvSpPr>
        <p:spPr>
          <a:xfrm>
            <a:off x="685800" y="989463"/>
            <a:ext cx="10789920" cy="48995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3000">
                <a:solidFill>
                  <a:srgbClr val="1E2761"/>
                </a:solidFill>
                <a:latin typeface="Cambria"/>
              </a:defRPr>
            </a:lvl1pPr>
          </a:lstStyle>
          <a:p>
            <a:pPr/>
            <a:r>
              <a:t>design.md</a:t>
            </a:r>
          </a:p>
        </p:txBody>
      </p:sp>
      <p:sp>
        <p:nvSpPr>
          <p:cNvPr id="313" name="Sub"/>
          <p:cNvSpPr txBox="1"/>
          <p:nvPr/>
        </p:nvSpPr>
        <p:spPr>
          <a:xfrm>
            <a:off x="685800" y="1691640"/>
            <a:ext cx="10607042" cy="320040"/>
          </a:xfrm>
          <a:prstGeom prst="rect">
            <a:avLst/>
          </a:prstGeom>
          <a:ln w="12700">
            <a:noFill/>
            <a:miter lim="400000"/>
          </a:ln>
        </p:spPr>
        <p:txBody>
          <a:bodyPr lIns="45719" rIns="45719" tIns="0" bIns="0" anchor="t"/>
          <a:lstStyle>
            <a:lvl1pPr algn="l">
              <a:defRPr sz="1500">
                <a:solidFill>
                  <a:srgbClr val="2C3352"/>
                </a:solidFill>
                <a:latin typeface="Calibri"/>
              </a:defRPr>
            </a:lvl1pPr>
          </a:lstStyle>
          <a:p>
            <a:pPr/>
            <a:r>
              <a:t>HOW it will be built</a:t>
            </a:r>
          </a:p>
        </p:txBody>
      </p:sp>
      <p:sp>
        <p:nvSpPr>
          <p:cNvPr id="314" name="Card"/>
          <p:cNvSpPr/>
          <p:nvPr/>
        </p:nvSpPr>
        <p:spPr>
          <a:xfrm>
            <a:off x="640080" y="2286000"/>
            <a:ext cx="10881360" cy="3703320"/>
          </a:xfrm>
          <a:prstGeom prst="roundRect">
            <a:avLst>
              <a:gd name="adj" fmla="val 2500"/>
            </a:avLst>
          </a:prstGeom>
          <a:solidFill>
            <a:srgbClr val="EEF2FC"/>
          </a:solidFill>
          <a:ln w="12700">
            <a:solidFill>
              <a:srgbClr val="CADCFC"/>
            </a:solidFill>
            <a:miter lim="400000"/>
          </a:ln>
        </p:spPr>
        <p:txBody>
          <a:bodyPr lIns="45719" rIns="45719"/>
          <a:lstStyle/>
          <a:p>
            <a:pPr/>
          </a:p>
        </p:txBody>
      </p:sp>
      <p:sp>
        <p:nvSpPr>
          <p:cNvPr id="315" name="Path"/>
          <p:cNvSpPr txBox="1"/>
          <p:nvPr/>
        </p:nvSpPr>
        <p:spPr>
          <a:xfrm>
            <a:off x="960120" y="2560320"/>
            <a:ext cx="10241280" cy="205740"/>
          </a:xfrm>
          <a:prstGeom prst="rect">
            <a:avLst/>
          </a:prstGeom>
          <a:ln w="12700">
            <a:noFill/>
            <a:miter lim="400000"/>
          </a:ln>
        </p:spPr>
        <p:txBody>
          <a:bodyPr lIns="45719" rIns="45719" tIns="0" bIns="0" anchor="t"/>
          <a:lstStyle>
            <a:lvl1pPr algn="l">
              <a:defRPr sz="850">
                <a:solidFill>
                  <a:srgbClr val="5C6484"/>
                </a:solidFill>
                <a:latin typeface="Courier New"/>
              </a:defRPr>
            </a:lvl1pPr>
          </a:lstStyle>
          <a:p>
            <a:pPr/>
            <a:r>
              <a:t>openspec/changes/add-password-reset/design.md</a:t>
            </a:r>
          </a:p>
        </p:txBody>
      </p:sp>
      <p:sp>
        <p:nvSpPr>
          <p:cNvPr id="316" name="Body"/>
          <p:cNvSpPr txBox="1"/>
          <p:nvPr/>
        </p:nvSpPr>
        <p:spPr>
          <a:xfrm>
            <a:off x="960120" y="2926080"/>
            <a:ext cx="10241280" cy="2926080"/>
          </a:xfrm>
          <a:prstGeom prst="rect">
            <a:avLst/>
          </a:prstGeom>
          <a:ln w="12700">
            <a:noFill/>
            <a:miter lim="400000"/>
          </a:ln>
        </p:spPr>
        <p:txBody>
          <a:bodyPr lIns="45719" rIns="45719" tIns="0" bIns="0" anchor="t"/>
          <a:lstStyle>
            <a:lvl1pPr algn="l">
              <a:defRPr sz="1000">
                <a:solidFill>
                  <a:srgbClr val="1E2761"/>
                </a:solidFill>
                <a:latin typeface="Courier New"/>
              </a:defRPr>
            </a:lvl1pPr>
          </a:lstStyle>
          <a:p>
            <a:pPr/>
            <a:r>
              <a:t># Design</a:t>
            </a:r>
          </a:p>
          <a:p>
            <a:pPr/>
          </a:p>
          <a:p>
            <a:pPr/>
            <a:r>
              <a:t>## Approach</a:t>
            </a:r>
          </a:p>
          <a:p>
            <a:pPr/>
            <a:r>
              <a:t>Reuse the existing mail service. Store a single-use</a:t>
            </a:r>
          </a:p>
          <a:p>
            <a:pPr/>
            <a:r>
              <a:t>token, hashed, on the user record — no new table.</a:t>
            </a:r>
          </a:p>
          <a:p>
            <a:pPr/>
          </a:p>
          <a:p>
            <a:pPr/>
            <a:r>
              <a:t>## Options considered</a:t>
            </a:r>
          </a:p>
          <a:p>
            <a:pPr/>
            <a:r>
              <a:t>- A dedicated tokens table</a:t>
            </a:r>
          </a:p>
          <a:p>
            <a:pPr/>
            <a:r>
              <a:t>  rejected: one row per user is enough</a:t>
            </a:r>
          </a:p>
          <a:p>
            <a:pPr/>
            <a:r>
              <a:t>- A signed token in the link</a:t>
            </a:r>
          </a:p>
          <a:p>
            <a:pPr/>
            <a:r>
              <a:t>  rejected: cannot be revoked once issued</a:t>
            </a:r>
          </a:p>
          <a:p>
            <a:pPr/>
          </a:p>
          <a:p>
            <a:pPr/>
            <a:r>
              <a:t>## Risk</a:t>
            </a:r>
          </a:p>
          <a:p>
            <a:pPr/>
            <a:r>
              <a:t>Token guessing — mitigated by expiry and rate limiting.</a:t>
            </a:r>
          </a:p>
        </p:txBody>
      </p:sp>
      <p:sp>
        <p:nvSpPr>
          <p:cNvPr id="317" name="Back">
            <a:hlinkClick xmlns:r="http://schemas.openxmlformats.org/officeDocument/2006/relationships" r:id="rIdBack" action="ppaction://hlinksldjump"/>
          </p:cNvPr>
          <p:cNvSpPr txBox="1"/>
          <p:nvPr/>
        </p:nvSpPr>
        <p:spPr>
          <a:xfrm>
            <a:off x="640080" y="6126480"/>
            <a:ext cx="4572000" cy="228600"/>
          </a:xfrm>
          <a:prstGeom prst="rect">
            <a:avLst/>
          </a:prstGeom>
          <a:ln w="12700">
            <a:noFill/>
            <a:miter lim="400000"/>
          </a:ln>
        </p:spPr>
        <p:txBody>
          <a:bodyPr lIns="45719" rIns="45719" tIns="0" bIns="0" anchor="t"/>
          <a:lstStyle>
            <a:lvl1pPr algn="l">
              <a:defRPr b="1" sz="1050">
                <a:solidFill>
                  <a:srgbClr val="FF6B4A"/>
                </a:solidFill>
                <a:latin typeface="Calibri"/>
              </a:defRPr>
            </a:lvl1pPr>
          </a:lstStyle>
          <a:p>
            <a:pPr/>
            <a:r>
              <a:t>←  Back to the artefacts</a:t>
            </a:r>
          </a:p>
        </p:txBody>
      </p:sp>
      <p:sp>
        <p:nvSpPr>
          <p:cNvPr id="318" name="Note"/>
          <p:cNvSpPr txBox="1"/>
          <p:nvPr/>
        </p:nvSpPr>
        <p:spPr>
          <a:xfrm>
            <a:off x="7315200" y="6126480"/>
            <a:ext cx="4206240" cy="228600"/>
          </a:xfrm>
          <a:prstGeom prst="rect">
            <a:avLst/>
          </a:prstGeom>
          <a:ln w="12700">
            <a:noFill/>
            <a:miter lim="400000"/>
          </a:ln>
        </p:spPr>
        <p:txBody>
          <a:bodyPr lIns="45719" rIns="45719" tIns="0" bIns="0" anchor="t"/>
          <a:lstStyle>
            <a:lvl1pPr algn="r">
              <a:defRPr i="1" sz="900">
                <a:solidFill>
                  <a:srgbClr val="5C6484"/>
                </a:solidFill>
                <a:latin typeface="Calibri"/>
              </a:defRPr>
            </a:lvl1pPr>
          </a:lstStyle>
          <a:p>
            <a:pPr/>
            <a:r>
              <a:t>Illustrative example.</a:t>
            </a:r>
          </a:p>
        </p:txBody>
      </p:sp>
      <p:sp>
        <p:nvSpPr>
          <p:cNvPr id="132" name="Text 14"/>
          <p:cNvSpPr txBox="1"/>
          <p:nvPr/>
        </p:nvSpPr>
        <p:spPr>
          <a:xfrm>
            <a:off x="502919" y="6572163"/>
            <a:ext cx="722376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900">
                <a:solidFill>
                  <a:srgbClr val="5C6484"/>
                </a:solidFill>
                <a:latin typeface="Calibri"/>
              </a:defRPr>
            </a:lvl1pPr>
          </a:lstStyle>
          <a:p>
            <a:pPr/>
            <a:r>
              <a:t>OpenSpec — Spec-Driven Development</a:t>
            </a:r>
          </a:p>
        </p:txBody>
      </p:sp>
      <p:sp>
        <p:nvSpPr>
          <p:cNvPr id="133" name="Text 15"/>
          <p:cNvSpPr txBox="1"/>
          <p:nvPr/>
        </p:nvSpPr>
        <p:spPr>
          <a:xfrm>
            <a:off x="11475719" y="6572163"/>
            <a:ext cx="27432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900">
                <a:solidFill>
                  <a:srgbClr val="5C6484"/>
                </a:solidFill>
                <a:latin typeface="Calibri"/>
              </a:defRPr>
            </a:lvl1pPr>
          </a:lstStyle>
          <a:p>
            <a:pPr/>
            <a:r>
              <a:t>29</a:t>
            </a:r>
          </a:p>
        </p:txBody>
      </p:sp>
    </p:spTree>
  </p:cSld>
  <p:clrMapOvr>
    <a:masterClrMapping/>
  </p:clrMapOvr>
  <p:transition xmlns:p14="http://schemas.microsoft.com/office/powerpoint/2010/main" spd="med" advClick="1"/>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8" name="Text 0"/>
          <p:cNvSpPr txBox="1"/>
          <p:nvPr/>
        </p:nvSpPr>
        <p:spPr>
          <a:xfrm>
            <a:off x="685800" y="545400"/>
            <a:ext cx="7223761" cy="28080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200" sz="1100">
                <a:solidFill>
                  <a:srgbClr val="FF6B4A"/>
                </a:solidFill>
                <a:latin typeface="Calibri"/>
              </a:defRPr>
            </a:lvl1pPr>
          </a:lstStyle>
          <a:p>
            <a:pPr/>
            <a:r>
              <a:t>Artefact example</a:t>
            </a:r>
          </a:p>
        </p:txBody>
      </p:sp>
      <p:sp>
        <p:nvSpPr>
          <p:cNvPr id="119" name="Text 1"/>
          <p:cNvSpPr txBox="1"/>
          <p:nvPr/>
        </p:nvSpPr>
        <p:spPr>
          <a:xfrm>
            <a:off x="685800" y="989463"/>
            <a:ext cx="10789920" cy="48995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3000">
                <a:solidFill>
                  <a:srgbClr val="1E2761"/>
                </a:solidFill>
                <a:latin typeface="Cambria"/>
              </a:defRPr>
            </a:lvl1pPr>
          </a:lstStyle>
          <a:p>
            <a:pPr/>
            <a:r>
              <a:t>tasks.md</a:t>
            </a:r>
          </a:p>
        </p:txBody>
      </p:sp>
      <p:sp>
        <p:nvSpPr>
          <p:cNvPr id="319" name="Sub"/>
          <p:cNvSpPr txBox="1"/>
          <p:nvPr/>
        </p:nvSpPr>
        <p:spPr>
          <a:xfrm>
            <a:off x="685800" y="1691640"/>
            <a:ext cx="10607042" cy="320040"/>
          </a:xfrm>
          <a:prstGeom prst="rect">
            <a:avLst/>
          </a:prstGeom>
          <a:ln w="12700">
            <a:noFill/>
            <a:miter lim="400000"/>
          </a:ln>
        </p:spPr>
        <p:txBody>
          <a:bodyPr lIns="45719" rIns="45719" tIns="0" bIns="0" anchor="t"/>
          <a:lstStyle>
            <a:lvl1pPr algn="l">
              <a:defRPr sz="1500">
                <a:solidFill>
                  <a:srgbClr val="2C3352"/>
                </a:solidFill>
                <a:latin typeface="Calibri"/>
              </a:defRPr>
            </a:lvl1pPr>
          </a:lstStyle>
          <a:p>
            <a:pPr/>
            <a:r>
              <a:t>IN WHAT ORDER it gets done</a:t>
            </a:r>
          </a:p>
        </p:txBody>
      </p:sp>
      <p:sp>
        <p:nvSpPr>
          <p:cNvPr id="320" name="Card"/>
          <p:cNvSpPr/>
          <p:nvPr/>
        </p:nvSpPr>
        <p:spPr>
          <a:xfrm>
            <a:off x="640080" y="2286000"/>
            <a:ext cx="10881360" cy="3703320"/>
          </a:xfrm>
          <a:prstGeom prst="roundRect">
            <a:avLst>
              <a:gd name="adj" fmla="val 2500"/>
            </a:avLst>
          </a:prstGeom>
          <a:solidFill>
            <a:srgbClr val="EEF2FC"/>
          </a:solidFill>
          <a:ln w="12700">
            <a:solidFill>
              <a:srgbClr val="CADCFC"/>
            </a:solidFill>
            <a:miter lim="400000"/>
          </a:ln>
        </p:spPr>
        <p:txBody>
          <a:bodyPr lIns="45719" rIns="45719"/>
          <a:lstStyle/>
          <a:p>
            <a:pPr/>
          </a:p>
        </p:txBody>
      </p:sp>
      <p:sp>
        <p:nvSpPr>
          <p:cNvPr id="321" name="Path"/>
          <p:cNvSpPr txBox="1"/>
          <p:nvPr/>
        </p:nvSpPr>
        <p:spPr>
          <a:xfrm>
            <a:off x="960120" y="2560320"/>
            <a:ext cx="10241280" cy="205740"/>
          </a:xfrm>
          <a:prstGeom prst="rect">
            <a:avLst/>
          </a:prstGeom>
          <a:ln w="12700">
            <a:noFill/>
            <a:miter lim="400000"/>
          </a:ln>
        </p:spPr>
        <p:txBody>
          <a:bodyPr lIns="45719" rIns="45719" tIns="0" bIns="0" anchor="t"/>
          <a:lstStyle>
            <a:lvl1pPr algn="l">
              <a:defRPr sz="850">
                <a:solidFill>
                  <a:srgbClr val="5C6484"/>
                </a:solidFill>
                <a:latin typeface="Courier New"/>
              </a:defRPr>
            </a:lvl1pPr>
          </a:lstStyle>
          <a:p>
            <a:pPr/>
            <a:r>
              <a:t>openspec/changes/add-password-reset/tasks.md</a:t>
            </a:r>
          </a:p>
        </p:txBody>
      </p:sp>
      <p:sp>
        <p:nvSpPr>
          <p:cNvPr id="322" name="Body"/>
          <p:cNvSpPr txBox="1"/>
          <p:nvPr/>
        </p:nvSpPr>
        <p:spPr>
          <a:xfrm>
            <a:off x="960120" y="2926080"/>
            <a:ext cx="10241280" cy="2926080"/>
          </a:xfrm>
          <a:prstGeom prst="rect">
            <a:avLst/>
          </a:prstGeom>
          <a:ln w="12700">
            <a:noFill/>
            <a:miter lim="400000"/>
          </a:ln>
        </p:spPr>
        <p:txBody>
          <a:bodyPr lIns="45719" rIns="45719" tIns="0" bIns="0" anchor="t"/>
          <a:lstStyle>
            <a:lvl1pPr algn="l">
              <a:defRPr sz="1000">
                <a:solidFill>
                  <a:srgbClr val="1E2761"/>
                </a:solidFill>
                <a:latin typeface="Courier New"/>
              </a:defRPr>
            </a:lvl1pPr>
          </a:lstStyle>
          <a:p>
            <a:pPr/>
            <a:r>
              <a:t># Tasks</a:t>
            </a:r>
          </a:p>
          <a:p>
            <a:pPr/>
          </a:p>
          <a:p>
            <a:pPr/>
            <a:r>
              <a:t>- [x] Add reset_token to the user record</a:t>
            </a:r>
          </a:p>
          <a:p>
            <a:pPr/>
            <a:r>
              <a:t>- [x] Request endpoint sends the link</a:t>
            </a:r>
          </a:p>
          <a:p>
            <a:pPr/>
            <a:r>
              <a:t>- [ ] Validate the link and expire it on use</a:t>
            </a:r>
          </a:p>
          <a:p>
            <a:pPr/>
            <a:r>
              <a:t>- [ ] Set the new password</a:t>
            </a:r>
          </a:p>
          <a:p>
            <a:pPr/>
            <a:r>
              <a:t>- [ ] Rate limit the request endpoint</a:t>
            </a:r>
          </a:p>
          <a:p>
            <a:pPr/>
            <a:r>
              <a:t>- [ ] Add "Forgot password" to the login page</a:t>
            </a:r>
          </a:p>
        </p:txBody>
      </p:sp>
      <p:sp>
        <p:nvSpPr>
          <p:cNvPr id="323" name="Back">
            <a:hlinkClick xmlns:r="http://schemas.openxmlformats.org/officeDocument/2006/relationships" r:id="rIdBack" action="ppaction://hlinksldjump"/>
          </p:cNvPr>
          <p:cNvSpPr txBox="1"/>
          <p:nvPr/>
        </p:nvSpPr>
        <p:spPr>
          <a:xfrm>
            <a:off x="640080" y="6126480"/>
            <a:ext cx="4572000" cy="228600"/>
          </a:xfrm>
          <a:prstGeom prst="rect">
            <a:avLst/>
          </a:prstGeom>
          <a:ln w="12700">
            <a:noFill/>
            <a:miter lim="400000"/>
          </a:ln>
        </p:spPr>
        <p:txBody>
          <a:bodyPr lIns="45719" rIns="45719" tIns="0" bIns="0" anchor="t"/>
          <a:lstStyle>
            <a:lvl1pPr algn="l">
              <a:defRPr b="1" sz="1050">
                <a:solidFill>
                  <a:srgbClr val="FF6B4A"/>
                </a:solidFill>
                <a:latin typeface="Calibri"/>
              </a:defRPr>
            </a:lvl1pPr>
          </a:lstStyle>
          <a:p>
            <a:pPr/>
            <a:r>
              <a:t>←  Back to the artefacts</a:t>
            </a:r>
          </a:p>
        </p:txBody>
      </p:sp>
      <p:sp>
        <p:nvSpPr>
          <p:cNvPr id="324" name="Note"/>
          <p:cNvSpPr txBox="1"/>
          <p:nvPr/>
        </p:nvSpPr>
        <p:spPr>
          <a:xfrm>
            <a:off x="7315200" y="6126480"/>
            <a:ext cx="4206240" cy="228600"/>
          </a:xfrm>
          <a:prstGeom prst="rect">
            <a:avLst/>
          </a:prstGeom>
          <a:ln w="12700">
            <a:noFill/>
            <a:miter lim="400000"/>
          </a:ln>
        </p:spPr>
        <p:txBody>
          <a:bodyPr lIns="45719" rIns="45719" tIns="0" bIns="0" anchor="t"/>
          <a:lstStyle>
            <a:lvl1pPr algn="r">
              <a:defRPr i="1" sz="900">
                <a:solidFill>
                  <a:srgbClr val="5C6484"/>
                </a:solidFill>
                <a:latin typeface="Calibri"/>
              </a:defRPr>
            </a:lvl1pPr>
          </a:lstStyle>
          <a:p>
            <a:pPr/>
            <a:r>
              <a:t>Illustrative example.</a:t>
            </a:r>
          </a:p>
        </p:txBody>
      </p:sp>
      <p:sp>
        <p:nvSpPr>
          <p:cNvPr id="132" name="Text 14"/>
          <p:cNvSpPr txBox="1"/>
          <p:nvPr/>
        </p:nvSpPr>
        <p:spPr>
          <a:xfrm>
            <a:off x="502919" y="6572163"/>
            <a:ext cx="722376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900">
                <a:solidFill>
                  <a:srgbClr val="5C6484"/>
                </a:solidFill>
                <a:latin typeface="Calibri"/>
              </a:defRPr>
            </a:lvl1pPr>
          </a:lstStyle>
          <a:p>
            <a:pPr/>
            <a:r>
              <a:t>OpenSpec — Spec-Driven Development</a:t>
            </a:r>
          </a:p>
        </p:txBody>
      </p:sp>
      <p:sp>
        <p:nvSpPr>
          <p:cNvPr id="133" name="Text 15"/>
          <p:cNvSpPr txBox="1"/>
          <p:nvPr/>
        </p:nvSpPr>
        <p:spPr>
          <a:xfrm>
            <a:off x="11475719" y="6572163"/>
            <a:ext cx="27432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900">
                <a:solidFill>
                  <a:srgbClr val="5C6484"/>
                </a:solidFill>
                <a:latin typeface="Calibri"/>
              </a:defRPr>
            </a:lvl1pPr>
          </a:lstStyle>
          <a:p>
            <a:pPr/>
            <a:r>
              <a:t>30</a:t>
            </a:r>
          </a:p>
        </p:txBody>
      </p:sp>
    </p:spTree>
  </p:cSld>
  <p:clrMapOvr>
    <a:masterClrMapping/>
  </p:clrMapOvr>
  <p:transition xmlns:p14="http://schemas.microsoft.com/office/powerpoint/2010/main" spd="med" advClick="1"/>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8" name="Text 0"/>
          <p:cNvSpPr txBox="1"/>
          <p:nvPr/>
        </p:nvSpPr>
        <p:spPr>
          <a:xfrm>
            <a:off x="685800" y="545400"/>
            <a:ext cx="7223761" cy="28080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200" sz="1100">
                <a:solidFill>
                  <a:srgbClr val="FF6B4A"/>
                </a:solidFill>
                <a:latin typeface="Calibri"/>
              </a:defRPr>
            </a:lvl1pPr>
          </a:lstStyle>
          <a:p>
            <a:pPr/>
            <a:r>
              <a:t>Working with the business</a:t>
            </a:r>
          </a:p>
        </p:txBody>
      </p:sp>
      <p:sp>
        <p:nvSpPr>
          <p:cNvPr id="119" name="Text 1"/>
          <p:cNvSpPr txBox="1"/>
          <p:nvPr/>
        </p:nvSpPr>
        <p:spPr>
          <a:xfrm>
            <a:off x="685800" y="989463"/>
            <a:ext cx="10789920" cy="48995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3000">
                <a:solidFill>
                  <a:srgbClr val="1E2761"/>
                </a:solidFill>
                <a:latin typeface="Cambria"/>
              </a:defRPr>
            </a:lvl1pPr>
          </a:lstStyle>
          <a:p>
            <a:pPr/>
            <a:r>
              <a:t>When the business already writes the requirements</a:t>
            </a:r>
          </a:p>
        </p:txBody>
      </p:sp>
      <p:sp>
        <p:nvSpPr>
          <p:cNvPr id="132" name="Text 14"/>
          <p:cNvSpPr txBox="1"/>
          <p:nvPr/>
        </p:nvSpPr>
        <p:spPr>
          <a:xfrm>
            <a:off x="502919" y="6572163"/>
            <a:ext cx="722376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900">
                <a:solidFill>
                  <a:srgbClr val="5C6484"/>
                </a:solidFill>
                <a:latin typeface="Calibri"/>
              </a:defRPr>
            </a:lvl1pPr>
          </a:lstStyle>
          <a:p>
            <a:pPr/>
            <a:r>
              <a:t>OpenSpec — Spec-Driven Development</a:t>
            </a:r>
          </a:p>
        </p:txBody>
      </p:sp>
      <p:sp>
        <p:nvSpPr>
          <p:cNvPr id="133" name="Text 15"/>
          <p:cNvSpPr txBox="1"/>
          <p:nvPr/>
        </p:nvSpPr>
        <p:spPr>
          <a:xfrm>
            <a:off x="11475719" y="6572163"/>
            <a:ext cx="27432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900">
                <a:solidFill>
                  <a:srgbClr val="5C6484"/>
                </a:solidFill>
                <a:latin typeface="Calibri"/>
              </a:defRPr>
            </a:lvl1pPr>
          </a:lstStyle>
          <a:p>
            <a:pPr/>
            <a:r>
              <a:t>18</a:t>
            </a:r>
          </a:p>
        </p:txBody>
      </p:sp>
      <p:sp>
        <p:nvSpPr>
          <p:cNvPr id="301" name="Lead"/>
          <p:cNvSpPr txBox="1"/>
          <p:nvPr/>
        </p:nvSpPr>
        <p:spPr>
          <a:xfrm>
            <a:off x="685800" y="1691640"/>
            <a:ext cx="10607042" cy="320040"/>
          </a:xfrm>
          <a:prstGeom prst="rect">
            <a:avLst/>
          </a:prstGeom>
          <a:ln w="12700">
            <a:noFill/>
            <a:miter lim="400000"/>
          </a:ln>
        </p:spPr>
        <p:txBody>
          <a:bodyPr lIns="45719" rIns="45719" tIns="0" bIns="0" anchor="t"/>
          <a:lstStyle>
            <a:lvl1pPr algn="l">
              <a:defRPr sz="1500">
                <a:solidFill>
                  <a:srgbClr val="2C3352"/>
                </a:solidFill>
                <a:latin typeface="Calibri"/>
              </a:defRPr>
            </a:lvl1pPr>
          </a:lstStyle>
          <a:p>
            <a:pPr/>
            <a:r>
              <a:t>OpenSpec does not replace the requirements you already write. It makes the step after them explicit.</a:t>
            </a:r>
          </a:p>
        </p:txBody>
      </p:sp>
      <p:sp>
        <p:nvSpPr>
          <p:cNvPr id="302" name="Box0"/>
          <p:cNvSpPr/>
          <p:nvPr/>
        </p:nvSpPr>
        <p:spPr>
          <a:xfrm>
            <a:off x="640080" y="2377440"/>
            <a:ext cx="3246121" cy="1371601"/>
          </a:xfrm>
          <a:prstGeom prst="roundRect">
            <a:avLst>
              <a:gd name="adj" fmla="val 5000"/>
            </a:avLst>
          </a:prstGeom>
          <a:solidFill>
            <a:srgbClr val="2A3070"/>
          </a:solidFill>
          <a:ln w="12700">
            <a:noFill/>
            <a:miter lim="400000"/>
          </a:ln>
        </p:spPr>
        <p:txBody>
          <a:bodyPr lIns="45719" rIns="45719"/>
          <a:lstStyle/>
          <a:p>
            <a:pPr/>
          </a:p>
        </p:txBody>
      </p:sp>
      <p:sp>
        <p:nvSpPr>
          <p:cNvPr id="303" name="BT0"/>
          <p:cNvSpPr txBox="1"/>
          <p:nvPr/>
        </p:nvSpPr>
        <p:spPr>
          <a:xfrm>
            <a:off x="777239" y="2697480"/>
            <a:ext cx="2971803" cy="320040"/>
          </a:xfrm>
          <a:prstGeom prst="rect">
            <a:avLst/>
          </a:prstGeom>
          <a:ln w="12700">
            <a:noFill/>
            <a:miter lim="400000"/>
          </a:ln>
        </p:spPr>
        <p:txBody>
          <a:bodyPr lIns="45719" rIns="45719" tIns="0" bIns="0" anchor="t"/>
          <a:lstStyle>
            <a:lvl1pPr algn="ctr">
              <a:defRPr b="1" sz="1500">
                <a:solidFill>
                  <a:srgbClr val="FFFFFF"/>
                </a:solidFill>
                <a:latin typeface="Calibri"/>
              </a:defRPr>
            </a:lvl1pPr>
          </a:lstStyle>
          <a:p>
            <a:pPr/>
            <a:r>
              <a:t>Business requirement</a:t>
            </a:r>
          </a:p>
        </p:txBody>
      </p:sp>
      <p:sp>
        <p:nvSpPr>
          <p:cNvPr id="304" name="BS0"/>
          <p:cNvSpPr txBox="1"/>
          <p:nvPr/>
        </p:nvSpPr>
        <p:spPr>
          <a:xfrm>
            <a:off x="868679" y="3108960"/>
            <a:ext cx="2788923" cy="411480"/>
          </a:xfrm>
          <a:prstGeom prst="rect">
            <a:avLst/>
          </a:prstGeom>
          <a:ln w="12700">
            <a:noFill/>
            <a:miter lim="400000"/>
          </a:ln>
        </p:spPr>
        <p:txBody>
          <a:bodyPr lIns="45719" rIns="45719" tIns="0" bIns="0" anchor="t"/>
          <a:lstStyle>
            <a:lvl1pPr algn="ctr">
              <a:defRPr sz="1150">
                <a:solidFill>
                  <a:srgbClr val="9AA3C0"/>
                </a:solidFill>
                <a:latin typeface="Calibri"/>
              </a:defRPr>
            </a:lvl1pPr>
          </a:lstStyle>
          <a:p>
            <a:pPr/>
            <a:r>
              <a:t>a ticket, a PRD, a Confluence page</a:t>
            </a:r>
          </a:p>
        </p:txBody>
      </p:sp>
      <p:sp>
        <p:nvSpPr>
          <p:cNvPr id="305" name="Ar0"/>
          <p:cNvSpPr txBox="1"/>
          <p:nvPr/>
        </p:nvSpPr>
        <p:spPr>
          <a:xfrm>
            <a:off x="3931919" y="2893149"/>
            <a:ext cx="320042" cy="340182"/>
          </a:xfrm>
          <a:prstGeom prst="rect">
            <a:avLst/>
          </a:prstGeom>
          <a:ln w="12700">
            <a:noFill/>
            <a:miter lim="400000"/>
          </a:ln>
        </p:spPr>
        <p:txBody>
          <a:bodyPr lIns="45719" rIns="45719" tIns="0" bIns="0" anchor="ctr"/>
          <a:lstStyle>
            <a:lvl1pPr algn="ctr">
              <a:defRPr sz="1600">
                <a:solidFill>
                  <a:srgbClr val="FF6B4A"/>
                </a:solidFill>
                <a:latin typeface="Calibri"/>
              </a:defRPr>
            </a:lvl1pPr>
          </a:lstStyle>
          <a:p>
            <a:pPr/>
            <a:r>
              <a:t>→</a:t>
            </a:r>
          </a:p>
        </p:txBody>
      </p:sp>
      <p:sp>
        <p:nvSpPr>
          <p:cNvPr id="306" name="Box1"/>
          <p:cNvSpPr/>
          <p:nvPr/>
        </p:nvSpPr>
        <p:spPr>
          <a:xfrm>
            <a:off x="4297679" y="2377440"/>
            <a:ext cx="3246121" cy="1371601"/>
          </a:xfrm>
          <a:prstGeom prst="roundRect">
            <a:avLst>
              <a:gd name="adj" fmla="val 5000"/>
            </a:avLst>
          </a:prstGeom>
          <a:solidFill>
            <a:srgbClr val="EEF2FC"/>
          </a:solidFill>
          <a:ln w="12700">
            <a:solidFill>
              <a:srgbClr val="CADCFC"/>
            </a:solidFill>
            <a:miter lim="400000"/>
          </a:ln>
        </p:spPr>
        <p:txBody>
          <a:bodyPr lIns="45719" rIns="45719"/>
          <a:lstStyle/>
          <a:p>
            <a:pPr/>
          </a:p>
        </p:txBody>
      </p:sp>
      <p:sp>
        <p:nvSpPr>
          <p:cNvPr id="307" name="BT1"/>
          <p:cNvSpPr txBox="1"/>
          <p:nvPr/>
        </p:nvSpPr>
        <p:spPr>
          <a:xfrm>
            <a:off x="4434838" y="2697480"/>
            <a:ext cx="2971803" cy="320040"/>
          </a:xfrm>
          <a:prstGeom prst="rect">
            <a:avLst/>
          </a:prstGeom>
          <a:ln w="12700">
            <a:noFill/>
            <a:miter lim="400000"/>
          </a:ln>
        </p:spPr>
        <p:txBody>
          <a:bodyPr lIns="45719" rIns="45719" tIns="0" bIns="0" anchor="t"/>
          <a:lstStyle>
            <a:lvl1pPr algn="ctr">
              <a:defRPr b="1" sz="1500">
                <a:solidFill>
                  <a:srgbClr val="1E2761"/>
                </a:solidFill>
                <a:latin typeface="Cambria"/>
              </a:defRPr>
            </a:lvl1pPr>
          </a:lstStyle>
          <a:p>
            <a:pPr/>
            <a:r>
              <a:t>proposal.md</a:t>
            </a:r>
          </a:p>
        </p:txBody>
      </p:sp>
      <p:sp>
        <p:nvSpPr>
          <p:cNvPr id="308" name="BS1"/>
          <p:cNvSpPr txBox="1"/>
          <p:nvPr/>
        </p:nvSpPr>
        <p:spPr>
          <a:xfrm>
            <a:off x="4526278" y="3108960"/>
            <a:ext cx="2788923" cy="411480"/>
          </a:xfrm>
          <a:prstGeom prst="rect">
            <a:avLst/>
          </a:prstGeom>
          <a:ln w="12700">
            <a:noFill/>
            <a:miter lim="400000"/>
          </a:ln>
        </p:spPr>
        <p:txBody>
          <a:bodyPr lIns="45719" rIns="45719" tIns="0" bIns="0" anchor="t"/>
          <a:lstStyle>
            <a:lvl1pPr algn="ctr">
              <a:defRPr sz="1150">
                <a:solidFill>
                  <a:srgbClr val="2C3352"/>
                </a:solidFill>
                <a:latin typeface="Calibri"/>
              </a:defRPr>
            </a:lvl1pPr>
          </a:lstStyle>
          <a:p>
            <a:pPr/>
            <a:r>
              <a:t>the why of this change, citing that requirement</a:t>
            </a:r>
          </a:p>
        </p:txBody>
      </p:sp>
      <p:sp>
        <p:nvSpPr>
          <p:cNvPr id="309" name="Ar1"/>
          <p:cNvSpPr txBox="1"/>
          <p:nvPr/>
        </p:nvSpPr>
        <p:spPr>
          <a:xfrm>
            <a:off x="7589518" y="2893149"/>
            <a:ext cx="320042" cy="340182"/>
          </a:xfrm>
          <a:prstGeom prst="rect">
            <a:avLst/>
          </a:prstGeom>
          <a:ln w="12700">
            <a:noFill/>
            <a:miter lim="400000"/>
          </a:ln>
        </p:spPr>
        <p:txBody>
          <a:bodyPr lIns="45719" rIns="45719" tIns="0" bIns="0" anchor="ctr"/>
          <a:lstStyle>
            <a:lvl1pPr algn="ctr">
              <a:defRPr sz="1600">
                <a:solidFill>
                  <a:srgbClr val="FF6B4A"/>
                </a:solidFill>
                <a:latin typeface="Calibri"/>
              </a:defRPr>
            </a:lvl1pPr>
          </a:lstStyle>
          <a:p>
            <a:pPr/>
            <a:r>
              <a:t>→</a:t>
            </a:r>
          </a:p>
        </p:txBody>
      </p:sp>
      <p:sp>
        <p:nvSpPr>
          <p:cNvPr id="310" name="Box2"/>
          <p:cNvSpPr/>
          <p:nvPr/>
        </p:nvSpPr>
        <p:spPr>
          <a:xfrm>
            <a:off x="7955280" y="2377440"/>
            <a:ext cx="3246121" cy="1371601"/>
          </a:xfrm>
          <a:prstGeom prst="roundRect">
            <a:avLst>
              <a:gd name="adj" fmla="val 5000"/>
            </a:avLst>
          </a:prstGeom>
          <a:solidFill>
            <a:srgbClr val="EEF2FC"/>
          </a:solidFill>
          <a:ln w="12700">
            <a:solidFill>
              <a:srgbClr val="CADCFC"/>
            </a:solidFill>
            <a:miter lim="400000"/>
          </a:ln>
        </p:spPr>
        <p:txBody>
          <a:bodyPr lIns="45719" rIns="45719"/>
          <a:lstStyle/>
          <a:p>
            <a:pPr/>
          </a:p>
        </p:txBody>
      </p:sp>
      <p:sp>
        <p:nvSpPr>
          <p:cNvPr id="311" name="BT2"/>
          <p:cNvSpPr txBox="1"/>
          <p:nvPr/>
        </p:nvSpPr>
        <p:spPr>
          <a:xfrm>
            <a:off x="8092439" y="2697480"/>
            <a:ext cx="2971803" cy="320040"/>
          </a:xfrm>
          <a:prstGeom prst="rect">
            <a:avLst/>
          </a:prstGeom>
          <a:ln w="12700">
            <a:noFill/>
            <a:miter lim="400000"/>
          </a:ln>
        </p:spPr>
        <p:txBody>
          <a:bodyPr lIns="45719" rIns="45719" tIns="0" bIns="0" anchor="t"/>
          <a:lstStyle>
            <a:lvl1pPr algn="ctr">
              <a:defRPr b="1" sz="1500">
                <a:solidFill>
                  <a:srgbClr val="1E2761"/>
                </a:solidFill>
                <a:latin typeface="Cambria"/>
              </a:defRPr>
            </a:lvl1pPr>
          </a:lstStyle>
          <a:p>
            <a:pPr/>
            <a:r>
              <a:t>specs/</a:t>
            </a:r>
          </a:p>
        </p:txBody>
      </p:sp>
      <p:sp>
        <p:nvSpPr>
          <p:cNvPr id="312" name="BS2"/>
          <p:cNvSpPr txBox="1"/>
          <p:nvPr/>
        </p:nvSpPr>
        <p:spPr>
          <a:xfrm>
            <a:off x="8183879" y="3108960"/>
            <a:ext cx="2788923" cy="411480"/>
          </a:xfrm>
          <a:prstGeom prst="rect">
            <a:avLst/>
          </a:prstGeom>
          <a:ln w="12700">
            <a:noFill/>
            <a:miter lim="400000"/>
          </a:ln>
        </p:spPr>
        <p:txBody>
          <a:bodyPr lIns="45719" rIns="45719" tIns="0" bIns="0" anchor="t"/>
          <a:lstStyle>
            <a:lvl1pPr algn="ctr">
              <a:defRPr sz="1150">
                <a:solidFill>
                  <a:srgbClr val="2C3352"/>
                </a:solidFill>
                <a:latin typeface="Calibri"/>
              </a:defRPr>
            </a:lvl1pPr>
          </a:lstStyle>
          <a:p>
            <a:pPr/>
            <a:r>
              <a:t>the behaviour derived from it, testable</a:t>
            </a:r>
          </a:p>
        </p:txBody>
      </p:sp>
      <p:sp>
        <p:nvSpPr>
          <p:cNvPr id="313" name="Callout"/>
          <p:cNvSpPr/>
          <p:nvPr/>
        </p:nvSpPr>
        <p:spPr>
          <a:xfrm>
            <a:off x="640080" y="4297680"/>
            <a:ext cx="10881360" cy="594360"/>
          </a:xfrm>
          <a:prstGeom prst="roundRect">
            <a:avLst>
              <a:gd name="adj" fmla="val 12000"/>
            </a:avLst>
          </a:prstGeom>
          <a:solidFill>
            <a:srgbClr val="1E2761"/>
          </a:solidFill>
          <a:ln w="12700">
            <a:noFill/>
            <a:miter lim="400000"/>
          </a:ln>
        </p:spPr>
        <p:txBody>
          <a:bodyPr lIns="45719" rIns="45719"/>
          <a:lstStyle/>
          <a:p>
            <a:pPr/>
          </a:p>
        </p:txBody>
      </p:sp>
      <p:sp>
        <p:nvSpPr>
          <p:cNvPr id="314" name="CalloutT"/>
          <p:cNvSpPr txBox="1"/>
          <p:nvPr/>
        </p:nvSpPr>
        <p:spPr>
          <a:xfrm>
            <a:off x="960120" y="4297680"/>
            <a:ext cx="10241280" cy="594360"/>
          </a:xfrm>
          <a:prstGeom prst="rect">
            <a:avLst/>
          </a:prstGeom>
          <a:ln w="12700">
            <a:noFill/>
            <a:miter lim="400000"/>
          </a:ln>
        </p:spPr>
        <p:txBody>
          <a:bodyPr lIns="45719" rIns="45719" tIns="0" bIns="0" anchor="ctr"/>
          <a:lstStyle>
            <a:lvl1pPr algn="l">
              <a:defRPr b="1" sz="1400">
                <a:solidFill>
                  <a:srgbClr val="FFFFFF"/>
                </a:solidFill>
                <a:latin typeface="Cambria"/>
              </a:defRPr>
            </a:lvl1pPr>
          </a:lstStyle>
          <a:p>
            <a:pPr/>
            <a:r>
              <a:t>The person who wrote the requirement reviews the behaviour derived from it — before any code exists.</a:t>
            </a:r>
          </a:p>
        </p:txBody>
      </p:sp>
      <p:sp>
        <p:nvSpPr>
          <p:cNvPr id="315" name="D0"/>
          <p:cNvSpPr/>
          <p:nvPr/>
        </p:nvSpPr>
        <p:spPr>
          <a:xfrm>
            <a:off x="640080" y="5326380"/>
            <a:ext cx="109729" cy="109729"/>
          </a:xfrm>
          <a:prstGeom prst="rect">
            <a:avLst/>
          </a:prstGeom>
          <a:solidFill>
            <a:srgbClr val="FF6B4A"/>
          </a:solidFill>
          <a:ln w="12700">
            <a:noFill/>
            <a:miter lim="400000"/>
          </a:ln>
        </p:spPr>
        <p:txBody>
          <a:bodyPr lIns="45719" rIns="45719"/>
          <a:lstStyle/>
          <a:p>
            <a:pPr/>
          </a:p>
        </p:txBody>
      </p:sp>
      <p:sp>
        <p:nvSpPr>
          <p:cNvPr id="316" name="H0"/>
          <p:cNvSpPr txBox="1"/>
          <p:nvPr/>
        </p:nvSpPr>
        <p:spPr>
          <a:xfrm>
            <a:off x="960119" y="5257800"/>
            <a:ext cx="3154681" cy="320040"/>
          </a:xfrm>
          <a:prstGeom prst="rect">
            <a:avLst/>
          </a:prstGeom>
          <a:ln w="12700">
            <a:noFill/>
            <a:miter lim="400000"/>
          </a:ln>
        </p:spPr>
        <p:txBody>
          <a:bodyPr lIns="45719" rIns="45719" tIns="0" bIns="0" anchor="t"/>
          <a:lstStyle>
            <a:lvl1pPr algn="l">
              <a:defRPr b="1" sz="1400">
                <a:solidFill>
                  <a:srgbClr val="1E2761"/>
                </a:solidFill>
                <a:latin typeface="Cambria"/>
              </a:defRPr>
            </a:lvl1pPr>
          </a:lstStyle>
          <a:p>
            <a:pPr/>
            <a:r>
              <a:t>Nothing to migrate</a:t>
            </a:r>
          </a:p>
        </p:txBody>
      </p:sp>
      <p:sp>
        <p:nvSpPr>
          <p:cNvPr id="317" name="B0"/>
          <p:cNvSpPr txBox="1"/>
          <p:nvPr/>
        </p:nvSpPr>
        <p:spPr>
          <a:xfrm>
            <a:off x="960119" y="5623560"/>
            <a:ext cx="3154681" cy="731520"/>
          </a:xfrm>
          <a:prstGeom prst="rect">
            <a:avLst/>
          </a:prstGeom>
          <a:ln w="12700">
            <a:noFill/>
            <a:miter lim="400000"/>
          </a:ln>
        </p:spPr>
        <p:txBody>
          <a:bodyPr lIns="45719" rIns="45719" tIns="0" bIns="0" anchor="t"/>
          <a:lstStyle>
            <a:lvl1pPr algn="l">
              <a:defRPr sz="1150">
                <a:solidFill>
                  <a:srgbClr val="2C3352"/>
                </a:solidFill>
                <a:latin typeface="Calibri"/>
              </a:defRPr>
            </a:lvl1pPr>
          </a:lstStyle>
          <a:p>
            <a:pPr/>
            <a:r>
              <a:t>The business keeps writing requirements where it writes them today. No new tool to adopt on their side.</a:t>
            </a:r>
          </a:p>
        </p:txBody>
      </p:sp>
      <p:sp>
        <p:nvSpPr>
          <p:cNvPr id="318" name="D1"/>
          <p:cNvSpPr/>
          <p:nvPr/>
        </p:nvSpPr>
        <p:spPr>
          <a:xfrm>
            <a:off x="4389120" y="5326380"/>
            <a:ext cx="109729" cy="109729"/>
          </a:xfrm>
          <a:prstGeom prst="rect">
            <a:avLst/>
          </a:prstGeom>
          <a:solidFill>
            <a:srgbClr val="FF6B4A"/>
          </a:solidFill>
          <a:ln w="12700">
            <a:noFill/>
            <a:miter lim="400000"/>
          </a:ln>
        </p:spPr>
        <p:txBody>
          <a:bodyPr lIns="45719" rIns="45719"/>
          <a:lstStyle/>
          <a:p>
            <a:pPr/>
          </a:p>
        </p:txBody>
      </p:sp>
      <p:sp>
        <p:nvSpPr>
          <p:cNvPr id="319" name="H1"/>
          <p:cNvSpPr txBox="1"/>
          <p:nvPr/>
        </p:nvSpPr>
        <p:spPr>
          <a:xfrm>
            <a:off x="4709159" y="5257800"/>
            <a:ext cx="3154681" cy="320040"/>
          </a:xfrm>
          <a:prstGeom prst="rect">
            <a:avLst/>
          </a:prstGeom>
          <a:ln w="12700">
            <a:noFill/>
            <a:miter lim="400000"/>
          </a:ln>
        </p:spPr>
        <p:txBody>
          <a:bodyPr lIns="45719" rIns="45719" tIns="0" bIns="0" anchor="t"/>
          <a:lstStyle>
            <a:lvl1pPr algn="l">
              <a:defRPr b="1" sz="1400">
                <a:solidFill>
                  <a:srgbClr val="1E2761"/>
                </a:solidFill>
                <a:latin typeface="Cambria"/>
              </a:defRPr>
            </a:lvl1pPr>
          </a:lstStyle>
          <a:p>
            <a:pPr/>
            <a:r>
              <a:t>The translation stops being silent</a:t>
            </a:r>
          </a:p>
        </p:txBody>
      </p:sp>
      <p:sp>
        <p:nvSpPr>
          <p:cNvPr id="320" name="B1"/>
          <p:cNvSpPr txBox="1"/>
          <p:nvPr/>
        </p:nvSpPr>
        <p:spPr>
          <a:xfrm>
            <a:off x="4709159" y="5623560"/>
            <a:ext cx="3154681" cy="731520"/>
          </a:xfrm>
          <a:prstGeom prst="rect">
            <a:avLst/>
          </a:prstGeom>
          <a:ln w="12700">
            <a:noFill/>
            <a:miter lim="400000"/>
          </a:ln>
        </p:spPr>
        <p:txBody>
          <a:bodyPr lIns="45719" rIns="45719" tIns="0" bIns="0" anchor="t"/>
          <a:lstStyle>
            <a:lvl1pPr algn="l">
              <a:defRPr sz="1150">
                <a:solidFill>
                  <a:srgbClr val="2C3352"/>
                </a:solidFill>
                <a:latin typeface="Calibri"/>
              </a:defRPr>
            </a:lvl1pPr>
          </a:lstStyle>
          <a:p>
            <a:pPr/>
            <a:r>
              <a:t>Today a requirement is interpreted in a developer's head, or in an agent's context window. Here it is written down and checked.</a:t>
            </a:r>
          </a:p>
        </p:txBody>
      </p:sp>
      <p:sp>
        <p:nvSpPr>
          <p:cNvPr id="321" name="D2"/>
          <p:cNvSpPr/>
          <p:nvPr/>
        </p:nvSpPr>
        <p:spPr>
          <a:xfrm>
            <a:off x="8138160" y="5326380"/>
            <a:ext cx="109729" cy="109729"/>
          </a:xfrm>
          <a:prstGeom prst="rect">
            <a:avLst/>
          </a:prstGeom>
          <a:solidFill>
            <a:srgbClr val="FF6B4A"/>
          </a:solidFill>
          <a:ln w="12700">
            <a:noFill/>
            <a:miter lim="400000"/>
          </a:ln>
        </p:spPr>
        <p:txBody>
          <a:bodyPr lIns="45719" rIns="45719"/>
          <a:lstStyle/>
          <a:p>
            <a:pPr/>
          </a:p>
        </p:txBody>
      </p:sp>
      <p:sp>
        <p:nvSpPr>
          <p:cNvPr id="322" name="H2"/>
          <p:cNvSpPr txBox="1"/>
          <p:nvPr/>
        </p:nvSpPr>
        <p:spPr>
          <a:xfrm>
            <a:off x="8458199" y="5257800"/>
            <a:ext cx="3154681" cy="320040"/>
          </a:xfrm>
          <a:prstGeom prst="rect">
            <a:avLst/>
          </a:prstGeom>
          <a:ln w="12700">
            <a:noFill/>
            <a:miter lim="400000"/>
          </a:ln>
        </p:spPr>
        <p:txBody>
          <a:bodyPr lIns="45719" rIns="45719" tIns="0" bIns="0" anchor="t"/>
          <a:lstStyle>
            <a:lvl1pPr algn="l">
              <a:defRPr b="1" sz="1400">
                <a:solidFill>
                  <a:srgbClr val="1E2761"/>
                </a:solidFill>
                <a:latin typeface="Cambria"/>
              </a:defRPr>
            </a:lvl1pPr>
          </a:lstStyle>
          <a:p>
            <a:pPr/>
            <a:r>
              <a:t>Traceable both ways</a:t>
            </a:r>
          </a:p>
        </p:txBody>
      </p:sp>
      <p:sp>
        <p:nvSpPr>
          <p:cNvPr id="323" name="B2"/>
          <p:cNvSpPr txBox="1"/>
          <p:nvPr/>
        </p:nvSpPr>
        <p:spPr>
          <a:xfrm>
            <a:off x="8458199" y="5623560"/>
            <a:ext cx="3154681" cy="731520"/>
          </a:xfrm>
          <a:prstGeom prst="rect">
            <a:avLst/>
          </a:prstGeom>
          <a:ln w="12700">
            <a:noFill/>
            <a:miter lim="400000"/>
          </a:ln>
        </p:spPr>
        <p:txBody>
          <a:bodyPr lIns="45719" rIns="45719" tIns="0" bIns="0" anchor="t"/>
          <a:lstStyle>
            <a:lvl1pPr algn="l">
              <a:defRPr sz="1150">
                <a:solidFill>
                  <a:srgbClr val="2C3352"/>
                </a:solidFill>
                <a:latin typeface="Calibri"/>
              </a:defRPr>
            </a:lvl1pPr>
          </a:lstStyle>
          <a:p>
            <a:pPr/>
            <a:r>
              <a:t>The change cites the requirement; the requirement can be traced to the behaviour that satisfies it.</a:t>
            </a:r>
          </a:p>
        </p:txBody>
      </p:sp>
      <p:sp>
        <p:nvSpPr>
          <p:cNvPr id="301" name="CmdLabel"/>
          <p:cNvSpPr txBox="1"/>
          <p:nvPr/>
        </p:nvSpPr>
        <p:spPr>
          <a:xfrm>
            <a:off x="640080" y="3840480"/>
            <a:ext cx="2560320" cy="251460"/>
          </a:xfrm>
          <a:prstGeom prst="rect">
            <a:avLst/>
          </a:prstGeom>
          <a:ln w="12700">
            <a:noFill/>
            <a:miter lim="400000"/>
          </a:ln>
        </p:spPr>
        <p:txBody>
          <a:bodyPr lIns="45719" rIns="45719" tIns="0" bIns="0" anchor="t"/>
          <a:lstStyle>
            <a:lvl1pPr algn="l">
              <a:defRPr i="1" sz="1050">
                <a:solidFill>
                  <a:srgbClr val="5C6484"/>
                </a:solidFill>
                <a:latin typeface="Calibri"/>
              </a:defRPr>
            </a:lvl1pPr>
          </a:lstStyle>
          <a:p>
            <a:pPr/>
            <a:r>
              <a:t>How it starts:</a:t>
            </a:r>
          </a:p>
        </p:txBody>
      </p:sp>
      <p:sp>
        <p:nvSpPr>
          <p:cNvPr id="302" name="Cmd"/>
          <p:cNvSpPr txBox="1"/>
          <p:nvPr/>
        </p:nvSpPr>
        <p:spPr>
          <a:xfrm>
            <a:off x="2194560" y="3840480"/>
            <a:ext cx="9326880" cy="251460"/>
          </a:xfrm>
          <a:prstGeom prst="rect">
            <a:avLst/>
          </a:prstGeom>
          <a:ln w="12700">
            <a:noFill/>
            <a:miter lim="400000"/>
          </a:ln>
        </p:spPr>
        <p:txBody>
          <a:bodyPr lIns="45719" rIns="45719" tIns="0" bIns="0" anchor="t"/>
          <a:lstStyle>
            <a:lvl1pPr algn="l">
              <a:defRPr sz="1050">
                <a:solidFill>
                  <a:srgbClr val="1E2761"/>
                </a:solidFill>
                <a:latin typeface="Courier New"/>
              </a:defRPr>
            </a:lvl1pPr>
          </a:lstStyle>
          <a:p>
            <a:pPr/>
            <a:r>
              <a:t>/opsx:propose "JIRA-1234 — users must reset their password without contacting support"</a:t>
            </a:r>
          </a:p>
        </p:txBody>
      </p:sp>
    </p:spTree>
  </p:cSld>
  <p:clrMapOvr>
    <a:masterClrMapping/>
  </p:clrMapOvr>
  <p:transition xmlns:p14="http://schemas.microsoft.com/office/powerpoint/2010/main" spd="med" advClick="1"/>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8" name="Text 0"/>
          <p:cNvSpPr txBox="1"/>
          <p:nvPr/>
        </p:nvSpPr>
        <p:spPr>
          <a:xfrm>
            <a:off x="685800" y="545400"/>
            <a:ext cx="7223761" cy="28080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200" sz="1100">
                <a:solidFill>
                  <a:srgbClr val="FF6B4A"/>
                </a:solidFill>
                <a:latin typeface="Calibri"/>
              </a:defRPr>
            </a:lvl1pPr>
          </a:lstStyle>
          <a:p>
            <a:pPr/>
            <a:r>
              <a:t>Before the loop</a:t>
            </a:r>
          </a:p>
        </p:txBody>
      </p:sp>
      <p:sp>
        <p:nvSpPr>
          <p:cNvPr id="119" name="Text 1"/>
          <p:cNvSpPr txBox="1"/>
          <p:nvPr/>
        </p:nvSpPr>
        <p:spPr>
          <a:xfrm>
            <a:off x="685800" y="989463"/>
            <a:ext cx="10789920" cy="48995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3000">
                <a:solidFill>
                  <a:srgbClr val="1E2761"/>
                </a:solidFill>
                <a:latin typeface="Cambria"/>
              </a:defRPr>
            </a:lvl1pPr>
          </a:lstStyle>
          <a:p>
            <a:pPr/>
            <a:r>
              <a:t>Explore — the conversation before the commitment</a:t>
            </a:r>
          </a:p>
        </p:txBody>
      </p:sp>
      <p:sp>
        <p:nvSpPr>
          <p:cNvPr id="132" name="Text 14"/>
          <p:cNvSpPr txBox="1"/>
          <p:nvPr/>
        </p:nvSpPr>
        <p:spPr>
          <a:xfrm>
            <a:off x="502919" y="6572163"/>
            <a:ext cx="722376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900">
                <a:solidFill>
                  <a:srgbClr val="5C6484"/>
                </a:solidFill>
                <a:latin typeface="Calibri"/>
              </a:defRPr>
            </a:lvl1pPr>
          </a:lstStyle>
          <a:p>
            <a:pPr/>
            <a:r>
              <a:t>OpenSpec — Spec-Driven Development</a:t>
            </a:r>
          </a:p>
        </p:txBody>
      </p:sp>
      <p:sp>
        <p:nvSpPr>
          <p:cNvPr id="133" name="Text 15"/>
          <p:cNvSpPr txBox="1"/>
          <p:nvPr/>
        </p:nvSpPr>
        <p:spPr>
          <a:xfrm>
            <a:off x="11475719" y="6572163"/>
            <a:ext cx="27432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900">
                <a:solidFill>
                  <a:srgbClr val="5C6484"/>
                </a:solidFill>
                <a:latin typeface="Calibri"/>
              </a:defRPr>
            </a:lvl1pPr>
          </a:lstStyle>
          <a:p>
            <a:pPr/>
            <a:r>
              <a:t>19</a:t>
            </a:r>
          </a:p>
        </p:txBody>
      </p:sp>
      <p:sp>
        <p:nvSpPr>
          <p:cNvPr id="301" name="Lead"/>
          <p:cNvSpPr txBox="1"/>
          <p:nvPr/>
        </p:nvSpPr>
        <p:spPr>
          <a:xfrm>
            <a:off x="685800" y="1691640"/>
            <a:ext cx="5029200" cy="548640"/>
          </a:xfrm>
          <a:prstGeom prst="rect">
            <a:avLst/>
          </a:prstGeom>
          <a:ln w="12700">
            <a:noFill/>
            <a:miter lim="400000"/>
          </a:ln>
        </p:spPr>
        <p:txBody>
          <a:bodyPr lIns="45719" rIns="45719" tIns="0" bIns="0" anchor="t"/>
          <a:lstStyle>
            <a:lvl1pPr algn="l">
              <a:defRPr sz="1450">
                <a:solidFill>
                  <a:srgbClr val="2C3352"/>
                </a:solidFill>
                <a:latin typeface="Calibri"/>
              </a:defRPr>
            </a:lvl1pPr>
          </a:lstStyle>
          <a:p>
            <a:pPr/>
            <a:r>
              <a:t>OpenSpec installs instructions, not a program. /opsx:explore tells the agent to take a specific role.</a:t>
            </a:r>
          </a:p>
        </p:txBody>
      </p:sp>
      <p:sp>
        <p:nvSpPr>
          <p:cNvPr id="302" name="D0"/>
          <p:cNvSpPr/>
          <p:nvPr/>
        </p:nvSpPr>
        <p:spPr>
          <a:xfrm>
            <a:off x="640080" y="2628900"/>
            <a:ext cx="137160" cy="137160"/>
          </a:xfrm>
          <a:prstGeom prst="ellipse">
            <a:avLst/>
          </a:prstGeom>
          <a:solidFill>
            <a:srgbClr val="FF6B4A"/>
          </a:solidFill>
          <a:ln w="12700">
            <a:noFill/>
            <a:miter lim="400000"/>
          </a:ln>
        </p:spPr>
        <p:txBody>
          <a:bodyPr lIns="45719" rIns="45719"/>
          <a:lstStyle/>
          <a:p>
            <a:pPr/>
          </a:p>
        </p:txBody>
      </p:sp>
      <p:sp>
        <p:nvSpPr>
          <p:cNvPr id="303" name="H0"/>
          <p:cNvSpPr txBox="1"/>
          <p:nvPr/>
        </p:nvSpPr>
        <p:spPr>
          <a:xfrm>
            <a:off x="960120" y="2560320"/>
            <a:ext cx="4709160" cy="320040"/>
          </a:xfrm>
          <a:prstGeom prst="rect">
            <a:avLst/>
          </a:prstGeom>
          <a:ln w="12700">
            <a:noFill/>
            <a:miter lim="400000"/>
          </a:ln>
        </p:spPr>
        <p:txBody>
          <a:bodyPr lIns="45719" rIns="45719" tIns="0" bIns="0" anchor="t"/>
          <a:lstStyle>
            <a:lvl1pPr algn="l">
              <a:defRPr b="1" sz="1500">
                <a:solidFill>
                  <a:srgbClr val="1E2761"/>
                </a:solidFill>
                <a:latin typeface="Cambria"/>
              </a:defRPr>
            </a:lvl1pPr>
          </a:lstStyle>
          <a:p>
            <a:pPr/>
            <a:r>
              <a:t>It writes nothing</a:t>
            </a:r>
          </a:p>
        </p:txBody>
      </p:sp>
      <p:sp>
        <p:nvSpPr>
          <p:cNvPr id="304" name="B0"/>
          <p:cNvSpPr txBox="1"/>
          <p:nvPr/>
        </p:nvSpPr>
        <p:spPr>
          <a:xfrm>
            <a:off x="960120" y="2926080"/>
            <a:ext cx="4709160" cy="594360"/>
          </a:xfrm>
          <a:prstGeom prst="rect">
            <a:avLst/>
          </a:prstGeom>
          <a:ln w="12700">
            <a:noFill/>
            <a:miter lim="400000"/>
          </a:ln>
        </p:spPr>
        <p:txBody>
          <a:bodyPr lIns="45719" rIns="45719" tIns="0" bIns="0" anchor="t"/>
          <a:lstStyle>
            <a:lvl1pPr algn="l">
              <a:defRPr sz="1200">
                <a:solidFill>
                  <a:srgbClr val="2C3352"/>
                </a:solidFill>
                <a:latin typeface="Calibri"/>
              </a:defRPr>
            </a:lvl1pPr>
          </a:lstStyle>
          <a:p>
            <a:pPr/>
            <a:r>
              <a:t>No file, no code, no spec. You can be wrong for free — and change your mind twice.</a:t>
            </a:r>
          </a:p>
        </p:txBody>
      </p:sp>
      <p:sp>
        <p:nvSpPr>
          <p:cNvPr id="305" name="D1"/>
          <p:cNvSpPr/>
          <p:nvPr/>
        </p:nvSpPr>
        <p:spPr>
          <a:xfrm>
            <a:off x="640080" y="3589020"/>
            <a:ext cx="137160" cy="137160"/>
          </a:xfrm>
          <a:prstGeom prst="ellipse">
            <a:avLst/>
          </a:prstGeom>
          <a:solidFill>
            <a:srgbClr val="FF6B4A"/>
          </a:solidFill>
          <a:ln w="12700">
            <a:noFill/>
            <a:miter lim="400000"/>
          </a:ln>
        </p:spPr>
        <p:txBody>
          <a:bodyPr lIns="45719" rIns="45719"/>
          <a:lstStyle/>
          <a:p>
            <a:pPr/>
          </a:p>
        </p:txBody>
      </p:sp>
      <p:sp>
        <p:nvSpPr>
          <p:cNvPr id="306" name="H1"/>
          <p:cNvSpPr txBox="1"/>
          <p:nvPr/>
        </p:nvSpPr>
        <p:spPr>
          <a:xfrm>
            <a:off x="960120" y="3520440"/>
            <a:ext cx="4709160" cy="320040"/>
          </a:xfrm>
          <a:prstGeom prst="rect">
            <a:avLst/>
          </a:prstGeom>
          <a:ln w="12700">
            <a:noFill/>
            <a:miter lim="400000"/>
          </a:ln>
        </p:spPr>
        <p:txBody>
          <a:bodyPr lIns="45719" rIns="45719" tIns="0" bIns="0" anchor="t"/>
          <a:lstStyle>
            <a:lvl1pPr algn="l">
              <a:defRPr b="1" sz="1500">
                <a:solidFill>
                  <a:srgbClr val="1E2761"/>
                </a:solidFill>
                <a:latin typeface="Cambria"/>
              </a:defRPr>
            </a:lvl1pPr>
          </a:lstStyle>
          <a:p>
            <a:pPr/>
            <a:r>
              <a:t>It reads the repository first</a:t>
            </a:r>
          </a:p>
        </p:txBody>
      </p:sp>
      <p:sp>
        <p:nvSpPr>
          <p:cNvPr id="307" name="B1"/>
          <p:cNvSpPr txBox="1"/>
          <p:nvPr/>
        </p:nvSpPr>
        <p:spPr>
          <a:xfrm>
            <a:off x="960120" y="3886200"/>
            <a:ext cx="4709160" cy="594360"/>
          </a:xfrm>
          <a:prstGeom prst="rect">
            <a:avLst/>
          </a:prstGeom>
          <a:ln w="12700">
            <a:noFill/>
            <a:miter lim="400000"/>
          </a:ln>
        </p:spPr>
        <p:txBody>
          <a:bodyPr lIns="45719" rIns="45719" tIns="0" bIns="0" anchor="t"/>
          <a:lstStyle>
            <a:lvl1pPr algn="l">
              <a:defRPr sz="1200">
                <a:solidFill>
                  <a:srgbClr val="2C3352"/>
                </a:solidFill>
                <a:latin typeface="Calibri"/>
              </a:defRPr>
            </a:lvl1pPr>
          </a:lstStyle>
          <a:p>
            <a:pPr/>
            <a:r>
              <a:t>The agent checks the idea against the specs and the code that already exist, instead of reasoning in the void.</a:t>
            </a:r>
          </a:p>
        </p:txBody>
      </p:sp>
      <p:sp>
        <p:nvSpPr>
          <p:cNvPr id="308" name="D2"/>
          <p:cNvSpPr/>
          <p:nvPr/>
        </p:nvSpPr>
        <p:spPr>
          <a:xfrm>
            <a:off x="640080" y="4549140"/>
            <a:ext cx="137160" cy="137160"/>
          </a:xfrm>
          <a:prstGeom prst="ellipse">
            <a:avLst/>
          </a:prstGeom>
          <a:solidFill>
            <a:srgbClr val="FF6B4A"/>
          </a:solidFill>
          <a:ln w="12700">
            <a:noFill/>
            <a:miter lim="400000"/>
          </a:ln>
        </p:spPr>
        <p:txBody>
          <a:bodyPr lIns="45719" rIns="45719"/>
          <a:lstStyle/>
          <a:p>
            <a:pPr/>
          </a:p>
        </p:txBody>
      </p:sp>
      <p:sp>
        <p:nvSpPr>
          <p:cNvPr id="309" name="H2"/>
          <p:cNvSpPr txBox="1"/>
          <p:nvPr/>
        </p:nvSpPr>
        <p:spPr>
          <a:xfrm>
            <a:off x="960120" y="4480560"/>
            <a:ext cx="4709160" cy="320040"/>
          </a:xfrm>
          <a:prstGeom prst="rect">
            <a:avLst/>
          </a:prstGeom>
          <a:ln w="12700">
            <a:noFill/>
            <a:miter lim="400000"/>
          </a:ln>
        </p:spPr>
        <p:txBody>
          <a:bodyPr lIns="45719" rIns="45719" tIns="0" bIns="0" anchor="t"/>
          <a:lstStyle>
            <a:lvl1pPr algn="l">
              <a:defRPr b="1" sz="1500">
                <a:solidFill>
                  <a:srgbClr val="1E2761"/>
                </a:solidFill>
                <a:latin typeface="Cambria"/>
              </a:defRPr>
            </a:lvl1pPr>
          </a:lstStyle>
          <a:p>
            <a:pPr/>
            <a:r>
              <a:t>It converges on a scopeable change</a:t>
            </a:r>
          </a:p>
        </p:txBody>
      </p:sp>
      <p:sp>
        <p:nvSpPr>
          <p:cNvPr id="310" name="B2"/>
          <p:cNvSpPr txBox="1"/>
          <p:nvPr/>
        </p:nvSpPr>
        <p:spPr>
          <a:xfrm>
            <a:off x="960120" y="4846320"/>
            <a:ext cx="4709160" cy="594360"/>
          </a:xfrm>
          <a:prstGeom prst="rect">
            <a:avLst/>
          </a:prstGeom>
          <a:ln w="12700">
            <a:noFill/>
            <a:miter lim="400000"/>
          </a:ln>
        </p:spPr>
        <p:txBody>
          <a:bodyPr lIns="45719" rIns="45719" tIns="0" bIns="0" anchor="t"/>
          <a:lstStyle>
            <a:lvl1pPr algn="l">
              <a:defRPr sz="1200">
                <a:solidFill>
                  <a:srgbClr val="2C3352"/>
                </a:solidFill>
                <a:latin typeface="Calibri"/>
              </a:defRPr>
            </a:lvl1pPr>
          </a:lstStyle>
          <a:p>
            <a:pPr/>
            <a:r>
              <a:t>The output is not a document. It is an agreement on what the next change actually is.</a:t>
            </a:r>
          </a:p>
        </p:txBody>
      </p:sp>
      <p:sp>
        <p:nvSpPr>
          <p:cNvPr id="311" name="Card"/>
          <p:cNvSpPr/>
          <p:nvPr/>
        </p:nvSpPr>
        <p:spPr>
          <a:xfrm>
            <a:off x="6217920" y="2103120"/>
            <a:ext cx="5303520" cy="3840480"/>
          </a:xfrm>
          <a:prstGeom prst="roundRect">
            <a:avLst>
              <a:gd name="adj" fmla="val 3000"/>
            </a:avLst>
          </a:prstGeom>
          <a:solidFill>
            <a:srgbClr val="EEF2FC"/>
          </a:solidFill>
          <a:ln w="12700">
            <a:solidFill>
              <a:srgbClr val="CADCFC"/>
            </a:solidFill>
            <a:miter lim="400000"/>
          </a:ln>
        </p:spPr>
        <p:txBody>
          <a:bodyPr lIns="45719" rIns="45719"/>
          <a:lstStyle/>
          <a:p>
            <a:pPr/>
          </a:p>
        </p:txBody>
      </p:sp>
      <p:sp>
        <p:nvSpPr>
          <p:cNvPr id="312" name="Dlg"/>
          <p:cNvSpPr txBox="1"/>
          <p:nvPr/>
        </p:nvSpPr>
        <p:spPr>
          <a:xfrm>
            <a:off x="6492240" y="2377440"/>
            <a:ext cx="4754880" cy="3291840"/>
          </a:xfrm>
          <a:prstGeom prst="rect">
            <a:avLst/>
          </a:prstGeom>
          <a:ln w="12700">
            <a:noFill/>
            <a:miter lim="400000"/>
          </a:ln>
        </p:spPr>
        <p:txBody>
          <a:bodyPr lIns="45719" rIns="45719" tIns="0" bIns="0" anchor="t"/>
          <a:lstStyle>
            <a:lvl1pPr algn="l">
              <a:defRPr sz="900">
                <a:solidFill>
                  <a:srgbClr val="1E2761"/>
                </a:solidFill>
                <a:latin typeface="Courier New"/>
              </a:defRPr>
            </a:lvl1pPr>
          </a:lstStyle>
          <a:p>
            <a:pPr/>
            <a:r>
              <a:t>You:  /opsx:explore</a:t>
            </a:r>
          </a:p>
          <a:p>
            <a:pPr/>
          </a:p>
          <a:p>
            <a:pPr/>
            <a:r>
              <a:t>AI:   What would you like to explore?</a:t>
            </a:r>
          </a:p>
          <a:p>
            <a:pPr/>
          </a:p>
          <a:p>
            <a:pPr/>
            <a:r>
              <a:t>You:  Read openspec/input/PRD-portal.md — the</a:t>
            </a:r>
          </a:p>
          <a:p>
            <a:pPr/>
            <a:r>
              <a:t>      business requirements. How many changes</a:t>
            </a:r>
          </a:p>
          <a:p>
            <a:pPr/>
            <a:r>
              <a:t>      is this, and where does it conflict with</a:t>
            </a:r>
          </a:p>
          <a:p>
            <a:pPr/>
            <a:r>
              <a:t>      what we already have?</a:t>
            </a:r>
          </a:p>
          <a:p>
            <a:pPr/>
          </a:p>
          <a:p>
            <a:pPr/>
            <a:r>
              <a:t>AI:   Eight capabilities. Five are covered by</a:t>
            </a:r>
          </a:p>
          <a:p>
            <a:pPr/>
            <a:r>
              <a:t>      existing specs, three are new.</a:t>
            </a:r>
          </a:p>
          <a:p>
            <a:pPr/>
            <a:r>
              <a:t>      Section 4.2 says invoices are available</a:t>
            </a:r>
          </a:p>
          <a:p>
            <a:pPr/>
            <a:r>
              <a:t>      immediately; our billing spec says nightly.</a:t>
            </a:r>
          </a:p>
          <a:p>
            <a:pPr/>
            <a:r>
              <a:t>      Which wins?</a:t>
            </a:r>
          </a:p>
          <a:p>
            <a:pPr/>
            <a:r>
              <a:t>      Sections 6 and 7 are the mobile app —</a:t>
            </a:r>
          </a:p>
          <a:p>
            <a:pPr/>
            <a:r>
              <a:t>      another repository.</a:t>
            </a:r>
          </a:p>
          <a:p>
            <a:pPr/>
          </a:p>
          <a:p>
            <a:pPr/>
            <a:r>
              <a:t>You:  Billing stays nightly. Skip 6 and 7.</a:t>
            </a:r>
          </a:p>
          <a:p>
            <a:pPr/>
            <a:r>
              <a:t>      Start with password reset.</a:t>
            </a:r>
          </a:p>
          <a:p>
            <a:pPr/>
          </a:p>
          <a:p>
            <a:pPr/>
            <a:r>
              <a:t>You:  /opsx:propose add-password-reset</a:t>
            </a:r>
          </a:p>
        </p:txBody>
      </p:sp>
      <p:sp>
        <p:nvSpPr>
          <p:cNvPr id="313" name="Close"/>
          <p:cNvSpPr txBox="1"/>
          <p:nvPr/>
        </p:nvSpPr>
        <p:spPr>
          <a:xfrm>
            <a:off x="640080" y="5943600"/>
            <a:ext cx="5029200" cy="320040"/>
          </a:xfrm>
          <a:prstGeom prst="rect">
            <a:avLst/>
          </a:prstGeom>
          <a:ln w="12700">
            <a:noFill/>
            <a:miter lim="400000"/>
          </a:ln>
        </p:spPr>
        <p:txBody>
          <a:bodyPr lIns="45719" rIns="45719" tIns="0" bIns="0" anchor="t"/>
          <a:lstStyle>
            <a:lvl1pPr algn="l">
              <a:defRPr b="1" sz="1250">
                <a:solidFill>
                  <a:srgbClr val="1E2761"/>
                </a:solidFill>
                <a:latin typeface="Cambria"/>
              </a:defRPr>
            </a:lvl1pPr>
          </a:lstStyle>
          <a:p>
            <a:pPr/>
            <a:r>
              <a:t>Optional — and the habit that pays most.</a:t>
            </a:r>
          </a:p>
        </p:txBody>
      </p:sp>
      <p:sp>
        <p:nvSpPr>
          <p:cNvPr id="314" name="Note"/>
          <p:cNvSpPr txBox="1"/>
          <p:nvPr/>
        </p:nvSpPr>
        <p:spPr>
          <a:xfrm>
            <a:off x="6217920" y="5943600"/>
            <a:ext cx="5303520" cy="320040"/>
          </a:xfrm>
          <a:prstGeom prst="rect">
            <a:avLst/>
          </a:prstGeom>
          <a:ln w="12700">
            <a:noFill/>
            <a:miter lim="400000"/>
          </a:ln>
        </p:spPr>
        <p:txBody>
          <a:bodyPr lIns="45719" rIns="45719" tIns="0" bIns="0" anchor="t"/>
          <a:lstStyle>
            <a:lvl1pPr algn="l">
              <a:defRPr i="1" sz="900">
                <a:solidFill>
                  <a:srgbClr val="5C6484"/>
                </a:solidFill>
                <a:latin typeface="Calibri"/>
              </a:defRPr>
            </a:lvl1pPr>
          </a:lstStyle>
          <a:p>
            <a:pPr/>
            <a:r>
              <a:t>Illustrative exchange. Explore creates no artefacts.</a:t>
            </a:r>
          </a:p>
        </p:txBody>
      </p:sp>
    </p:spTree>
  </p:cSld>
  <p:clrMapOvr>
    <a:masterClrMapping/>
  </p:clrMapOvr>
  <p:transition xmlns:p14="http://schemas.microsoft.com/office/powerpoint/2010/main" spd="med" advClick="1"/>
</p:sld>
</file>

<file path=ppt/slides/slide2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8" name="Text 0"/>
          <p:cNvSpPr txBox="1"/>
          <p:nvPr/>
        </p:nvSpPr>
        <p:spPr>
          <a:xfrm>
            <a:off x="685800" y="545400"/>
            <a:ext cx="7223761" cy="28080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200" sz="1100">
                <a:solidFill>
                  <a:srgbClr val="FF6B4A"/>
                </a:solidFill>
                <a:latin typeface="Calibri"/>
              </a:defRPr>
            </a:lvl1pPr>
          </a:lstStyle>
          <a:p>
            <a:pPr/>
            <a:r>
              <a:t>Reference</a:t>
            </a:r>
          </a:p>
        </p:txBody>
      </p:sp>
      <p:sp>
        <p:nvSpPr>
          <p:cNvPr id="119" name="Text 1"/>
          <p:cNvSpPr txBox="1"/>
          <p:nvPr/>
        </p:nvSpPr>
        <p:spPr>
          <a:xfrm>
            <a:off x="685800" y="989463"/>
            <a:ext cx="10789920" cy="48995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3000">
                <a:solidFill>
                  <a:srgbClr val="1E2761"/>
                </a:solidFill>
                <a:latin typeface="Cambria"/>
              </a:defRPr>
            </a:lvl1pPr>
          </a:lstStyle>
          <a:p>
            <a:pPr/>
            <a:r>
              <a:t>The /opsx commands</a:t>
            </a:r>
          </a:p>
        </p:txBody>
      </p:sp>
      <p:sp>
        <p:nvSpPr>
          <p:cNvPr id="132" name="Text 14"/>
          <p:cNvSpPr txBox="1"/>
          <p:nvPr/>
        </p:nvSpPr>
        <p:spPr>
          <a:xfrm>
            <a:off x="502919" y="6572163"/>
            <a:ext cx="722376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900">
                <a:solidFill>
                  <a:srgbClr val="5C6484"/>
                </a:solidFill>
                <a:latin typeface="Calibri"/>
              </a:defRPr>
            </a:lvl1pPr>
          </a:lstStyle>
          <a:p>
            <a:pPr/>
            <a:r>
              <a:t>OpenSpec — Spec-Driven Development</a:t>
            </a:r>
          </a:p>
        </p:txBody>
      </p:sp>
      <p:sp>
        <p:nvSpPr>
          <p:cNvPr id="133" name="Text 15"/>
          <p:cNvSpPr txBox="1"/>
          <p:nvPr/>
        </p:nvSpPr>
        <p:spPr>
          <a:xfrm>
            <a:off x="11475719" y="6572163"/>
            <a:ext cx="27432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900">
                <a:solidFill>
                  <a:srgbClr val="5C6484"/>
                </a:solidFill>
                <a:latin typeface="Calibri"/>
              </a:defRPr>
            </a:lvl1pPr>
          </a:lstStyle>
          <a:p>
            <a:pPr/>
            <a:r>
              <a:t>20</a:t>
            </a:r>
          </a:p>
        </p:txBody>
      </p:sp>
      <p:sp>
        <p:nvSpPr>
          <p:cNvPr id="301" name="Lead"/>
          <p:cNvSpPr txBox="1"/>
          <p:nvPr/>
        </p:nvSpPr>
        <p:spPr>
          <a:xfrm>
            <a:off x="685800" y="1691640"/>
            <a:ext cx="10607042" cy="320040"/>
          </a:xfrm>
          <a:prstGeom prst="rect">
            <a:avLst/>
          </a:prstGeom>
          <a:ln w="12700">
            <a:noFill/>
            <a:miter lim="400000"/>
          </a:ln>
        </p:spPr>
        <p:txBody>
          <a:bodyPr lIns="45719" rIns="45719" tIns="0" bIns="0" anchor="t"/>
          <a:lstStyle>
            <a:lvl1pPr algn="l">
              <a:defRPr sz="1450">
                <a:solidFill>
                  <a:srgbClr val="2C3352"/>
                </a:solidFill>
                <a:latin typeface="Calibri"/>
              </a:defRPr>
            </a:lvl1pPr>
          </a:lstStyle>
          <a:p>
            <a:pPr/>
            <a:r>
              <a:t>Six commands are installed by default. The rest come with the expanded profile, enabled by openspec config profile.</a:t>
            </a:r>
          </a:p>
        </p:txBody>
      </p:sp>
      <p:sp>
        <p:nvSpPr>
          <p:cNvPr id="302" name="CTHE NORMAL WORKFLOW"/>
          <p:cNvSpPr/>
          <p:nvPr/>
        </p:nvSpPr>
        <p:spPr>
          <a:xfrm>
            <a:off x="640080" y="2286000"/>
            <a:ext cx="4937760" cy="3383280"/>
          </a:xfrm>
          <a:prstGeom prst="roundRect">
            <a:avLst>
              <a:gd name="adj" fmla="val 3500"/>
            </a:avLst>
          </a:prstGeom>
          <a:solidFill>
            <a:srgbClr val="EEF2FC"/>
          </a:solidFill>
          <a:ln w="12700">
            <a:solidFill>
              <a:srgbClr val="CADCFC"/>
            </a:solidFill>
            <a:miter lim="400000"/>
          </a:ln>
        </p:spPr>
        <p:txBody>
          <a:bodyPr lIns="45719" rIns="45719"/>
          <a:lstStyle/>
          <a:p>
            <a:pPr/>
          </a:p>
        </p:txBody>
      </p:sp>
      <p:sp>
        <p:nvSpPr>
          <p:cNvPr id="303" name="HTHE NORMAL WORKFLOW"/>
          <p:cNvSpPr/>
          <p:nvPr/>
        </p:nvSpPr>
        <p:spPr>
          <a:xfrm>
            <a:off x="640080" y="2286000"/>
            <a:ext cx="4937760" cy="548641"/>
          </a:xfrm>
          <a:prstGeom prst="roundRect">
            <a:avLst>
              <a:gd name="adj" fmla="val 19000"/>
            </a:avLst>
          </a:prstGeom>
          <a:solidFill>
            <a:srgbClr val="1E2761"/>
          </a:solidFill>
          <a:ln w="12700">
            <a:noFill/>
            <a:miter lim="400000"/>
          </a:ln>
        </p:spPr>
        <p:txBody>
          <a:bodyPr lIns="45719" rIns="45719"/>
          <a:lstStyle/>
          <a:p>
            <a:pPr/>
          </a:p>
        </p:txBody>
      </p:sp>
      <p:sp>
        <p:nvSpPr>
          <p:cNvPr id="304" name="LTHE NORMAL WORKFLOW"/>
          <p:cNvSpPr txBox="1"/>
          <p:nvPr/>
        </p:nvSpPr>
        <p:spPr>
          <a:xfrm>
            <a:off x="640080" y="2410024"/>
            <a:ext cx="4937760" cy="300594"/>
          </a:xfrm>
          <a:prstGeom prst="rect">
            <a:avLst/>
          </a:prstGeom>
          <a:ln w="12700">
            <a:noFill/>
            <a:miter lim="400000"/>
          </a:ln>
        </p:spPr>
        <p:txBody>
          <a:bodyPr lIns="45719" rIns="45719" tIns="0" bIns="0" anchor="t"/>
          <a:lstStyle>
            <a:lvl1pPr algn="ctr">
              <a:defRPr b="1" sz="1200">
                <a:solidFill>
                  <a:srgbClr val="FFFFFF"/>
                </a:solidFill>
                <a:latin typeface="Cambria"/>
              </a:defRPr>
            </a:lvl1pPr>
          </a:lstStyle>
          <a:p>
            <a:pPr/>
            <a:r>
              <a:t>DEFAULT PROFILE</a:t>
            </a:r>
          </a:p>
        </p:txBody>
      </p:sp>
      <p:sp>
        <p:nvSpPr>
          <p:cNvPr id="305" name="NTHE NORMAL WORKFLOW0"/>
          <p:cNvSpPr txBox="1"/>
          <p:nvPr/>
        </p:nvSpPr>
        <p:spPr>
          <a:xfrm>
            <a:off x="914400" y="3154680"/>
            <a:ext cx="1737360" cy="251460"/>
          </a:xfrm>
          <a:prstGeom prst="rect">
            <a:avLst/>
          </a:prstGeom>
          <a:ln w="12700">
            <a:noFill/>
            <a:miter lim="400000"/>
          </a:ln>
        </p:spPr>
        <p:txBody>
          <a:bodyPr lIns="45719" rIns="45719" tIns="0" bIns="0" anchor="t"/>
          <a:lstStyle>
            <a:lvl1pPr algn="l">
              <a:defRPr b="1" sz="950">
                <a:solidFill>
                  <a:srgbClr val="1E2761"/>
                </a:solidFill>
                <a:latin typeface="Courier New"/>
              </a:defRPr>
            </a:lvl1pPr>
          </a:lstStyle>
          <a:p>
            <a:pPr/>
            <a:r>
              <a:t>/opsx:propose</a:t>
            </a:r>
          </a:p>
        </p:txBody>
      </p:sp>
      <p:sp>
        <p:nvSpPr>
          <p:cNvPr id="306" name="DTHE NORMAL WORKFLOW0"/>
          <p:cNvSpPr txBox="1"/>
          <p:nvPr/>
        </p:nvSpPr>
        <p:spPr>
          <a:xfrm>
            <a:off x="2743200" y="3154680"/>
            <a:ext cx="2560320" cy="251460"/>
          </a:xfrm>
          <a:prstGeom prst="rect">
            <a:avLst/>
          </a:prstGeom>
          <a:ln w="12700">
            <a:noFill/>
            <a:miter lim="400000"/>
          </a:ln>
        </p:spPr>
        <p:txBody>
          <a:bodyPr lIns="45719" rIns="45719" tIns="0" bIns="0" anchor="t"/>
          <a:lstStyle>
            <a:lvl1pPr algn="l">
              <a:defRPr sz="1050">
                <a:solidFill>
                  <a:srgbClr val="2C3352"/>
                </a:solidFill>
                <a:latin typeface="Calibri"/>
              </a:defRPr>
            </a:lvl1pPr>
          </a:lstStyle>
          <a:p>
            <a:pPr/>
            <a:r>
              <a:t>create a change and its planning artefacts</a:t>
            </a:r>
          </a:p>
        </p:txBody>
      </p:sp>
      <p:sp>
        <p:nvSpPr>
          <p:cNvPr id="307" name="NTHE NORMAL WORKFLOW1"/>
          <p:cNvSpPr txBox="1"/>
          <p:nvPr/>
        </p:nvSpPr>
        <p:spPr>
          <a:xfrm>
            <a:off x="914400" y="3566160"/>
            <a:ext cx="1737360" cy="251460"/>
          </a:xfrm>
          <a:prstGeom prst="rect">
            <a:avLst/>
          </a:prstGeom>
          <a:ln w="12700">
            <a:noFill/>
            <a:miter lim="400000"/>
          </a:ln>
        </p:spPr>
        <p:txBody>
          <a:bodyPr lIns="45719" rIns="45719" tIns="0" bIns="0" anchor="t"/>
          <a:lstStyle>
            <a:lvl1pPr algn="l">
              <a:defRPr b="1" sz="950">
                <a:solidFill>
                  <a:srgbClr val="1E2761"/>
                </a:solidFill>
                <a:latin typeface="Courier New"/>
              </a:defRPr>
            </a:lvl1pPr>
          </a:lstStyle>
          <a:p>
            <a:pPr/>
            <a:r>
              <a:t>/opsx:explore</a:t>
            </a:r>
          </a:p>
        </p:txBody>
      </p:sp>
      <p:sp>
        <p:nvSpPr>
          <p:cNvPr id="308" name="DTHE NORMAL WORKFLOW1"/>
          <p:cNvSpPr txBox="1"/>
          <p:nvPr/>
        </p:nvSpPr>
        <p:spPr>
          <a:xfrm>
            <a:off x="2743200" y="3566160"/>
            <a:ext cx="2560320" cy="251460"/>
          </a:xfrm>
          <a:prstGeom prst="rect">
            <a:avLst/>
          </a:prstGeom>
          <a:ln w="12700">
            <a:noFill/>
            <a:miter lim="400000"/>
          </a:ln>
        </p:spPr>
        <p:txBody>
          <a:bodyPr lIns="45719" rIns="45719" tIns="0" bIns="0" anchor="t"/>
          <a:lstStyle>
            <a:lvl1pPr algn="l">
              <a:defRPr sz="1050">
                <a:solidFill>
                  <a:srgbClr val="2C3352"/>
                </a:solidFill>
                <a:latin typeface="Calibri"/>
              </a:defRPr>
            </a:lvl1pPr>
          </a:lstStyle>
          <a:p>
            <a:pPr/>
            <a:r>
              <a:t>think it through before committing</a:t>
            </a:r>
          </a:p>
        </p:txBody>
      </p:sp>
      <p:sp>
        <p:nvSpPr>
          <p:cNvPr id="309" name="NTHE NORMAL WORKFLOW2"/>
          <p:cNvSpPr txBox="1"/>
          <p:nvPr/>
        </p:nvSpPr>
        <p:spPr>
          <a:xfrm>
            <a:off x="914400" y="3977640"/>
            <a:ext cx="1737360" cy="251460"/>
          </a:xfrm>
          <a:prstGeom prst="rect">
            <a:avLst/>
          </a:prstGeom>
          <a:ln w="12700">
            <a:noFill/>
            <a:miter lim="400000"/>
          </a:ln>
        </p:spPr>
        <p:txBody>
          <a:bodyPr lIns="45719" rIns="45719" tIns="0" bIns="0" anchor="t"/>
          <a:lstStyle>
            <a:lvl1pPr algn="l">
              <a:defRPr b="1" sz="950">
                <a:solidFill>
                  <a:srgbClr val="1E2761"/>
                </a:solidFill>
                <a:latin typeface="Courier New"/>
              </a:defRPr>
            </a:lvl1pPr>
          </a:lstStyle>
          <a:p>
            <a:pPr/>
            <a:r>
              <a:t>/opsx:apply</a:t>
            </a:r>
          </a:p>
        </p:txBody>
      </p:sp>
      <p:sp>
        <p:nvSpPr>
          <p:cNvPr id="310" name="DTHE NORMAL WORKFLOW2"/>
          <p:cNvSpPr txBox="1"/>
          <p:nvPr/>
        </p:nvSpPr>
        <p:spPr>
          <a:xfrm>
            <a:off x="2743200" y="3977640"/>
            <a:ext cx="2560320" cy="251460"/>
          </a:xfrm>
          <a:prstGeom prst="rect">
            <a:avLst/>
          </a:prstGeom>
          <a:ln w="12700">
            <a:noFill/>
            <a:miter lim="400000"/>
          </a:ln>
        </p:spPr>
        <p:txBody>
          <a:bodyPr lIns="45719" rIns="45719" tIns="0" bIns="0" anchor="t"/>
          <a:lstStyle>
            <a:lvl1pPr algn="l">
              <a:defRPr sz="1050">
                <a:solidFill>
                  <a:srgbClr val="2C3352"/>
                </a:solidFill>
                <a:latin typeface="Calibri"/>
              </a:defRPr>
            </a:lvl1pPr>
          </a:lstStyle>
          <a:p>
            <a:pPr/>
            <a:r>
              <a:t>implement the tasks, one at a time</a:t>
            </a:r>
          </a:p>
        </p:txBody>
      </p:sp>
      <p:sp>
        <p:nvSpPr>
          <p:cNvPr id="311" name="NTHE NORMAL WORKFLOW3"/>
          <p:cNvSpPr txBox="1"/>
          <p:nvPr/>
        </p:nvSpPr>
        <p:spPr>
          <a:xfrm>
            <a:off x="914400" y="4389120"/>
            <a:ext cx="1737360" cy="251460"/>
          </a:xfrm>
          <a:prstGeom prst="rect">
            <a:avLst/>
          </a:prstGeom>
          <a:ln w="12700">
            <a:noFill/>
            <a:miter lim="400000"/>
          </a:ln>
        </p:spPr>
        <p:txBody>
          <a:bodyPr lIns="45719" rIns="45719" tIns="0" bIns="0" anchor="t"/>
          <a:lstStyle>
            <a:lvl1pPr algn="l">
              <a:defRPr b="1" sz="950">
                <a:solidFill>
                  <a:srgbClr val="1E2761"/>
                </a:solidFill>
                <a:latin typeface="Courier New"/>
              </a:defRPr>
            </a:lvl1pPr>
          </a:lstStyle>
          <a:p>
            <a:pPr/>
            <a:r>
              <a:t>/opsx:update</a:t>
            </a:r>
          </a:p>
        </p:txBody>
      </p:sp>
      <p:sp>
        <p:nvSpPr>
          <p:cNvPr id="312" name="DTHE NORMAL WORKFLOW3"/>
          <p:cNvSpPr txBox="1"/>
          <p:nvPr/>
        </p:nvSpPr>
        <p:spPr>
          <a:xfrm>
            <a:off x="2743200" y="4389120"/>
            <a:ext cx="2560320" cy="251460"/>
          </a:xfrm>
          <a:prstGeom prst="rect">
            <a:avLst/>
          </a:prstGeom>
          <a:ln w="12700">
            <a:noFill/>
            <a:miter lim="400000"/>
          </a:ln>
        </p:spPr>
        <p:txBody>
          <a:bodyPr lIns="45719" rIns="45719" tIns="0" bIns="0" anchor="t"/>
          <a:lstStyle>
            <a:lvl1pPr algn="l">
              <a:defRPr sz="1050">
                <a:solidFill>
                  <a:srgbClr val="2C3352"/>
                </a:solidFill>
                <a:latin typeface="Calibri"/>
              </a:defRPr>
            </a:lvl1pPr>
          </a:lstStyle>
          <a:p>
            <a:pPr/>
            <a:r>
              <a:t>revise existing artefacts, keeping them coherent</a:t>
            </a:r>
          </a:p>
        </p:txBody>
      </p:sp>
      <p:sp>
        <p:nvSpPr>
          <p:cNvPr id="313" name="NTHE NORMAL WORKFLOW4"/>
          <p:cNvSpPr txBox="1"/>
          <p:nvPr/>
        </p:nvSpPr>
        <p:spPr>
          <a:xfrm>
            <a:off x="914400" y="4800600"/>
            <a:ext cx="1737360" cy="251460"/>
          </a:xfrm>
          <a:prstGeom prst="rect">
            <a:avLst/>
          </a:prstGeom>
          <a:ln w="12700">
            <a:noFill/>
            <a:miter lim="400000"/>
          </a:ln>
        </p:spPr>
        <p:txBody>
          <a:bodyPr lIns="45719" rIns="45719" tIns="0" bIns="0" anchor="t"/>
          <a:lstStyle>
            <a:lvl1pPr algn="l">
              <a:defRPr b="1" sz="950">
                <a:solidFill>
                  <a:srgbClr val="1E2761"/>
                </a:solidFill>
                <a:latin typeface="Courier New"/>
              </a:defRPr>
            </a:lvl1pPr>
          </a:lstStyle>
          <a:p>
            <a:pPr/>
            <a:r>
              <a:t>/opsx:sync</a:t>
            </a:r>
          </a:p>
        </p:txBody>
      </p:sp>
      <p:sp>
        <p:nvSpPr>
          <p:cNvPr id="314" name="DTHE NORMAL WORKFLOW4"/>
          <p:cNvSpPr txBox="1"/>
          <p:nvPr/>
        </p:nvSpPr>
        <p:spPr>
          <a:xfrm>
            <a:off x="2743200" y="4800600"/>
            <a:ext cx="2560320" cy="251460"/>
          </a:xfrm>
          <a:prstGeom prst="rect">
            <a:avLst/>
          </a:prstGeom>
          <a:ln w="12700">
            <a:noFill/>
            <a:miter lim="400000"/>
          </a:ln>
        </p:spPr>
        <p:txBody>
          <a:bodyPr lIns="45719" rIns="45719" tIns="0" bIns="0" anchor="t"/>
          <a:lstStyle>
            <a:lvl1pPr algn="l">
              <a:defRPr sz="1050">
                <a:solidFill>
                  <a:srgbClr val="2C3352"/>
                </a:solidFill>
                <a:latin typeface="Calibri"/>
              </a:defRPr>
            </a:lvl1pPr>
          </a:lstStyle>
          <a:p>
            <a:pPr/>
            <a:r>
              <a:t>merge the delta into the main specs</a:t>
            </a:r>
          </a:p>
        </p:txBody>
      </p:sp>
      <p:sp>
        <p:nvSpPr>
          <p:cNvPr id="315" name="NTHE NORMAL WORKFLOW5"/>
          <p:cNvSpPr txBox="1"/>
          <p:nvPr/>
        </p:nvSpPr>
        <p:spPr>
          <a:xfrm>
            <a:off x="914400" y="5212080"/>
            <a:ext cx="1737360" cy="251460"/>
          </a:xfrm>
          <a:prstGeom prst="rect">
            <a:avLst/>
          </a:prstGeom>
          <a:ln w="12700">
            <a:noFill/>
            <a:miter lim="400000"/>
          </a:ln>
        </p:spPr>
        <p:txBody>
          <a:bodyPr lIns="45719" rIns="45719" tIns="0" bIns="0" anchor="t"/>
          <a:lstStyle>
            <a:lvl1pPr algn="l">
              <a:defRPr b="1" sz="950">
                <a:solidFill>
                  <a:srgbClr val="1E2761"/>
                </a:solidFill>
                <a:latin typeface="Courier New"/>
              </a:defRPr>
            </a:lvl1pPr>
          </a:lstStyle>
          <a:p>
            <a:pPr/>
            <a:r>
              <a:t>/opsx:archive</a:t>
            </a:r>
          </a:p>
        </p:txBody>
      </p:sp>
      <p:sp>
        <p:nvSpPr>
          <p:cNvPr id="316" name="DTHE NORMAL WORKFLOW5"/>
          <p:cNvSpPr txBox="1"/>
          <p:nvPr/>
        </p:nvSpPr>
        <p:spPr>
          <a:xfrm>
            <a:off x="2743200" y="5212080"/>
            <a:ext cx="2560320" cy="251460"/>
          </a:xfrm>
          <a:prstGeom prst="rect">
            <a:avLst/>
          </a:prstGeom>
          <a:ln w="12700">
            <a:noFill/>
            <a:miter lim="400000"/>
          </a:ln>
        </p:spPr>
        <p:txBody>
          <a:bodyPr lIns="45719" rIns="45719" tIns="0" bIns="0" anchor="t"/>
          <a:lstStyle>
            <a:lvl1pPr algn="l">
              <a:defRPr sz="1050">
                <a:solidFill>
                  <a:srgbClr val="2C3352"/>
                </a:solidFill>
                <a:latin typeface="Calibri"/>
              </a:defRPr>
            </a:lvl1pPr>
          </a:lstStyle>
          <a:p>
            <a:pPr/>
            <a:r>
              <a:t>file the completed change</a:t>
            </a:r>
          </a:p>
        </p:txBody>
      </p:sp>
      <p:sp>
        <p:nvSpPr>
          <p:cNvPr id="317" name="CFINER CONTROL"/>
          <p:cNvSpPr/>
          <p:nvPr/>
        </p:nvSpPr>
        <p:spPr>
          <a:xfrm>
            <a:off x="6583680" y="2286000"/>
            <a:ext cx="4937760" cy="3383280"/>
          </a:xfrm>
          <a:prstGeom prst="roundRect">
            <a:avLst>
              <a:gd name="adj" fmla="val 3500"/>
            </a:avLst>
          </a:prstGeom>
          <a:solidFill>
            <a:srgbClr val="EEF2FC"/>
          </a:solidFill>
          <a:ln w="12700">
            <a:solidFill>
              <a:srgbClr val="CADCFC"/>
            </a:solidFill>
            <a:miter lim="400000"/>
          </a:ln>
        </p:spPr>
        <p:txBody>
          <a:bodyPr lIns="45719" rIns="45719"/>
          <a:lstStyle/>
          <a:p>
            <a:pPr/>
          </a:p>
        </p:txBody>
      </p:sp>
      <p:sp>
        <p:nvSpPr>
          <p:cNvPr id="318" name="HFINER CONTROL"/>
          <p:cNvSpPr/>
          <p:nvPr/>
        </p:nvSpPr>
        <p:spPr>
          <a:xfrm>
            <a:off x="6583680" y="2286000"/>
            <a:ext cx="4937760" cy="548641"/>
          </a:xfrm>
          <a:prstGeom prst="roundRect">
            <a:avLst>
              <a:gd name="adj" fmla="val 19000"/>
            </a:avLst>
          </a:prstGeom>
          <a:solidFill>
            <a:srgbClr val="1E2761"/>
          </a:solidFill>
          <a:ln w="12700">
            <a:noFill/>
            <a:miter lim="400000"/>
          </a:ln>
        </p:spPr>
        <p:txBody>
          <a:bodyPr lIns="45719" rIns="45719"/>
          <a:lstStyle/>
          <a:p>
            <a:pPr/>
          </a:p>
        </p:txBody>
      </p:sp>
      <p:sp>
        <p:nvSpPr>
          <p:cNvPr id="319" name="LFINER CONTROL"/>
          <p:cNvSpPr txBox="1"/>
          <p:nvPr/>
        </p:nvSpPr>
        <p:spPr>
          <a:xfrm>
            <a:off x="6583680" y="2410024"/>
            <a:ext cx="4937760" cy="300594"/>
          </a:xfrm>
          <a:prstGeom prst="rect">
            <a:avLst/>
          </a:prstGeom>
          <a:ln w="12700">
            <a:noFill/>
            <a:miter lim="400000"/>
          </a:ln>
        </p:spPr>
        <p:txBody>
          <a:bodyPr lIns="45719" rIns="45719" tIns="0" bIns="0" anchor="t"/>
          <a:lstStyle>
            <a:lvl1pPr algn="ctr">
              <a:defRPr b="1" sz="1200">
                <a:solidFill>
                  <a:srgbClr val="FFFFFF"/>
                </a:solidFill>
                <a:latin typeface="Cambria"/>
              </a:defRPr>
            </a:lvl1pPr>
          </a:lstStyle>
          <a:p>
            <a:pPr/>
            <a:r>
              <a:t>EXPANDED PROFILE</a:t>
            </a:r>
          </a:p>
        </p:txBody>
      </p:sp>
      <p:sp>
        <p:nvSpPr>
          <p:cNvPr id="320" name="NFINER CONTROL0"/>
          <p:cNvSpPr txBox="1"/>
          <p:nvPr/>
        </p:nvSpPr>
        <p:spPr>
          <a:xfrm>
            <a:off x="6858000" y="3154680"/>
            <a:ext cx="1737360" cy="251460"/>
          </a:xfrm>
          <a:prstGeom prst="rect">
            <a:avLst/>
          </a:prstGeom>
          <a:ln w="12700">
            <a:noFill/>
            <a:miter lim="400000"/>
          </a:ln>
        </p:spPr>
        <p:txBody>
          <a:bodyPr lIns="45719" rIns="45719" tIns="0" bIns="0" anchor="t"/>
          <a:lstStyle>
            <a:lvl1pPr algn="l">
              <a:defRPr b="1" sz="950">
                <a:solidFill>
                  <a:srgbClr val="1E2761"/>
                </a:solidFill>
                <a:latin typeface="Courier New"/>
              </a:defRPr>
            </a:lvl1pPr>
          </a:lstStyle>
          <a:p>
            <a:pPr/>
            <a:r>
              <a:t>/opsx:new</a:t>
            </a:r>
          </a:p>
        </p:txBody>
      </p:sp>
      <p:sp>
        <p:nvSpPr>
          <p:cNvPr id="321" name="DFINER CONTROL0"/>
          <p:cNvSpPr txBox="1"/>
          <p:nvPr/>
        </p:nvSpPr>
        <p:spPr>
          <a:xfrm>
            <a:off x="8686800" y="3154680"/>
            <a:ext cx="2560320" cy="251460"/>
          </a:xfrm>
          <a:prstGeom prst="rect">
            <a:avLst/>
          </a:prstGeom>
          <a:ln w="12700">
            <a:noFill/>
            <a:miter lim="400000"/>
          </a:ln>
        </p:spPr>
        <p:txBody>
          <a:bodyPr lIns="45719" rIns="45719" tIns="0" bIns="0" anchor="t"/>
          <a:lstStyle>
            <a:lvl1pPr algn="l">
              <a:defRPr sz="1050">
                <a:solidFill>
                  <a:srgbClr val="2C3352"/>
                </a:solidFill>
                <a:latin typeface="Calibri"/>
              </a:defRPr>
            </a:lvl1pPr>
          </a:lstStyle>
          <a:p>
            <a:pPr/>
            <a:r>
              <a:t>scaffold a change, artefacts to come</a:t>
            </a:r>
          </a:p>
        </p:txBody>
      </p:sp>
      <p:sp>
        <p:nvSpPr>
          <p:cNvPr id="322" name="NFINER CONTROL1"/>
          <p:cNvSpPr txBox="1"/>
          <p:nvPr/>
        </p:nvSpPr>
        <p:spPr>
          <a:xfrm>
            <a:off x="6858000" y="3566160"/>
            <a:ext cx="1737360" cy="251460"/>
          </a:xfrm>
          <a:prstGeom prst="rect">
            <a:avLst/>
          </a:prstGeom>
          <a:ln w="12700">
            <a:noFill/>
            <a:miter lim="400000"/>
          </a:ln>
        </p:spPr>
        <p:txBody>
          <a:bodyPr lIns="45719" rIns="45719" tIns="0" bIns="0" anchor="t"/>
          <a:lstStyle>
            <a:lvl1pPr algn="l">
              <a:defRPr b="1" sz="950">
                <a:solidFill>
                  <a:srgbClr val="1E2761"/>
                </a:solidFill>
                <a:latin typeface="Courier New"/>
              </a:defRPr>
            </a:lvl1pPr>
          </a:lstStyle>
          <a:p>
            <a:pPr/>
            <a:r>
              <a:t>/opsx:continue</a:t>
            </a:r>
          </a:p>
        </p:txBody>
      </p:sp>
      <p:sp>
        <p:nvSpPr>
          <p:cNvPr id="323" name="DFINER CONTROL1"/>
          <p:cNvSpPr txBox="1"/>
          <p:nvPr/>
        </p:nvSpPr>
        <p:spPr>
          <a:xfrm>
            <a:off x="8686800" y="3566160"/>
            <a:ext cx="2560320" cy="251460"/>
          </a:xfrm>
          <a:prstGeom prst="rect">
            <a:avLst/>
          </a:prstGeom>
          <a:ln w="12700">
            <a:noFill/>
            <a:miter lim="400000"/>
          </a:ln>
        </p:spPr>
        <p:txBody>
          <a:bodyPr lIns="45719" rIns="45719" tIns="0" bIns="0" anchor="t"/>
          <a:lstStyle>
            <a:lvl1pPr algn="l">
              <a:defRPr sz="1050">
                <a:solidFill>
                  <a:srgbClr val="2C3352"/>
                </a:solidFill>
                <a:latin typeface="Calibri"/>
              </a:defRPr>
            </a:lvl1pPr>
          </a:lstStyle>
          <a:p>
            <a:pPr/>
            <a:r>
              <a:t>create the next artefact in the chain</a:t>
            </a:r>
          </a:p>
        </p:txBody>
      </p:sp>
      <p:sp>
        <p:nvSpPr>
          <p:cNvPr id="324" name="NFINER CONTROL2"/>
          <p:cNvSpPr txBox="1"/>
          <p:nvPr/>
        </p:nvSpPr>
        <p:spPr>
          <a:xfrm>
            <a:off x="6858000" y="3977640"/>
            <a:ext cx="1737360" cy="251460"/>
          </a:xfrm>
          <a:prstGeom prst="rect">
            <a:avLst/>
          </a:prstGeom>
          <a:ln w="12700">
            <a:noFill/>
            <a:miter lim="400000"/>
          </a:ln>
        </p:spPr>
        <p:txBody>
          <a:bodyPr lIns="45719" rIns="45719" tIns="0" bIns="0" anchor="t"/>
          <a:lstStyle>
            <a:lvl1pPr algn="l">
              <a:defRPr b="1" sz="950">
                <a:solidFill>
                  <a:srgbClr val="1E2761"/>
                </a:solidFill>
                <a:latin typeface="Courier New"/>
              </a:defRPr>
            </a:lvl1pPr>
          </a:lstStyle>
          <a:p>
            <a:pPr/>
            <a:r>
              <a:t>/opsx:ff</a:t>
            </a:r>
          </a:p>
        </p:txBody>
      </p:sp>
      <p:sp>
        <p:nvSpPr>
          <p:cNvPr id="325" name="DFINER CONTROL2"/>
          <p:cNvSpPr txBox="1"/>
          <p:nvPr/>
        </p:nvSpPr>
        <p:spPr>
          <a:xfrm>
            <a:off x="8686800" y="3977640"/>
            <a:ext cx="2560320" cy="251460"/>
          </a:xfrm>
          <a:prstGeom prst="rect">
            <a:avLst/>
          </a:prstGeom>
          <a:ln w="12700">
            <a:noFill/>
            <a:miter lim="400000"/>
          </a:ln>
        </p:spPr>
        <p:txBody>
          <a:bodyPr lIns="45719" rIns="45719" tIns="0" bIns="0" anchor="t"/>
          <a:lstStyle>
            <a:lvl1pPr algn="l">
              <a:defRPr sz="1050">
                <a:solidFill>
                  <a:srgbClr val="2C3352"/>
                </a:solidFill>
                <a:latin typeface="Calibri"/>
              </a:defRPr>
            </a:lvl1pPr>
          </a:lstStyle>
          <a:p>
            <a:pPr/>
            <a:r>
              <a:t>generate all planning artefacts at once</a:t>
            </a:r>
          </a:p>
        </p:txBody>
      </p:sp>
      <p:sp>
        <p:nvSpPr>
          <p:cNvPr id="326" name="NFINER CONTROL3"/>
          <p:cNvSpPr txBox="1"/>
          <p:nvPr/>
        </p:nvSpPr>
        <p:spPr>
          <a:xfrm>
            <a:off x="6858000" y="4389120"/>
            <a:ext cx="1737360" cy="251460"/>
          </a:xfrm>
          <a:prstGeom prst="rect">
            <a:avLst/>
          </a:prstGeom>
          <a:ln w="12700">
            <a:noFill/>
            <a:miter lim="400000"/>
          </a:ln>
        </p:spPr>
        <p:txBody>
          <a:bodyPr lIns="45719" rIns="45719" tIns="0" bIns="0" anchor="t"/>
          <a:lstStyle>
            <a:lvl1pPr algn="l">
              <a:defRPr b="1" sz="950">
                <a:solidFill>
                  <a:srgbClr val="1E2761"/>
                </a:solidFill>
                <a:latin typeface="Courier New"/>
              </a:defRPr>
            </a:lvl1pPr>
          </a:lstStyle>
          <a:p>
            <a:pPr/>
            <a:r>
              <a:t>/opsx:verify</a:t>
            </a:r>
          </a:p>
        </p:txBody>
      </p:sp>
      <p:sp>
        <p:nvSpPr>
          <p:cNvPr id="327" name="DFINER CONTROL3"/>
          <p:cNvSpPr txBox="1"/>
          <p:nvPr/>
        </p:nvSpPr>
        <p:spPr>
          <a:xfrm>
            <a:off x="8686800" y="4389120"/>
            <a:ext cx="2560320" cy="251460"/>
          </a:xfrm>
          <a:prstGeom prst="rect">
            <a:avLst/>
          </a:prstGeom>
          <a:ln w="12700">
            <a:noFill/>
            <a:miter lim="400000"/>
          </a:ln>
        </p:spPr>
        <p:txBody>
          <a:bodyPr lIns="45719" rIns="45719" tIns="0" bIns="0" anchor="t"/>
          <a:lstStyle>
            <a:lvl1pPr algn="l">
              <a:defRPr sz="1050">
                <a:solidFill>
                  <a:srgbClr val="2C3352"/>
                </a:solidFill>
                <a:latin typeface="Calibri"/>
              </a:defRPr>
            </a:lvl1pPr>
          </a:lstStyle>
          <a:p>
            <a:pPr/>
            <a:r>
              <a:t>check the implementation matches the artefacts</a:t>
            </a:r>
          </a:p>
        </p:txBody>
      </p:sp>
      <p:sp>
        <p:nvSpPr>
          <p:cNvPr id="328" name="NFINER CONTROL4"/>
          <p:cNvSpPr txBox="1"/>
          <p:nvPr/>
        </p:nvSpPr>
        <p:spPr>
          <a:xfrm>
            <a:off x="6858000" y="4800600"/>
            <a:ext cx="1737360" cy="251460"/>
          </a:xfrm>
          <a:prstGeom prst="rect">
            <a:avLst/>
          </a:prstGeom>
          <a:ln w="12700">
            <a:noFill/>
            <a:miter lim="400000"/>
          </a:ln>
        </p:spPr>
        <p:txBody>
          <a:bodyPr lIns="45719" rIns="45719" tIns="0" bIns="0" anchor="t"/>
          <a:lstStyle>
            <a:lvl1pPr algn="l">
              <a:defRPr b="1" sz="950">
                <a:solidFill>
                  <a:srgbClr val="1E2761"/>
                </a:solidFill>
                <a:latin typeface="Courier New"/>
              </a:defRPr>
            </a:lvl1pPr>
          </a:lstStyle>
          <a:p>
            <a:pPr/>
            <a:r>
              <a:t>/opsx:bulk-archive</a:t>
            </a:r>
          </a:p>
        </p:txBody>
      </p:sp>
      <p:sp>
        <p:nvSpPr>
          <p:cNvPr id="329" name="DFINER CONTROL4"/>
          <p:cNvSpPr txBox="1"/>
          <p:nvPr/>
        </p:nvSpPr>
        <p:spPr>
          <a:xfrm>
            <a:off x="8686800" y="4800600"/>
            <a:ext cx="2560320" cy="251460"/>
          </a:xfrm>
          <a:prstGeom prst="rect">
            <a:avLst/>
          </a:prstGeom>
          <a:ln w="12700">
            <a:noFill/>
            <a:miter lim="400000"/>
          </a:ln>
        </p:spPr>
        <p:txBody>
          <a:bodyPr lIns="45719" rIns="45719" tIns="0" bIns="0" anchor="t"/>
          <a:lstStyle>
            <a:lvl1pPr algn="l">
              <a:defRPr sz="1050">
                <a:solidFill>
                  <a:srgbClr val="2C3352"/>
                </a:solidFill>
                <a:latin typeface="Calibri"/>
              </a:defRPr>
            </a:lvl1pPr>
          </a:lstStyle>
          <a:p>
            <a:pPr/>
            <a:r>
              <a:t>archive several changes, resolving conflicts</a:t>
            </a:r>
          </a:p>
        </p:txBody>
      </p:sp>
      <p:sp>
        <p:nvSpPr>
          <p:cNvPr id="330" name="NFINER CONTROL5"/>
          <p:cNvSpPr txBox="1"/>
          <p:nvPr/>
        </p:nvSpPr>
        <p:spPr>
          <a:xfrm>
            <a:off x="6858000" y="5212080"/>
            <a:ext cx="1737360" cy="251460"/>
          </a:xfrm>
          <a:prstGeom prst="rect">
            <a:avLst/>
          </a:prstGeom>
          <a:ln w="12700">
            <a:noFill/>
            <a:miter lim="400000"/>
          </a:ln>
        </p:spPr>
        <p:txBody>
          <a:bodyPr lIns="45719" rIns="45719" tIns="0" bIns="0" anchor="t"/>
          <a:lstStyle>
            <a:lvl1pPr algn="l">
              <a:defRPr b="1" sz="950">
                <a:solidFill>
                  <a:srgbClr val="1E2761"/>
                </a:solidFill>
                <a:latin typeface="Courier New"/>
              </a:defRPr>
            </a:lvl1pPr>
          </a:lstStyle>
          <a:p>
            <a:pPr/>
            <a:r>
              <a:t>/opsx:onboard</a:t>
            </a:r>
          </a:p>
        </p:txBody>
      </p:sp>
      <p:sp>
        <p:nvSpPr>
          <p:cNvPr id="331" name="DFINER CONTROL5"/>
          <p:cNvSpPr txBox="1"/>
          <p:nvPr/>
        </p:nvSpPr>
        <p:spPr>
          <a:xfrm>
            <a:off x="8686800" y="5212080"/>
            <a:ext cx="2560320" cy="251460"/>
          </a:xfrm>
          <a:prstGeom prst="rect">
            <a:avLst/>
          </a:prstGeom>
          <a:ln w="12700">
            <a:noFill/>
            <a:miter lim="400000"/>
          </a:ln>
        </p:spPr>
        <p:txBody>
          <a:bodyPr lIns="45719" rIns="45719" tIns="0" bIns="0" anchor="t"/>
          <a:lstStyle>
            <a:lvl1pPr algn="l">
              <a:defRPr sz="1050">
                <a:solidFill>
                  <a:srgbClr val="2C3352"/>
                </a:solidFill>
                <a:latin typeface="Calibri"/>
              </a:defRPr>
            </a:lvl1pPr>
          </a:lstStyle>
          <a:p>
            <a:pPr/>
            <a:r>
              <a:t>a guided run on your own codebase</a:t>
            </a:r>
          </a:p>
        </p:txBody>
      </p:sp>
      <p:sp>
        <p:nvSpPr>
          <p:cNvPr id="332" name="Note"/>
          <p:cNvSpPr txBox="1"/>
          <p:nvPr/>
        </p:nvSpPr>
        <p:spPr>
          <a:xfrm>
            <a:off x="640080" y="5852160"/>
            <a:ext cx="10881360" cy="251460"/>
          </a:xfrm>
          <a:prstGeom prst="rect">
            <a:avLst/>
          </a:prstGeom>
          <a:ln w="12700">
            <a:noFill/>
            <a:miter lim="400000"/>
          </a:ln>
        </p:spPr>
        <p:txBody>
          <a:bodyPr lIns="45719" rIns="45719" tIns="0" bIns="0" anchor="t"/>
          <a:lstStyle>
            <a:lvl1pPr algn="l">
              <a:defRPr i="1" sz="950">
                <a:solidFill>
                  <a:srgbClr val="5C6484"/>
                </a:solidFill>
                <a:latin typeface="Calibri"/>
              </a:defRPr>
            </a:lvl1pPr>
          </a:lstStyle>
          <a:p>
            <a:pPr/>
            <a:r>
              <a:t>Canonical spelling. Cursor and GitHub Copilot use /opsx-propose, Amazon Q @opsx-propose, Codex $openspec-propose. The terminal CLI is separate: openspec init, update, list, show, validate, archive, status, config.</a:t>
            </a:r>
          </a:p>
        </p:txBody>
      </p:sp>
    </p:spTree>
  </p:cSld>
  <p:clrMapOvr>
    <a:masterClrMapping/>
  </p:clrMapOvr>
  <p:transition xmlns:p14="http://schemas.microsoft.com/office/powerpoint/2010/main" spd="med" advClick="1"/>
</p:sld>
</file>

<file path=ppt/slides/slide2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8" name="Text 0"/>
          <p:cNvSpPr txBox="1"/>
          <p:nvPr/>
        </p:nvSpPr>
        <p:spPr>
          <a:xfrm>
            <a:off x="685800" y="545400"/>
            <a:ext cx="7223761" cy="28080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200" sz="1100">
                <a:solidFill>
                  <a:srgbClr val="FF6B4A"/>
                </a:solidFill>
                <a:latin typeface="Calibri"/>
              </a:defRPr>
            </a:lvl1pPr>
          </a:lstStyle>
          <a:p>
            <a:pPr/>
            <a:r>
              <a:t>The teams</a:t>
            </a:r>
          </a:p>
        </p:txBody>
      </p:sp>
      <p:sp>
        <p:nvSpPr>
          <p:cNvPr id="119" name="Text 1"/>
          <p:cNvSpPr txBox="1"/>
          <p:nvPr/>
        </p:nvSpPr>
        <p:spPr>
          <a:xfrm>
            <a:off x="685800" y="989463"/>
            <a:ext cx="10789920" cy="48995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3000">
                <a:solidFill>
                  <a:srgbClr val="1E2761"/>
                </a:solidFill>
                <a:latin typeface="Cambria"/>
              </a:defRPr>
            </a:lvl1pPr>
          </a:lstStyle>
          <a:p>
            <a:pPr/>
            <a:r>
              <a:t>What happens to the engineers</a:t>
            </a:r>
          </a:p>
        </p:txBody>
      </p:sp>
      <p:sp>
        <p:nvSpPr>
          <p:cNvPr id="132" name="Text 14"/>
          <p:cNvSpPr txBox="1"/>
          <p:nvPr/>
        </p:nvSpPr>
        <p:spPr>
          <a:xfrm>
            <a:off x="502919" y="6572163"/>
            <a:ext cx="722376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900">
                <a:solidFill>
                  <a:srgbClr val="5C6484"/>
                </a:solidFill>
                <a:latin typeface="Calibri"/>
              </a:defRPr>
            </a:lvl1pPr>
          </a:lstStyle>
          <a:p>
            <a:pPr/>
            <a:r>
              <a:t>OpenSpec — Spec-Driven Development</a:t>
            </a:r>
          </a:p>
        </p:txBody>
      </p:sp>
      <p:sp>
        <p:nvSpPr>
          <p:cNvPr id="133" name="Text 15"/>
          <p:cNvSpPr txBox="1"/>
          <p:nvPr/>
        </p:nvSpPr>
        <p:spPr>
          <a:xfrm>
            <a:off x="11475719" y="6572163"/>
            <a:ext cx="27432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900">
                <a:solidFill>
                  <a:srgbClr val="5C6484"/>
                </a:solidFill>
                <a:latin typeface="Calibri"/>
              </a:defRPr>
            </a:lvl1pPr>
          </a:lstStyle>
          <a:p>
            <a:pPr/>
            <a:r>
              <a:t>22</a:t>
            </a:r>
          </a:p>
        </p:txBody>
      </p:sp>
      <p:sp>
        <p:nvSpPr>
          <p:cNvPr id="301" name="Lead"/>
          <p:cNvSpPr txBox="1"/>
          <p:nvPr/>
        </p:nvSpPr>
        <p:spPr>
          <a:xfrm>
            <a:off x="685800" y="1691640"/>
            <a:ext cx="10607042" cy="320040"/>
          </a:xfrm>
          <a:prstGeom prst="rect">
            <a:avLst/>
          </a:prstGeom>
          <a:ln w="12700">
            <a:noFill/>
            <a:miter lim="400000"/>
          </a:ln>
        </p:spPr>
        <p:txBody>
          <a:bodyPr lIns="45719" rIns="45719" tIns="0" bIns="0" anchor="t"/>
          <a:lstStyle>
            <a:lvl1pPr algn="l">
              <a:defRPr sz="1500">
                <a:solidFill>
                  <a:srgbClr val="2C3352"/>
                </a:solidFill>
                <a:latin typeface="Calibri"/>
              </a:defRPr>
            </a:lvl1pPr>
          </a:lstStyle>
          <a:p>
            <a:pPr/>
            <a:r>
              <a:t>The work does not disappear. It moves up a level — and that shift is worth naming before someone else does.</a:t>
            </a:r>
          </a:p>
        </p:txBody>
      </p:sp>
      <p:sp>
        <p:nvSpPr>
          <p:cNvPr id="302" name="C0"/>
          <p:cNvSpPr/>
          <p:nvPr/>
        </p:nvSpPr>
        <p:spPr>
          <a:xfrm>
            <a:off x="640080" y="2560320"/>
            <a:ext cx="3398520" cy="2743200"/>
          </a:xfrm>
          <a:prstGeom prst="roundRect">
            <a:avLst>
              <a:gd name="adj" fmla="val 4000"/>
            </a:avLst>
          </a:prstGeom>
          <a:solidFill>
            <a:srgbClr val="EEF2FC"/>
          </a:solidFill>
          <a:ln w="12700">
            <a:solidFill>
              <a:srgbClr val="CADCFC"/>
            </a:solidFill>
            <a:miter lim="400000"/>
          </a:ln>
        </p:spPr>
        <p:txBody>
          <a:bodyPr lIns="45719" rIns="45719"/>
          <a:lstStyle/>
          <a:p>
            <a:pPr/>
          </a:p>
        </p:txBody>
      </p:sp>
      <p:sp>
        <p:nvSpPr>
          <p:cNvPr id="303" name="D0"/>
          <p:cNvSpPr/>
          <p:nvPr/>
        </p:nvSpPr>
        <p:spPr>
          <a:xfrm>
            <a:off x="960120" y="2880360"/>
            <a:ext cx="457200" cy="457200"/>
          </a:xfrm>
          <a:prstGeom prst="ellipse">
            <a:avLst/>
          </a:prstGeom>
          <a:solidFill>
            <a:srgbClr val="FF6B4A"/>
          </a:solidFill>
          <a:ln w="12700">
            <a:noFill/>
            <a:miter lim="400000"/>
          </a:ln>
        </p:spPr>
        <p:txBody>
          <a:bodyPr lIns="45719" rIns="45719"/>
          <a:lstStyle/>
          <a:p>
            <a:pPr/>
          </a:p>
        </p:txBody>
      </p:sp>
      <p:sp>
        <p:nvSpPr>
          <p:cNvPr id="304" name="N0"/>
          <p:cNvSpPr txBox="1"/>
          <p:nvPr/>
        </p:nvSpPr>
        <p:spPr>
          <a:xfrm>
            <a:off x="960120" y="2880360"/>
            <a:ext cx="457200" cy="457200"/>
          </a:xfrm>
          <a:prstGeom prst="rect">
            <a:avLst/>
          </a:prstGeom>
          <a:ln w="12700">
            <a:noFill/>
            <a:miter lim="400000"/>
          </a:ln>
        </p:spPr>
        <p:txBody>
          <a:bodyPr lIns="45719" rIns="45719" tIns="0" bIns="0" anchor="ctr"/>
          <a:lstStyle>
            <a:lvl1pPr algn="ctr">
              <a:defRPr b="1" sz="1600">
                <a:solidFill>
                  <a:srgbClr val="1E2761"/>
                </a:solidFill>
                <a:latin typeface="Cambria"/>
              </a:defRPr>
            </a:lvl1pPr>
          </a:lstStyle>
          <a:p>
            <a:pPr/>
            <a:r>
              <a:t>1</a:t>
            </a:r>
          </a:p>
        </p:txBody>
      </p:sp>
      <p:sp>
        <p:nvSpPr>
          <p:cNvPr id="305" name="H0"/>
          <p:cNvSpPr txBox="1"/>
          <p:nvPr/>
        </p:nvSpPr>
        <p:spPr>
          <a:xfrm>
            <a:off x="960120" y="3520440"/>
            <a:ext cx="2758440" cy="320040"/>
          </a:xfrm>
          <a:prstGeom prst="rect">
            <a:avLst/>
          </a:prstGeom>
          <a:ln w="12700">
            <a:noFill/>
            <a:miter lim="400000"/>
          </a:ln>
        </p:spPr>
        <p:txBody>
          <a:bodyPr lIns="45719" rIns="45719" tIns="0" bIns="0" anchor="t"/>
          <a:lstStyle>
            <a:lvl1pPr algn="l">
              <a:defRPr b="1" sz="1700">
                <a:solidFill>
                  <a:srgbClr val="1E2761"/>
                </a:solidFill>
                <a:latin typeface="Cambria"/>
              </a:defRPr>
            </a:lvl1pPr>
          </a:lstStyle>
          <a:p>
            <a:pPr/>
            <a:r>
              <a:t>Spec architect</a:t>
            </a:r>
          </a:p>
        </p:txBody>
      </p:sp>
      <p:sp>
        <p:nvSpPr>
          <p:cNvPr id="306" name="B0"/>
          <p:cNvSpPr txBox="1"/>
          <p:nvPr/>
        </p:nvSpPr>
        <p:spPr>
          <a:xfrm>
            <a:off x="960120" y="3977640"/>
            <a:ext cx="2758440" cy="1188720"/>
          </a:xfrm>
          <a:prstGeom prst="rect">
            <a:avLst/>
          </a:prstGeom>
          <a:ln w="12700">
            <a:noFill/>
            <a:miter lim="400000"/>
          </a:ln>
        </p:spPr>
        <p:txBody>
          <a:bodyPr lIns="45719" rIns="45719" tIns="0" bIns="0" anchor="t"/>
          <a:lstStyle>
            <a:lvl1pPr algn="l">
              <a:defRPr sz="1200">
                <a:solidFill>
                  <a:srgbClr val="2C3352"/>
                </a:solidFill>
                <a:latin typeface="Calibri"/>
              </a:defRPr>
            </a:lvl1pPr>
          </a:lstStyle>
          <a:p>
            <a:pPr/>
            <a:r>
              <a:t>States the behaviour the system must have, and argues it out with the business before it is built. The hard part was never the syntax — it was deciding what the system should do.</a:t>
            </a:r>
          </a:p>
        </p:txBody>
      </p:sp>
      <p:sp>
        <p:nvSpPr>
          <p:cNvPr id="307" name="C1"/>
          <p:cNvSpPr/>
          <p:nvPr/>
        </p:nvSpPr>
        <p:spPr>
          <a:xfrm>
            <a:off x="4381500" y="2560320"/>
            <a:ext cx="3398520" cy="2743200"/>
          </a:xfrm>
          <a:prstGeom prst="roundRect">
            <a:avLst>
              <a:gd name="adj" fmla="val 4000"/>
            </a:avLst>
          </a:prstGeom>
          <a:solidFill>
            <a:srgbClr val="EEF2FC"/>
          </a:solidFill>
          <a:ln w="12700">
            <a:solidFill>
              <a:srgbClr val="CADCFC"/>
            </a:solidFill>
            <a:miter lim="400000"/>
          </a:ln>
        </p:spPr>
        <p:txBody>
          <a:bodyPr lIns="45719" rIns="45719"/>
          <a:lstStyle/>
          <a:p>
            <a:pPr/>
          </a:p>
        </p:txBody>
      </p:sp>
      <p:sp>
        <p:nvSpPr>
          <p:cNvPr id="308" name="D1"/>
          <p:cNvSpPr/>
          <p:nvPr/>
        </p:nvSpPr>
        <p:spPr>
          <a:xfrm>
            <a:off x="4701540" y="2880360"/>
            <a:ext cx="457200" cy="457200"/>
          </a:xfrm>
          <a:prstGeom prst="ellipse">
            <a:avLst/>
          </a:prstGeom>
          <a:solidFill>
            <a:srgbClr val="FF6B4A"/>
          </a:solidFill>
          <a:ln w="12700">
            <a:noFill/>
            <a:miter lim="400000"/>
          </a:ln>
        </p:spPr>
        <p:txBody>
          <a:bodyPr lIns="45719" rIns="45719"/>
          <a:lstStyle/>
          <a:p>
            <a:pPr/>
          </a:p>
        </p:txBody>
      </p:sp>
      <p:sp>
        <p:nvSpPr>
          <p:cNvPr id="309" name="N1"/>
          <p:cNvSpPr txBox="1"/>
          <p:nvPr/>
        </p:nvSpPr>
        <p:spPr>
          <a:xfrm>
            <a:off x="4701540" y="2880360"/>
            <a:ext cx="457200" cy="457200"/>
          </a:xfrm>
          <a:prstGeom prst="rect">
            <a:avLst/>
          </a:prstGeom>
          <a:ln w="12700">
            <a:noFill/>
            <a:miter lim="400000"/>
          </a:ln>
        </p:spPr>
        <p:txBody>
          <a:bodyPr lIns="45719" rIns="45719" tIns="0" bIns="0" anchor="ctr"/>
          <a:lstStyle>
            <a:lvl1pPr algn="ctr">
              <a:defRPr b="1" sz="1600">
                <a:solidFill>
                  <a:srgbClr val="1E2761"/>
                </a:solidFill>
                <a:latin typeface="Cambria"/>
              </a:defRPr>
            </a:lvl1pPr>
          </a:lstStyle>
          <a:p>
            <a:pPr/>
            <a:r>
              <a:t>2</a:t>
            </a:r>
          </a:p>
        </p:txBody>
      </p:sp>
      <p:sp>
        <p:nvSpPr>
          <p:cNvPr id="310" name="H1"/>
          <p:cNvSpPr txBox="1"/>
          <p:nvPr/>
        </p:nvSpPr>
        <p:spPr>
          <a:xfrm>
            <a:off x="4701540" y="3520440"/>
            <a:ext cx="2758440" cy="320040"/>
          </a:xfrm>
          <a:prstGeom prst="rect">
            <a:avLst/>
          </a:prstGeom>
          <a:ln w="12700">
            <a:noFill/>
            <a:miter lim="400000"/>
          </a:ln>
        </p:spPr>
        <p:txBody>
          <a:bodyPr lIns="45719" rIns="45719" tIns="0" bIns="0" anchor="t"/>
          <a:lstStyle>
            <a:lvl1pPr algn="l">
              <a:defRPr b="1" sz="1700">
                <a:solidFill>
                  <a:srgbClr val="1E2761"/>
                </a:solidFill>
                <a:latin typeface="Cambria"/>
              </a:defRPr>
            </a:lvl1pPr>
          </a:lstStyle>
          <a:p>
            <a:pPr/>
            <a:r>
              <a:t>Agent engineer</a:t>
            </a:r>
          </a:p>
        </p:txBody>
      </p:sp>
      <p:sp>
        <p:nvSpPr>
          <p:cNvPr id="311" name="B1"/>
          <p:cNvSpPr txBox="1"/>
          <p:nvPr/>
        </p:nvSpPr>
        <p:spPr>
          <a:xfrm>
            <a:off x="4701540" y="3977640"/>
            <a:ext cx="2758440" cy="1188720"/>
          </a:xfrm>
          <a:prstGeom prst="rect">
            <a:avLst/>
          </a:prstGeom>
          <a:ln w="12700">
            <a:noFill/>
            <a:miter lim="400000"/>
          </a:ln>
        </p:spPr>
        <p:txBody>
          <a:bodyPr lIns="45719" rIns="45719" tIns="0" bIns="0" anchor="t"/>
          <a:lstStyle>
            <a:lvl1pPr algn="l">
              <a:defRPr sz="1200">
                <a:solidFill>
                  <a:srgbClr val="2C3352"/>
                </a:solidFill>
                <a:latin typeface="Calibri"/>
              </a:defRPr>
            </a:lvl1pPr>
          </a:lstStyle>
          <a:p>
            <a:pPr/>
            <a:r>
              <a:t>Sets up the rules, the tools and the context the agent works inside, so that the same request produces the same shape of answer twice running.</a:t>
            </a:r>
          </a:p>
        </p:txBody>
      </p:sp>
      <p:sp>
        <p:nvSpPr>
          <p:cNvPr id="312" name="C2"/>
          <p:cNvSpPr/>
          <p:nvPr/>
        </p:nvSpPr>
        <p:spPr>
          <a:xfrm>
            <a:off x="8122920" y="2560320"/>
            <a:ext cx="3398520" cy="2743200"/>
          </a:xfrm>
          <a:prstGeom prst="roundRect">
            <a:avLst>
              <a:gd name="adj" fmla="val 4000"/>
            </a:avLst>
          </a:prstGeom>
          <a:solidFill>
            <a:srgbClr val="EEF2FC"/>
          </a:solidFill>
          <a:ln w="12700">
            <a:solidFill>
              <a:srgbClr val="CADCFC"/>
            </a:solidFill>
            <a:miter lim="400000"/>
          </a:ln>
        </p:spPr>
        <p:txBody>
          <a:bodyPr lIns="45719" rIns="45719"/>
          <a:lstStyle/>
          <a:p>
            <a:pPr/>
          </a:p>
        </p:txBody>
      </p:sp>
      <p:sp>
        <p:nvSpPr>
          <p:cNvPr id="313" name="D2"/>
          <p:cNvSpPr/>
          <p:nvPr/>
        </p:nvSpPr>
        <p:spPr>
          <a:xfrm>
            <a:off x="8442960" y="2880360"/>
            <a:ext cx="457200" cy="457200"/>
          </a:xfrm>
          <a:prstGeom prst="ellipse">
            <a:avLst/>
          </a:prstGeom>
          <a:solidFill>
            <a:srgbClr val="FF6B4A"/>
          </a:solidFill>
          <a:ln w="12700">
            <a:noFill/>
            <a:miter lim="400000"/>
          </a:ln>
        </p:spPr>
        <p:txBody>
          <a:bodyPr lIns="45719" rIns="45719"/>
          <a:lstStyle/>
          <a:p>
            <a:pPr/>
          </a:p>
        </p:txBody>
      </p:sp>
      <p:sp>
        <p:nvSpPr>
          <p:cNvPr id="314" name="N2"/>
          <p:cNvSpPr txBox="1"/>
          <p:nvPr/>
        </p:nvSpPr>
        <p:spPr>
          <a:xfrm>
            <a:off x="8442960" y="2880360"/>
            <a:ext cx="457200" cy="457200"/>
          </a:xfrm>
          <a:prstGeom prst="rect">
            <a:avLst/>
          </a:prstGeom>
          <a:ln w="12700">
            <a:noFill/>
            <a:miter lim="400000"/>
          </a:ln>
        </p:spPr>
        <p:txBody>
          <a:bodyPr lIns="45719" rIns="45719" tIns="0" bIns="0" anchor="ctr"/>
          <a:lstStyle>
            <a:lvl1pPr algn="ctr">
              <a:defRPr b="1" sz="1600">
                <a:solidFill>
                  <a:srgbClr val="1E2761"/>
                </a:solidFill>
                <a:latin typeface="Cambria"/>
              </a:defRPr>
            </a:lvl1pPr>
          </a:lstStyle>
          <a:p>
            <a:pPr/>
            <a:r>
              <a:t>3</a:t>
            </a:r>
          </a:p>
        </p:txBody>
      </p:sp>
      <p:sp>
        <p:nvSpPr>
          <p:cNvPr id="315" name="H2"/>
          <p:cNvSpPr txBox="1"/>
          <p:nvPr/>
        </p:nvSpPr>
        <p:spPr>
          <a:xfrm>
            <a:off x="8442960" y="3520440"/>
            <a:ext cx="2758440" cy="320040"/>
          </a:xfrm>
          <a:prstGeom prst="rect">
            <a:avLst/>
          </a:prstGeom>
          <a:ln w="12700">
            <a:noFill/>
            <a:miter lim="400000"/>
          </a:ln>
        </p:spPr>
        <p:txBody>
          <a:bodyPr lIns="45719" rIns="45719" tIns="0" bIns="0" anchor="t"/>
          <a:lstStyle>
            <a:lvl1pPr algn="l">
              <a:defRPr b="1" sz="1700">
                <a:solidFill>
                  <a:srgbClr val="1E2761"/>
                </a:solidFill>
                <a:latin typeface="Cambria"/>
              </a:defRPr>
            </a:lvl1pPr>
          </a:lstStyle>
          <a:p>
            <a:pPr/>
            <a:r>
              <a:t>Quality guardian</a:t>
            </a:r>
          </a:p>
        </p:txBody>
      </p:sp>
      <p:sp>
        <p:nvSpPr>
          <p:cNvPr id="316" name="B2"/>
          <p:cNvSpPr txBox="1"/>
          <p:nvPr/>
        </p:nvSpPr>
        <p:spPr>
          <a:xfrm>
            <a:off x="8442960" y="3977640"/>
            <a:ext cx="2758440" cy="1188720"/>
          </a:xfrm>
          <a:prstGeom prst="rect">
            <a:avLst/>
          </a:prstGeom>
          <a:ln w="12700">
            <a:noFill/>
            <a:miter lim="400000"/>
          </a:ln>
        </p:spPr>
        <p:txBody>
          <a:bodyPr lIns="45719" rIns="45719" tIns="0" bIns="0" anchor="t"/>
          <a:lstStyle>
            <a:lvl1pPr algn="l">
              <a:defRPr sz="1200">
                <a:solidFill>
                  <a:srgbClr val="2C3352"/>
                </a:solidFill>
                <a:latin typeface="Calibri"/>
              </a:defRPr>
            </a:lvl1pPr>
          </a:lstStyle>
          <a:p>
            <a:pPr/>
            <a:r>
              <a:t>Owns the tests, the pipeline and the guardrails. The volume of generated code makes this role more important, not less.</a:t>
            </a:r>
          </a:p>
        </p:txBody>
      </p:sp>
      <p:sp>
        <p:nvSpPr>
          <p:cNvPr id="317" name="Callout"/>
          <p:cNvSpPr/>
          <p:nvPr/>
        </p:nvSpPr>
        <p:spPr>
          <a:xfrm>
            <a:off x="640080" y="5669280"/>
            <a:ext cx="10881360" cy="594360"/>
          </a:xfrm>
          <a:prstGeom prst="roundRect">
            <a:avLst>
              <a:gd name="adj" fmla="val 12000"/>
            </a:avLst>
          </a:prstGeom>
          <a:solidFill>
            <a:srgbClr val="1E2761"/>
          </a:solidFill>
          <a:ln w="12700">
            <a:noFill/>
            <a:miter lim="400000"/>
          </a:ln>
        </p:spPr>
        <p:txBody>
          <a:bodyPr lIns="45719" rIns="45719"/>
          <a:lstStyle/>
          <a:p>
            <a:pPr/>
          </a:p>
        </p:txBody>
      </p:sp>
      <p:sp>
        <p:nvSpPr>
          <p:cNvPr id="318" name="CalloutT"/>
          <p:cNvSpPr txBox="1"/>
          <p:nvPr/>
        </p:nvSpPr>
        <p:spPr>
          <a:xfrm>
            <a:off x="960120" y="5669280"/>
            <a:ext cx="10241280" cy="594360"/>
          </a:xfrm>
          <a:prstGeom prst="rect">
            <a:avLst/>
          </a:prstGeom>
          <a:ln w="12700">
            <a:noFill/>
            <a:miter lim="400000"/>
          </a:ln>
        </p:spPr>
        <p:txBody>
          <a:bodyPr lIns="45719" rIns="45719" tIns="0" bIns="0" anchor="ctr"/>
          <a:lstStyle>
            <a:lvl1pPr algn="l">
              <a:defRPr b="1" sz="1400">
                <a:solidFill>
                  <a:srgbClr val="FFFFFF"/>
                </a:solidFill>
                <a:latin typeface="Cambria"/>
              </a:defRPr>
            </a:lvl1pPr>
          </a:lstStyle>
          <a:p>
            <a:pPr/>
            <a:r>
              <a:t>None of this makes existing code disposable. It changes where the leverage is.</a:t>
            </a:r>
          </a:p>
        </p:txBody>
      </p:sp>
    </p:spTree>
  </p:cSld>
  <p:clrMapOvr>
    <a:masterClrMapping/>
  </p:clrMapOvr>
  <p:transition xmlns:p14="http://schemas.microsoft.com/office/powerpoint/2010/main" spd="med" advClick="1"/>
</p:sld>
</file>

<file path=ppt/slides/slide2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8" name="Text 0"/>
          <p:cNvSpPr txBox="1"/>
          <p:nvPr/>
        </p:nvSpPr>
        <p:spPr>
          <a:xfrm>
            <a:off x="685800" y="545400"/>
            <a:ext cx="7223761" cy="28080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200" sz="1100">
                <a:solidFill>
                  <a:srgbClr val="FF6B4A"/>
                </a:solidFill>
                <a:latin typeface="Calibri"/>
              </a:defRPr>
            </a:lvl1pPr>
          </a:lstStyle>
          <a:p>
            <a:pPr/>
            <a:r>
              <a:t>Alternative conclusion</a:t>
            </a:r>
          </a:p>
        </p:txBody>
      </p:sp>
      <p:sp>
        <p:nvSpPr>
          <p:cNvPr id="119" name="Text 1"/>
          <p:cNvSpPr txBox="1"/>
          <p:nvPr/>
        </p:nvSpPr>
        <p:spPr>
          <a:xfrm>
            <a:off x="685800" y="989463"/>
            <a:ext cx="10789920" cy="48995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3000">
                <a:solidFill>
                  <a:srgbClr val="1E2761"/>
                </a:solidFill>
                <a:latin typeface="Cambria"/>
              </a:defRPr>
            </a:lvl1pPr>
          </a:lstStyle>
          <a:p>
            <a:pPr/>
            <a:r>
              <a:t>Three things a written spec gives you</a:t>
            </a:r>
          </a:p>
        </p:txBody>
      </p:sp>
      <p:sp>
        <p:nvSpPr>
          <p:cNvPr id="132" name="Text 14"/>
          <p:cNvSpPr txBox="1"/>
          <p:nvPr/>
        </p:nvSpPr>
        <p:spPr>
          <a:xfrm>
            <a:off x="502919" y="6572163"/>
            <a:ext cx="722376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900">
                <a:solidFill>
                  <a:srgbClr val="5C6484"/>
                </a:solidFill>
                <a:latin typeface="Calibri"/>
              </a:defRPr>
            </a:lvl1pPr>
          </a:lstStyle>
          <a:p>
            <a:pPr/>
            <a:r>
              <a:t>OpenSpec — Spec-Driven Development</a:t>
            </a:r>
          </a:p>
        </p:txBody>
      </p:sp>
      <p:sp>
        <p:nvSpPr>
          <p:cNvPr id="133" name="Text 15"/>
          <p:cNvSpPr txBox="1"/>
          <p:nvPr/>
        </p:nvSpPr>
        <p:spPr>
          <a:xfrm>
            <a:off x="11475719" y="6572163"/>
            <a:ext cx="27432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900">
                <a:solidFill>
                  <a:srgbClr val="5C6484"/>
                </a:solidFill>
                <a:latin typeface="Calibri"/>
              </a:defRPr>
            </a:lvl1pPr>
          </a:lstStyle>
          <a:p>
            <a:pPr/>
            <a:r>
              <a:t>23</a:t>
            </a:r>
          </a:p>
        </p:txBody>
      </p:sp>
      <p:sp>
        <p:nvSpPr>
          <p:cNvPr id="301" name="Lead"/>
          <p:cNvSpPr txBox="1"/>
          <p:nvPr/>
        </p:nvSpPr>
        <p:spPr>
          <a:xfrm>
            <a:off x="685800" y="1691640"/>
            <a:ext cx="10607042" cy="320040"/>
          </a:xfrm>
          <a:prstGeom prst="rect">
            <a:avLst/>
          </a:prstGeom>
          <a:ln w="12700">
            <a:noFill/>
            <a:miter lim="400000"/>
          </a:ln>
        </p:spPr>
        <p:txBody>
          <a:bodyPr lIns="45719" rIns="45719" tIns="0" bIns="0" anchor="t"/>
          <a:lstStyle>
            <a:lvl1pPr algn="l">
              <a:defRPr sz="1500">
                <a:solidFill>
                  <a:srgbClr val="2C3352"/>
                </a:solidFill>
                <a:latin typeface="Calibri"/>
              </a:defRPr>
            </a:lvl1pPr>
          </a:lstStyle>
          <a:p>
            <a:pPr/>
            <a:r>
              <a:t>A benefits-first close, if the room is more management than engineering.</a:t>
            </a:r>
          </a:p>
        </p:txBody>
      </p:sp>
      <p:sp>
        <p:nvSpPr>
          <p:cNvPr id="302" name="C0"/>
          <p:cNvSpPr/>
          <p:nvPr/>
        </p:nvSpPr>
        <p:spPr>
          <a:xfrm>
            <a:off x="640080" y="2377440"/>
            <a:ext cx="3398520" cy="2926080"/>
          </a:xfrm>
          <a:prstGeom prst="roundRect">
            <a:avLst>
              <a:gd name="adj" fmla="val 3500"/>
            </a:avLst>
          </a:prstGeom>
          <a:solidFill>
            <a:srgbClr val="EEF2FC"/>
          </a:solidFill>
          <a:ln w="12700">
            <a:solidFill>
              <a:srgbClr val="CADCFC"/>
            </a:solidFill>
            <a:miter lim="400000"/>
          </a:ln>
        </p:spPr>
        <p:txBody>
          <a:bodyPr lIns="45719" rIns="45719"/>
          <a:lstStyle/>
          <a:p>
            <a:pPr/>
          </a:p>
        </p:txBody>
      </p:sp>
      <p:sp>
        <p:nvSpPr>
          <p:cNvPr id="303" name="H0"/>
          <p:cNvSpPr/>
          <p:nvPr/>
        </p:nvSpPr>
        <p:spPr>
          <a:xfrm>
            <a:off x="640080" y="2377440"/>
            <a:ext cx="3398520" cy="548641"/>
          </a:xfrm>
          <a:prstGeom prst="roundRect">
            <a:avLst>
              <a:gd name="adj" fmla="val 19000"/>
            </a:avLst>
          </a:prstGeom>
          <a:solidFill>
            <a:srgbClr val="1E2761"/>
          </a:solidFill>
          <a:ln w="12700">
            <a:noFill/>
            <a:miter lim="400000"/>
          </a:ln>
        </p:spPr>
        <p:txBody>
          <a:bodyPr lIns="45719" rIns="45719"/>
          <a:lstStyle/>
          <a:p>
            <a:pPr/>
          </a:p>
        </p:txBody>
      </p:sp>
      <p:sp>
        <p:nvSpPr>
          <p:cNvPr id="304" name="L0"/>
          <p:cNvSpPr txBox="1"/>
          <p:nvPr/>
        </p:nvSpPr>
        <p:spPr>
          <a:xfrm>
            <a:off x="640080" y="2501464"/>
            <a:ext cx="3398520" cy="300594"/>
          </a:xfrm>
          <a:prstGeom prst="rect">
            <a:avLst/>
          </a:prstGeom>
          <a:ln w="12700">
            <a:noFill/>
            <a:miter lim="400000"/>
          </a:ln>
        </p:spPr>
        <p:txBody>
          <a:bodyPr lIns="45719" rIns="45719" tIns="0" bIns="0" anchor="t"/>
          <a:lstStyle>
            <a:lvl1pPr algn="ctr">
              <a:defRPr b="1" sz="1150">
                <a:solidFill>
                  <a:srgbClr val="FFFFFF"/>
                </a:solidFill>
                <a:latin typeface="Cambria"/>
              </a:defRPr>
            </a:lvl1pPr>
          </a:lstStyle>
          <a:p>
            <a:pPr/>
            <a:r>
              <a:t>ONE SOURCE OF TRUTH</a:t>
            </a:r>
          </a:p>
        </p:txBody>
      </p:sp>
      <p:sp>
        <p:nvSpPr>
          <p:cNvPr id="305" name="d00"/>
          <p:cNvSpPr/>
          <p:nvPr/>
        </p:nvSpPr>
        <p:spPr>
          <a:xfrm>
            <a:off x="914400" y="3268980"/>
            <a:ext cx="91440" cy="91440"/>
          </a:xfrm>
          <a:prstGeom prst="rect">
            <a:avLst/>
          </a:prstGeom>
          <a:solidFill>
            <a:srgbClr val="FF6B4A"/>
          </a:solidFill>
          <a:ln w="12700">
            <a:noFill/>
            <a:miter lim="400000"/>
          </a:ln>
        </p:spPr>
        <p:txBody>
          <a:bodyPr lIns="45719" rIns="45719"/>
          <a:lstStyle/>
          <a:p>
            <a:pPr/>
          </a:p>
        </p:txBody>
      </p:sp>
      <p:sp>
        <p:nvSpPr>
          <p:cNvPr id="306" name="t00"/>
          <p:cNvSpPr txBox="1"/>
          <p:nvPr/>
        </p:nvSpPr>
        <p:spPr>
          <a:xfrm>
            <a:off x="1143000" y="3200400"/>
            <a:ext cx="2621280" cy="640080"/>
          </a:xfrm>
          <a:prstGeom prst="rect">
            <a:avLst/>
          </a:prstGeom>
          <a:ln w="12700">
            <a:noFill/>
            <a:miter lim="400000"/>
          </a:ln>
        </p:spPr>
        <p:txBody>
          <a:bodyPr lIns="45719" rIns="45719" tIns="0" bIns="0" anchor="t"/>
          <a:lstStyle>
            <a:lvl1pPr algn="l">
              <a:defRPr sz="1200">
                <a:solidFill>
                  <a:srgbClr val="2C3352"/>
                </a:solidFill>
                <a:latin typeface="Calibri"/>
              </a:defRPr>
            </a:lvl1pPr>
          </a:lstStyle>
          <a:p>
            <a:pPr/>
            <a:r>
              <a:t>Specs versioned in Git, beside the code</a:t>
            </a:r>
          </a:p>
        </p:txBody>
      </p:sp>
      <p:sp>
        <p:nvSpPr>
          <p:cNvPr id="307" name="d01"/>
          <p:cNvSpPr/>
          <p:nvPr/>
        </p:nvSpPr>
        <p:spPr>
          <a:xfrm>
            <a:off x="914400" y="3954780"/>
            <a:ext cx="91440" cy="91440"/>
          </a:xfrm>
          <a:prstGeom prst="rect">
            <a:avLst/>
          </a:prstGeom>
          <a:solidFill>
            <a:srgbClr val="FF6B4A"/>
          </a:solidFill>
          <a:ln w="12700">
            <a:noFill/>
            <a:miter lim="400000"/>
          </a:ln>
        </p:spPr>
        <p:txBody>
          <a:bodyPr lIns="45719" rIns="45719"/>
          <a:lstStyle/>
          <a:p>
            <a:pPr/>
          </a:p>
        </p:txBody>
      </p:sp>
      <p:sp>
        <p:nvSpPr>
          <p:cNvPr id="308" name="t01"/>
          <p:cNvSpPr txBox="1"/>
          <p:nvPr/>
        </p:nvSpPr>
        <p:spPr>
          <a:xfrm>
            <a:off x="1143000" y="3886200"/>
            <a:ext cx="2621280" cy="640080"/>
          </a:xfrm>
          <a:prstGeom prst="rect">
            <a:avLst/>
          </a:prstGeom>
          <a:ln w="12700">
            <a:noFill/>
            <a:miter lim="400000"/>
          </a:ln>
        </p:spPr>
        <p:txBody>
          <a:bodyPr lIns="45719" rIns="45719" tIns="0" bIns="0" anchor="t"/>
          <a:lstStyle>
            <a:lvl1pPr algn="l">
              <a:defRPr sz="1200">
                <a:solidFill>
                  <a:srgbClr val="2C3352"/>
                </a:solidFill>
                <a:latin typeface="Calibri"/>
              </a:defRPr>
            </a:lvl1pPr>
          </a:lstStyle>
          <a:p>
            <a:pPr/>
            <a:r>
              <a:t>Documentation that cannot go stale — it is what the agent reads</a:t>
            </a:r>
          </a:p>
        </p:txBody>
      </p:sp>
      <p:sp>
        <p:nvSpPr>
          <p:cNvPr id="309" name="d02"/>
          <p:cNvSpPr/>
          <p:nvPr/>
        </p:nvSpPr>
        <p:spPr>
          <a:xfrm>
            <a:off x="914400" y="4640580"/>
            <a:ext cx="91440" cy="91440"/>
          </a:xfrm>
          <a:prstGeom prst="rect">
            <a:avLst/>
          </a:prstGeom>
          <a:solidFill>
            <a:srgbClr val="FF6B4A"/>
          </a:solidFill>
          <a:ln w="12700">
            <a:noFill/>
            <a:miter lim="400000"/>
          </a:ln>
        </p:spPr>
        <p:txBody>
          <a:bodyPr lIns="45719" rIns="45719"/>
          <a:lstStyle/>
          <a:p>
            <a:pPr/>
          </a:p>
        </p:txBody>
      </p:sp>
      <p:sp>
        <p:nvSpPr>
          <p:cNvPr id="310" name="t02"/>
          <p:cNvSpPr txBox="1"/>
          <p:nvPr/>
        </p:nvSpPr>
        <p:spPr>
          <a:xfrm>
            <a:off x="1143000" y="4572000"/>
            <a:ext cx="2621280" cy="640080"/>
          </a:xfrm>
          <a:prstGeom prst="rect">
            <a:avLst/>
          </a:prstGeom>
          <a:ln w="12700">
            <a:noFill/>
            <a:miter lim="400000"/>
          </a:ln>
        </p:spPr>
        <p:txBody>
          <a:bodyPr lIns="45719" rIns="45719" tIns="0" bIns="0" anchor="t"/>
          <a:lstStyle>
            <a:lvl1pPr algn="l">
              <a:defRPr sz="1200">
                <a:solidFill>
                  <a:srgbClr val="2C3352"/>
                </a:solidFill>
                <a:latin typeface="Calibri"/>
              </a:defRPr>
            </a:lvl1pPr>
          </a:lstStyle>
          <a:p>
            <a:pPr/>
            <a:r>
              <a:t>An architectural history you can go back through</a:t>
            </a:r>
          </a:p>
        </p:txBody>
      </p:sp>
      <p:sp>
        <p:nvSpPr>
          <p:cNvPr id="311" name="C1"/>
          <p:cNvSpPr/>
          <p:nvPr/>
        </p:nvSpPr>
        <p:spPr>
          <a:xfrm>
            <a:off x="4381500" y="2377440"/>
            <a:ext cx="3398520" cy="2926080"/>
          </a:xfrm>
          <a:prstGeom prst="roundRect">
            <a:avLst>
              <a:gd name="adj" fmla="val 3500"/>
            </a:avLst>
          </a:prstGeom>
          <a:solidFill>
            <a:srgbClr val="EEF2FC"/>
          </a:solidFill>
          <a:ln w="12700">
            <a:solidFill>
              <a:srgbClr val="CADCFC"/>
            </a:solidFill>
            <a:miter lim="400000"/>
          </a:ln>
        </p:spPr>
        <p:txBody>
          <a:bodyPr lIns="45719" rIns="45719"/>
          <a:lstStyle/>
          <a:p>
            <a:pPr/>
          </a:p>
        </p:txBody>
      </p:sp>
      <p:sp>
        <p:nvSpPr>
          <p:cNvPr id="312" name="H1"/>
          <p:cNvSpPr/>
          <p:nvPr/>
        </p:nvSpPr>
        <p:spPr>
          <a:xfrm>
            <a:off x="4381500" y="2377440"/>
            <a:ext cx="3398520" cy="548641"/>
          </a:xfrm>
          <a:prstGeom prst="roundRect">
            <a:avLst>
              <a:gd name="adj" fmla="val 19000"/>
            </a:avLst>
          </a:prstGeom>
          <a:solidFill>
            <a:srgbClr val="1E2761"/>
          </a:solidFill>
          <a:ln w="12700">
            <a:noFill/>
            <a:miter lim="400000"/>
          </a:ln>
        </p:spPr>
        <p:txBody>
          <a:bodyPr lIns="45719" rIns="45719"/>
          <a:lstStyle/>
          <a:p>
            <a:pPr/>
          </a:p>
        </p:txBody>
      </p:sp>
      <p:sp>
        <p:nvSpPr>
          <p:cNvPr id="313" name="L1"/>
          <p:cNvSpPr txBox="1"/>
          <p:nvPr/>
        </p:nvSpPr>
        <p:spPr>
          <a:xfrm>
            <a:off x="4381500" y="2501464"/>
            <a:ext cx="3398520" cy="300594"/>
          </a:xfrm>
          <a:prstGeom prst="rect">
            <a:avLst/>
          </a:prstGeom>
          <a:ln w="12700">
            <a:noFill/>
            <a:miter lim="400000"/>
          </a:ln>
        </p:spPr>
        <p:txBody>
          <a:bodyPr lIns="45719" rIns="45719" tIns="0" bIns="0" anchor="t"/>
          <a:lstStyle>
            <a:lvl1pPr algn="ctr">
              <a:defRPr b="1" sz="1150">
                <a:solidFill>
                  <a:srgbClr val="FFFFFF"/>
                </a:solidFill>
                <a:latin typeface="Cambria"/>
              </a:defRPr>
            </a:lvl1pPr>
          </a:lstStyle>
          <a:p>
            <a:pPr/>
            <a:r>
              <a:t>A NARROWER CONTEXT</a:t>
            </a:r>
          </a:p>
        </p:txBody>
      </p:sp>
      <p:sp>
        <p:nvSpPr>
          <p:cNvPr id="314" name="d10"/>
          <p:cNvSpPr/>
          <p:nvPr/>
        </p:nvSpPr>
        <p:spPr>
          <a:xfrm>
            <a:off x="4655820" y="3268980"/>
            <a:ext cx="91440" cy="91440"/>
          </a:xfrm>
          <a:prstGeom prst="rect">
            <a:avLst/>
          </a:prstGeom>
          <a:solidFill>
            <a:srgbClr val="FF6B4A"/>
          </a:solidFill>
          <a:ln w="12700">
            <a:noFill/>
            <a:miter lim="400000"/>
          </a:ln>
        </p:spPr>
        <p:txBody>
          <a:bodyPr lIns="45719" rIns="45719"/>
          <a:lstStyle/>
          <a:p>
            <a:pPr/>
          </a:p>
        </p:txBody>
      </p:sp>
      <p:sp>
        <p:nvSpPr>
          <p:cNvPr id="315" name="t10"/>
          <p:cNvSpPr txBox="1"/>
          <p:nvPr/>
        </p:nvSpPr>
        <p:spPr>
          <a:xfrm>
            <a:off x="4884420" y="3200400"/>
            <a:ext cx="2621280" cy="640080"/>
          </a:xfrm>
          <a:prstGeom prst="rect">
            <a:avLst/>
          </a:prstGeom>
          <a:ln w="12700">
            <a:noFill/>
            <a:miter lim="400000"/>
          </a:ln>
        </p:spPr>
        <p:txBody>
          <a:bodyPr lIns="45719" rIns="45719" tIns="0" bIns="0" anchor="t"/>
          <a:lstStyle>
            <a:lvl1pPr algn="l">
              <a:defRPr sz="1200">
                <a:solidFill>
                  <a:srgbClr val="2C3352"/>
                </a:solidFill>
                <a:latin typeface="Calibri"/>
              </a:defRPr>
            </a:lvl1pPr>
          </a:lstStyle>
          <a:p>
            <a:pPr/>
            <a:r>
              <a:t>The agent works from the spec, not from a scrolling chat</a:t>
            </a:r>
          </a:p>
        </p:txBody>
      </p:sp>
      <p:sp>
        <p:nvSpPr>
          <p:cNvPr id="316" name="d11"/>
          <p:cNvSpPr/>
          <p:nvPr/>
        </p:nvSpPr>
        <p:spPr>
          <a:xfrm>
            <a:off x="4655820" y="3954780"/>
            <a:ext cx="91440" cy="91440"/>
          </a:xfrm>
          <a:prstGeom prst="rect">
            <a:avLst/>
          </a:prstGeom>
          <a:solidFill>
            <a:srgbClr val="FF6B4A"/>
          </a:solidFill>
          <a:ln w="12700">
            <a:noFill/>
            <a:miter lim="400000"/>
          </a:ln>
        </p:spPr>
        <p:txBody>
          <a:bodyPr lIns="45719" rIns="45719"/>
          <a:lstStyle/>
          <a:p>
            <a:pPr/>
          </a:p>
        </p:txBody>
      </p:sp>
      <p:sp>
        <p:nvSpPr>
          <p:cNvPr id="317" name="t11"/>
          <p:cNvSpPr txBox="1"/>
          <p:nvPr/>
        </p:nvSpPr>
        <p:spPr>
          <a:xfrm>
            <a:off x="4884420" y="3886200"/>
            <a:ext cx="2621280" cy="640080"/>
          </a:xfrm>
          <a:prstGeom prst="rect">
            <a:avLst/>
          </a:prstGeom>
          <a:ln w="12700">
            <a:noFill/>
            <a:miter lim="400000"/>
          </a:ln>
        </p:spPr>
        <p:txBody>
          <a:bodyPr lIns="45719" rIns="45719" tIns="0" bIns="0" anchor="t"/>
          <a:lstStyle>
            <a:lvl1pPr algn="l">
              <a:defRPr sz="1200">
                <a:solidFill>
                  <a:srgbClr val="2C3352"/>
                </a:solidFill>
                <a:latin typeface="Calibri"/>
              </a:defRPr>
            </a:lvl1pPr>
          </a:lstStyle>
          <a:p>
            <a:pPr/>
            <a:r>
              <a:t>Drift and invention are caught against a stated intent</a:t>
            </a:r>
          </a:p>
        </p:txBody>
      </p:sp>
      <p:sp>
        <p:nvSpPr>
          <p:cNvPr id="318" name="d12"/>
          <p:cNvSpPr/>
          <p:nvPr/>
        </p:nvSpPr>
        <p:spPr>
          <a:xfrm>
            <a:off x="4655820" y="4640580"/>
            <a:ext cx="91440" cy="91440"/>
          </a:xfrm>
          <a:prstGeom prst="rect">
            <a:avLst/>
          </a:prstGeom>
          <a:solidFill>
            <a:srgbClr val="FF6B4A"/>
          </a:solidFill>
          <a:ln w="12700">
            <a:noFill/>
            <a:miter lim="400000"/>
          </a:ln>
        </p:spPr>
        <p:txBody>
          <a:bodyPr lIns="45719" rIns="45719"/>
          <a:lstStyle/>
          <a:p>
            <a:pPr/>
          </a:p>
        </p:txBody>
      </p:sp>
      <p:sp>
        <p:nvSpPr>
          <p:cNvPr id="319" name="t12"/>
          <p:cNvSpPr txBox="1"/>
          <p:nvPr/>
        </p:nvSpPr>
        <p:spPr>
          <a:xfrm>
            <a:off x="4884420" y="4572000"/>
            <a:ext cx="2621280" cy="640080"/>
          </a:xfrm>
          <a:prstGeom prst="rect">
            <a:avLst/>
          </a:prstGeom>
          <a:ln w="12700">
            <a:noFill/>
            <a:miter lim="400000"/>
          </a:ln>
        </p:spPr>
        <p:txBody>
          <a:bodyPr lIns="45719" rIns="45719" tIns="0" bIns="0" anchor="t"/>
          <a:lstStyle>
            <a:lvl1pPr algn="l">
              <a:defRPr sz="1200">
                <a:solidFill>
                  <a:srgbClr val="2C3352"/>
                </a:solidFill>
                <a:latin typeface="Calibri"/>
              </a:defRPr>
            </a:lvl1pPr>
          </a:lstStyle>
          <a:p>
            <a:pPr/>
            <a:r>
              <a:t>What ships can be compared to what was agreed</a:t>
            </a:r>
          </a:p>
        </p:txBody>
      </p:sp>
      <p:sp>
        <p:nvSpPr>
          <p:cNvPr id="320" name="C2"/>
          <p:cNvSpPr/>
          <p:nvPr/>
        </p:nvSpPr>
        <p:spPr>
          <a:xfrm>
            <a:off x="8122920" y="2377440"/>
            <a:ext cx="3398520" cy="2926080"/>
          </a:xfrm>
          <a:prstGeom prst="roundRect">
            <a:avLst>
              <a:gd name="adj" fmla="val 3500"/>
            </a:avLst>
          </a:prstGeom>
          <a:solidFill>
            <a:srgbClr val="EEF2FC"/>
          </a:solidFill>
          <a:ln w="12700">
            <a:solidFill>
              <a:srgbClr val="CADCFC"/>
            </a:solidFill>
            <a:miter lim="400000"/>
          </a:ln>
        </p:spPr>
        <p:txBody>
          <a:bodyPr lIns="45719" rIns="45719"/>
          <a:lstStyle/>
          <a:p>
            <a:pPr/>
          </a:p>
        </p:txBody>
      </p:sp>
      <p:sp>
        <p:nvSpPr>
          <p:cNvPr id="321" name="H2"/>
          <p:cNvSpPr/>
          <p:nvPr/>
        </p:nvSpPr>
        <p:spPr>
          <a:xfrm>
            <a:off x="8122920" y="2377440"/>
            <a:ext cx="3398520" cy="548641"/>
          </a:xfrm>
          <a:prstGeom prst="roundRect">
            <a:avLst>
              <a:gd name="adj" fmla="val 19000"/>
            </a:avLst>
          </a:prstGeom>
          <a:solidFill>
            <a:srgbClr val="1E2761"/>
          </a:solidFill>
          <a:ln w="12700">
            <a:noFill/>
            <a:miter lim="400000"/>
          </a:ln>
        </p:spPr>
        <p:txBody>
          <a:bodyPr lIns="45719" rIns="45719"/>
          <a:lstStyle/>
          <a:p>
            <a:pPr/>
          </a:p>
        </p:txBody>
      </p:sp>
      <p:sp>
        <p:nvSpPr>
          <p:cNvPr id="322" name="L2"/>
          <p:cNvSpPr txBox="1"/>
          <p:nvPr/>
        </p:nvSpPr>
        <p:spPr>
          <a:xfrm>
            <a:off x="8122920" y="2501464"/>
            <a:ext cx="3398520" cy="300594"/>
          </a:xfrm>
          <a:prstGeom prst="rect">
            <a:avLst/>
          </a:prstGeom>
          <a:ln w="12700">
            <a:noFill/>
            <a:miter lim="400000"/>
          </a:ln>
        </p:spPr>
        <p:txBody>
          <a:bodyPr lIns="45719" rIns="45719" tIns="0" bIns="0" anchor="t"/>
          <a:lstStyle>
            <a:lvl1pPr algn="ctr">
              <a:defRPr b="1" sz="1150">
                <a:solidFill>
                  <a:srgbClr val="FFFFFF"/>
                </a:solidFill>
                <a:latin typeface="Cambria"/>
              </a:defRPr>
            </a:lvl1pPr>
          </a:lstStyle>
          <a:p>
            <a:pPr/>
            <a:r>
              <a:t>REVIEW THAT SCALES</a:t>
            </a:r>
          </a:p>
        </p:txBody>
      </p:sp>
      <p:sp>
        <p:nvSpPr>
          <p:cNvPr id="323" name="d20"/>
          <p:cNvSpPr/>
          <p:nvPr/>
        </p:nvSpPr>
        <p:spPr>
          <a:xfrm>
            <a:off x="8397240" y="3268980"/>
            <a:ext cx="91440" cy="91440"/>
          </a:xfrm>
          <a:prstGeom prst="rect">
            <a:avLst/>
          </a:prstGeom>
          <a:solidFill>
            <a:srgbClr val="FF6B4A"/>
          </a:solidFill>
          <a:ln w="12700">
            <a:noFill/>
            <a:miter lim="400000"/>
          </a:ln>
        </p:spPr>
        <p:txBody>
          <a:bodyPr lIns="45719" rIns="45719"/>
          <a:lstStyle/>
          <a:p>
            <a:pPr/>
          </a:p>
        </p:txBody>
      </p:sp>
      <p:sp>
        <p:nvSpPr>
          <p:cNvPr id="324" name="t20"/>
          <p:cNvSpPr txBox="1"/>
          <p:nvPr/>
        </p:nvSpPr>
        <p:spPr>
          <a:xfrm>
            <a:off x="8625840" y="3200400"/>
            <a:ext cx="2621280" cy="640080"/>
          </a:xfrm>
          <a:prstGeom prst="rect">
            <a:avLst/>
          </a:prstGeom>
          <a:ln w="12700">
            <a:noFill/>
            <a:miter lim="400000"/>
          </a:ln>
        </p:spPr>
        <p:txBody>
          <a:bodyPr lIns="45719" rIns="45719" tIns="0" bIns="0" anchor="t"/>
          <a:lstStyle>
            <a:lvl1pPr algn="l">
              <a:defRPr sz="1200">
                <a:solidFill>
                  <a:srgbClr val="2C3352"/>
                </a:solidFill>
                <a:latin typeface="Calibri"/>
              </a:defRPr>
            </a:lvl1pPr>
          </a:lstStyle>
          <a:p>
            <a:pPr/>
            <a:r>
              <a:t>Intent validated before the code exists</a:t>
            </a:r>
          </a:p>
        </p:txBody>
      </p:sp>
      <p:sp>
        <p:nvSpPr>
          <p:cNvPr id="325" name="d21"/>
          <p:cNvSpPr/>
          <p:nvPr/>
        </p:nvSpPr>
        <p:spPr>
          <a:xfrm>
            <a:off x="8397240" y="3954780"/>
            <a:ext cx="91440" cy="91440"/>
          </a:xfrm>
          <a:prstGeom prst="rect">
            <a:avLst/>
          </a:prstGeom>
          <a:solidFill>
            <a:srgbClr val="FF6B4A"/>
          </a:solidFill>
          <a:ln w="12700">
            <a:noFill/>
            <a:miter lim="400000"/>
          </a:ln>
        </p:spPr>
        <p:txBody>
          <a:bodyPr lIns="45719" rIns="45719"/>
          <a:lstStyle/>
          <a:p>
            <a:pPr/>
          </a:p>
        </p:txBody>
      </p:sp>
      <p:sp>
        <p:nvSpPr>
          <p:cNvPr id="326" name="t21"/>
          <p:cNvSpPr txBox="1"/>
          <p:nvPr/>
        </p:nvSpPr>
        <p:spPr>
          <a:xfrm>
            <a:off x="8625840" y="3886200"/>
            <a:ext cx="2621280" cy="640080"/>
          </a:xfrm>
          <a:prstGeom prst="rect">
            <a:avLst/>
          </a:prstGeom>
          <a:ln w="12700">
            <a:noFill/>
            <a:miter lim="400000"/>
          </a:ln>
        </p:spPr>
        <p:txBody>
          <a:bodyPr lIns="45719" rIns="45719" tIns="0" bIns="0" anchor="t"/>
          <a:lstStyle>
            <a:lvl1pPr algn="l">
              <a:defRPr sz="1200">
                <a:solidFill>
                  <a:srgbClr val="2C3352"/>
                </a:solidFill>
                <a:latin typeface="Calibri"/>
              </a:defRPr>
            </a:lvl1pPr>
          </a:lstStyle>
          <a:p>
            <a:pPr/>
            <a:r>
              <a:t>Reviews read a spec, not hundreds of lines of code</a:t>
            </a:r>
          </a:p>
        </p:txBody>
      </p:sp>
      <p:sp>
        <p:nvSpPr>
          <p:cNvPr id="327" name="d22"/>
          <p:cNvSpPr/>
          <p:nvPr/>
        </p:nvSpPr>
        <p:spPr>
          <a:xfrm>
            <a:off x="8397240" y="4640580"/>
            <a:ext cx="91440" cy="91440"/>
          </a:xfrm>
          <a:prstGeom prst="rect">
            <a:avLst/>
          </a:prstGeom>
          <a:solidFill>
            <a:srgbClr val="FF6B4A"/>
          </a:solidFill>
          <a:ln w="12700">
            <a:noFill/>
            <a:miter lim="400000"/>
          </a:ln>
        </p:spPr>
        <p:txBody>
          <a:bodyPr lIns="45719" rIns="45719"/>
          <a:lstStyle/>
          <a:p>
            <a:pPr/>
          </a:p>
        </p:txBody>
      </p:sp>
      <p:sp>
        <p:nvSpPr>
          <p:cNvPr id="328" name="t22"/>
          <p:cNvSpPr txBox="1"/>
          <p:nvPr/>
        </p:nvSpPr>
        <p:spPr>
          <a:xfrm>
            <a:off x="8625840" y="4572000"/>
            <a:ext cx="2621280" cy="640080"/>
          </a:xfrm>
          <a:prstGeom prst="rect">
            <a:avLst/>
          </a:prstGeom>
          <a:ln w="12700">
            <a:noFill/>
            <a:miter lim="400000"/>
          </a:ln>
        </p:spPr>
        <p:txBody>
          <a:bodyPr lIns="45719" rIns="45719" tIns="0" bIns="0" anchor="t"/>
          <a:lstStyle>
            <a:lvl1pPr algn="l">
              <a:defRPr sz="1200">
                <a:solidFill>
                  <a:srgbClr val="2C3352"/>
                </a:solidFill>
                <a:latin typeface="Calibri"/>
              </a:defRPr>
            </a:lvl1pPr>
          </a:lstStyle>
          <a:p>
            <a:pPr/>
            <a:r>
              <a:t>One artefact the business, the developers and the agent all read</a:t>
            </a:r>
          </a:p>
        </p:txBody>
      </p:sp>
      <p:sp>
        <p:nvSpPr>
          <p:cNvPr id="329" name="Callout"/>
          <p:cNvSpPr/>
          <p:nvPr/>
        </p:nvSpPr>
        <p:spPr>
          <a:xfrm>
            <a:off x="640080" y="5577840"/>
            <a:ext cx="10881360" cy="594360"/>
          </a:xfrm>
          <a:prstGeom prst="roundRect">
            <a:avLst>
              <a:gd name="adj" fmla="val 12000"/>
            </a:avLst>
          </a:prstGeom>
          <a:solidFill>
            <a:srgbClr val="1E2761"/>
          </a:solidFill>
          <a:ln w="12700">
            <a:noFill/>
            <a:miter lim="400000"/>
          </a:ln>
        </p:spPr>
        <p:txBody>
          <a:bodyPr lIns="45719" rIns="45719"/>
          <a:lstStyle/>
          <a:p>
            <a:pPr/>
          </a:p>
        </p:txBody>
      </p:sp>
      <p:sp>
        <p:nvSpPr>
          <p:cNvPr id="330" name="CalloutT"/>
          <p:cNvSpPr txBox="1"/>
          <p:nvPr/>
        </p:nvSpPr>
        <p:spPr>
          <a:xfrm>
            <a:off x="960120" y="5577840"/>
            <a:ext cx="10241280" cy="594360"/>
          </a:xfrm>
          <a:prstGeom prst="rect">
            <a:avLst/>
          </a:prstGeom>
          <a:ln w="12700">
            <a:noFill/>
            <a:miter lim="400000"/>
          </a:ln>
        </p:spPr>
        <p:txBody>
          <a:bodyPr lIns="45719" rIns="45719" tIns="0" bIns="0" anchor="ctr"/>
          <a:lstStyle>
            <a:lvl1pPr algn="l">
              <a:defRPr b="1" sz="1400">
                <a:solidFill>
                  <a:srgbClr val="FFFFFF"/>
                </a:solidFill>
                <a:latin typeface="Cambria"/>
              </a:defRPr>
            </a:lvl1pPr>
          </a:lstStyle>
          <a:p>
            <a:pPr/>
            <a:r>
              <a:t>Spec-driven development does not make the AI slower. It makes what comes out of it reviewable.</a:t>
            </a:r>
          </a:p>
        </p:txBody>
      </p:sp>
    </p:spTree>
  </p:cSld>
  <p:clrMapOvr>
    <a:masterClrMapping/>
  </p:clrMapOvr>
  <p:transition xmlns:p14="http://schemas.microsoft.com/office/powerpoint/2010/main" spd="med" advClick="1"/>
</p:sld>
</file>

<file path=ppt/slides/slide2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8" name="Text 0"/>
          <p:cNvSpPr txBox="1"/>
          <p:nvPr/>
        </p:nvSpPr>
        <p:spPr>
          <a:xfrm>
            <a:off x="685800" y="545400"/>
            <a:ext cx="7223761" cy="28080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200" sz="1100">
                <a:solidFill>
                  <a:srgbClr val="FF6B4A"/>
                </a:solidFill>
                <a:latin typeface="Calibri"/>
              </a:defRPr>
            </a:lvl1pPr>
          </a:lstStyle>
          <a:p>
            <a:pPr/>
            <a:r>
              <a:t>Fitting the existing process</a:t>
            </a:r>
          </a:p>
        </p:txBody>
      </p:sp>
      <p:sp>
        <p:nvSpPr>
          <p:cNvPr id="119" name="Text 1"/>
          <p:cNvSpPr txBox="1"/>
          <p:nvPr/>
        </p:nvSpPr>
        <p:spPr>
          <a:xfrm>
            <a:off x="685800" y="989463"/>
            <a:ext cx="10789920" cy="48995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3000">
                <a:solidFill>
                  <a:srgbClr val="1E2761"/>
                </a:solidFill>
                <a:latin typeface="Cambria"/>
              </a:defRPr>
            </a:lvl1pPr>
          </a:lstStyle>
          <a:p>
            <a:pPr/>
            <a:r>
              <a:t>What stays where it is, and what moves</a:t>
            </a:r>
          </a:p>
        </p:txBody>
      </p:sp>
      <p:sp>
        <p:nvSpPr>
          <p:cNvPr id="132" name="Text 14"/>
          <p:cNvSpPr txBox="1"/>
          <p:nvPr/>
        </p:nvSpPr>
        <p:spPr>
          <a:xfrm>
            <a:off x="502919" y="6572163"/>
            <a:ext cx="722376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900">
                <a:solidFill>
                  <a:srgbClr val="5C6484"/>
                </a:solidFill>
                <a:latin typeface="Calibri"/>
              </a:defRPr>
            </a:lvl1pPr>
          </a:lstStyle>
          <a:p>
            <a:pPr/>
            <a:r>
              <a:t>OpenSpec — Spec-Driven Development</a:t>
            </a:r>
          </a:p>
        </p:txBody>
      </p:sp>
      <p:sp>
        <p:nvSpPr>
          <p:cNvPr id="133" name="Text 15"/>
          <p:cNvSpPr txBox="1"/>
          <p:nvPr/>
        </p:nvSpPr>
        <p:spPr>
          <a:xfrm>
            <a:off x="11475719" y="6572163"/>
            <a:ext cx="27432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900">
                <a:solidFill>
                  <a:srgbClr val="5C6484"/>
                </a:solidFill>
                <a:latin typeface="Calibri"/>
              </a:defRPr>
            </a:lvl1pPr>
          </a:lstStyle>
          <a:p>
            <a:pPr/>
            <a:r>
              <a:t>24</a:t>
            </a:r>
          </a:p>
        </p:txBody>
      </p:sp>
      <p:sp>
        <p:nvSpPr>
          <p:cNvPr id="301" name="Lead"/>
          <p:cNvSpPr txBox="1"/>
          <p:nvPr/>
        </p:nvSpPr>
        <p:spPr>
          <a:xfrm>
            <a:off x="685800" y="1691640"/>
            <a:ext cx="10607042" cy="320040"/>
          </a:xfrm>
          <a:prstGeom prst="rect">
            <a:avLst/>
          </a:prstGeom>
          <a:ln w="12700">
            <a:noFill/>
            <a:miter lim="400000"/>
          </a:ln>
        </p:spPr>
        <p:txBody>
          <a:bodyPr lIns="45719" rIns="45719" tIns="0" bIns="0" anchor="t"/>
          <a:lstStyle>
            <a:lvl1pPr algn="l">
              <a:defRPr sz="1500">
                <a:solidFill>
                  <a:srgbClr val="2C3352"/>
                </a:solidFill>
                <a:latin typeface="Calibri"/>
              </a:defRPr>
            </a:lvl1pPr>
          </a:lstStyle>
          <a:p>
            <a:pPr/>
            <a:r>
              <a:t>JIRA and SharePoint keep their jobs. One thing moves: the description of how the system behaves.</a:t>
            </a:r>
          </a:p>
        </p:txBody>
      </p:sp>
      <p:sp>
        <p:nvSpPr>
          <p:cNvPr id="302" name="C0"/>
          <p:cNvSpPr/>
          <p:nvPr/>
        </p:nvSpPr>
        <p:spPr>
          <a:xfrm>
            <a:off x="640080" y="2377440"/>
            <a:ext cx="3398520" cy="2468880"/>
          </a:xfrm>
          <a:prstGeom prst="roundRect">
            <a:avLst>
              <a:gd name="adj" fmla="val 4000"/>
            </a:avLst>
          </a:prstGeom>
          <a:solidFill>
            <a:srgbClr val="EEF2FC"/>
          </a:solidFill>
          <a:ln w="12700">
            <a:solidFill>
              <a:srgbClr val="CADCFC"/>
            </a:solidFill>
            <a:miter lim="400000"/>
          </a:ln>
        </p:spPr>
        <p:txBody>
          <a:bodyPr lIns="45719" rIns="45719"/>
          <a:lstStyle/>
          <a:p>
            <a:pPr/>
          </a:p>
        </p:txBody>
      </p:sp>
      <p:sp>
        <p:nvSpPr>
          <p:cNvPr id="303" name="H0"/>
          <p:cNvSpPr/>
          <p:nvPr/>
        </p:nvSpPr>
        <p:spPr>
          <a:xfrm>
            <a:off x="640080" y="2377440"/>
            <a:ext cx="3398520" cy="548641"/>
          </a:xfrm>
          <a:prstGeom prst="roundRect">
            <a:avLst>
              <a:gd name="adj" fmla="val 19000"/>
            </a:avLst>
          </a:prstGeom>
          <a:solidFill>
            <a:srgbClr val="1E2761"/>
          </a:solidFill>
          <a:ln w="12700">
            <a:noFill/>
            <a:miter lim="400000"/>
          </a:ln>
        </p:spPr>
        <p:txBody>
          <a:bodyPr lIns="45719" rIns="45719"/>
          <a:lstStyle/>
          <a:p>
            <a:pPr/>
          </a:p>
        </p:txBody>
      </p:sp>
      <p:sp>
        <p:nvSpPr>
          <p:cNvPr id="304" name="N0"/>
          <p:cNvSpPr txBox="1"/>
          <p:nvPr/>
        </p:nvSpPr>
        <p:spPr>
          <a:xfrm>
            <a:off x="640080" y="2491740"/>
            <a:ext cx="3398520" cy="251460"/>
          </a:xfrm>
          <a:prstGeom prst="rect">
            <a:avLst/>
          </a:prstGeom>
          <a:ln w="12700">
            <a:noFill/>
            <a:miter lim="400000"/>
          </a:ln>
        </p:spPr>
        <p:txBody>
          <a:bodyPr lIns="45719" rIns="45719" tIns="0" bIns="0" anchor="t"/>
          <a:lstStyle>
            <a:lvl1pPr algn="ctr">
              <a:defRPr b="1" sz="1400">
                <a:solidFill>
                  <a:srgbClr val="FFFFFF"/>
                </a:solidFill>
                <a:latin typeface="Cambria"/>
              </a:defRPr>
            </a:lvl1pPr>
          </a:lstStyle>
          <a:p>
            <a:pPr/>
            <a:r>
              <a:t>JIRA</a:t>
            </a:r>
          </a:p>
        </p:txBody>
      </p:sp>
      <p:sp>
        <p:nvSpPr>
          <p:cNvPr id="305" name="R0"/>
          <p:cNvSpPr txBox="1"/>
          <p:nvPr/>
        </p:nvSpPr>
        <p:spPr>
          <a:xfrm>
            <a:off x="640080" y="2743200"/>
            <a:ext cx="3398520" cy="205740"/>
          </a:xfrm>
          <a:prstGeom prst="rect">
            <a:avLst/>
          </a:prstGeom>
          <a:ln w="12700">
            <a:noFill/>
            <a:miter lim="400000"/>
          </a:ln>
        </p:spPr>
        <p:txBody>
          <a:bodyPr lIns="45719" rIns="45719" tIns="0" bIns="0" anchor="t"/>
          <a:lstStyle>
            <a:lvl1pPr algn="ctr">
              <a:defRPr sz="950" spc="80">
                <a:solidFill>
                  <a:srgbClr val="FF6B4A"/>
                </a:solidFill>
                <a:latin typeface="Calibri"/>
              </a:defRPr>
            </a:lvl1pPr>
          </a:lstStyle>
          <a:p>
            <a:pPr/>
            <a:r>
              <a:t>the user stories</a:t>
            </a:r>
          </a:p>
        </p:txBody>
      </p:sp>
      <p:sp>
        <p:nvSpPr>
          <p:cNvPr id="306" name="D0"/>
          <p:cNvSpPr txBox="1"/>
          <p:nvPr/>
        </p:nvSpPr>
        <p:spPr>
          <a:xfrm>
            <a:off x="960120" y="3154680"/>
            <a:ext cx="2758440" cy="1005840"/>
          </a:xfrm>
          <a:prstGeom prst="rect">
            <a:avLst/>
          </a:prstGeom>
          <a:ln w="12700">
            <a:noFill/>
            <a:miter lim="400000"/>
          </a:ln>
        </p:spPr>
        <p:txBody>
          <a:bodyPr lIns="45719" rIns="45719" tIns="0" bIns="0" anchor="t"/>
          <a:lstStyle>
            <a:lvl1pPr algn="l">
              <a:defRPr sz="1200">
                <a:solidFill>
                  <a:srgbClr val="2C3352"/>
                </a:solidFill>
                <a:latin typeface="Calibri"/>
              </a:defRPr>
            </a:lvl1pPr>
          </a:lstStyle>
          <a:p>
            <a:pPr/>
            <a:r>
              <a:t>Still where work is tracked, estimated and assigned. Nothing about the board changes.</a:t>
            </a:r>
          </a:p>
        </p:txBody>
      </p:sp>
      <p:sp>
        <p:nvSpPr>
          <p:cNvPr id="307" name="W0"/>
          <p:cNvSpPr/>
          <p:nvPr/>
        </p:nvSpPr>
        <p:spPr>
          <a:xfrm>
            <a:off x="960120" y="4389120"/>
            <a:ext cx="109729" cy="109729"/>
          </a:xfrm>
          <a:prstGeom prst="rect">
            <a:avLst/>
          </a:prstGeom>
          <a:solidFill>
            <a:srgbClr val="FF6B4A"/>
          </a:solidFill>
          <a:ln w="12700">
            <a:noFill/>
            <a:miter lim="400000"/>
          </a:ln>
        </p:spPr>
        <p:txBody>
          <a:bodyPr lIns="45719" rIns="45719"/>
          <a:lstStyle/>
          <a:p>
            <a:pPr/>
          </a:p>
        </p:txBody>
      </p:sp>
      <p:sp>
        <p:nvSpPr>
          <p:cNvPr id="308" name="T0"/>
          <p:cNvSpPr txBox="1"/>
          <p:nvPr/>
        </p:nvSpPr>
        <p:spPr>
          <a:xfrm>
            <a:off x="1234440" y="4320540"/>
            <a:ext cx="2484120" cy="457200"/>
          </a:xfrm>
          <a:prstGeom prst="rect">
            <a:avLst/>
          </a:prstGeom>
          <a:ln w="12700">
            <a:noFill/>
            <a:miter lim="400000"/>
          </a:ln>
        </p:spPr>
        <p:txBody>
          <a:bodyPr lIns="45719" rIns="45719" tIns="0" bIns="0" anchor="t"/>
          <a:lstStyle>
            <a:lvl1pPr algn="l">
              <a:defRPr b="1" sz="1050">
                <a:solidFill>
                  <a:srgbClr val="1E2761"/>
                </a:solidFill>
                <a:latin typeface="Calibri"/>
              </a:defRPr>
            </a:lvl1pPr>
          </a:lstStyle>
          <a:p>
            <a:pPr/>
            <a:r>
              <a:t>The story ID travels into proposal.md</a:t>
            </a:r>
          </a:p>
        </p:txBody>
      </p:sp>
      <p:sp>
        <p:nvSpPr>
          <p:cNvPr id="309" name="C1"/>
          <p:cNvSpPr/>
          <p:nvPr/>
        </p:nvSpPr>
        <p:spPr>
          <a:xfrm>
            <a:off x="4381500" y="2377440"/>
            <a:ext cx="3398520" cy="2468880"/>
          </a:xfrm>
          <a:prstGeom prst="roundRect">
            <a:avLst>
              <a:gd name="adj" fmla="val 4000"/>
            </a:avLst>
          </a:prstGeom>
          <a:solidFill>
            <a:srgbClr val="EEF2FC"/>
          </a:solidFill>
          <a:ln w="12700">
            <a:solidFill>
              <a:srgbClr val="CADCFC"/>
            </a:solidFill>
            <a:miter lim="400000"/>
          </a:ln>
        </p:spPr>
        <p:txBody>
          <a:bodyPr lIns="45719" rIns="45719"/>
          <a:lstStyle/>
          <a:p>
            <a:pPr/>
          </a:p>
        </p:txBody>
      </p:sp>
      <p:sp>
        <p:nvSpPr>
          <p:cNvPr id="310" name="H1"/>
          <p:cNvSpPr/>
          <p:nvPr/>
        </p:nvSpPr>
        <p:spPr>
          <a:xfrm>
            <a:off x="4381500" y="2377440"/>
            <a:ext cx="3398520" cy="548641"/>
          </a:xfrm>
          <a:prstGeom prst="roundRect">
            <a:avLst>
              <a:gd name="adj" fmla="val 19000"/>
            </a:avLst>
          </a:prstGeom>
          <a:solidFill>
            <a:srgbClr val="1E2761"/>
          </a:solidFill>
          <a:ln w="12700">
            <a:noFill/>
            <a:miter lim="400000"/>
          </a:ln>
        </p:spPr>
        <p:txBody>
          <a:bodyPr lIns="45719" rIns="45719"/>
          <a:lstStyle/>
          <a:p>
            <a:pPr/>
          </a:p>
        </p:txBody>
      </p:sp>
      <p:sp>
        <p:nvSpPr>
          <p:cNvPr id="311" name="N1"/>
          <p:cNvSpPr txBox="1"/>
          <p:nvPr/>
        </p:nvSpPr>
        <p:spPr>
          <a:xfrm>
            <a:off x="4381500" y="2491740"/>
            <a:ext cx="3398520" cy="251460"/>
          </a:xfrm>
          <a:prstGeom prst="rect">
            <a:avLst/>
          </a:prstGeom>
          <a:ln w="12700">
            <a:noFill/>
            <a:miter lim="400000"/>
          </a:ln>
        </p:spPr>
        <p:txBody>
          <a:bodyPr lIns="45719" rIns="45719" tIns="0" bIns="0" anchor="t"/>
          <a:lstStyle>
            <a:lvl1pPr algn="ctr">
              <a:defRPr b="1" sz="1400">
                <a:solidFill>
                  <a:srgbClr val="FFFFFF"/>
                </a:solidFill>
                <a:latin typeface="Cambria"/>
              </a:defRPr>
            </a:lvl1pPr>
          </a:lstStyle>
          <a:p>
            <a:pPr/>
            <a:r>
              <a:t>SharePoint</a:t>
            </a:r>
          </a:p>
        </p:txBody>
      </p:sp>
      <p:sp>
        <p:nvSpPr>
          <p:cNvPr id="312" name="R1"/>
          <p:cNvSpPr txBox="1"/>
          <p:nvPr/>
        </p:nvSpPr>
        <p:spPr>
          <a:xfrm>
            <a:off x="4381500" y="2743200"/>
            <a:ext cx="3398520" cy="205740"/>
          </a:xfrm>
          <a:prstGeom prst="rect">
            <a:avLst/>
          </a:prstGeom>
          <a:ln w="12700">
            <a:noFill/>
            <a:miter lim="400000"/>
          </a:ln>
        </p:spPr>
        <p:txBody>
          <a:bodyPr lIns="45719" rIns="45719" tIns="0" bIns="0" anchor="t"/>
          <a:lstStyle>
            <a:lvl1pPr algn="ctr">
              <a:defRPr sz="950" spc="80">
                <a:solidFill>
                  <a:srgbClr val="FF6B4A"/>
                </a:solidFill>
                <a:latin typeface="Calibri"/>
              </a:defRPr>
            </a:lvl1pPr>
          </a:lstStyle>
          <a:p>
            <a:pPr/>
            <a:r>
              <a:t>what the business asks for</a:t>
            </a:r>
          </a:p>
        </p:txBody>
      </p:sp>
      <p:sp>
        <p:nvSpPr>
          <p:cNvPr id="313" name="D1"/>
          <p:cNvSpPr txBox="1"/>
          <p:nvPr/>
        </p:nvSpPr>
        <p:spPr>
          <a:xfrm>
            <a:off x="4701540" y="3154680"/>
            <a:ext cx="2758440" cy="1005840"/>
          </a:xfrm>
          <a:prstGeom prst="rect">
            <a:avLst/>
          </a:prstGeom>
          <a:ln w="12700">
            <a:noFill/>
            <a:miter lim="400000"/>
          </a:ln>
        </p:spPr>
        <p:txBody>
          <a:bodyPr lIns="45719" rIns="45719" tIns="0" bIns="0" anchor="t"/>
          <a:lstStyle>
            <a:lvl1pPr algn="l">
              <a:defRPr sz="1200">
                <a:solidFill>
                  <a:srgbClr val="2C3352"/>
                </a:solidFill>
                <a:latin typeface="Calibri"/>
              </a:defRPr>
            </a:lvl1pPr>
          </a:lstStyle>
          <a:p>
            <a:pPr/>
            <a:r>
              <a:t>Requirement documents and business context, written by the business, in the place it already writes.</a:t>
            </a:r>
          </a:p>
        </p:txBody>
      </p:sp>
      <p:sp>
        <p:nvSpPr>
          <p:cNvPr id="314" name="W1"/>
          <p:cNvSpPr/>
          <p:nvPr/>
        </p:nvSpPr>
        <p:spPr>
          <a:xfrm>
            <a:off x="4701540" y="4389120"/>
            <a:ext cx="109729" cy="109729"/>
          </a:xfrm>
          <a:prstGeom prst="rect">
            <a:avLst/>
          </a:prstGeom>
          <a:solidFill>
            <a:srgbClr val="FF6B4A"/>
          </a:solidFill>
          <a:ln w="12700">
            <a:noFill/>
            <a:miter lim="400000"/>
          </a:ln>
        </p:spPr>
        <p:txBody>
          <a:bodyPr lIns="45719" rIns="45719"/>
          <a:lstStyle/>
          <a:p>
            <a:pPr/>
          </a:p>
        </p:txBody>
      </p:sp>
      <p:sp>
        <p:nvSpPr>
          <p:cNvPr id="315" name="T1"/>
          <p:cNvSpPr txBox="1"/>
          <p:nvPr/>
        </p:nvSpPr>
        <p:spPr>
          <a:xfrm>
            <a:off x="4975860" y="4320540"/>
            <a:ext cx="2484120" cy="457200"/>
          </a:xfrm>
          <a:prstGeom prst="rect">
            <a:avLst/>
          </a:prstGeom>
          <a:ln w="12700">
            <a:noFill/>
            <a:miter lim="400000"/>
          </a:ln>
        </p:spPr>
        <p:txBody>
          <a:bodyPr lIns="45719" rIns="45719" tIns="0" bIns="0" anchor="t"/>
          <a:lstStyle>
            <a:lvl1pPr algn="l">
              <a:defRPr b="1" sz="1050">
                <a:solidFill>
                  <a:srgbClr val="1E2761"/>
                </a:solidFill>
                <a:latin typeface="Calibri"/>
              </a:defRPr>
            </a:lvl1pPr>
          </a:lstStyle>
          <a:p>
            <a:pPr/>
            <a:r>
              <a:t>Stays the source — the change cites it</a:t>
            </a:r>
          </a:p>
        </p:txBody>
      </p:sp>
      <p:sp>
        <p:nvSpPr>
          <p:cNvPr id="316" name="C2"/>
          <p:cNvSpPr/>
          <p:nvPr/>
        </p:nvSpPr>
        <p:spPr>
          <a:xfrm>
            <a:off x="8122920" y="2377440"/>
            <a:ext cx="3398520" cy="2468880"/>
          </a:xfrm>
          <a:prstGeom prst="roundRect">
            <a:avLst>
              <a:gd name="adj" fmla="val 4000"/>
            </a:avLst>
          </a:prstGeom>
          <a:solidFill>
            <a:srgbClr val="EEF2FC"/>
          </a:solidFill>
          <a:ln w="12700">
            <a:solidFill>
              <a:srgbClr val="CADCFC"/>
            </a:solidFill>
            <a:miter lim="400000"/>
          </a:ln>
        </p:spPr>
        <p:txBody>
          <a:bodyPr lIns="45719" rIns="45719"/>
          <a:lstStyle/>
          <a:p>
            <a:pPr/>
          </a:p>
        </p:txBody>
      </p:sp>
      <p:sp>
        <p:nvSpPr>
          <p:cNvPr id="317" name="H2"/>
          <p:cNvSpPr/>
          <p:nvPr/>
        </p:nvSpPr>
        <p:spPr>
          <a:xfrm>
            <a:off x="8122920" y="2377440"/>
            <a:ext cx="3398520" cy="548641"/>
          </a:xfrm>
          <a:prstGeom prst="roundRect">
            <a:avLst>
              <a:gd name="adj" fmla="val 19000"/>
            </a:avLst>
          </a:prstGeom>
          <a:solidFill>
            <a:srgbClr val="FF6B4A"/>
          </a:solidFill>
          <a:ln w="12700">
            <a:noFill/>
            <a:miter lim="400000"/>
          </a:ln>
        </p:spPr>
        <p:txBody>
          <a:bodyPr lIns="45719" rIns="45719"/>
          <a:lstStyle/>
          <a:p>
            <a:pPr/>
          </a:p>
        </p:txBody>
      </p:sp>
      <p:sp>
        <p:nvSpPr>
          <p:cNvPr id="318" name="N2"/>
          <p:cNvSpPr txBox="1"/>
          <p:nvPr/>
        </p:nvSpPr>
        <p:spPr>
          <a:xfrm>
            <a:off x="8122920" y="2491740"/>
            <a:ext cx="3398520" cy="251460"/>
          </a:xfrm>
          <a:prstGeom prst="rect">
            <a:avLst/>
          </a:prstGeom>
          <a:ln w="12700">
            <a:noFill/>
            <a:miter lim="400000"/>
          </a:ln>
        </p:spPr>
        <p:txBody>
          <a:bodyPr lIns="45719" rIns="45719" tIns="0" bIns="0" anchor="t"/>
          <a:lstStyle>
            <a:lvl1pPr algn="ctr">
              <a:defRPr b="1" sz="1400">
                <a:solidFill>
                  <a:srgbClr val="1E2761"/>
                </a:solidFill>
                <a:latin typeface="Cambria"/>
              </a:defRPr>
            </a:lvl1pPr>
          </a:lstStyle>
          <a:p>
            <a:pPr/>
            <a:r>
              <a:t>The repository</a:t>
            </a:r>
          </a:p>
        </p:txBody>
      </p:sp>
      <p:sp>
        <p:nvSpPr>
          <p:cNvPr id="319" name="R2"/>
          <p:cNvSpPr txBox="1"/>
          <p:nvPr/>
        </p:nvSpPr>
        <p:spPr>
          <a:xfrm>
            <a:off x="8122920" y="2743200"/>
            <a:ext cx="3398520" cy="205740"/>
          </a:xfrm>
          <a:prstGeom prst="rect">
            <a:avLst/>
          </a:prstGeom>
          <a:ln w="12700">
            <a:noFill/>
            <a:miter lim="400000"/>
          </a:ln>
        </p:spPr>
        <p:txBody>
          <a:bodyPr lIns="45719" rIns="45719" tIns="0" bIns="0" anchor="t"/>
          <a:lstStyle>
            <a:lvl1pPr algn="ctr">
              <a:defRPr sz="950" spc="80">
                <a:solidFill>
                  <a:srgbClr val="5A1A0A"/>
                </a:solidFill>
                <a:latin typeface="Calibri"/>
              </a:defRPr>
            </a:lvl1pPr>
          </a:lstStyle>
          <a:p>
            <a:pPr/>
            <a:r>
              <a:t>what the system will do</a:t>
            </a:r>
          </a:p>
        </p:txBody>
      </p:sp>
      <p:sp>
        <p:nvSpPr>
          <p:cNvPr id="320" name="D2"/>
          <p:cNvSpPr txBox="1"/>
          <p:nvPr/>
        </p:nvSpPr>
        <p:spPr>
          <a:xfrm>
            <a:off x="8442960" y="3154680"/>
            <a:ext cx="2758440" cy="1005840"/>
          </a:xfrm>
          <a:prstGeom prst="rect">
            <a:avLst/>
          </a:prstGeom>
          <a:ln w="12700">
            <a:noFill/>
            <a:miter lim="400000"/>
          </a:ln>
        </p:spPr>
        <p:txBody>
          <a:bodyPr lIns="45719" rIns="45719" tIns="0" bIns="0" anchor="t"/>
          <a:lstStyle>
            <a:lvl1pPr algn="l">
              <a:defRPr sz="1200">
                <a:solidFill>
                  <a:srgbClr val="2C3352"/>
                </a:solidFill>
                <a:latin typeface="Calibri"/>
              </a:defRPr>
            </a:lvl1pPr>
          </a:lstStyle>
          <a:p>
            <a:pPr/>
            <a:r>
              <a:t>The behaviour agreed for this change, derived from those documents and reviewed with the code.</a:t>
            </a:r>
          </a:p>
        </p:txBody>
      </p:sp>
      <p:sp>
        <p:nvSpPr>
          <p:cNvPr id="321" name="W2"/>
          <p:cNvSpPr/>
          <p:nvPr/>
        </p:nvSpPr>
        <p:spPr>
          <a:xfrm>
            <a:off x="8442960" y="4389120"/>
            <a:ext cx="109729" cy="109729"/>
          </a:xfrm>
          <a:prstGeom prst="rect">
            <a:avLst/>
          </a:prstGeom>
          <a:solidFill>
            <a:srgbClr val="FF6B4A"/>
          </a:solidFill>
          <a:ln w="12700">
            <a:noFill/>
            <a:miter lim="400000"/>
          </a:ln>
        </p:spPr>
        <p:txBody>
          <a:bodyPr lIns="45719" rIns="45719"/>
          <a:lstStyle/>
          <a:p>
            <a:pPr/>
          </a:p>
        </p:txBody>
      </p:sp>
      <p:sp>
        <p:nvSpPr>
          <p:cNvPr id="322" name="T2"/>
          <p:cNvSpPr txBox="1"/>
          <p:nvPr/>
        </p:nvSpPr>
        <p:spPr>
          <a:xfrm>
            <a:off x="8717280" y="4320540"/>
            <a:ext cx="2484120" cy="457200"/>
          </a:xfrm>
          <a:prstGeom prst="rect">
            <a:avLst/>
          </a:prstGeom>
          <a:ln w="12700">
            <a:noFill/>
            <a:miter lim="400000"/>
          </a:ln>
        </p:spPr>
        <p:txBody>
          <a:bodyPr lIns="45719" rIns="45719" tIns="0" bIns="0" anchor="t"/>
          <a:lstStyle>
            <a:lvl1pPr algn="l">
              <a:defRPr b="1" sz="1050">
                <a:solidFill>
                  <a:srgbClr val="1E2761"/>
                </a:solidFill>
                <a:latin typeface="Calibri"/>
              </a:defRPr>
            </a:lvl1pPr>
          </a:lstStyle>
          <a:p>
            <a:pPr/>
            <a:r>
              <a:t>Testable, versioned, and it cannot go stale</a:t>
            </a:r>
          </a:p>
        </p:txBody>
      </p:sp>
      <p:sp>
        <p:nvSpPr>
          <p:cNvPr id="323" name="Callout"/>
          <p:cNvSpPr/>
          <p:nvPr/>
        </p:nvSpPr>
        <p:spPr>
          <a:xfrm>
            <a:off x="640080" y="5486400"/>
            <a:ext cx="10881360" cy="685800"/>
          </a:xfrm>
          <a:prstGeom prst="roundRect">
            <a:avLst>
              <a:gd name="adj" fmla="val 11000"/>
            </a:avLst>
          </a:prstGeom>
          <a:solidFill>
            <a:srgbClr val="1E2761"/>
          </a:solidFill>
          <a:ln w="12700">
            <a:noFill/>
            <a:miter lim="400000"/>
          </a:ln>
        </p:spPr>
        <p:txBody>
          <a:bodyPr lIns="45719" rIns="45719"/>
          <a:lstStyle/>
          <a:p>
            <a:pPr/>
          </a:p>
        </p:txBody>
      </p:sp>
      <p:sp>
        <p:nvSpPr>
          <p:cNvPr id="324" name="CalloutT"/>
          <p:cNvSpPr txBox="1"/>
          <p:nvPr/>
        </p:nvSpPr>
        <p:spPr>
          <a:xfrm>
            <a:off x="960120" y="5486400"/>
            <a:ext cx="10241280" cy="685800"/>
          </a:xfrm>
          <a:prstGeom prst="rect">
            <a:avLst/>
          </a:prstGeom>
          <a:ln w="12700">
            <a:noFill/>
            <a:miter lim="400000"/>
          </a:ln>
        </p:spPr>
        <p:txBody>
          <a:bodyPr lIns="45719" rIns="45719" tIns="0" bIns="0" anchor="ctr"/>
          <a:lstStyle>
            <a:lvl1pPr algn="l">
              <a:defRPr b="1" sz="1350">
                <a:solidFill>
                  <a:srgbClr val="FFFFFF"/>
                </a:solidFill>
                <a:latin typeface="Cambria"/>
              </a:defRPr>
            </a:lvl1pPr>
          </a:lstStyle>
          <a:p>
            <a:pPr/>
            <a:r>
              <a:t>A spec document in SharePoint goes stale the moment the code moves. In the repository it cannot — it is what the agent reads and what the review checks.</a:t>
            </a:r>
          </a:p>
        </p:txBody>
      </p:sp>
      <p:sp>
        <p:nvSpPr>
          <p:cNvPr id="301" name="Rule bar"/>
          <p:cNvSpPr/>
          <p:nvPr/>
        </p:nvSpPr>
        <p:spPr>
          <a:xfrm>
            <a:off x="640080" y="4983480"/>
            <a:ext cx="10881360" cy="320040"/>
          </a:xfrm>
          <a:prstGeom prst="roundRect">
            <a:avLst>
              <a:gd name="adj" fmla="val 25000"/>
            </a:avLst>
          </a:prstGeom>
          <a:solidFill>
            <a:srgbClr val="EEF2FC"/>
          </a:solidFill>
          <a:ln w="12700">
            <a:solidFill>
              <a:srgbClr val="CADCFC"/>
            </a:solidFill>
            <a:miter lim="400000"/>
          </a:ln>
        </p:spPr>
        <p:txBody>
          <a:bodyPr lIns="45719" rIns="45719"/>
          <a:lstStyle/>
          <a:p>
            <a:pPr/>
          </a:p>
        </p:txBody>
      </p:sp>
      <p:sp>
        <p:nvSpPr>
          <p:cNvPr id="302" name="Rule dot"/>
          <p:cNvSpPr/>
          <p:nvPr/>
        </p:nvSpPr>
        <p:spPr>
          <a:xfrm>
            <a:off x="960120" y="5088491"/>
            <a:ext cx="109729" cy="109729"/>
          </a:xfrm>
          <a:prstGeom prst="rect">
            <a:avLst/>
          </a:prstGeom>
          <a:solidFill>
            <a:srgbClr val="FF6B4A"/>
          </a:solidFill>
          <a:ln w="12700">
            <a:noFill/>
            <a:miter lim="400000"/>
          </a:ln>
        </p:spPr>
        <p:txBody>
          <a:bodyPr lIns="45719" rIns="45719"/>
          <a:lstStyle/>
          <a:p>
            <a:pPr/>
          </a:p>
        </p:txBody>
      </p:sp>
      <p:sp>
        <p:nvSpPr>
          <p:cNvPr id="303" name="Rule"/>
          <p:cNvSpPr txBox="1"/>
          <p:nvPr/>
        </p:nvSpPr>
        <p:spPr>
          <a:xfrm>
            <a:off x="1280160" y="4983480"/>
            <a:ext cx="10058400" cy="320040"/>
          </a:xfrm>
          <a:prstGeom prst="rect">
            <a:avLst/>
          </a:prstGeom>
          <a:ln w="12700">
            <a:noFill/>
            <a:miter lim="400000"/>
          </a:ln>
        </p:spPr>
        <p:txBody>
          <a:bodyPr lIns="45719" rIns="45719" tIns="0" bIns="0" anchor="ctr"/>
          <a:lstStyle>
            <a:lvl1pPr algn="l">
              <a:defRPr sz="1050">
                <a:solidFill>
                  <a:srgbClr val="2C3352"/>
                </a:solidFill>
                <a:latin typeface="Calibri"/>
              </a:defRPr>
            </a:lvl1pPr>
          </a:lstStyle>
          <a:p>
            <a:pPr/>
            <a:r>
              <a:t>A user story that changes behaviour becomes a change. One that does not stays a plain story — and a change can exist without a story, when the spec itself needs fixing.</a:t>
            </a:r>
          </a:p>
        </p:txBody>
      </p:sp>
    </p:spTree>
  </p:cSld>
  <p:clrMapOvr>
    <a:masterClrMapping/>
  </p:clrMapOvr>
  <p:transition xmlns:p14="http://schemas.microsoft.com/office/powerpoint/2010/main" spd="med" advClick="1"/>
</p:sld>
</file>

<file path=ppt/slides/slide3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8" name="Text 0"/>
          <p:cNvSpPr txBox="1"/>
          <p:nvPr/>
        </p:nvSpPr>
        <p:spPr>
          <a:xfrm>
            <a:off x="685800" y="545400"/>
            <a:ext cx="7223761" cy="28080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200" sz="1100">
                <a:solidFill>
                  <a:srgbClr val="FF6B4A"/>
                </a:solidFill>
                <a:latin typeface="Calibri"/>
              </a:defRPr>
            </a:lvl1pPr>
          </a:lstStyle>
          <a:p>
            <a:pPr/>
            <a:r>
              <a:t>Fitting the existing process</a:t>
            </a:r>
          </a:p>
        </p:txBody>
      </p:sp>
      <p:sp>
        <p:nvSpPr>
          <p:cNvPr id="119" name="Text 1"/>
          <p:cNvSpPr txBox="1"/>
          <p:nvPr/>
        </p:nvSpPr>
        <p:spPr>
          <a:xfrm>
            <a:off x="685800" y="989463"/>
            <a:ext cx="10789920" cy="48995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3000">
                <a:solidFill>
                  <a:srgbClr val="1E2761"/>
                </a:solidFill>
                <a:latin typeface="Cambria"/>
              </a:defRPr>
            </a:lvl1pPr>
          </a:lstStyle>
          <a:p>
            <a:pPr/>
            <a:r>
              <a:t>Where the review sits, before and after</a:t>
            </a:r>
          </a:p>
        </p:txBody>
      </p:sp>
      <p:sp>
        <p:nvSpPr>
          <p:cNvPr id="132" name="Text 14"/>
          <p:cNvSpPr txBox="1"/>
          <p:nvPr/>
        </p:nvSpPr>
        <p:spPr>
          <a:xfrm>
            <a:off x="502919" y="6572163"/>
            <a:ext cx="722376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900">
                <a:solidFill>
                  <a:srgbClr val="5C6484"/>
                </a:solidFill>
                <a:latin typeface="Calibri"/>
              </a:defRPr>
            </a:lvl1pPr>
          </a:lstStyle>
          <a:p>
            <a:pPr/>
            <a:r>
              <a:t>OpenSpec — Spec-Driven Development</a:t>
            </a:r>
          </a:p>
        </p:txBody>
      </p:sp>
      <p:sp>
        <p:nvSpPr>
          <p:cNvPr id="133" name="Text 15"/>
          <p:cNvSpPr txBox="1"/>
          <p:nvPr/>
        </p:nvSpPr>
        <p:spPr>
          <a:xfrm>
            <a:off x="11475719" y="6572163"/>
            <a:ext cx="27432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900">
                <a:solidFill>
                  <a:srgbClr val="5C6484"/>
                </a:solidFill>
                <a:latin typeface="Calibri"/>
              </a:defRPr>
            </a:lvl1pPr>
          </a:lstStyle>
          <a:p>
            <a:pPr/>
            <a:r>
              <a:t>25</a:t>
            </a:r>
          </a:p>
        </p:txBody>
      </p:sp>
      <p:sp>
        <p:nvSpPr>
          <p:cNvPr id="301" name="Lead"/>
          <p:cNvSpPr txBox="1"/>
          <p:nvPr/>
        </p:nvSpPr>
        <p:spPr>
          <a:xfrm>
            <a:off x="685800" y="1691640"/>
            <a:ext cx="10607042" cy="320040"/>
          </a:xfrm>
          <a:prstGeom prst="rect">
            <a:avLst/>
          </a:prstGeom>
          <a:ln w="12700">
            <a:noFill/>
            <a:miter lim="400000"/>
          </a:ln>
        </p:spPr>
        <p:txBody>
          <a:bodyPr lIns="45719" rIns="45719" tIns="0" bIns="0" anchor="t"/>
          <a:lstStyle>
            <a:lvl1pPr algn="l">
              <a:defRPr sz="1500">
                <a:solidFill>
                  <a:srgbClr val="2C3352"/>
                </a:solidFill>
                <a:latin typeface="Calibri"/>
              </a:defRPr>
            </a:lvl1pPr>
          </a:lstStyle>
          <a:p>
            <a:pPr/>
            <a:r>
              <a:t>One review is added, early and cheap. The one at the end gets shorter, because the intent is already agreed.</a:t>
            </a:r>
          </a:p>
        </p:txBody>
      </p:sp>
      <p:sp>
        <p:nvSpPr>
          <p:cNvPr id="302" name="labTODAY"/>
          <p:cNvSpPr txBox="1"/>
          <p:nvPr/>
        </p:nvSpPr>
        <p:spPr>
          <a:xfrm>
            <a:off x="640080" y="2240280"/>
            <a:ext cx="10881360" cy="251460"/>
          </a:xfrm>
          <a:prstGeom prst="rect">
            <a:avLst/>
          </a:prstGeom>
          <a:ln w="12700">
            <a:noFill/>
            <a:miter lim="400000"/>
          </a:ln>
        </p:spPr>
        <p:txBody>
          <a:bodyPr lIns="45719" rIns="45719" tIns="0" bIns="0" anchor="t"/>
          <a:lstStyle>
            <a:lvl1pPr algn="l">
              <a:defRPr b="1" sz="1000" spc="160">
                <a:solidFill>
                  <a:srgbClr val="FF6B4A"/>
                </a:solidFill>
                <a:latin typeface="Calibri"/>
              </a:defRPr>
            </a:lvl1pPr>
          </a:lstStyle>
          <a:p>
            <a:pPr/>
            <a:r>
              <a:t>TODAY</a:t>
            </a:r>
          </a:p>
        </p:txBody>
      </p:sp>
      <p:sp>
        <p:nvSpPr>
          <p:cNvPr id="303" name="bTODAY0"/>
          <p:cNvSpPr/>
          <p:nvPr/>
        </p:nvSpPr>
        <p:spPr>
          <a:xfrm>
            <a:off x="640080" y="2560320"/>
            <a:ext cx="1623060" cy="1005840"/>
          </a:xfrm>
          <a:prstGeom prst="roundRect">
            <a:avLst>
              <a:gd name="adj" fmla="val 8000"/>
            </a:avLst>
          </a:prstGeom>
          <a:solidFill>
            <a:srgbClr val="EEF2FC"/>
          </a:solidFill>
          <a:ln w="12700">
            <a:solidFill>
              <a:srgbClr val="CADCFC"/>
            </a:solidFill>
            <a:miter lim="400000"/>
          </a:ln>
        </p:spPr>
        <p:txBody>
          <a:bodyPr lIns="45719" rIns="45719"/>
          <a:lstStyle/>
          <a:p>
            <a:pPr/>
          </a:p>
        </p:txBody>
      </p:sp>
      <p:sp>
        <p:nvSpPr>
          <p:cNvPr id="304" name="tTODAY0"/>
          <p:cNvSpPr txBox="1"/>
          <p:nvPr/>
        </p:nvSpPr>
        <p:spPr>
          <a:xfrm>
            <a:off x="708660" y="2834640"/>
            <a:ext cx="1485900" cy="251460"/>
          </a:xfrm>
          <a:prstGeom prst="rect">
            <a:avLst/>
          </a:prstGeom>
          <a:ln w="12700">
            <a:noFill/>
            <a:miter lim="400000"/>
          </a:ln>
        </p:spPr>
        <p:txBody>
          <a:bodyPr lIns="45719" rIns="45719" tIns="0" bIns="0" anchor="t"/>
          <a:lstStyle>
            <a:lvl1pPr algn="ctr">
              <a:defRPr b="1" sz="1100">
                <a:solidFill>
                  <a:srgbClr val="1E2761"/>
                </a:solidFill>
                <a:latin typeface="Calibri"/>
              </a:defRPr>
            </a:lvl1pPr>
          </a:lstStyle>
          <a:p>
            <a:pPr/>
            <a:r>
              <a:t>Requirement</a:t>
            </a:r>
          </a:p>
        </p:txBody>
      </p:sp>
      <p:sp>
        <p:nvSpPr>
          <p:cNvPr id="305" name="sTODAY0"/>
          <p:cNvSpPr txBox="1"/>
          <p:nvPr/>
        </p:nvSpPr>
        <p:spPr>
          <a:xfrm>
            <a:off x="708660" y="3131820"/>
            <a:ext cx="1485900" cy="251460"/>
          </a:xfrm>
          <a:prstGeom prst="rect">
            <a:avLst/>
          </a:prstGeom>
          <a:ln w="12700">
            <a:noFill/>
            <a:miter lim="400000"/>
          </a:ln>
        </p:spPr>
        <p:txBody>
          <a:bodyPr lIns="45719" rIns="45719" tIns="0" bIns="0" anchor="t"/>
          <a:lstStyle>
            <a:lvl1pPr algn="ctr">
              <a:defRPr sz="950">
                <a:solidFill>
                  <a:srgbClr val="5C6484"/>
                </a:solidFill>
                <a:latin typeface="Calibri"/>
              </a:defRPr>
            </a:lvl1pPr>
          </a:lstStyle>
          <a:p>
            <a:pPr/>
            <a:r>
              <a:t>SharePoint</a:t>
            </a:r>
          </a:p>
        </p:txBody>
      </p:sp>
      <p:sp>
        <p:nvSpPr>
          <p:cNvPr id="306" name="aTODAY0"/>
          <p:cNvSpPr txBox="1"/>
          <p:nvPr/>
        </p:nvSpPr>
        <p:spPr>
          <a:xfrm>
            <a:off x="2263140" y="2893149"/>
            <a:ext cx="228600" cy="340182"/>
          </a:xfrm>
          <a:prstGeom prst="rect">
            <a:avLst/>
          </a:prstGeom>
          <a:ln w="12700">
            <a:noFill/>
            <a:miter lim="400000"/>
          </a:ln>
        </p:spPr>
        <p:txBody>
          <a:bodyPr lIns="45719" rIns="45719" tIns="0" bIns="0" anchor="ctr"/>
          <a:lstStyle>
            <a:lvl1pPr algn="ctr">
              <a:defRPr sz="1300">
                <a:solidFill>
                  <a:srgbClr val="9AA3C0"/>
                </a:solidFill>
                <a:latin typeface="Calibri"/>
              </a:defRPr>
            </a:lvl1pPr>
          </a:lstStyle>
          <a:p>
            <a:pPr/>
            <a:r>
              <a:t>→</a:t>
            </a:r>
          </a:p>
        </p:txBody>
      </p:sp>
      <p:sp>
        <p:nvSpPr>
          <p:cNvPr id="307" name="bTODAY1"/>
          <p:cNvSpPr/>
          <p:nvPr/>
        </p:nvSpPr>
        <p:spPr>
          <a:xfrm>
            <a:off x="2491740" y="2560320"/>
            <a:ext cx="1623060" cy="1005840"/>
          </a:xfrm>
          <a:prstGeom prst="roundRect">
            <a:avLst>
              <a:gd name="adj" fmla="val 8000"/>
            </a:avLst>
          </a:prstGeom>
          <a:solidFill>
            <a:srgbClr val="EEF2FC"/>
          </a:solidFill>
          <a:ln w="12700">
            <a:solidFill>
              <a:srgbClr val="CADCFC"/>
            </a:solidFill>
            <a:miter lim="400000"/>
          </a:ln>
        </p:spPr>
        <p:txBody>
          <a:bodyPr lIns="45719" rIns="45719"/>
          <a:lstStyle/>
          <a:p>
            <a:pPr/>
          </a:p>
        </p:txBody>
      </p:sp>
      <p:sp>
        <p:nvSpPr>
          <p:cNvPr id="308" name="tTODAY1"/>
          <p:cNvSpPr txBox="1"/>
          <p:nvPr/>
        </p:nvSpPr>
        <p:spPr>
          <a:xfrm>
            <a:off x="2560320" y="2834640"/>
            <a:ext cx="1485900" cy="251460"/>
          </a:xfrm>
          <a:prstGeom prst="rect">
            <a:avLst/>
          </a:prstGeom>
          <a:ln w="12700">
            <a:noFill/>
            <a:miter lim="400000"/>
          </a:ln>
        </p:spPr>
        <p:txBody>
          <a:bodyPr lIns="45719" rIns="45719" tIns="0" bIns="0" anchor="t"/>
          <a:lstStyle>
            <a:lvl1pPr algn="ctr">
              <a:defRPr b="1" sz="1100">
                <a:solidFill>
                  <a:srgbClr val="1E2761"/>
                </a:solidFill>
                <a:latin typeface="Calibri"/>
              </a:defRPr>
            </a:lvl1pPr>
          </a:lstStyle>
          <a:p>
            <a:pPr/>
            <a:r>
              <a:t>User story</a:t>
            </a:r>
          </a:p>
        </p:txBody>
      </p:sp>
      <p:sp>
        <p:nvSpPr>
          <p:cNvPr id="309" name="sTODAY1"/>
          <p:cNvSpPr txBox="1"/>
          <p:nvPr/>
        </p:nvSpPr>
        <p:spPr>
          <a:xfrm>
            <a:off x="2560320" y="3131820"/>
            <a:ext cx="1485900" cy="251460"/>
          </a:xfrm>
          <a:prstGeom prst="rect">
            <a:avLst/>
          </a:prstGeom>
          <a:ln w="12700">
            <a:noFill/>
            <a:miter lim="400000"/>
          </a:ln>
        </p:spPr>
        <p:txBody>
          <a:bodyPr lIns="45719" rIns="45719" tIns="0" bIns="0" anchor="t"/>
          <a:lstStyle>
            <a:lvl1pPr algn="ctr">
              <a:defRPr sz="950">
                <a:solidFill>
                  <a:srgbClr val="5C6484"/>
                </a:solidFill>
                <a:latin typeface="Calibri"/>
              </a:defRPr>
            </a:lvl1pPr>
          </a:lstStyle>
          <a:p>
            <a:pPr/>
            <a:r>
              <a:t>JIRA</a:t>
            </a:r>
          </a:p>
        </p:txBody>
      </p:sp>
      <p:sp>
        <p:nvSpPr>
          <p:cNvPr id="310" name="aTODAY1"/>
          <p:cNvSpPr txBox="1"/>
          <p:nvPr/>
        </p:nvSpPr>
        <p:spPr>
          <a:xfrm>
            <a:off x="4114800" y="2893149"/>
            <a:ext cx="228600" cy="340182"/>
          </a:xfrm>
          <a:prstGeom prst="rect">
            <a:avLst/>
          </a:prstGeom>
          <a:ln w="12700">
            <a:noFill/>
            <a:miter lim="400000"/>
          </a:ln>
        </p:spPr>
        <p:txBody>
          <a:bodyPr lIns="45719" rIns="45719" tIns="0" bIns="0" anchor="ctr"/>
          <a:lstStyle>
            <a:lvl1pPr algn="ctr">
              <a:defRPr sz="1300">
                <a:solidFill>
                  <a:srgbClr val="9AA3C0"/>
                </a:solidFill>
                <a:latin typeface="Calibri"/>
              </a:defRPr>
            </a:lvl1pPr>
          </a:lstStyle>
          <a:p>
            <a:pPr/>
            <a:r>
              <a:t>→</a:t>
            </a:r>
          </a:p>
        </p:txBody>
      </p:sp>
      <p:sp>
        <p:nvSpPr>
          <p:cNvPr id="311" name="bTODAY2"/>
          <p:cNvSpPr/>
          <p:nvPr/>
        </p:nvSpPr>
        <p:spPr>
          <a:xfrm>
            <a:off x="4343400" y="2560320"/>
            <a:ext cx="1623060" cy="1005840"/>
          </a:xfrm>
          <a:prstGeom prst="roundRect">
            <a:avLst>
              <a:gd name="adj" fmla="val 8000"/>
            </a:avLst>
          </a:prstGeom>
          <a:solidFill>
            <a:srgbClr val="EEF2FC"/>
          </a:solidFill>
          <a:ln w="12700">
            <a:solidFill>
              <a:srgbClr val="CADCFC"/>
            </a:solidFill>
            <a:miter lim="400000"/>
          </a:ln>
        </p:spPr>
        <p:txBody>
          <a:bodyPr lIns="45719" rIns="45719"/>
          <a:lstStyle/>
          <a:p>
            <a:pPr/>
          </a:p>
        </p:txBody>
      </p:sp>
      <p:sp>
        <p:nvSpPr>
          <p:cNvPr id="312" name="tTODAY2"/>
          <p:cNvSpPr txBox="1"/>
          <p:nvPr/>
        </p:nvSpPr>
        <p:spPr>
          <a:xfrm>
            <a:off x="4411980" y="2834640"/>
            <a:ext cx="1485900" cy="251460"/>
          </a:xfrm>
          <a:prstGeom prst="rect">
            <a:avLst/>
          </a:prstGeom>
          <a:ln w="12700">
            <a:noFill/>
            <a:miter lim="400000"/>
          </a:ln>
        </p:spPr>
        <p:txBody>
          <a:bodyPr lIns="45719" rIns="45719" tIns="0" bIns="0" anchor="t"/>
          <a:lstStyle>
            <a:lvl1pPr algn="ctr">
              <a:defRPr b="1" sz="1100">
                <a:solidFill>
                  <a:srgbClr val="1E2761"/>
                </a:solidFill>
                <a:latin typeface="Calibri"/>
              </a:defRPr>
            </a:lvl1pPr>
          </a:lstStyle>
          <a:p>
            <a:pPr/>
            <a:r>
              <a:t>Prompt</a:t>
            </a:r>
          </a:p>
        </p:txBody>
      </p:sp>
      <p:sp>
        <p:nvSpPr>
          <p:cNvPr id="313" name="sTODAY2"/>
          <p:cNvSpPr txBox="1"/>
          <p:nvPr/>
        </p:nvSpPr>
        <p:spPr>
          <a:xfrm>
            <a:off x="4411980" y="3131820"/>
            <a:ext cx="1485900" cy="251460"/>
          </a:xfrm>
          <a:prstGeom prst="rect">
            <a:avLst/>
          </a:prstGeom>
          <a:ln w="12700">
            <a:noFill/>
            <a:miter lim="400000"/>
          </a:ln>
        </p:spPr>
        <p:txBody>
          <a:bodyPr lIns="45719" rIns="45719" tIns="0" bIns="0" anchor="t"/>
          <a:lstStyle>
            <a:lvl1pPr algn="ctr">
              <a:defRPr sz="950">
                <a:solidFill>
                  <a:srgbClr val="5C6484"/>
                </a:solidFill>
                <a:latin typeface="Calibri"/>
              </a:defRPr>
            </a:lvl1pPr>
          </a:lstStyle>
          <a:p>
            <a:pPr/>
            <a:r>
              <a:t>the agent</a:t>
            </a:r>
          </a:p>
        </p:txBody>
      </p:sp>
      <p:sp>
        <p:nvSpPr>
          <p:cNvPr id="314" name="aTODAY2"/>
          <p:cNvSpPr txBox="1"/>
          <p:nvPr/>
        </p:nvSpPr>
        <p:spPr>
          <a:xfrm>
            <a:off x="5966460" y="2893149"/>
            <a:ext cx="228600" cy="340182"/>
          </a:xfrm>
          <a:prstGeom prst="rect">
            <a:avLst/>
          </a:prstGeom>
          <a:ln w="12700">
            <a:noFill/>
            <a:miter lim="400000"/>
          </a:ln>
        </p:spPr>
        <p:txBody>
          <a:bodyPr lIns="45719" rIns="45719" tIns="0" bIns="0" anchor="ctr"/>
          <a:lstStyle>
            <a:lvl1pPr algn="ctr">
              <a:defRPr sz="1300">
                <a:solidFill>
                  <a:srgbClr val="9AA3C0"/>
                </a:solidFill>
                <a:latin typeface="Calibri"/>
              </a:defRPr>
            </a:lvl1pPr>
          </a:lstStyle>
          <a:p>
            <a:pPr/>
            <a:r>
              <a:t>→</a:t>
            </a:r>
          </a:p>
        </p:txBody>
      </p:sp>
      <p:sp>
        <p:nvSpPr>
          <p:cNvPr id="315" name="bTODAY3"/>
          <p:cNvSpPr/>
          <p:nvPr/>
        </p:nvSpPr>
        <p:spPr>
          <a:xfrm>
            <a:off x="6195060" y="2560320"/>
            <a:ext cx="1623060" cy="1005840"/>
          </a:xfrm>
          <a:prstGeom prst="roundRect">
            <a:avLst>
              <a:gd name="adj" fmla="val 8000"/>
            </a:avLst>
          </a:prstGeom>
          <a:solidFill>
            <a:srgbClr val="EEF2FC"/>
          </a:solidFill>
          <a:ln w="12700">
            <a:solidFill>
              <a:srgbClr val="CADCFC"/>
            </a:solidFill>
            <a:miter lim="400000"/>
          </a:ln>
        </p:spPr>
        <p:txBody>
          <a:bodyPr lIns="45719" rIns="45719"/>
          <a:lstStyle/>
          <a:p>
            <a:pPr/>
          </a:p>
        </p:txBody>
      </p:sp>
      <p:sp>
        <p:nvSpPr>
          <p:cNvPr id="316" name="tTODAY3"/>
          <p:cNvSpPr txBox="1"/>
          <p:nvPr/>
        </p:nvSpPr>
        <p:spPr>
          <a:xfrm>
            <a:off x="6263640" y="2834640"/>
            <a:ext cx="1485900" cy="251460"/>
          </a:xfrm>
          <a:prstGeom prst="rect">
            <a:avLst/>
          </a:prstGeom>
          <a:ln w="12700">
            <a:noFill/>
            <a:miter lim="400000"/>
          </a:ln>
        </p:spPr>
        <p:txBody>
          <a:bodyPr lIns="45719" rIns="45719" tIns="0" bIns="0" anchor="t"/>
          <a:lstStyle>
            <a:lvl1pPr algn="ctr">
              <a:defRPr b="1" sz="1100">
                <a:solidFill>
                  <a:srgbClr val="1E2761"/>
                </a:solidFill>
                <a:latin typeface="Calibri"/>
              </a:defRPr>
            </a:lvl1pPr>
          </a:lstStyle>
          <a:p>
            <a:pPr/>
            <a:r>
              <a:t>Code</a:t>
            </a:r>
          </a:p>
        </p:txBody>
      </p:sp>
      <p:sp>
        <p:nvSpPr>
          <p:cNvPr id="317" name="sTODAY3"/>
          <p:cNvSpPr txBox="1"/>
          <p:nvPr/>
        </p:nvSpPr>
        <p:spPr>
          <a:xfrm>
            <a:off x="6263640" y="3131820"/>
            <a:ext cx="1485900" cy="251460"/>
          </a:xfrm>
          <a:prstGeom prst="rect">
            <a:avLst/>
          </a:prstGeom>
          <a:ln w="12700">
            <a:noFill/>
            <a:miter lim="400000"/>
          </a:ln>
        </p:spPr>
        <p:txBody>
          <a:bodyPr lIns="45719" rIns="45719" tIns="0" bIns="0" anchor="t"/>
          <a:lstStyle>
            <a:lvl1pPr algn="ctr">
              <a:defRPr sz="950">
                <a:solidFill>
                  <a:srgbClr val="5C6484"/>
                </a:solidFill>
                <a:latin typeface="Calibri"/>
              </a:defRPr>
            </a:lvl1pPr>
          </a:lstStyle>
          <a:p>
            <a:pPr/>
            <a:r>
              <a:t>is written</a:t>
            </a:r>
          </a:p>
        </p:txBody>
      </p:sp>
      <p:sp>
        <p:nvSpPr>
          <p:cNvPr id="318" name="aTODAY3"/>
          <p:cNvSpPr txBox="1"/>
          <p:nvPr/>
        </p:nvSpPr>
        <p:spPr>
          <a:xfrm>
            <a:off x="7818120" y="2893149"/>
            <a:ext cx="228600" cy="340182"/>
          </a:xfrm>
          <a:prstGeom prst="rect">
            <a:avLst/>
          </a:prstGeom>
          <a:ln w="12700">
            <a:noFill/>
            <a:miter lim="400000"/>
          </a:ln>
        </p:spPr>
        <p:txBody>
          <a:bodyPr lIns="45719" rIns="45719" tIns="0" bIns="0" anchor="ctr"/>
          <a:lstStyle>
            <a:lvl1pPr algn="ctr">
              <a:defRPr sz="1300">
                <a:solidFill>
                  <a:srgbClr val="9AA3C0"/>
                </a:solidFill>
                <a:latin typeface="Calibri"/>
              </a:defRPr>
            </a:lvl1pPr>
          </a:lstStyle>
          <a:p>
            <a:pPr/>
            <a:r>
              <a:t>→</a:t>
            </a:r>
          </a:p>
        </p:txBody>
      </p:sp>
      <p:sp>
        <p:nvSpPr>
          <p:cNvPr id="319" name="bTODAY4"/>
          <p:cNvSpPr/>
          <p:nvPr/>
        </p:nvSpPr>
        <p:spPr>
          <a:xfrm>
            <a:off x="8046720" y="2560320"/>
            <a:ext cx="1623060" cy="1005840"/>
          </a:xfrm>
          <a:prstGeom prst="roundRect">
            <a:avLst>
              <a:gd name="adj" fmla="val 8000"/>
            </a:avLst>
          </a:prstGeom>
          <a:solidFill>
            <a:srgbClr val="FF6B4A"/>
          </a:solidFill>
          <a:ln w="12700">
            <a:noFill/>
            <a:miter lim="400000"/>
          </a:ln>
        </p:spPr>
        <p:txBody>
          <a:bodyPr lIns="45719" rIns="45719"/>
          <a:lstStyle/>
          <a:p>
            <a:pPr/>
          </a:p>
        </p:txBody>
      </p:sp>
      <p:sp>
        <p:nvSpPr>
          <p:cNvPr id="320" name="tTODAY4"/>
          <p:cNvSpPr txBox="1"/>
          <p:nvPr/>
        </p:nvSpPr>
        <p:spPr>
          <a:xfrm>
            <a:off x="8115300" y="2834640"/>
            <a:ext cx="1485900" cy="251460"/>
          </a:xfrm>
          <a:prstGeom prst="rect">
            <a:avLst/>
          </a:prstGeom>
          <a:ln w="12700">
            <a:noFill/>
            <a:miter lim="400000"/>
          </a:ln>
        </p:spPr>
        <p:txBody>
          <a:bodyPr lIns="45719" rIns="45719" tIns="0" bIns="0" anchor="t"/>
          <a:lstStyle>
            <a:lvl1pPr algn="ctr">
              <a:defRPr b="1" sz="1100">
                <a:solidFill>
                  <a:srgbClr val="1E2761"/>
                </a:solidFill>
                <a:latin typeface="Calibri"/>
              </a:defRPr>
            </a:lvl1pPr>
          </a:lstStyle>
          <a:p>
            <a:pPr/>
            <a:r>
              <a:t>Code review</a:t>
            </a:r>
          </a:p>
        </p:txBody>
      </p:sp>
      <p:sp>
        <p:nvSpPr>
          <p:cNvPr id="321" name="sTODAY4"/>
          <p:cNvSpPr txBox="1"/>
          <p:nvPr/>
        </p:nvSpPr>
        <p:spPr>
          <a:xfrm>
            <a:off x="8115300" y="3131820"/>
            <a:ext cx="1485900" cy="251460"/>
          </a:xfrm>
          <a:prstGeom prst="rect">
            <a:avLst/>
          </a:prstGeom>
          <a:ln w="12700">
            <a:noFill/>
            <a:miter lim="400000"/>
          </a:ln>
        </p:spPr>
        <p:txBody>
          <a:bodyPr lIns="45719" rIns="45719" tIns="0" bIns="0" anchor="t"/>
          <a:lstStyle>
            <a:lvl1pPr algn="ctr">
              <a:defRPr sz="950">
                <a:solidFill>
                  <a:srgbClr val="5A1A0A"/>
                </a:solidFill>
                <a:latin typeface="Calibri"/>
              </a:defRPr>
            </a:lvl1pPr>
          </a:lstStyle>
          <a:p>
            <a:pPr/>
            <a:r>
              <a:t>on the result</a:t>
            </a:r>
          </a:p>
        </p:txBody>
      </p:sp>
      <p:sp>
        <p:nvSpPr>
          <p:cNvPr id="322" name="subTODAY"/>
          <p:cNvSpPr txBox="1"/>
          <p:nvPr/>
        </p:nvSpPr>
        <p:spPr>
          <a:xfrm>
            <a:off x="640080" y="3680460"/>
            <a:ext cx="10881360" cy="251460"/>
          </a:xfrm>
          <a:prstGeom prst="rect">
            <a:avLst/>
          </a:prstGeom>
          <a:ln w="12700">
            <a:noFill/>
            <a:miter lim="400000"/>
          </a:ln>
        </p:spPr>
        <p:txBody>
          <a:bodyPr lIns="45719" rIns="45719" tIns="0" bIns="0" anchor="t"/>
          <a:lstStyle>
            <a:lvl1pPr algn="l">
              <a:defRPr i="1" sz="1050">
                <a:solidFill>
                  <a:srgbClr val="B8422A"/>
                </a:solidFill>
                <a:latin typeface="Calibri"/>
              </a:defRPr>
            </a:lvl1pPr>
          </a:lstStyle>
          <a:p>
            <a:pPr/>
            <a:r>
              <a:t>One review, at the end. The reviewer reconstructs the intent from the code — and the spec document quietly drifts.</a:t>
            </a:r>
          </a:p>
        </p:txBody>
      </p:sp>
      <p:sp>
        <p:nvSpPr>
          <p:cNvPr id="323" name="labWITH OPENSPEC"/>
          <p:cNvSpPr txBox="1"/>
          <p:nvPr/>
        </p:nvSpPr>
        <p:spPr>
          <a:xfrm>
            <a:off x="640080" y="4206240"/>
            <a:ext cx="10881360" cy="251460"/>
          </a:xfrm>
          <a:prstGeom prst="rect">
            <a:avLst/>
          </a:prstGeom>
          <a:ln w="12700">
            <a:noFill/>
            <a:miter lim="400000"/>
          </a:ln>
        </p:spPr>
        <p:txBody>
          <a:bodyPr lIns="45719" rIns="45719" tIns="0" bIns="0" anchor="t"/>
          <a:lstStyle>
            <a:lvl1pPr algn="l">
              <a:defRPr b="1" sz="1000" spc="160">
                <a:solidFill>
                  <a:srgbClr val="FF6B4A"/>
                </a:solidFill>
                <a:latin typeface="Calibri"/>
              </a:defRPr>
            </a:lvl1pPr>
          </a:lstStyle>
          <a:p>
            <a:pPr/>
            <a:r>
              <a:t>WITH OPENSPEC</a:t>
            </a:r>
          </a:p>
        </p:txBody>
      </p:sp>
      <p:sp>
        <p:nvSpPr>
          <p:cNvPr id="324" name="bWITH OPENSPEC0"/>
          <p:cNvSpPr/>
          <p:nvPr/>
        </p:nvSpPr>
        <p:spPr>
          <a:xfrm>
            <a:off x="640080" y="4526280"/>
            <a:ext cx="1623060" cy="1005840"/>
          </a:xfrm>
          <a:prstGeom prst="roundRect">
            <a:avLst>
              <a:gd name="adj" fmla="val 8000"/>
            </a:avLst>
          </a:prstGeom>
          <a:solidFill>
            <a:srgbClr val="EEF2FC"/>
          </a:solidFill>
          <a:ln w="12700">
            <a:solidFill>
              <a:srgbClr val="CADCFC"/>
            </a:solidFill>
            <a:miter lim="400000"/>
          </a:ln>
        </p:spPr>
        <p:txBody>
          <a:bodyPr lIns="45719" rIns="45719"/>
          <a:lstStyle/>
          <a:p>
            <a:pPr/>
          </a:p>
        </p:txBody>
      </p:sp>
      <p:sp>
        <p:nvSpPr>
          <p:cNvPr id="325" name="tWITH OPENSPEC0"/>
          <p:cNvSpPr txBox="1"/>
          <p:nvPr/>
        </p:nvSpPr>
        <p:spPr>
          <a:xfrm>
            <a:off x="708660" y="4800600"/>
            <a:ext cx="1485900" cy="251460"/>
          </a:xfrm>
          <a:prstGeom prst="rect">
            <a:avLst/>
          </a:prstGeom>
          <a:ln w="12700">
            <a:noFill/>
            <a:miter lim="400000"/>
          </a:ln>
        </p:spPr>
        <p:txBody>
          <a:bodyPr lIns="45719" rIns="45719" tIns="0" bIns="0" anchor="t"/>
          <a:lstStyle>
            <a:lvl1pPr algn="ctr">
              <a:defRPr b="1" sz="1100">
                <a:solidFill>
                  <a:srgbClr val="1E2761"/>
                </a:solidFill>
                <a:latin typeface="Calibri"/>
              </a:defRPr>
            </a:lvl1pPr>
          </a:lstStyle>
          <a:p>
            <a:pPr/>
            <a:r>
              <a:t>Requirement</a:t>
            </a:r>
          </a:p>
        </p:txBody>
      </p:sp>
      <p:sp>
        <p:nvSpPr>
          <p:cNvPr id="326" name="sWITH OPENSPEC0"/>
          <p:cNvSpPr txBox="1"/>
          <p:nvPr/>
        </p:nvSpPr>
        <p:spPr>
          <a:xfrm>
            <a:off x="708660" y="5097780"/>
            <a:ext cx="1485900" cy="251460"/>
          </a:xfrm>
          <a:prstGeom prst="rect">
            <a:avLst/>
          </a:prstGeom>
          <a:ln w="12700">
            <a:noFill/>
            <a:miter lim="400000"/>
          </a:ln>
        </p:spPr>
        <p:txBody>
          <a:bodyPr lIns="45719" rIns="45719" tIns="0" bIns="0" anchor="t"/>
          <a:lstStyle>
            <a:lvl1pPr algn="ctr">
              <a:defRPr sz="950">
                <a:solidFill>
                  <a:srgbClr val="5C6484"/>
                </a:solidFill>
                <a:latin typeface="Calibri"/>
              </a:defRPr>
            </a:lvl1pPr>
          </a:lstStyle>
          <a:p>
            <a:pPr/>
            <a:r>
              <a:t>SharePoint</a:t>
            </a:r>
          </a:p>
        </p:txBody>
      </p:sp>
      <p:sp>
        <p:nvSpPr>
          <p:cNvPr id="327" name="aWITH OPENSPEC0"/>
          <p:cNvSpPr txBox="1"/>
          <p:nvPr/>
        </p:nvSpPr>
        <p:spPr>
          <a:xfrm>
            <a:off x="2263140" y="4859109"/>
            <a:ext cx="228600" cy="340182"/>
          </a:xfrm>
          <a:prstGeom prst="rect">
            <a:avLst/>
          </a:prstGeom>
          <a:ln w="12700">
            <a:noFill/>
            <a:miter lim="400000"/>
          </a:ln>
        </p:spPr>
        <p:txBody>
          <a:bodyPr lIns="45719" rIns="45719" tIns="0" bIns="0" anchor="ctr"/>
          <a:lstStyle>
            <a:lvl1pPr algn="ctr">
              <a:defRPr sz="1300">
                <a:solidFill>
                  <a:srgbClr val="9AA3C0"/>
                </a:solidFill>
                <a:latin typeface="Calibri"/>
              </a:defRPr>
            </a:lvl1pPr>
          </a:lstStyle>
          <a:p>
            <a:pPr/>
            <a:r>
              <a:t>→</a:t>
            </a:r>
          </a:p>
        </p:txBody>
      </p:sp>
      <p:sp>
        <p:nvSpPr>
          <p:cNvPr id="328" name="bWITH OPENSPEC1"/>
          <p:cNvSpPr/>
          <p:nvPr/>
        </p:nvSpPr>
        <p:spPr>
          <a:xfrm>
            <a:off x="2491740" y="4526280"/>
            <a:ext cx="1623060" cy="1005840"/>
          </a:xfrm>
          <a:prstGeom prst="roundRect">
            <a:avLst>
              <a:gd name="adj" fmla="val 8000"/>
            </a:avLst>
          </a:prstGeom>
          <a:solidFill>
            <a:srgbClr val="EEF2FC"/>
          </a:solidFill>
          <a:ln w="12700">
            <a:solidFill>
              <a:srgbClr val="CADCFC"/>
            </a:solidFill>
            <a:miter lim="400000"/>
          </a:ln>
        </p:spPr>
        <p:txBody>
          <a:bodyPr lIns="45719" rIns="45719"/>
          <a:lstStyle/>
          <a:p>
            <a:pPr/>
          </a:p>
        </p:txBody>
      </p:sp>
      <p:sp>
        <p:nvSpPr>
          <p:cNvPr id="329" name="tWITH OPENSPEC1"/>
          <p:cNvSpPr txBox="1"/>
          <p:nvPr/>
        </p:nvSpPr>
        <p:spPr>
          <a:xfrm>
            <a:off x="2560320" y="4800600"/>
            <a:ext cx="1485900" cy="251460"/>
          </a:xfrm>
          <a:prstGeom prst="rect">
            <a:avLst/>
          </a:prstGeom>
          <a:ln w="12700">
            <a:noFill/>
            <a:miter lim="400000"/>
          </a:ln>
        </p:spPr>
        <p:txBody>
          <a:bodyPr lIns="45719" rIns="45719" tIns="0" bIns="0" anchor="t"/>
          <a:lstStyle>
            <a:lvl1pPr algn="ctr">
              <a:defRPr b="1" sz="1100">
                <a:solidFill>
                  <a:srgbClr val="1E2761"/>
                </a:solidFill>
                <a:latin typeface="Calibri"/>
              </a:defRPr>
            </a:lvl1pPr>
          </a:lstStyle>
          <a:p>
            <a:pPr/>
            <a:r>
              <a:t>User story</a:t>
            </a:r>
          </a:p>
        </p:txBody>
      </p:sp>
      <p:sp>
        <p:nvSpPr>
          <p:cNvPr id="330" name="sWITH OPENSPEC1"/>
          <p:cNvSpPr txBox="1"/>
          <p:nvPr/>
        </p:nvSpPr>
        <p:spPr>
          <a:xfrm>
            <a:off x="2560320" y="5097780"/>
            <a:ext cx="1485900" cy="251460"/>
          </a:xfrm>
          <a:prstGeom prst="rect">
            <a:avLst/>
          </a:prstGeom>
          <a:ln w="12700">
            <a:noFill/>
            <a:miter lim="400000"/>
          </a:ln>
        </p:spPr>
        <p:txBody>
          <a:bodyPr lIns="45719" rIns="45719" tIns="0" bIns="0" anchor="t"/>
          <a:lstStyle>
            <a:lvl1pPr algn="ctr">
              <a:defRPr sz="950">
                <a:solidFill>
                  <a:srgbClr val="5C6484"/>
                </a:solidFill>
                <a:latin typeface="Calibri"/>
              </a:defRPr>
            </a:lvl1pPr>
          </a:lstStyle>
          <a:p>
            <a:pPr/>
            <a:r>
              <a:t>JIRA</a:t>
            </a:r>
          </a:p>
        </p:txBody>
      </p:sp>
      <p:sp>
        <p:nvSpPr>
          <p:cNvPr id="331" name="aWITH OPENSPEC1"/>
          <p:cNvSpPr txBox="1"/>
          <p:nvPr/>
        </p:nvSpPr>
        <p:spPr>
          <a:xfrm>
            <a:off x="4114800" y="4859109"/>
            <a:ext cx="228600" cy="340182"/>
          </a:xfrm>
          <a:prstGeom prst="rect">
            <a:avLst/>
          </a:prstGeom>
          <a:ln w="12700">
            <a:noFill/>
            <a:miter lim="400000"/>
          </a:ln>
        </p:spPr>
        <p:txBody>
          <a:bodyPr lIns="45719" rIns="45719" tIns="0" bIns="0" anchor="ctr"/>
          <a:lstStyle>
            <a:lvl1pPr algn="ctr">
              <a:defRPr sz="1300">
                <a:solidFill>
                  <a:srgbClr val="9AA3C0"/>
                </a:solidFill>
                <a:latin typeface="Calibri"/>
              </a:defRPr>
            </a:lvl1pPr>
          </a:lstStyle>
          <a:p>
            <a:pPr/>
            <a:r>
              <a:t>→</a:t>
            </a:r>
          </a:p>
        </p:txBody>
      </p:sp>
      <p:sp>
        <p:nvSpPr>
          <p:cNvPr id="332" name="bWITH OPENSPEC2"/>
          <p:cNvSpPr/>
          <p:nvPr/>
        </p:nvSpPr>
        <p:spPr>
          <a:xfrm>
            <a:off x="4343400" y="4526280"/>
            <a:ext cx="1623060" cy="1005840"/>
          </a:xfrm>
          <a:prstGeom prst="roundRect">
            <a:avLst>
              <a:gd name="adj" fmla="val 8000"/>
            </a:avLst>
          </a:prstGeom>
          <a:solidFill>
            <a:srgbClr val="FF6B4A"/>
          </a:solidFill>
          <a:ln w="12700">
            <a:noFill/>
            <a:miter lim="400000"/>
          </a:ln>
        </p:spPr>
        <p:txBody>
          <a:bodyPr lIns="45719" rIns="45719"/>
          <a:lstStyle/>
          <a:p>
            <a:pPr/>
          </a:p>
        </p:txBody>
      </p:sp>
      <p:sp>
        <p:nvSpPr>
          <p:cNvPr id="333" name="tWITH OPENSPEC2"/>
          <p:cNvSpPr txBox="1"/>
          <p:nvPr/>
        </p:nvSpPr>
        <p:spPr>
          <a:xfrm>
            <a:off x="4411980" y="4800600"/>
            <a:ext cx="1485900" cy="251460"/>
          </a:xfrm>
          <a:prstGeom prst="rect">
            <a:avLst/>
          </a:prstGeom>
          <a:ln w="12700">
            <a:noFill/>
            <a:miter lim="400000"/>
          </a:ln>
        </p:spPr>
        <p:txBody>
          <a:bodyPr lIns="45719" rIns="45719" tIns="0" bIns="0" anchor="t"/>
          <a:lstStyle>
            <a:lvl1pPr algn="ctr">
              <a:defRPr b="1" sz="1100">
                <a:solidFill>
                  <a:srgbClr val="1E2761"/>
                </a:solidFill>
                <a:latin typeface="Calibri"/>
              </a:defRPr>
            </a:lvl1pPr>
          </a:lstStyle>
          <a:p>
            <a:pPr/>
            <a:r>
              <a:t>Spec review</a:t>
            </a:r>
          </a:p>
        </p:txBody>
      </p:sp>
      <p:sp>
        <p:nvSpPr>
          <p:cNvPr id="334" name="sWITH OPENSPEC2"/>
          <p:cNvSpPr txBox="1"/>
          <p:nvPr/>
        </p:nvSpPr>
        <p:spPr>
          <a:xfrm>
            <a:off x="4411980" y="5097780"/>
            <a:ext cx="1485900" cy="251460"/>
          </a:xfrm>
          <a:prstGeom prst="rect">
            <a:avLst/>
          </a:prstGeom>
          <a:ln w="12700">
            <a:noFill/>
            <a:miter lim="400000"/>
          </a:ln>
        </p:spPr>
        <p:txBody>
          <a:bodyPr lIns="45719" rIns="45719" tIns="0" bIns="0" anchor="t"/>
          <a:lstStyle>
            <a:lvl1pPr algn="ctr">
              <a:defRPr sz="950">
                <a:solidFill>
                  <a:srgbClr val="5A1A0A"/>
                </a:solidFill>
                <a:latin typeface="Calibri"/>
              </a:defRPr>
            </a:lvl1pPr>
          </a:lstStyle>
          <a:p>
            <a:pPr/>
            <a:r>
              <a:t>before any code</a:t>
            </a:r>
          </a:p>
        </p:txBody>
      </p:sp>
      <p:sp>
        <p:nvSpPr>
          <p:cNvPr id="335" name="aWITH OPENSPEC2"/>
          <p:cNvSpPr txBox="1"/>
          <p:nvPr/>
        </p:nvSpPr>
        <p:spPr>
          <a:xfrm>
            <a:off x="5966460" y="4859109"/>
            <a:ext cx="228600" cy="340182"/>
          </a:xfrm>
          <a:prstGeom prst="rect">
            <a:avLst/>
          </a:prstGeom>
          <a:ln w="12700">
            <a:noFill/>
            <a:miter lim="400000"/>
          </a:ln>
        </p:spPr>
        <p:txBody>
          <a:bodyPr lIns="45719" rIns="45719" tIns="0" bIns="0" anchor="ctr"/>
          <a:lstStyle>
            <a:lvl1pPr algn="ctr">
              <a:defRPr sz="1300">
                <a:solidFill>
                  <a:srgbClr val="9AA3C0"/>
                </a:solidFill>
                <a:latin typeface="Calibri"/>
              </a:defRPr>
            </a:lvl1pPr>
          </a:lstStyle>
          <a:p>
            <a:pPr/>
            <a:r>
              <a:t>→</a:t>
            </a:r>
          </a:p>
        </p:txBody>
      </p:sp>
      <p:sp>
        <p:nvSpPr>
          <p:cNvPr id="336" name="bWITH OPENSPEC3"/>
          <p:cNvSpPr/>
          <p:nvPr/>
        </p:nvSpPr>
        <p:spPr>
          <a:xfrm>
            <a:off x="6195060" y="4526280"/>
            <a:ext cx="1623060" cy="1005840"/>
          </a:xfrm>
          <a:prstGeom prst="roundRect">
            <a:avLst>
              <a:gd name="adj" fmla="val 8000"/>
            </a:avLst>
          </a:prstGeom>
          <a:solidFill>
            <a:srgbClr val="EEF2FC"/>
          </a:solidFill>
          <a:ln w="12700">
            <a:solidFill>
              <a:srgbClr val="CADCFC"/>
            </a:solidFill>
            <a:miter lim="400000"/>
          </a:ln>
        </p:spPr>
        <p:txBody>
          <a:bodyPr lIns="45719" rIns="45719"/>
          <a:lstStyle/>
          <a:p>
            <a:pPr/>
          </a:p>
        </p:txBody>
      </p:sp>
      <p:sp>
        <p:nvSpPr>
          <p:cNvPr id="337" name="tWITH OPENSPEC3"/>
          <p:cNvSpPr txBox="1"/>
          <p:nvPr/>
        </p:nvSpPr>
        <p:spPr>
          <a:xfrm>
            <a:off x="6263640" y="4800600"/>
            <a:ext cx="1485900" cy="251460"/>
          </a:xfrm>
          <a:prstGeom prst="rect">
            <a:avLst/>
          </a:prstGeom>
          <a:ln w="12700">
            <a:noFill/>
            <a:miter lim="400000"/>
          </a:ln>
        </p:spPr>
        <p:txBody>
          <a:bodyPr lIns="45719" rIns="45719" tIns="0" bIns="0" anchor="t"/>
          <a:lstStyle>
            <a:lvl1pPr algn="ctr">
              <a:defRPr b="1" sz="1100">
                <a:solidFill>
                  <a:srgbClr val="1E2761"/>
                </a:solidFill>
                <a:latin typeface="Calibri"/>
              </a:defRPr>
            </a:lvl1pPr>
          </a:lstStyle>
          <a:p>
            <a:pPr/>
            <a:r>
              <a:t>Agent</a:t>
            </a:r>
          </a:p>
        </p:txBody>
      </p:sp>
      <p:sp>
        <p:nvSpPr>
          <p:cNvPr id="338" name="sWITH OPENSPEC3"/>
          <p:cNvSpPr txBox="1"/>
          <p:nvPr/>
        </p:nvSpPr>
        <p:spPr>
          <a:xfrm>
            <a:off x="6263640" y="5097780"/>
            <a:ext cx="1485900" cy="251460"/>
          </a:xfrm>
          <a:prstGeom prst="rect">
            <a:avLst/>
          </a:prstGeom>
          <a:ln w="12700">
            <a:noFill/>
            <a:miter lim="400000"/>
          </a:ln>
        </p:spPr>
        <p:txBody>
          <a:bodyPr lIns="45719" rIns="45719" tIns="0" bIns="0" anchor="t"/>
          <a:lstStyle>
            <a:lvl1pPr algn="ctr">
              <a:defRPr sz="950">
                <a:solidFill>
                  <a:srgbClr val="5C6484"/>
                </a:solidFill>
                <a:latin typeface="Calibri"/>
              </a:defRPr>
            </a:lvl1pPr>
          </a:lstStyle>
          <a:p>
            <a:pPr/>
            <a:r>
              <a:t>implements it</a:t>
            </a:r>
          </a:p>
        </p:txBody>
      </p:sp>
      <p:sp>
        <p:nvSpPr>
          <p:cNvPr id="339" name="aWITH OPENSPEC3"/>
          <p:cNvSpPr txBox="1"/>
          <p:nvPr/>
        </p:nvSpPr>
        <p:spPr>
          <a:xfrm>
            <a:off x="7818120" y="4859109"/>
            <a:ext cx="228600" cy="340182"/>
          </a:xfrm>
          <a:prstGeom prst="rect">
            <a:avLst/>
          </a:prstGeom>
          <a:ln w="12700">
            <a:noFill/>
            <a:miter lim="400000"/>
          </a:ln>
        </p:spPr>
        <p:txBody>
          <a:bodyPr lIns="45719" rIns="45719" tIns="0" bIns="0" anchor="ctr"/>
          <a:lstStyle>
            <a:lvl1pPr algn="ctr">
              <a:defRPr sz="1300">
                <a:solidFill>
                  <a:srgbClr val="9AA3C0"/>
                </a:solidFill>
                <a:latin typeface="Calibri"/>
              </a:defRPr>
            </a:lvl1pPr>
          </a:lstStyle>
          <a:p>
            <a:pPr/>
            <a:r>
              <a:t>→</a:t>
            </a:r>
          </a:p>
        </p:txBody>
      </p:sp>
      <p:sp>
        <p:nvSpPr>
          <p:cNvPr id="340" name="bWITH OPENSPEC4"/>
          <p:cNvSpPr/>
          <p:nvPr/>
        </p:nvSpPr>
        <p:spPr>
          <a:xfrm>
            <a:off x="8046720" y="4526280"/>
            <a:ext cx="1623060" cy="1005840"/>
          </a:xfrm>
          <a:prstGeom prst="roundRect">
            <a:avLst>
              <a:gd name="adj" fmla="val 8000"/>
            </a:avLst>
          </a:prstGeom>
          <a:solidFill>
            <a:srgbClr val="EEF2FC"/>
          </a:solidFill>
          <a:ln w="12700">
            <a:solidFill>
              <a:srgbClr val="CADCFC"/>
            </a:solidFill>
            <a:miter lim="400000"/>
          </a:ln>
        </p:spPr>
        <p:txBody>
          <a:bodyPr lIns="45719" rIns="45719"/>
          <a:lstStyle/>
          <a:p>
            <a:pPr/>
          </a:p>
        </p:txBody>
      </p:sp>
      <p:sp>
        <p:nvSpPr>
          <p:cNvPr id="341" name="tWITH OPENSPEC4"/>
          <p:cNvSpPr txBox="1"/>
          <p:nvPr/>
        </p:nvSpPr>
        <p:spPr>
          <a:xfrm>
            <a:off x="8115300" y="4800600"/>
            <a:ext cx="1485900" cy="251460"/>
          </a:xfrm>
          <a:prstGeom prst="rect">
            <a:avLst/>
          </a:prstGeom>
          <a:ln w="12700">
            <a:noFill/>
            <a:miter lim="400000"/>
          </a:ln>
        </p:spPr>
        <p:txBody>
          <a:bodyPr lIns="45719" rIns="45719" tIns="0" bIns="0" anchor="t"/>
          <a:lstStyle>
            <a:lvl1pPr algn="ctr">
              <a:defRPr b="1" sz="1100">
                <a:solidFill>
                  <a:srgbClr val="1E2761"/>
                </a:solidFill>
                <a:latin typeface="Calibri"/>
              </a:defRPr>
            </a:lvl1pPr>
          </a:lstStyle>
          <a:p>
            <a:pPr/>
            <a:r>
              <a:t>Code review</a:t>
            </a:r>
          </a:p>
        </p:txBody>
      </p:sp>
      <p:sp>
        <p:nvSpPr>
          <p:cNvPr id="342" name="sWITH OPENSPEC4"/>
          <p:cNvSpPr txBox="1"/>
          <p:nvPr/>
        </p:nvSpPr>
        <p:spPr>
          <a:xfrm>
            <a:off x="8115300" y="5097780"/>
            <a:ext cx="1485900" cy="251460"/>
          </a:xfrm>
          <a:prstGeom prst="rect">
            <a:avLst/>
          </a:prstGeom>
          <a:ln w="12700">
            <a:noFill/>
            <a:miter lim="400000"/>
          </a:ln>
        </p:spPr>
        <p:txBody>
          <a:bodyPr lIns="45719" rIns="45719" tIns="0" bIns="0" anchor="t"/>
          <a:lstStyle>
            <a:lvl1pPr algn="ctr">
              <a:defRPr sz="950">
                <a:solidFill>
                  <a:srgbClr val="5C6484"/>
                </a:solidFill>
                <a:latin typeface="Calibri"/>
              </a:defRPr>
            </a:lvl1pPr>
          </a:lstStyle>
          <a:p>
            <a:pPr/>
            <a:r>
              <a:t>against the spec</a:t>
            </a:r>
          </a:p>
        </p:txBody>
      </p:sp>
      <p:sp>
        <p:nvSpPr>
          <p:cNvPr id="343" name="aWITH OPENSPEC4"/>
          <p:cNvSpPr txBox="1"/>
          <p:nvPr/>
        </p:nvSpPr>
        <p:spPr>
          <a:xfrm>
            <a:off x="9669780" y="4859109"/>
            <a:ext cx="228600" cy="340182"/>
          </a:xfrm>
          <a:prstGeom prst="rect">
            <a:avLst/>
          </a:prstGeom>
          <a:ln w="12700">
            <a:noFill/>
            <a:miter lim="400000"/>
          </a:ln>
        </p:spPr>
        <p:txBody>
          <a:bodyPr lIns="45719" rIns="45719" tIns="0" bIns="0" anchor="ctr"/>
          <a:lstStyle>
            <a:lvl1pPr algn="ctr">
              <a:defRPr sz="1300">
                <a:solidFill>
                  <a:srgbClr val="9AA3C0"/>
                </a:solidFill>
                <a:latin typeface="Calibri"/>
              </a:defRPr>
            </a:lvl1pPr>
          </a:lstStyle>
          <a:p>
            <a:pPr/>
            <a:r>
              <a:t>→</a:t>
            </a:r>
          </a:p>
        </p:txBody>
      </p:sp>
      <p:sp>
        <p:nvSpPr>
          <p:cNvPr id="344" name="bWITH OPENSPEC5"/>
          <p:cNvSpPr/>
          <p:nvPr/>
        </p:nvSpPr>
        <p:spPr>
          <a:xfrm>
            <a:off x="9898380" y="4526280"/>
            <a:ext cx="1623060" cy="1005840"/>
          </a:xfrm>
          <a:prstGeom prst="roundRect">
            <a:avLst>
              <a:gd name="adj" fmla="val 8000"/>
            </a:avLst>
          </a:prstGeom>
          <a:solidFill>
            <a:srgbClr val="EEF2FC"/>
          </a:solidFill>
          <a:ln w="12700">
            <a:solidFill>
              <a:srgbClr val="CADCFC"/>
            </a:solidFill>
            <a:miter lim="400000"/>
          </a:ln>
        </p:spPr>
        <p:txBody>
          <a:bodyPr lIns="45719" rIns="45719"/>
          <a:lstStyle/>
          <a:p>
            <a:pPr/>
          </a:p>
        </p:txBody>
      </p:sp>
      <p:sp>
        <p:nvSpPr>
          <p:cNvPr id="345" name="tWITH OPENSPEC5"/>
          <p:cNvSpPr txBox="1"/>
          <p:nvPr/>
        </p:nvSpPr>
        <p:spPr>
          <a:xfrm>
            <a:off x="9966960" y="4800600"/>
            <a:ext cx="1485900" cy="251460"/>
          </a:xfrm>
          <a:prstGeom prst="rect">
            <a:avLst/>
          </a:prstGeom>
          <a:ln w="12700">
            <a:noFill/>
            <a:miter lim="400000"/>
          </a:ln>
        </p:spPr>
        <p:txBody>
          <a:bodyPr lIns="45719" rIns="45719" tIns="0" bIns="0" anchor="t"/>
          <a:lstStyle>
            <a:lvl1pPr algn="ctr">
              <a:defRPr b="1" sz="1100">
                <a:solidFill>
                  <a:srgbClr val="1E2761"/>
                </a:solidFill>
                <a:latin typeface="Calibri"/>
              </a:defRPr>
            </a:lvl1pPr>
          </a:lstStyle>
          <a:p>
            <a:pPr/>
            <a:r>
              <a:t>Delta merges</a:t>
            </a:r>
          </a:p>
        </p:txBody>
      </p:sp>
      <p:sp>
        <p:nvSpPr>
          <p:cNvPr id="346" name="sWITH OPENSPEC5"/>
          <p:cNvSpPr txBox="1"/>
          <p:nvPr/>
        </p:nvSpPr>
        <p:spPr>
          <a:xfrm>
            <a:off x="9966960" y="5097780"/>
            <a:ext cx="1485900" cy="251460"/>
          </a:xfrm>
          <a:prstGeom prst="rect">
            <a:avLst/>
          </a:prstGeom>
          <a:ln w="12700">
            <a:noFill/>
            <a:miter lim="400000"/>
          </a:ln>
        </p:spPr>
        <p:txBody>
          <a:bodyPr lIns="45719" rIns="45719" tIns="0" bIns="0" anchor="t"/>
          <a:lstStyle>
            <a:lvl1pPr algn="ctr">
              <a:defRPr sz="950">
                <a:solidFill>
                  <a:srgbClr val="5C6484"/>
                </a:solidFill>
                <a:latin typeface="Calibri"/>
              </a:defRPr>
            </a:lvl1pPr>
          </a:lstStyle>
          <a:p>
            <a:pPr/>
            <a:r>
              <a:t>into specs/</a:t>
            </a:r>
          </a:p>
        </p:txBody>
      </p:sp>
      <p:sp>
        <p:nvSpPr>
          <p:cNvPr id="347" name="subWITH OPENSPEC"/>
          <p:cNvSpPr txBox="1"/>
          <p:nvPr/>
        </p:nvSpPr>
        <p:spPr>
          <a:xfrm>
            <a:off x="640080" y="5646420"/>
            <a:ext cx="10881360" cy="251460"/>
          </a:xfrm>
          <a:prstGeom prst="rect">
            <a:avLst/>
          </a:prstGeom>
          <a:ln w="12700">
            <a:noFill/>
            <a:miter lim="400000"/>
          </a:ln>
        </p:spPr>
        <p:txBody>
          <a:bodyPr lIns="45719" rIns="45719" tIns="0" bIns="0" anchor="t"/>
          <a:lstStyle>
            <a:lvl1pPr algn="l">
              <a:defRPr i="1" sz="1050">
                <a:solidFill>
                  <a:srgbClr val="9EE7D5"/>
                </a:solidFill>
                <a:latin typeface="Calibri"/>
              </a:defRPr>
            </a:lvl1pPr>
          </a:lstStyle>
          <a:p>
            <a:pPr/>
            <a:r>
              <a:t>Two reviews. The first is cheap and decides the intent; the second is shorter, because it now has something to check against.</a:t>
            </a:r>
          </a:p>
        </p:txBody>
      </p:sp>
    </p:spTree>
  </p:cSld>
  <p:clrMapOvr>
    <a:masterClrMapping/>
  </p:clrMapOvr>
  <p:transition xmlns:p14="http://schemas.microsoft.com/office/powerpoint/2010/main" spd="med" advClick="1"/>
</p:sld>
</file>

<file path=ppt/slides/slide31.xml><?xml version="1.0" encoding="utf-8"?>
<p:sld xmlns:a="http://schemas.openxmlformats.org/drawingml/2006/main" xmlns:r="http://schemas.openxmlformats.org/officeDocument/2006/relationships" xmlns:p="http://schemas.openxmlformats.org/presentationml/2006/main">
  <p:cSld name="Slide 6">
    <p:bg>
      <p:bgPr>
        <a:solidFill>
          <a:srgbClr val="1E2761"/>
        </a:solidFill>
      </p:bgPr>
    </p:bg>
    <p:spTree>
      <p:nvGrpSpPr>
        <p:cNvPr id="1" name=""/>
        <p:cNvGrpSpPr/>
        <p:nvPr/>
      </p:nvGrpSpPr>
      <p:grpSpPr>
        <a:xfrm>
          <a:off x="0" y="0"/>
          <a:ext cx="0" cy="0"/>
          <a:chOff x="0" y="0"/>
          <a:chExt cx="0" cy="0"/>
        </a:xfrm>
      </p:grpSpPr>
      <p:sp>
        <p:nvSpPr>
          <p:cNvPr id="3" name="Shape 0"/>
          <p:cNvSpPr/>
          <p:nvPr/>
        </p:nvSpPr>
        <p:spPr>
          <a:xfrm>
            <a:off x="9509760" y="-1280160"/>
            <a:ext cx="4754880" cy="4754880"/>
          </a:xfrm>
          <a:prstGeom prst="roundRect">
            <a:avLst>
              <a:gd name="adj" fmla="val 8654"/>
            </a:avLst>
          </a:prstGeom>
          <a:solidFill>
            <a:srgbClr val="171C48"/>
          </a:solidFill>
          <a:ln w="12700">
            <a:solidFill>
              <a:srgbClr val="3B4468"/>
            </a:solidFill>
            <a:prstDash val="solid"/>
          </a:ln>
        </p:spPr>
      </p:sp>
      <p:sp>
        <p:nvSpPr>
          <p:cNvPr id="4" name="Text 1"/>
          <p:cNvSpPr/>
          <p:nvPr/>
        </p:nvSpPr>
        <p:spPr>
          <a:xfrm>
            <a:off x="640080" y="1691640"/>
            <a:ext cx="8229600" cy="292608"/>
          </a:xfrm>
          <a:prstGeom prst="rect">
            <a:avLst/>
          </a:prstGeom>
          <a:noFill/>
          <a:ln/>
        </p:spPr>
        <p:txBody>
          <a:bodyPr wrap="square" lIns="0" tIns="0" rIns="0" bIns="0" rtlCol="0" anchor="ctr"/>
          <a:lstStyle/>
          <a:p>
            <a:pPr indent="0" marL="0">
              <a:buNone/>
            </a:pPr>
            <a:r>
              <a:rPr lang="en-US" sz="1150" b="1" spc="220" kern="0" dirty="0">
                <a:solidFill>
                  <a:srgbClr val="FF6B4A"/>
                </a:solidFill>
                <a:latin typeface="Calibri" pitchFamily="34" charset="0"/>
                <a:ea typeface="Calibri" pitchFamily="34" charset="-122"/>
                <a:cs typeface="Calibri" pitchFamily="34" charset="-120"/>
              </a:rPr>
              <a:t>SPEC-DRIVEN DEVELOPMENT</a:t>
            </a:r>
            <a:endParaRPr lang="en-US" sz="1150" dirty="0"/>
          </a:p>
        </p:txBody>
      </p:sp>
      <p:sp>
        <p:nvSpPr>
          <p:cNvPr id="5" name="Text 2"/>
          <p:cNvSpPr/>
          <p:nvPr/>
        </p:nvSpPr>
        <p:spPr>
          <a:xfrm>
            <a:off x="640080" y="2194560"/>
            <a:ext cx="9692640" cy="1828800"/>
          </a:xfrm>
          <a:prstGeom prst="rect">
            <a:avLst/>
          </a:prstGeom>
          <a:noFill/>
          <a:ln/>
        </p:spPr>
        <p:txBody>
          <a:bodyPr wrap="square" lIns="0" tIns="0" rIns="0" bIns="0" rtlCol="0" anchor="ctr"/>
          <a:lstStyle/>
          <a:p>
            <a:pPr indent="0" marL="0">
              <a:lnSpc>
                <a:spcPts val="5400"/>
              </a:lnSpc>
              <a:buNone/>
            </a:pPr>
            <a:r>
              <a:rPr lang="en-US" sz="4200" b="1" dirty="0">
                <a:solidFill>
                  <a:srgbClr val="FFFFFF"/>
                </a:solidFill>
                <a:latin typeface="Cambria" pitchFamily="34" charset="0"/>
                <a:ea typeface="Cambria" pitchFamily="34" charset="-122"/>
                <a:cs typeface="Cambria" pitchFamily="34" charset="-120"/>
              </a:rPr>
              <a:t>“Agree on what to build</a:t>
            </a:r>
            <a:endParaRPr lang="en-US" sz="4200" dirty="0"/>
          </a:p>
          <a:p>
            <a:pPr indent="0" marL="0">
              <a:lnSpc>
                <a:spcPts val="5400"/>
              </a:lnSpc>
              <a:buNone/>
            </a:pPr>
            <a:r>
              <a:rPr lang="en-US" sz="4200" b="1" dirty="0">
                <a:solidFill>
                  <a:srgbClr val="FFFFFF"/>
                </a:solidFill>
                <a:latin typeface="Cambria" pitchFamily="34" charset="0"/>
                <a:ea typeface="Cambria" pitchFamily="34" charset="-122"/>
                <a:cs typeface="Cambria" pitchFamily="34" charset="-120"/>
              </a:rPr>
              <a:t>before any code is written.”</a:t>
            </a:r>
            <a:endParaRPr lang="en-US" sz="4200" dirty="0"/>
          </a:p>
        </p:txBody>
      </p:sp>
      <p:sp>
        <p:nvSpPr>
          <p:cNvPr id="6" name="Text 3"/>
          <p:cNvSpPr/>
          <p:nvPr/>
        </p:nvSpPr>
        <p:spPr>
          <a:xfrm>
            <a:off x="640080" y="4206240"/>
            <a:ext cx="8595360" cy="914400"/>
          </a:xfrm>
          <a:prstGeom prst="rect">
            <a:avLst/>
          </a:prstGeom>
          <a:noFill/>
          <a:ln/>
        </p:spPr>
        <p:txBody>
          <a:bodyPr wrap="square" lIns="0" tIns="0" rIns="0" bIns="0" rtlCol="0" anchor="t"/>
          <a:lstStyle/>
          <a:p>
            <a:pPr indent="0" marL="0">
              <a:lnSpc>
                <a:spcPts val="2500"/>
              </a:lnSpc>
              <a:buNone/>
            </a:pPr>
            <a:r>
              <a:rPr lang="en-US" sz="1600" dirty="0">
                <a:solidFill>
                  <a:srgbClr val="9AA3C0"/>
                </a:solidFill>
                <a:latin typeface="Calibri" pitchFamily="34" charset="0"/>
                <a:ea typeface="Calibri" pitchFamily="34" charset="-122"/>
                <a:cs typeface="Calibri" pitchFamily="34" charset="-120"/>
              </a:rPr>
              <a:t>The specification is not documentation produced after the fact. It is the artefact the team argues over, corrects and approves — and the only thing the agent is allowed to implement.</a:t>
            </a:r>
            <a:endParaRPr lang="en-US" sz="16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8" name="Text 0"/>
          <p:cNvSpPr txBox="1"/>
          <p:nvPr/>
        </p:nvSpPr>
        <p:spPr>
          <a:xfrm>
            <a:off x="685800" y="545400"/>
            <a:ext cx="7223761" cy="28080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200" sz="1100">
                <a:solidFill>
                  <a:srgbClr val="FF6B4A"/>
                </a:solidFill>
                <a:latin typeface="Calibri"/>
              </a:defRPr>
            </a:lvl1pPr>
          </a:lstStyle>
          <a:p>
            <a:pPr/>
            <a:r>
              <a:t>See it in action</a:t>
            </a:r>
          </a:p>
        </p:txBody>
      </p:sp>
      <p:sp>
        <p:nvSpPr>
          <p:cNvPr id="119" name="Text 1"/>
          <p:cNvSpPr txBox="1"/>
          <p:nvPr/>
        </p:nvSpPr>
        <p:spPr>
          <a:xfrm>
            <a:off x="685800" y="989463"/>
            <a:ext cx="10789920" cy="48995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3000">
                <a:solidFill>
                  <a:srgbClr val="1E2761"/>
                </a:solidFill>
                <a:latin typeface="Cambria"/>
              </a:defRPr>
            </a:lvl1pPr>
          </a:lstStyle>
          <a:p>
            <a:pPr/>
            <a:r>
              <a:t>One change, end to end</a:t>
            </a:r>
          </a:p>
        </p:txBody>
      </p:sp>
      <p:sp>
        <p:nvSpPr>
          <p:cNvPr id="301" name="Lead"/>
          <p:cNvSpPr txBox="1"/>
          <p:nvPr/>
        </p:nvSpPr>
        <p:spPr>
          <a:xfrm>
            <a:off x="685800" y="1600200"/>
            <a:ext cx="10607042" cy="320040"/>
          </a:xfrm>
          <a:prstGeom prst="rect">
            <a:avLst/>
          </a:prstGeom>
          <a:ln w="12700">
            <a:noFill/>
            <a:miter lim="400000"/>
          </a:ln>
        </p:spPr>
        <p:txBody>
          <a:bodyPr lIns="45719" rIns="45719" tIns="0" bIns="0" anchor="t"/>
          <a:lstStyle>
            <a:lvl1pPr algn="l">
              <a:defRPr sz="1450">
                <a:solidFill>
                  <a:srgbClr val="2C3352"/>
                </a:solidFill>
                <a:latin typeface="Calibri"/>
              </a:defRPr>
            </a:lvl1pPr>
          </a:lstStyle>
          <a:p>
            <a:pPr/>
            <a:r>
              <a:t>The same loop, as it actually runs in the assistant — three commands and one human decision.</a:t>
            </a:r>
          </a:p>
        </p:txBody>
      </p:sp>
      <p:sp>
        <p:nvSpPr>
          <p:cNvPr id="302" name="Card"/>
          <p:cNvSpPr/>
          <p:nvPr/>
        </p:nvSpPr>
        <p:spPr>
          <a:xfrm>
            <a:off x="640080" y="2011680"/>
            <a:ext cx="10881360" cy="3977640"/>
          </a:xfrm>
          <a:prstGeom prst="roundRect">
            <a:avLst>
              <a:gd name="adj" fmla="val 2600"/>
            </a:avLst>
          </a:prstGeom>
          <a:solidFill>
            <a:srgbClr val="EEF2FC"/>
          </a:solidFill>
          <a:ln w="12700">
            <a:solidFill>
              <a:srgbClr val="CADCFC"/>
            </a:solidFill>
            <a:miter lim="400000"/>
          </a:ln>
        </p:spPr>
        <p:txBody>
          <a:bodyPr lIns="45719" rIns="45719"/>
          <a:lstStyle/>
          <a:p>
            <a:pPr/>
          </a:p>
        </p:txBody>
      </p:sp>
      <p:sp>
        <p:nvSpPr>
          <p:cNvPr id="303" name="BlockA"/>
          <p:cNvSpPr txBox="1"/>
          <p:nvPr/>
        </p:nvSpPr>
        <p:spPr>
          <a:xfrm>
            <a:off x="1097280" y="2142584"/>
            <a:ext cx="9966960" cy="1255134"/>
          </a:xfrm>
          <a:prstGeom prst="rect">
            <a:avLst/>
          </a:prstGeom>
          <a:ln w="12700">
            <a:noFill/>
            <a:miter lim="400000"/>
          </a:ln>
        </p:spPr>
        <p:txBody>
          <a:bodyPr lIns="45719" rIns="45719" tIns="0" bIns="0" anchor="t"/>
          <a:lstStyle>
            <a:lvl1pPr algn="l">
              <a:defRPr sz="950">
                <a:solidFill>
                  <a:srgbClr val="1E2761"/>
                </a:solidFill>
                <a:latin typeface="Courier New"/>
              </a:defRPr>
            </a:lvl1pPr>
          </a:lstStyle>
          <a:p>
            <a:pPr/>
            <a:r>
              <a:t>You: /opsx:propose "add a password reset flow, the link expires after 30 minutes and works only once"</a:t>
            </a:r>
          </a:p>
          <a:p>
            <a:pPr/>
            <a:endParaRPr sz="500"/>
          </a:p>
          <a:p>
            <a:pPr/>
            <a:r>
              <a:t>AI:  Created openspec/changes/add-password-reset/</a:t>
            </a:r>
          </a:p>
          <a:p>
            <a:pPr/>
            <a:endParaRPr sz="500"/>
          </a:p>
          <a:p>
            <a:pPr/>
            <a:r>
              <a:t>     ✓ proposal.md  — why we're doing this, what's changing</a:t>
            </a:r>
          </a:p>
          <a:p>
            <a:pPr/>
            <a:r>
              <a:t>     ✓ specs/       — requirements and scenarios</a:t>
            </a:r>
          </a:p>
          <a:p>
            <a:pPr/>
            <a:r>
              <a:t>     ✓ design.md    — technical approach</a:t>
            </a:r>
          </a:p>
          <a:p>
            <a:pPr/>
            <a:r>
              <a:t>     ✓ tasks.md     — implementation checklist</a:t>
            </a:r>
          </a:p>
          <a:p>
            <a:pPr/>
            <a:endParaRPr sz="500"/>
          </a:p>
          <a:p>
            <a:pPr/>
            <a:r>
              <a:t>     Ready for review.</a:t>
            </a:r>
          </a:p>
        </p:txBody>
      </p:sp>
      <p:sp>
        <p:nvSpPr>
          <p:cNvPr id="304" name="Review"/>
          <p:cNvSpPr txBox="1"/>
          <p:nvPr/>
        </p:nvSpPr>
        <p:spPr>
          <a:xfrm>
            <a:off x="1097280" y="3534878"/>
            <a:ext cx="9966960" cy="192024"/>
          </a:xfrm>
          <a:prstGeom prst="rect">
            <a:avLst/>
          </a:prstGeom>
          <a:ln w="12700">
            <a:noFill/>
            <a:miter lim="400000"/>
          </a:ln>
        </p:spPr>
        <p:txBody>
          <a:bodyPr lIns="45719" rIns="45719" tIns="0" bIns="0" anchor="t"/>
          <a:lstStyle>
            <a:lvl1pPr algn="l">
              <a:defRPr b="1" sz="950">
                <a:solidFill>
                  <a:srgbClr val="FF6B4A"/>
                </a:solidFill>
                <a:latin typeface="Courier New"/>
              </a:defRPr>
            </a:lvl1pPr>
          </a:lstStyle>
          <a:p>
            <a:pPr/>
            <a:r>
              <a:t>     ——  you read the spec, correct it, approve  ——</a:t>
            </a:r>
          </a:p>
        </p:txBody>
      </p:sp>
      <p:sp>
        <p:nvSpPr>
          <p:cNvPr id="305" name="BlockC"/>
          <p:cNvSpPr txBox="1"/>
          <p:nvPr/>
        </p:nvSpPr>
        <p:spPr>
          <a:xfrm>
            <a:off x="1097280" y="3864062"/>
            <a:ext cx="9966960" cy="1994354"/>
          </a:xfrm>
          <a:prstGeom prst="rect">
            <a:avLst/>
          </a:prstGeom>
          <a:ln w="12700">
            <a:noFill/>
            <a:miter lim="400000"/>
          </a:ln>
        </p:spPr>
        <p:txBody>
          <a:bodyPr lIns="45719" rIns="45719" tIns="0" bIns="0" anchor="t"/>
          <a:lstStyle>
            <a:lvl1pPr algn="l">
              <a:defRPr sz="950">
                <a:solidFill>
                  <a:srgbClr val="1E2761"/>
                </a:solidFill>
                <a:latin typeface="Courier New"/>
              </a:defRPr>
            </a:lvl1pPr>
          </a:lstStyle>
          <a:p>
            <a:pPr/>
            <a:r>
              <a:t>You: /opsx:apply</a:t>
            </a:r>
          </a:p>
          <a:p>
            <a:pPr/>
            <a:endParaRPr sz="500"/>
          </a:p>
          <a:p>
            <a:pPr/>
            <a:r>
              <a:t>AI:  Implementing tasks...</a:t>
            </a:r>
          </a:p>
          <a:p>
            <a:pPr/>
            <a:endParaRPr sz="500"/>
          </a:p>
          <a:p>
            <a:pPr/>
            <a:r>
              <a:t>     ✓ Add reset_token to the user record</a:t>
            </a:r>
          </a:p>
          <a:p>
            <a:pPr/>
            <a:r>
              <a:t>     ✓ Request endpoint sends the link</a:t>
            </a:r>
          </a:p>
          <a:p>
            <a:pPr/>
            <a:r>
              <a:t>     ✓ Validate the link and expire it on use</a:t>
            </a:r>
          </a:p>
          <a:p>
            <a:pPr/>
            <a:r>
              <a:t>     ✓ Set the new password</a:t>
            </a:r>
          </a:p>
          <a:p>
            <a:pPr/>
            <a:endParaRPr sz="500"/>
          </a:p>
          <a:p>
            <a:pPr/>
            <a:r>
              <a:t>     All tasks complete!</a:t>
            </a:r>
          </a:p>
          <a:p>
            <a:pPr/>
          </a:p>
          <a:p>
            <a:pPr/>
            <a:r>
              <a:t>You: /opsx:archive</a:t>
            </a:r>
          </a:p>
          <a:p>
            <a:pPr/>
            <a:endParaRPr sz="500"/>
          </a:p>
          <a:p>
            <a:pPr/>
            <a:r>
              <a:t>AI:  Archived to changes/archive/2026-08-14-add-password-reset/</a:t>
            </a:r>
          </a:p>
          <a:p>
            <a:pPr/>
            <a:endParaRPr sz="500"/>
          </a:p>
          <a:p>
            <a:pPr/>
            <a:r>
              <a:t>     Main specs updated. Ready for the next change.</a:t>
            </a:r>
          </a:p>
        </p:txBody>
      </p:sp>
      <p:sp>
        <p:nvSpPr>
          <p:cNvPr id="306" name="Note"/>
          <p:cNvSpPr txBox="1"/>
          <p:nvPr/>
        </p:nvSpPr>
        <p:spPr>
          <a:xfrm>
            <a:off x="640080" y="6126480"/>
            <a:ext cx="10881360" cy="228600"/>
          </a:xfrm>
          <a:prstGeom prst="rect">
            <a:avLst/>
          </a:prstGeom>
          <a:ln w="12700">
            <a:noFill/>
            <a:miter lim="400000"/>
          </a:ln>
        </p:spPr>
        <p:txBody>
          <a:bodyPr lIns="45719" rIns="45719" tIns="0" bIns="0" anchor="t"/>
          <a:lstStyle>
            <a:lvl1pPr algn="l">
              <a:defRPr i="1" sz="900">
                <a:solidFill>
                  <a:srgbClr val="5C6484"/>
                </a:solidFill>
                <a:latin typeface="Calibri"/>
              </a:defRPr>
            </a:lvl1pPr>
          </a:lstStyle>
          <a:p>
            <a:pPr/>
            <a:r>
              <a:t>Illustrative session. The command spelling varies by assistant.</a:t>
            </a:r>
          </a:p>
        </p:txBody>
      </p:sp>
    </p:spTree>
  </p:cSld>
  <p:clrMapOvr>
    <a:masterClrMapping/>
  </p:clrMapOvr>
  <p:transition xmlns:p14="http://schemas.microsoft.com/office/powerpoint/2010/main" spd="med" advClick="1"/>
</p:sld>
</file>

<file path=ppt/slides/slide3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8" name="Text 0"/>
          <p:cNvSpPr txBox="1"/>
          <p:nvPr/>
        </p:nvSpPr>
        <p:spPr>
          <a:xfrm>
            <a:off x="685800" y="545400"/>
            <a:ext cx="7223761" cy="28080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200" sz="1100">
                <a:solidFill>
                  <a:srgbClr val="FF6B4A"/>
                </a:solidFill>
                <a:latin typeface="Calibri"/>
              </a:defRPr>
            </a:lvl1pPr>
          </a:lstStyle>
          <a:p>
            <a:pPr/>
            <a:r>
              <a:t>Reference</a:t>
            </a:r>
          </a:p>
        </p:txBody>
      </p:sp>
      <p:sp>
        <p:nvSpPr>
          <p:cNvPr id="119" name="Text 1"/>
          <p:cNvSpPr txBox="1"/>
          <p:nvPr/>
        </p:nvSpPr>
        <p:spPr>
          <a:xfrm>
            <a:off x="685800" y="989463"/>
            <a:ext cx="10789920" cy="48995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3000">
                <a:solidFill>
                  <a:srgbClr val="1E2761"/>
                </a:solidFill>
                <a:latin typeface="Cambria"/>
              </a:defRPr>
            </a:lvl1pPr>
          </a:lstStyle>
          <a:p>
            <a:pPr/>
            <a:r>
              <a:t>Several repositories, one spec</a:t>
            </a:r>
          </a:p>
        </p:txBody>
      </p:sp>
      <p:sp>
        <p:nvSpPr>
          <p:cNvPr id="132" name="Text 14"/>
          <p:cNvSpPr txBox="1"/>
          <p:nvPr/>
        </p:nvSpPr>
        <p:spPr>
          <a:xfrm>
            <a:off x="502919" y="6572163"/>
            <a:ext cx="722376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900">
                <a:solidFill>
                  <a:srgbClr val="5C6484"/>
                </a:solidFill>
                <a:latin typeface="Calibri"/>
              </a:defRPr>
            </a:lvl1pPr>
          </a:lstStyle>
          <a:p>
            <a:pPr/>
            <a:r>
              <a:t>OpenSpec — Spec-Driven Development</a:t>
            </a:r>
          </a:p>
        </p:txBody>
      </p:sp>
      <p:sp>
        <p:nvSpPr>
          <p:cNvPr id="133" name="Text 15"/>
          <p:cNvSpPr txBox="1"/>
          <p:nvPr/>
        </p:nvSpPr>
        <p:spPr>
          <a:xfrm>
            <a:off x="11475719" y="6572163"/>
            <a:ext cx="27432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900">
                <a:solidFill>
                  <a:srgbClr val="5C6484"/>
                </a:solidFill>
                <a:latin typeface="Calibri"/>
              </a:defRPr>
            </a:lvl1pPr>
          </a:lstStyle>
          <a:p>
            <a:pPr/>
            <a:r>
              <a:t>31</a:t>
            </a:r>
          </a:p>
        </p:txBody>
      </p:sp>
      <p:sp>
        <p:nvSpPr>
          <p:cNvPr id="901" name="Lead"/>
          <p:cNvSpPr txBox="1"/>
          <p:nvPr/>
        </p:nvSpPr>
        <p:spPr>
          <a:xfrm>
            <a:off x="685800" y="1691640"/>
            <a:ext cx="10607042" cy="320040"/>
          </a:xfrm>
          <a:prstGeom prst="rect">
            <a:avLst/>
          </a:prstGeom>
          <a:ln w="12700">
            <a:noFill/>
            <a:miter lim="400000"/>
          </a:ln>
        </p:spPr>
        <p:txBody>
          <a:bodyPr lIns="45719" rIns="45719" tIns="0" bIns="0" anchor="t"/>
          <a:lstStyle>
            <a:lvl1pPr algn="l">
              <a:defRPr b="0" sz="1500">
                <a:solidFill>
                  <a:srgbClr val="2C3352"/>
                </a:solidFill>
                <a:latin typeface="Calibri"/>
              </a:defRPr>
            </a:lvl1pPr>
          </a:lstStyle>
          <a:p>
            <a:pPr/>
            <a:r>
              <a:t>When a change spans more than one repository, the spec does not have to pick a side.</a:t>
            </a:r>
          </a:p>
        </p:txBody>
      </p:sp>
      <p:sp>
        <p:nvSpPr>
          <p:cNvPr id="901" name="rule0"/>
          <p:cNvSpPr/>
          <p:nvPr/>
        </p:nvSpPr>
        <p:spPr>
          <a:xfrm>
            <a:off x="640080" y="2377440"/>
            <a:ext cx="10911840" cy="12700"/>
          </a:xfrm>
          <a:prstGeom prst="rect">
            <a:avLst/>
          </a:prstGeom>
          <a:solidFill>
            <a:srgbClr val="CADCFC"/>
          </a:solidFill>
          <a:ln w="12700">
            <a:noFill/>
            <a:miter lim="400000"/>
          </a:ln>
        </p:spPr>
        <p:txBody>
          <a:bodyPr lIns="45719" rIns="45719"/>
          <a:lstStyle/>
          <a:p>
            <a:pPr/>
          </a:p>
        </p:txBody>
      </p:sp>
      <p:sp>
        <p:nvSpPr>
          <p:cNvPr id="902" name="lab0"/>
          <p:cNvSpPr txBox="1"/>
          <p:nvPr/>
        </p:nvSpPr>
        <p:spPr>
          <a:xfrm>
            <a:off x="685800" y="2560320"/>
            <a:ext cx="2286000" cy="251460"/>
          </a:xfrm>
          <a:prstGeom prst="rect">
            <a:avLst/>
          </a:prstGeom>
          <a:ln w="12700">
            <a:noFill/>
            <a:miter lim="400000"/>
          </a:ln>
        </p:spPr>
        <p:txBody>
          <a:bodyPr lIns="45719" rIns="45719" tIns="0" bIns="0" anchor="t"/>
          <a:lstStyle>
            <a:lvl1pPr algn="l">
              <a:defRPr spc="150" b="1" sz="950">
                <a:solidFill>
                  <a:srgbClr val="FF6B4A"/>
                </a:solidFill>
                <a:latin typeface="Calibri"/>
              </a:defRPr>
            </a:lvl1pPr>
          </a:lstStyle>
          <a:p>
            <a:pPr/>
            <a:r>
              <a:t>THE PROBLEM</a:t>
            </a:r>
          </a:p>
        </p:txBody>
      </p:sp>
      <p:sp>
        <p:nvSpPr>
          <p:cNvPr id="903" name="cmd0"/>
          <p:cNvSpPr txBox="1"/>
          <p:nvPr/>
        </p:nvSpPr>
        <p:spPr>
          <a:xfrm>
            <a:off x="685800" y="2926080"/>
            <a:ext cx="2743200" cy="594360"/>
          </a:xfrm>
          <a:prstGeom prst="rect">
            <a:avLst/>
          </a:prstGeom>
          <a:ln w="12700">
            <a:noFill/>
            <a:miter lim="400000"/>
          </a:ln>
        </p:spPr>
        <p:txBody>
          <a:bodyPr lIns="45719" rIns="45719" tIns="0" bIns="0" anchor="t"/>
          <a:lstStyle>
            <a:lvl1pPr algn="l">
              <a:defRPr b="0" sz="900">
                <a:solidFill>
                  <a:srgbClr val="5C6484"/>
                </a:solidFill>
                <a:latin typeface="Courier New"/>
              </a:defRPr>
            </a:lvl1pPr>
          </a:lstStyle>
          <a:p>
            <a:pPr/>
            <a:r>
              <a:t/>
            </a:r>
          </a:p>
        </p:txBody>
      </p:sp>
      <p:sp>
        <p:nvSpPr>
          <p:cNvPr id="904" name="ti0"/>
          <p:cNvSpPr txBox="1"/>
          <p:nvPr/>
        </p:nvSpPr>
        <p:spPr>
          <a:xfrm>
            <a:off x="3657600" y="2537460"/>
            <a:ext cx="7894320" cy="320040"/>
          </a:xfrm>
          <a:prstGeom prst="rect">
            <a:avLst/>
          </a:prstGeom>
          <a:ln w="12700">
            <a:noFill/>
            <a:miter lim="400000"/>
          </a:ln>
        </p:spPr>
        <p:txBody>
          <a:bodyPr lIns="45719" rIns="45719" tIns="0" bIns="0" anchor="t"/>
          <a:lstStyle>
            <a:lvl1pPr algn="l">
              <a:defRPr b="1" sz="1400">
                <a:solidFill>
                  <a:srgbClr val="1E2761"/>
                </a:solidFill>
                <a:latin typeface="Cambria"/>
              </a:defRPr>
            </a:lvl1pPr>
          </a:lstStyle>
          <a:p>
            <a:pPr/>
            <a:r>
              <a:t>One change, two repositories</a:t>
            </a:r>
          </a:p>
        </p:txBody>
      </p:sp>
      <p:sp>
        <p:nvSpPr>
          <p:cNvPr id="905" name="bo0"/>
          <p:cNvSpPr txBox="1"/>
          <p:nvPr/>
        </p:nvSpPr>
        <p:spPr>
          <a:xfrm>
            <a:off x="3657600" y="2926080"/>
            <a:ext cx="7894320" cy="685800"/>
          </a:xfrm>
          <a:prstGeom prst="rect">
            <a:avLst/>
          </a:prstGeom>
          <a:ln w="12700">
            <a:noFill/>
            <a:miter lim="400000"/>
          </a:ln>
        </p:spPr>
        <p:txBody>
          <a:bodyPr lIns="45719" rIns="45719" tIns="0" bIns="0" anchor="t"/>
          <a:lstStyle>
            <a:lvl1pPr algn="l">
              <a:defRPr b="0" sz="1150">
                <a:solidFill>
                  <a:srgbClr val="2C3352"/>
                </a:solidFill>
                <a:latin typeface="Calibri"/>
              </a:defRPr>
            </a:lvl1pPr>
          </a:lstStyle>
          <a:p>
            <a:pPr/>
            <a:r>
              <a:t>A single feature touches the Spring Boot service and the React front end. The plan needs one home rather than two halves that drift apart.</a:t>
            </a:r>
          </a:p>
        </p:txBody>
      </p:sp>
      <p:sp>
        <p:nvSpPr>
          <p:cNvPr id="905" name="rule1"/>
          <p:cNvSpPr/>
          <p:nvPr/>
        </p:nvSpPr>
        <p:spPr>
          <a:xfrm>
            <a:off x="640080" y="3520440"/>
            <a:ext cx="10911840" cy="12700"/>
          </a:xfrm>
          <a:prstGeom prst="rect">
            <a:avLst/>
          </a:prstGeom>
          <a:solidFill>
            <a:srgbClr val="CADCFC"/>
          </a:solidFill>
          <a:ln w="12700">
            <a:noFill/>
            <a:miter lim="400000"/>
          </a:ln>
        </p:spPr>
        <p:txBody>
          <a:bodyPr lIns="45719" rIns="45719"/>
          <a:lstStyle/>
          <a:p>
            <a:pPr/>
          </a:p>
        </p:txBody>
      </p:sp>
      <p:sp>
        <p:nvSpPr>
          <p:cNvPr id="906" name="lab1"/>
          <p:cNvSpPr txBox="1"/>
          <p:nvPr/>
        </p:nvSpPr>
        <p:spPr>
          <a:xfrm>
            <a:off x="685800" y="3703320"/>
            <a:ext cx="2286000" cy="251460"/>
          </a:xfrm>
          <a:prstGeom prst="rect">
            <a:avLst/>
          </a:prstGeom>
          <a:ln w="12700">
            <a:noFill/>
            <a:miter lim="400000"/>
          </a:ln>
        </p:spPr>
        <p:txBody>
          <a:bodyPr lIns="45719" rIns="45719" tIns="0" bIns="0" anchor="t"/>
          <a:lstStyle>
            <a:lvl1pPr algn="l">
              <a:defRPr spc="150" b="1" sz="950">
                <a:solidFill>
                  <a:srgbClr val="FF6B4A"/>
                </a:solidFill>
                <a:latin typeface="Calibri"/>
              </a:defRPr>
            </a:lvl1pPr>
          </a:lstStyle>
          <a:p>
            <a:pPr/>
            <a:r>
              <a:t>A STORE</a:t>
            </a:r>
          </a:p>
        </p:txBody>
      </p:sp>
      <p:sp>
        <p:nvSpPr>
          <p:cNvPr id="907" name="cmd1"/>
          <p:cNvSpPr txBox="1"/>
          <p:nvPr/>
        </p:nvSpPr>
        <p:spPr>
          <a:xfrm>
            <a:off x="685800" y="4069080"/>
            <a:ext cx="2743200" cy="594360"/>
          </a:xfrm>
          <a:prstGeom prst="rect">
            <a:avLst/>
          </a:prstGeom>
          <a:ln w="12700">
            <a:noFill/>
            <a:miter lim="400000"/>
          </a:ln>
        </p:spPr>
        <p:txBody>
          <a:bodyPr lIns="45719" rIns="45719" tIns="0" bIns="0" anchor="t"/>
          <a:lstStyle>
            <a:lvl1pPr algn="l">
              <a:defRPr b="0" sz="900">
                <a:solidFill>
                  <a:srgbClr val="5C6484"/>
                </a:solidFill>
                <a:latin typeface="Courier New"/>
              </a:defRPr>
            </a:lvl1pPr>
          </a:lstStyle>
          <a:p>
            <a:pPr/>
            <a:r>
              <a:t>openspec store setup</a:t>
            </a:r>
          </a:p>
          <a:p>
            <a:pPr/>
            <a:r>
              <a:t>openspec store register</a:t>
            </a:r>
          </a:p>
        </p:txBody>
      </p:sp>
      <p:sp>
        <p:nvSpPr>
          <p:cNvPr id="908" name="ti1"/>
          <p:cNvSpPr txBox="1"/>
          <p:nvPr/>
        </p:nvSpPr>
        <p:spPr>
          <a:xfrm>
            <a:off x="3657600" y="3680460"/>
            <a:ext cx="7894320" cy="320040"/>
          </a:xfrm>
          <a:prstGeom prst="rect">
            <a:avLst/>
          </a:prstGeom>
          <a:ln w="12700">
            <a:noFill/>
            <a:miter lim="400000"/>
          </a:ln>
        </p:spPr>
        <p:txBody>
          <a:bodyPr lIns="45719" rIns="45719" tIns="0" bIns="0" anchor="t"/>
          <a:lstStyle>
            <a:lvl1pPr algn="l">
              <a:defRPr b="1" sz="1400">
                <a:solidFill>
                  <a:srgbClr val="1E2761"/>
                </a:solidFill>
                <a:latin typeface="Cambria"/>
              </a:defRPr>
            </a:lvl1pPr>
          </a:lstStyle>
          <a:p>
            <a:pPr/>
            <a:r>
              <a:t>A repository that holds only specs</a:t>
            </a:r>
          </a:p>
        </p:txBody>
      </p:sp>
      <p:sp>
        <p:nvSpPr>
          <p:cNvPr id="909" name="bo1"/>
          <p:cNvSpPr txBox="1"/>
          <p:nvPr/>
        </p:nvSpPr>
        <p:spPr>
          <a:xfrm>
            <a:off x="3657600" y="4069080"/>
            <a:ext cx="7894320" cy="685800"/>
          </a:xfrm>
          <a:prstGeom prst="rect">
            <a:avLst/>
          </a:prstGeom>
          <a:ln w="12700">
            <a:noFill/>
            <a:miter lim="400000"/>
          </a:ln>
        </p:spPr>
        <p:txBody>
          <a:bodyPr lIns="45719" rIns="45719" tIns="0" bIns="0" anchor="t"/>
          <a:lstStyle>
            <a:lvl1pPr algn="l">
              <a:defRPr b="0" sz="1150">
                <a:solidFill>
                  <a:srgbClr val="2C3352"/>
                </a:solidFill>
                <a:latin typeface="Calibri"/>
              </a:defRPr>
            </a:lvl1pPr>
          </a:lstStyle>
          <a:p>
            <a:pPr/>
            <a:r>
              <a:t>Several code repositories share it, reviewed and versioned through the same git workflow as any other repository. A change is created with openspec new change &lt;id&gt; --store &lt;name&gt;.</a:t>
            </a:r>
          </a:p>
        </p:txBody>
      </p:sp>
      <p:sp>
        <p:nvSpPr>
          <p:cNvPr id="909" name="rule2"/>
          <p:cNvSpPr/>
          <p:nvPr/>
        </p:nvSpPr>
        <p:spPr>
          <a:xfrm>
            <a:off x="640080" y="4663440"/>
            <a:ext cx="10911840" cy="12700"/>
          </a:xfrm>
          <a:prstGeom prst="rect">
            <a:avLst/>
          </a:prstGeom>
          <a:solidFill>
            <a:srgbClr val="CADCFC"/>
          </a:solidFill>
          <a:ln w="12700">
            <a:noFill/>
            <a:miter lim="400000"/>
          </a:ln>
        </p:spPr>
        <p:txBody>
          <a:bodyPr lIns="45719" rIns="45719"/>
          <a:lstStyle/>
          <a:p>
            <a:pPr/>
          </a:p>
        </p:txBody>
      </p:sp>
      <p:sp>
        <p:nvSpPr>
          <p:cNvPr id="910" name="lab2"/>
          <p:cNvSpPr txBox="1"/>
          <p:nvPr/>
        </p:nvSpPr>
        <p:spPr>
          <a:xfrm>
            <a:off x="685800" y="4846320"/>
            <a:ext cx="2286000" cy="251460"/>
          </a:xfrm>
          <a:prstGeom prst="rect">
            <a:avLst/>
          </a:prstGeom>
          <a:ln w="12700">
            <a:noFill/>
            <a:miter lim="400000"/>
          </a:ln>
        </p:spPr>
        <p:txBody>
          <a:bodyPr lIns="45719" rIns="45719" tIns="0" bIns="0" anchor="t"/>
          <a:lstStyle>
            <a:lvl1pPr algn="l">
              <a:defRPr spc="150" b="1" sz="950">
                <a:solidFill>
                  <a:srgbClr val="FF6B4A"/>
                </a:solidFill>
                <a:latin typeface="Calibri"/>
              </a:defRPr>
            </a:lvl1pPr>
          </a:lstStyle>
          <a:p>
            <a:pPr/>
            <a:r>
              <a:t>A WORKSET</a:t>
            </a:r>
          </a:p>
        </p:txBody>
      </p:sp>
      <p:sp>
        <p:nvSpPr>
          <p:cNvPr id="911" name="cmd2"/>
          <p:cNvSpPr txBox="1"/>
          <p:nvPr/>
        </p:nvSpPr>
        <p:spPr>
          <a:xfrm>
            <a:off x="685800" y="5212080"/>
            <a:ext cx="2743200" cy="594360"/>
          </a:xfrm>
          <a:prstGeom prst="rect">
            <a:avLst/>
          </a:prstGeom>
          <a:ln w="12700">
            <a:noFill/>
            <a:miter lim="400000"/>
          </a:ln>
        </p:spPr>
        <p:txBody>
          <a:bodyPr lIns="45719" rIns="45719" tIns="0" bIns="0" anchor="t"/>
          <a:lstStyle>
            <a:lvl1pPr algn="l">
              <a:defRPr b="0" sz="900">
                <a:solidFill>
                  <a:srgbClr val="5C6484"/>
                </a:solidFill>
                <a:latin typeface="Courier New"/>
              </a:defRPr>
            </a:lvl1pPr>
          </a:lstStyle>
          <a:p>
            <a:pPr/>
            <a:r>
              <a:t>openspec workset create</a:t>
            </a:r>
          </a:p>
          <a:p>
            <a:pPr/>
            <a:r>
              <a:t>openspec workset open</a:t>
            </a:r>
          </a:p>
        </p:txBody>
      </p:sp>
      <p:sp>
        <p:nvSpPr>
          <p:cNvPr id="912" name="ti2"/>
          <p:cNvSpPr txBox="1"/>
          <p:nvPr/>
        </p:nvSpPr>
        <p:spPr>
          <a:xfrm>
            <a:off x="3657600" y="4823460"/>
            <a:ext cx="7894320" cy="320040"/>
          </a:xfrm>
          <a:prstGeom prst="rect">
            <a:avLst/>
          </a:prstGeom>
          <a:ln w="12700">
            <a:noFill/>
            <a:miter lim="400000"/>
          </a:ln>
        </p:spPr>
        <p:txBody>
          <a:bodyPr lIns="45719" rIns="45719" tIns="0" bIns="0" anchor="t"/>
          <a:lstStyle>
            <a:lvl1pPr algn="l">
              <a:defRPr b="1" sz="1400">
                <a:solidFill>
                  <a:srgbClr val="1E2761"/>
                </a:solidFill>
                <a:latin typeface="Cambria"/>
              </a:defRPr>
            </a:lvl1pPr>
          </a:lstStyle>
          <a:p>
            <a:pPr/>
            <a:r>
              <a:t>The store and the repos, opened together</a:t>
            </a:r>
          </a:p>
        </p:txBody>
      </p:sp>
      <p:sp>
        <p:nvSpPr>
          <p:cNvPr id="913" name="bo2"/>
          <p:cNvSpPr txBox="1"/>
          <p:nvPr/>
        </p:nvSpPr>
        <p:spPr>
          <a:xfrm>
            <a:off x="3657600" y="5212080"/>
            <a:ext cx="7894320" cy="685800"/>
          </a:xfrm>
          <a:prstGeom prst="rect">
            <a:avLst/>
          </a:prstGeom>
          <a:ln w="12700">
            <a:noFill/>
            <a:miter lim="400000"/>
          </a:ln>
        </p:spPr>
        <p:txBody>
          <a:bodyPr lIns="45719" rIns="45719" tIns="0" bIns="0" anchor="t"/>
          <a:lstStyle>
            <a:lvl1pPr algn="l">
              <a:defRPr b="0" sz="1150">
                <a:solidFill>
                  <a:srgbClr val="2C3352"/>
                </a:solidFill>
                <a:latin typeface="Calibri"/>
              </a:defRPr>
            </a:lvl1pPr>
          </a:lstStyle>
          <a:p>
            <a:pPr/>
            <a:r>
              <a:t>It launches your editor on the store and the repositories that use it, so the agent reads both at once instead of one at a time.</a:t>
            </a:r>
          </a:p>
        </p:txBody>
      </p:sp>
      <p:sp>
        <p:nvSpPr>
          <p:cNvPr id="914" name="Note"/>
          <p:cNvSpPr txBox="1"/>
          <p:nvPr/>
        </p:nvSpPr>
        <p:spPr>
          <a:xfrm>
            <a:off x="640080" y="6035040"/>
            <a:ext cx="10881360" cy="251460"/>
          </a:xfrm>
          <a:prstGeom prst="rect">
            <a:avLst/>
          </a:prstGeom>
          <a:ln w="12700">
            <a:noFill/>
            <a:miter lim="400000"/>
          </a:ln>
        </p:spPr>
        <p:txBody>
          <a:bodyPr lIns="45719" rIns="45719" tIns="0" bIns="0" anchor="t"/>
          <a:lstStyle>
            <a:lvl1pPr algn="l">
              <a:defRPr b="0" sz="1000">
                <a:solidFill>
                  <a:srgbClr val="9AA3C0"/>
                </a:solidFill>
                <a:latin typeface="Calibri"/>
              </a:defRPr>
            </a:lvl1pPr>
          </a:lstStyle>
          <a:p>
            <a:pPr/>
            <a:r>
              <a:t>Stores and worksets are marked beta in the documentation. Until they settle, the simple alternative is one spec scope per repository, with each change citing the other.</a:t>
            </a:r>
          </a:p>
        </p:txBody>
      </p:sp>
    </p:spTree>
  </p:cSld>
  <p:clrMapOvr>
    <a:masterClrMapping/>
  </p:clrMapOvr>
  <p:transition xmlns:p14="http://schemas.microsoft.com/office/powerpoint/2010/main" spd="med" advClick="1"/>
</p:sld>
</file>

<file path=ppt/slides/slide3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8" name="Text 0"/>
          <p:cNvSpPr txBox="1"/>
          <p:nvPr/>
        </p:nvSpPr>
        <p:spPr>
          <a:xfrm>
            <a:off x="685800" y="545400"/>
            <a:ext cx="7223761" cy="28080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200" sz="1100">
                <a:solidFill>
                  <a:srgbClr val="FF6B4A"/>
                </a:solidFill>
                <a:latin typeface="Calibri"/>
              </a:defRPr>
            </a:lvl1pPr>
          </a:lstStyle>
          <a:p>
            <a:pPr/>
            <a:r>
              <a:t>Reference</a:t>
            </a:r>
          </a:p>
        </p:txBody>
      </p:sp>
      <p:sp>
        <p:nvSpPr>
          <p:cNvPr id="119" name="Text 1"/>
          <p:cNvSpPr txBox="1"/>
          <p:nvPr/>
        </p:nvSpPr>
        <p:spPr>
          <a:xfrm>
            <a:off x="685800" y="989463"/>
            <a:ext cx="10789920" cy="48995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3000">
                <a:solidFill>
                  <a:srgbClr val="1E2761"/>
                </a:solidFill>
                <a:latin typeface="Cambria"/>
              </a:defRPr>
            </a:lvl1pPr>
          </a:lstStyle>
          <a:p>
            <a:pPr/>
            <a:r>
              <a:t>Making it fit your process</a:t>
            </a:r>
          </a:p>
        </p:txBody>
      </p:sp>
      <p:sp>
        <p:nvSpPr>
          <p:cNvPr id="132" name="Text 14"/>
          <p:cNvSpPr txBox="1"/>
          <p:nvPr/>
        </p:nvSpPr>
        <p:spPr>
          <a:xfrm>
            <a:off x="502919" y="6572163"/>
            <a:ext cx="722376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900">
                <a:solidFill>
                  <a:srgbClr val="5C6484"/>
                </a:solidFill>
                <a:latin typeface="Calibri"/>
              </a:defRPr>
            </a:lvl1pPr>
          </a:lstStyle>
          <a:p>
            <a:pPr/>
            <a:r>
              <a:t>OpenSpec — Spec-Driven Development</a:t>
            </a:r>
          </a:p>
        </p:txBody>
      </p:sp>
      <p:sp>
        <p:nvSpPr>
          <p:cNvPr id="133" name="Text 15"/>
          <p:cNvSpPr txBox="1"/>
          <p:nvPr/>
        </p:nvSpPr>
        <p:spPr>
          <a:xfrm>
            <a:off x="11475719" y="6572163"/>
            <a:ext cx="27432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900">
                <a:solidFill>
                  <a:srgbClr val="5C6484"/>
                </a:solidFill>
                <a:latin typeface="Calibri"/>
              </a:defRPr>
            </a:lvl1pPr>
          </a:lstStyle>
          <a:p>
            <a:pPr/>
            <a:r>
              <a:t>32</a:t>
            </a:r>
          </a:p>
        </p:txBody>
      </p:sp>
      <p:sp>
        <p:nvSpPr>
          <p:cNvPr id="915" name="Lead"/>
          <p:cNvSpPr txBox="1"/>
          <p:nvPr/>
        </p:nvSpPr>
        <p:spPr>
          <a:xfrm>
            <a:off x="685800" y="1691640"/>
            <a:ext cx="10607042" cy="320040"/>
          </a:xfrm>
          <a:prstGeom prst="rect">
            <a:avLst/>
          </a:prstGeom>
          <a:ln w="12700">
            <a:noFill/>
            <a:miter lim="400000"/>
          </a:ln>
        </p:spPr>
        <p:txBody>
          <a:bodyPr lIns="45719" rIns="45719" tIns="0" bIns="0" anchor="t"/>
          <a:lstStyle>
            <a:lvl1pPr algn="l">
              <a:defRPr b="0" sz="1500">
                <a:solidFill>
                  <a:srgbClr val="2C3352"/>
                </a:solidFill>
                <a:latin typeface="Calibri"/>
              </a:defRPr>
            </a:lvl1pPr>
          </a:lstStyle>
          <a:p>
            <a:pPr/>
            <a:r>
              <a:t>The workflow is configurable: which commands, how they are delivered, and what a change produces.</a:t>
            </a:r>
          </a:p>
        </p:txBody>
      </p:sp>
      <p:sp>
        <p:nvSpPr>
          <p:cNvPr id="915" name="rule0"/>
          <p:cNvSpPr/>
          <p:nvPr/>
        </p:nvSpPr>
        <p:spPr>
          <a:xfrm>
            <a:off x="640080" y="2377440"/>
            <a:ext cx="10911840" cy="12700"/>
          </a:xfrm>
          <a:prstGeom prst="rect">
            <a:avLst/>
          </a:prstGeom>
          <a:solidFill>
            <a:srgbClr val="CADCFC"/>
          </a:solidFill>
          <a:ln w="12700">
            <a:noFill/>
            <a:miter lim="400000"/>
          </a:ln>
        </p:spPr>
        <p:txBody>
          <a:bodyPr lIns="45719" rIns="45719"/>
          <a:lstStyle/>
          <a:p>
            <a:pPr/>
          </a:p>
        </p:txBody>
      </p:sp>
      <p:sp>
        <p:nvSpPr>
          <p:cNvPr id="916" name="lab0"/>
          <p:cNvSpPr txBox="1"/>
          <p:nvPr/>
        </p:nvSpPr>
        <p:spPr>
          <a:xfrm>
            <a:off x="685800" y="2560320"/>
            <a:ext cx="2286000" cy="251460"/>
          </a:xfrm>
          <a:prstGeom prst="rect">
            <a:avLst/>
          </a:prstGeom>
          <a:ln w="12700">
            <a:noFill/>
            <a:miter lim="400000"/>
          </a:ln>
        </p:spPr>
        <p:txBody>
          <a:bodyPr lIns="45719" rIns="45719" tIns="0" bIns="0" anchor="t"/>
          <a:lstStyle>
            <a:lvl1pPr algn="l">
              <a:defRPr spc="150" b="1" sz="950">
                <a:solidFill>
                  <a:srgbClr val="FF6B4A"/>
                </a:solidFill>
                <a:latin typeface="Calibri"/>
              </a:defRPr>
            </a:lvl1pPr>
          </a:lstStyle>
          <a:p>
            <a:pPr/>
            <a:r>
              <a:t>PROFILE</a:t>
            </a:r>
          </a:p>
        </p:txBody>
      </p:sp>
      <p:sp>
        <p:nvSpPr>
          <p:cNvPr id="917" name="cmd0"/>
          <p:cNvSpPr txBox="1"/>
          <p:nvPr/>
        </p:nvSpPr>
        <p:spPr>
          <a:xfrm>
            <a:off x="685800" y="2926080"/>
            <a:ext cx="2743200" cy="594360"/>
          </a:xfrm>
          <a:prstGeom prst="rect">
            <a:avLst/>
          </a:prstGeom>
          <a:ln w="12700">
            <a:noFill/>
            <a:miter lim="400000"/>
          </a:ln>
        </p:spPr>
        <p:txBody>
          <a:bodyPr lIns="45719" rIns="45719" tIns="0" bIns="0" anchor="t"/>
          <a:lstStyle>
            <a:lvl1pPr algn="l">
              <a:defRPr b="0" sz="900">
                <a:solidFill>
                  <a:srgbClr val="5C6484"/>
                </a:solidFill>
                <a:latin typeface="Courier New"/>
              </a:defRPr>
            </a:lvl1pPr>
          </a:lstStyle>
          <a:p>
            <a:pPr/>
            <a:r>
              <a:t>openspec config profile</a:t>
            </a:r>
          </a:p>
          <a:p>
            <a:pPr/>
            <a:r>
              <a:t>openspec update</a:t>
            </a:r>
          </a:p>
        </p:txBody>
      </p:sp>
      <p:sp>
        <p:nvSpPr>
          <p:cNvPr id="918" name="ti0"/>
          <p:cNvSpPr txBox="1"/>
          <p:nvPr/>
        </p:nvSpPr>
        <p:spPr>
          <a:xfrm>
            <a:off x="3657600" y="2537460"/>
            <a:ext cx="7894320" cy="320040"/>
          </a:xfrm>
          <a:prstGeom prst="rect">
            <a:avLst/>
          </a:prstGeom>
          <a:ln w="12700">
            <a:noFill/>
            <a:miter lim="400000"/>
          </a:ln>
        </p:spPr>
        <p:txBody>
          <a:bodyPr lIns="45719" rIns="45719" tIns="0" bIns="0" anchor="t"/>
          <a:lstStyle>
            <a:lvl1pPr algn="l">
              <a:defRPr b="1" sz="1400">
                <a:solidFill>
                  <a:srgbClr val="1E2761"/>
                </a:solidFill>
                <a:latin typeface="Cambria"/>
              </a:defRPr>
            </a:lvl1pPr>
          </a:lstStyle>
          <a:p>
            <a:pPr/>
            <a:r>
              <a:t>Which commands you get</a:t>
            </a:r>
          </a:p>
        </p:txBody>
      </p:sp>
      <p:sp>
        <p:nvSpPr>
          <p:cNvPr id="919" name="bo0"/>
          <p:cNvSpPr txBox="1"/>
          <p:nvPr/>
        </p:nvSpPr>
        <p:spPr>
          <a:xfrm>
            <a:off x="3657600" y="2926080"/>
            <a:ext cx="7894320" cy="685800"/>
          </a:xfrm>
          <a:prstGeom prst="rect">
            <a:avLst/>
          </a:prstGeom>
          <a:ln w="12700">
            <a:noFill/>
            <a:miter lim="400000"/>
          </a:ln>
        </p:spPr>
        <p:txBody>
          <a:bodyPr lIns="45719" rIns="45719" tIns="0" bIns="0" anchor="t"/>
          <a:lstStyle>
            <a:lvl1pPr algn="l">
              <a:defRPr b="0" sz="1150">
                <a:solidFill>
                  <a:srgbClr val="2C3352"/>
                </a:solidFill>
                <a:latin typeface="Calibri"/>
              </a:defRPr>
            </a:lvl1pPr>
          </a:lstStyle>
          <a:p>
            <a:pPr/>
            <a:r>
              <a:t>Six are installed by default: propose, explore, apply, update, sync and archive. The expanded set adds verify, ff, onboard and others. The setting is global to your machine; a project can override it at init.</a:t>
            </a:r>
          </a:p>
        </p:txBody>
      </p:sp>
      <p:sp>
        <p:nvSpPr>
          <p:cNvPr id="919" name="rule1"/>
          <p:cNvSpPr/>
          <p:nvPr/>
        </p:nvSpPr>
        <p:spPr>
          <a:xfrm>
            <a:off x="640080" y="3520440"/>
            <a:ext cx="10911840" cy="12700"/>
          </a:xfrm>
          <a:prstGeom prst="rect">
            <a:avLst/>
          </a:prstGeom>
          <a:solidFill>
            <a:srgbClr val="CADCFC"/>
          </a:solidFill>
          <a:ln w="12700">
            <a:noFill/>
            <a:miter lim="400000"/>
          </a:ln>
        </p:spPr>
        <p:txBody>
          <a:bodyPr lIns="45719" rIns="45719"/>
          <a:lstStyle/>
          <a:p>
            <a:pPr/>
          </a:p>
        </p:txBody>
      </p:sp>
      <p:sp>
        <p:nvSpPr>
          <p:cNvPr id="920" name="lab1"/>
          <p:cNvSpPr txBox="1"/>
          <p:nvPr/>
        </p:nvSpPr>
        <p:spPr>
          <a:xfrm>
            <a:off x="685800" y="3703320"/>
            <a:ext cx="2286000" cy="251460"/>
          </a:xfrm>
          <a:prstGeom prst="rect">
            <a:avLst/>
          </a:prstGeom>
          <a:ln w="12700">
            <a:noFill/>
            <a:miter lim="400000"/>
          </a:ln>
        </p:spPr>
        <p:txBody>
          <a:bodyPr lIns="45719" rIns="45719" tIns="0" bIns="0" anchor="t"/>
          <a:lstStyle>
            <a:lvl1pPr algn="l">
              <a:defRPr spc="150" b="1" sz="950">
                <a:solidFill>
                  <a:srgbClr val="FF6B4A"/>
                </a:solidFill>
                <a:latin typeface="Calibri"/>
              </a:defRPr>
            </a:lvl1pPr>
          </a:lstStyle>
          <a:p>
            <a:pPr/>
            <a:r>
              <a:t>DELIVERY</a:t>
            </a:r>
          </a:p>
        </p:txBody>
      </p:sp>
      <p:sp>
        <p:nvSpPr>
          <p:cNvPr id="921" name="cmd1"/>
          <p:cNvSpPr txBox="1"/>
          <p:nvPr/>
        </p:nvSpPr>
        <p:spPr>
          <a:xfrm>
            <a:off x="685800" y="4069080"/>
            <a:ext cx="2743200" cy="594360"/>
          </a:xfrm>
          <a:prstGeom prst="rect">
            <a:avLst/>
          </a:prstGeom>
          <a:ln w="12700">
            <a:noFill/>
            <a:miter lim="400000"/>
          </a:ln>
        </p:spPr>
        <p:txBody>
          <a:bodyPr lIns="45719" rIns="45719" tIns="0" bIns="0" anchor="t"/>
          <a:lstStyle>
            <a:lvl1pPr algn="l">
              <a:defRPr b="0" sz="900">
                <a:solidFill>
                  <a:srgbClr val="5C6484"/>
                </a:solidFill>
                <a:latin typeface="Courier New"/>
              </a:defRPr>
            </a:lvl1pPr>
          </a:lstStyle>
          <a:p>
            <a:pPr/>
            <a:r>
              <a:t/>
            </a:r>
          </a:p>
        </p:txBody>
      </p:sp>
      <p:sp>
        <p:nvSpPr>
          <p:cNvPr id="922" name="ti1"/>
          <p:cNvSpPr txBox="1"/>
          <p:nvPr/>
        </p:nvSpPr>
        <p:spPr>
          <a:xfrm>
            <a:off x="3657600" y="3680460"/>
            <a:ext cx="7894320" cy="320040"/>
          </a:xfrm>
          <a:prstGeom prst="rect">
            <a:avLst/>
          </a:prstGeom>
          <a:ln w="12700">
            <a:noFill/>
            <a:miter lim="400000"/>
          </a:ln>
        </p:spPr>
        <p:txBody>
          <a:bodyPr lIns="45719" rIns="45719" tIns="0" bIns="0" anchor="t"/>
          <a:lstStyle>
            <a:lvl1pPr algn="l">
              <a:defRPr b="1" sz="1400">
                <a:solidFill>
                  <a:srgbClr val="1E2761"/>
                </a:solidFill>
                <a:latin typeface="Cambria"/>
              </a:defRPr>
            </a:lvl1pPr>
          </a:lstStyle>
          <a:p>
            <a:pPr/>
            <a:r>
              <a:t>How they reach your assistant</a:t>
            </a:r>
          </a:p>
        </p:txBody>
      </p:sp>
      <p:sp>
        <p:nvSpPr>
          <p:cNvPr id="923" name="bo1"/>
          <p:cNvSpPr txBox="1"/>
          <p:nvPr/>
        </p:nvSpPr>
        <p:spPr>
          <a:xfrm>
            <a:off x="3657600" y="4069080"/>
            <a:ext cx="7894320" cy="685800"/>
          </a:xfrm>
          <a:prstGeom prst="rect">
            <a:avLst/>
          </a:prstGeom>
          <a:ln w="12700">
            <a:noFill/>
            <a:miter lim="400000"/>
          </a:ln>
        </p:spPr>
        <p:txBody>
          <a:bodyPr lIns="45719" rIns="45719" tIns="0" bIns="0" anchor="t"/>
          <a:lstStyle>
            <a:lvl1pPr algn="l">
              <a:defRPr b="0" sz="1150">
                <a:solidFill>
                  <a:srgbClr val="2C3352"/>
                </a:solidFill>
                <a:latin typeface="Calibri"/>
              </a:defRPr>
            </a:lvl1pPr>
          </a:lstStyle>
          <a:p>
            <a:pPr/>
            <a:r>
              <a:t>The same workflow is delivered as skills, as commands, or both — chosen at setup, so each team keeps the shape its tooling expects.</a:t>
            </a:r>
          </a:p>
        </p:txBody>
      </p:sp>
      <p:sp>
        <p:nvSpPr>
          <p:cNvPr id="923" name="rule2"/>
          <p:cNvSpPr/>
          <p:nvPr/>
        </p:nvSpPr>
        <p:spPr>
          <a:xfrm>
            <a:off x="640080" y="4663440"/>
            <a:ext cx="10911840" cy="12700"/>
          </a:xfrm>
          <a:prstGeom prst="rect">
            <a:avLst/>
          </a:prstGeom>
          <a:solidFill>
            <a:srgbClr val="CADCFC"/>
          </a:solidFill>
          <a:ln w="12700">
            <a:noFill/>
            <a:miter lim="400000"/>
          </a:ln>
        </p:spPr>
        <p:txBody>
          <a:bodyPr lIns="45719" rIns="45719"/>
          <a:lstStyle/>
          <a:p>
            <a:pPr/>
          </a:p>
        </p:txBody>
      </p:sp>
      <p:sp>
        <p:nvSpPr>
          <p:cNvPr id="924" name="lab2"/>
          <p:cNvSpPr txBox="1"/>
          <p:nvPr/>
        </p:nvSpPr>
        <p:spPr>
          <a:xfrm>
            <a:off x="685800" y="4846320"/>
            <a:ext cx="2286000" cy="251460"/>
          </a:xfrm>
          <a:prstGeom prst="rect">
            <a:avLst/>
          </a:prstGeom>
          <a:ln w="12700">
            <a:noFill/>
            <a:miter lim="400000"/>
          </a:ln>
        </p:spPr>
        <p:txBody>
          <a:bodyPr lIns="45719" rIns="45719" tIns="0" bIns="0" anchor="t"/>
          <a:lstStyle>
            <a:lvl1pPr algn="l">
              <a:defRPr spc="150" b="1" sz="950">
                <a:solidFill>
                  <a:srgbClr val="FF6B4A"/>
                </a:solidFill>
                <a:latin typeface="Calibri"/>
              </a:defRPr>
            </a:lvl1pPr>
          </a:lstStyle>
          <a:p>
            <a:pPr/>
            <a:r>
              <a:t>SCHEMA</a:t>
            </a:r>
          </a:p>
        </p:txBody>
      </p:sp>
      <p:sp>
        <p:nvSpPr>
          <p:cNvPr id="925" name="cmd2"/>
          <p:cNvSpPr txBox="1"/>
          <p:nvPr/>
        </p:nvSpPr>
        <p:spPr>
          <a:xfrm>
            <a:off x="685800" y="5212080"/>
            <a:ext cx="2743200" cy="594360"/>
          </a:xfrm>
          <a:prstGeom prst="rect">
            <a:avLst/>
          </a:prstGeom>
          <a:ln w="12700">
            <a:noFill/>
            <a:miter lim="400000"/>
          </a:ln>
        </p:spPr>
        <p:txBody>
          <a:bodyPr lIns="45719" rIns="45719" tIns="0" bIns="0" anchor="t"/>
          <a:lstStyle>
            <a:lvl1pPr algn="l">
              <a:defRPr b="0" sz="900">
                <a:solidFill>
                  <a:srgbClr val="5C6484"/>
                </a:solidFill>
                <a:latin typeface="Courier New"/>
              </a:defRPr>
            </a:lvl1pPr>
          </a:lstStyle>
          <a:p>
            <a:pPr/>
            <a:r>
              <a:t>openspec schema fork</a:t>
            </a:r>
          </a:p>
          <a:p>
            <a:pPr/>
            <a:r>
              <a:t>openspec schema validate</a:t>
            </a:r>
          </a:p>
        </p:txBody>
      </p:sp>
      <p:sp>
        <p:nvSpPr>
          <p:cNvPr id="926" name="ti2"/>
          <p:cNvSpPr txBox="1"/>
          <p:nvPr/>
        </p:nvSpPr>
        <p:spPr>
          <a:xfrm>
            <a:off x="3657600" y="4823460"/>
            <a:ext cx="7894320" cy="320040"/>
          </a:xfrm>
          <a:prstGeom prst="rect">
            <a:avLst/>
          </a:prstGeom>
          <a:ln w="12700">
            <a:noFill/>
            <a:miter lim="400000"/>
          </a:ln>
        </p:spPr>
        <p:txBody>
          <a:bodyPr lIns="45719" rIns="45719" tIns="0" bIns="0" anchor="t"/>
          <a:lstStyle>
            <a:lvl1pPr algn="l">
              <a:defRPr b="1" sz="1400">
                <a:solidFill>
                  <a:srgbClr val="1E2761"/>
                </a:solidFill>
                <a:latin typeface="Cambria"/>
              </a:defRPr>
            </a:lvl1pPr>
          </a:lstStyle>
          <a:p>
            <a:pPr/>
            <a:r>
              <a:t>Which artefacts a change produces</a:t>
            </a:r>
          </a:p>
        </p:txBody>
      </p:sp>
      <p:sp>
        <p:nvSpPr>
          <p:cNvPr id="927" name="bo2"/>
          <p:cNvSpPr txBox="1"/>
          <p:nvPr/>
        </p:nvSpPr>
        <p:spPr>
          <a:xfrm>
            <a:off x="3657600" y="5212080"/>
            <a:ext cx="7894320" cy="685800"/>
          </a:xfrm>
          <a:prstGeom prst="rect">
            <a:avLst/>
          </a:prstGeom>
          <a:ln w="12700">
            <a:noFill/>
            <a:miter lim="400000"/>
          </a:ln>
        </p:spPr>
        <p:txBody>
          <a:bodyPr lIns="45719" rIns="45719" tIns="0" bIns="0" anchor="t"/>
          <a:lstStyle>
            <a:lvl1pPr algn="l">
              <a:defRPr b="0" sz="1150">
                <a:solidFill>
                  <a:srgbClr val="2C3352"/>
                </a:solidFill>
                <a:latin typeface="Calibri"/>
              </a:defRPr>
            </a:lvl1pPr>
          </a:lstStyle>
          <a:p>
            <a:pPr/>
            <a:r>
              <a:t>The four artefacts are a default, not a rule. Forking the schema copies it into the project, where the list of artefacts, their order and their templates can be changed and validated.</a:t>
            </a:r>
          </a:p>
        </p:txBody>
      </p:sp>
      <p:sp>
        <p:nvSpPr>
          <p:cNvPr id="928" name="Note"/>
          <p:cNvSpPr txBox="1"/>
          <p:nvPr/>
        </p:nvSpPr>
        <p:spPr>
          <a:xfrm>
            <a:off x="640080" y="6035040"/>
            <a:ext cx="10881360" cy="251460"/>
          </a:xfrm>
          <a:prstGeom prst="rect">
            <a:avLst/>
          </a:prstGeom>
          <a:ln w="12700">
            <a:noFill/>
            <a:miter lim="400000"/>
          </a:ln>
        </p:spPr>
        <p:txBody>
          <a:bodyPr lIns="45719" rIns="45719" tIns="0" bIns="0" anchor="t"/>
          <a:lstStyle>
            <a:lvl1pPr algn="l">
              <a:defRPr b="0" sz="1000">
                <a:solidFill>
                  <a:srgbClr val="9AA3C0"/>
                </a:solidFill>
                <a:latin typeface="Calibri"/>
              </a:defRPr>
            </a:lvl1pPr>
          </a:lstStyle>
          <a:p>
            <a:pPr/>
            <a:r>
              <a:t>openspec update regenerates the instruction files only. It never touches openspec/specs or openspec/changes — but it does overwrite generated files you have edited by hand.</a:t>
            </a:r>
          </a:p>
        </p:txBody>
      </p:sp>
    </p:spTree>
  </p:cSld>
  <p:clrMapOvr>
    <a:masterClrMapping/>
  </p:clrMapOvr>
  <p:transition xmlns:p14="http://schemas.microsoft.com/office/powerpoint/2010/main" spd="med" advClick="1"/>
</p:sld>
</file>

<file path=ppt/slides/slide3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8" name="Text 0"/>
          <p:cNvSpPr txBox="1"/>
          <p:nvPr/>
        </p:nvSpPr>
        <p:spPr>
          <a:xfrm>
            <a:off x="685800" y="545400"/>
            <a:ext cx="7223761" cy="280800"/>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200" sz="1100">
                <a:solidFill>
                  <a:srgbClr val="FF6B4A"/>
                </a:solidFill>
                <a:latin typeface="Calibri"/>
              </a:defRPr>
            </a:lvl1pPr>
          </a:lstStyle>
          <a:p>
            <a:pPr/>
            <a:r>
              <a:t>Reference</a:t>
            </a:r>
          </a:p>
        </p:txBody>
      </p:sp>
      <p:sp>
        <p:nvSpPr>
          <p:cNvPr id="119" name="Text 1"/>
          <p:cNvSpPr txBox="1"/>
          <p:nvPr/>
        </p:nvSpPr>
        <p:spPr>
          <a:xfrm>
            <a:off x="685800" y="989463"/>
            <a:ext cx="10789920" cy="48995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3000">
                <a:solidFill>
                  <a:srgbClr val="1E2761"/>
                </a:solidFill>
                <a:latin typeface="Cambria"/>
              </a:defRPr>
            </a:lvl1pPr>
          </a:lstStyle>
          <a:p>
            <a:pPr/>
            <a:r>
              <a:t>The workflow, as OpenSpec presents it</a:t>
            </a:r>
          </a:p>
        </p:txBody>
      </p:sp>
      <p:sp>
        <p:nvSpPr>
          <p:cNvPr id="132" name="Text 14"/>
          <p:cNvSpPr txBox="1"/>
          <p:nvPr/>
        </p:nvSpPr>
        <p:spPr>
          <a:xfrm>
            <a:off x="502919" y="6572163"/>
            <a:ext cx="722376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900">
                <a:solidFill>
                  <a:srgbClr val="5C6484"/>
                </a:solidFill>
                <a:latin typeface="Calibri"/>
              </a:defRPr>
            </a:lvl1pPr>
          </a:lstStyle>
          <a:p>
            <a:pPr/>
            <a:r>
              <a:t>OpenSpec — Spec-Driven Development</a:t>
            </a:r>
          </a:p>
        </p:txBody>
      </p:sp>
      <p:sp>
        <p:nvSpPr>
          <p:cNvPr id="133" name="Text 15"/>
          <p:cNvSpPr txBox="1"/>
          <p:nvPr/>
        </p:nvSpPr>
        <p:spPr>
          <a:xfrm>
            <a:off x="11475719" y="6572163"/>
            <a:ext cx="27432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r">
              <a:defRPr sz="900">
                <a:solidFill>
                  <a:srgbClr val="5C6484"/>
                </a:solidFill>
                <a:latin typeface="Calibri"/>
              </a:defRPr>
            </a:lvl1pPr>
          </a:lstStyle>
          <a:p>
            <a:pPr/>
            <a:r>
              <a:t>21</a:t>
            </a:r>
          </a:p>
        </p:txBody>
      </p:sp>
      <p:sp>
        <p:nvSpPr>
          <p:cNvPr id="901" name="Lead"/>
          <p:cNvSpPr txBox="1"/>
          <p:nvPr/>
        </p:nvSpPr>
        <p:spPr>
          <a:xfrm>
            <a:off x="685800" y="1691640"/>
            <a:ext cx="10607042" cy="320040"/>
          </a:xfrm>
          <a:prstGeom prst="rect">
            <a:avLst/>
          </a:prstGeom>
          <a:ln w="12700">
            <a:noFill/>
            <a:miter lim="400000"/>
          </a:ln>
        </p:spPr>
        <p:txBody>
          <a:bodyPr lIns="45719" rIns="45719" tIns="0" bIns="0" anchor="t"/>
          <a:lstStyle>
            <a:lvl1pPr algn="l">
              <a:defRPr b="0" sz="1500">
                <a:solidFill>
                  <a:srgbClr val="2C3352"/>
                </a:solidFill>
                <a:latin typeface="Calibri"/>
              </a:defRPr>
            </a:lvl1pPr>
          </a:lstStyle>
          <a:p>
            <a:pPr/>
            <a:r>
              <a:t>The five stages shown on openspec.dev. Two of them are optional in the default install.</a:t>
            </a:r>
          </a:p>
        </p:txBody>
      </p:sp>
      <p:sp>
        <p:nvSpPr>
          <p:cNvPr id="902" name="WF"/>
          <p:cNvSpPr txBox="1"/>
          <p:nvPr/>
        </p:nvSpPr>
        <p:spPr>
          <a:xfrm>
            <a:off x="685800" y="2857500"/>
            <a:ext cx="1828800" cy="251460"/>
          </a:xfrm>
          <a:prstGeom prst="rect">
            <a:avLst/>
          </a:prstGeom>
          <a:ln w="12700">
            <a:noFill/>
            <a:miter lim="400000"/>
          </a:ln>
        </p:spPr>
        <p:txBody>
          <a:bodyPr lIns="45719" rIns="45719" tIns="0" bIns="0" anchor="t"/>
          <a:lstStyle>
            <a:lvl1pPr algn="l">
              <a:defRPr spc="150" b="1" sz="950">
                <a:solidFill>
                  <a:srgbClr val="B8422A"/>
                </a:solidFill>
                <a:latin typeface="Courier New"/>
              </a:defRPr>
            </a:lvl1pPr>
          </a:lstStyle>
          <a:p>
            <a:pPr/>
            <a:r>
              <a:t>WORKFLOW</a:t>
            </a:r>
          </a:p>
        </p:txBody>
      </p:sp>
      <p:sp>
        <p:nvSpPr>
          <p:cNvPr id="903" name="c0"/>
          <p:cNvSpPr txBox="1"/>
          <p:nvPr/>
        </p:nvSpPr>
        <p:spPr>
          <a:xfrm>
            <a:off x="2743200" y="2834640"/>
            <a:ext cx="3200400" cy="320040"/>
          </a:xfrm>
          <a:prstGeom prst="rect">
            <a:avLst/>
          </a:prstGeom>
          <a:ln w="12700">
            <a:noFill/>
            <a:miter lim="400000"/>
          </a:ln>
        </p:spPr>
        <p:txBody>
          <a:bodyPr lIns="45719" rIns="45719" tIns="0" bIns="0" anchor="t"/>
          <a:lstStyle>
            <a:lvl1pPr algn="l">
              <a:defRPr b="1" sz="1400">
                <a:solidFill>
                  <a:srgbClr val="B8422A"/>
                </a:solidFill>
                <a:latin typeface="Courier New"/>
              </a:defRPr>
            </a:lvl1pPr>
          </a:lstStyle>
          <a:p>
            <a:pPr/>
            <a:r>
              <a:t>/opsx:explore</a:t>
            </a:r>
          </a:p>
        </p:txBody>
      </p:sp>
      <p:sp>
        <p:nvSpPr>
          <p:cNvPr id="904" name="d0"/>
          <p:cNvSpPr txBox="1"/>
          <p:nvPr/>
        </p:nvSpPr>
        <p:spPr>
          <a:xfrm>
            <a:off x="6035040" y="2834640"/>
            <a:ext cx="5486400" cy="320040"/>
          </a:xfrm>
          <a:prstGeom prst="rect">
            <a:avLst/>
          </a:prstGeom>
          <a:ln w="12700">
            <a:noFill/>
            <a:miter lim="400000"/>
          </a:ln>
        </p:spPr>
        <p:txBody>
          <a:bodyPr lIns="45719" rIns="45719" tIns="0" bIns="0" anchor="t"/>
          <a:lstStyle>
            <a:lvl1pPr algn="l">
              <a:defRPr b="0" sz="1400">
                <a:solidFill>
                  <a:srgbClr val="5C6484"/>
                </a:solidFill>
                <a:latin typeface="Courier New"/>
              </a:defRPr>
            </a:lvl1pPr>
          </a:lstStyle>
          <a:p>
            <a:pPr/>
            <a:r>
              <a:t>map the problem and understand the codebase</a:t>
            </a:r>
          </a:p>
        </p:txBody>
      </p:sp>
      <p:sp>
        <p:nvSpPr>
          <p:cNvPr id="905" name="c1"/>
          <p:cNvSpPr txBox="1"/>
          <p:nvPr/>
        </p:nvSpPr>
        <p:spPr>
          <a:xfrm>
            <a:off x="2743200" y="3383280"/>
            <a:ext cx="3200400" cy="320040"/>
          </a:xfrm>
          <a:prstGeom prst="rect">
            <a:avLst/>
          </a:prstGeom>
          <a:ln w="12700">
            <a:noFill/>
            <a:miter lim="400000"/>
          </a:ln>
        </p:spPr>
        <p:txBody>
          <a:bodyPr lIns="45719" rIns="45719" tIns="0" bIns="0" anchor="t"/>
          <a:lstStyle>
            <a:lvl1pPr algn="l">
              <a:defRPr b="1" sz="1400">
                <a:solidFill>
                  <a:srgbClr val="B8422A"/>
                </a:solidFill>
                <a:latin typeface="Courier New"/>
              </a:defRPr>
            </a:lvl1pPr>
          </a:lstStyle>
          <a:p>
            <a:pPr/>
            <a:r>
              <a:t>/opsx:propose</a:t>
            </a:r>
          </a:p>
        </p:txBody>
      </p:sp>
      <p:sp>
        <p:nvSpPr>
          <p:cNvPr id="906" name="d1"/>
          <p:cNvSpPr txBox="1"/>
          <p:nvPr/>
        </p:nvSpPr>
        <p:spPr>
          <a:xfrm>
            <a:off x="6035040" y="3383280"/>
            <a:ext cx="5486400" cy="320040"/>
          </a:xfrm>
          <a:prstGeom prst="rect">
            <a:avLst/>
          </a:prstGeom>
          <a:ln w="12700">
            <a:noFill/>
            <a:miter lim="400000"/>
          </a:ln>
        </p:spPr>
        <p:txBody>
          <a:bodyPr lIns="45719" rIns="45719" tIns="0" bIns="0" anchor="t"/>
          <a:lstStyle>
            <a:lvl1pPr algn="l">
              <a:defRPr b="0" sz="1400">
                <a:solidFill>
                  <a:srgbClr val="5C6484"/>
                </a:solidFill>
                <a:latin typeface="Courier New"/>
              </a:defRPr>
            </a:lvl1pPr>
          </a:lstStyle>
          <a:p>
            <a:pPr/>
            <a:r>
              <a:t>draft proposal.md, specs/, design.md, tasks.md</a:t>
            </a:r>
          </a:p>
        </p:txBody>
      </p:sp>
      <p:sp>
        <p:nvSpPr>
          <p:cNvPr id="907" name="c2"/>
          <p:cNvSpPr txBox="1"/>
          <p:nvPr/>
        </p:nvSpPr>
        <p:spPr>
          <a:xfrm>
            <a:off x="2743200" y="3931920"/>
            <a:ext cx="3200400" cy="320040"/>
          </a:xfrm>
          <a:prstGeom prst="rect">
            <a:avLst/>
          </a:prstGeom>
          <a:ln w="12700">
            <a:noFill/>
            <a:miter lim="400000"/>
          </a:ln>
        </p:spPr>
        <p:txBody>
          <a:bodyPr lIns="45719" rIns="45719" tIns="0" bIns="0" anchor="t"/>
          <a:lstStyle>
            <a:lvl1pPr algn="l">
              <a:defRPr b="1" sz="1400">
                <a:solidFill>
                  <a:srgbClr val="B8422A"/>
                </a:solidFill>
                <a:latin typeface="Courier New"/>
              </a:defRPr>
            </a:lvl1pPr>
          </a:lstStyle>
          <a:p>
            <a:pPr/>
            <a:r>
              <a:t>/opsx:apply</a:t>
            </a:r>
          </a:p>
        </p:txBody>
      </p:sp>
      <p:sp>
        <p:nvSpPr>
          <p:cNvPr id="908" name="d2"/>
          <p:cNvSpPr txBox="1"/>
          <p:nvPr/>
        </p:nvSpPr>
        <p:spPr>
          <a:xfrm>
            <a:off x="6035040" y="3931920"/>
            <a:ext cx="5486400" cy="320040"/>
          </a:xfrm>
          <a:prstGeom prst="rect">
            <a:avLst/>
          </a:prstGeom>
          <a:ln w="12700">
            <a:noFill/>
            <a:miter lim="400000"/>
          </a:ln>
        </p:spPr>
        <p:txBody>
          <a:bodyPr lIns="45719" rIns="45719" tIns="0" bIns="0" anchor="t"/>
          <a:lstStyle>
            <a:lvl1pPr algn="l">
              <a:defRPr b="0" sz="1400">
                <a:solidFill>
                  <a:srgbClr val="5C6484"/>
                </a:solidFill>
                <a:latin typeface="Courier New"/>
              </a:defRPr>
            </a:lvl1pPr>
          </a:lstStyle>
          <a:p>
            <a:pPr/>
            <a:r>
              <a:t>implement tasks from the specification</a:t>
            </a:r>
          </a:p>
        </p:txBody>
      </p:sp>
      <p:sp>
        <p:nvSpPr>
          <p:cNvPr id="909" name="c3"/>
          <p:cNvSpPr txBox="1"/>
          <p:nvPr/>
        </p:nvSpPr>
        <p:spPr>
          <a:xfrm>
            <a:off x="2743200" y="4480560"/>
            <a:ext cx="3200400" cy="320040"/>
          </a:xfrm>
          <a:prstGeom prst="rect">
            <a:avLst/>
          </a:prstGeom>
          <a:ln w="12700">
            <a:noFill/>
            <a:miter lim="400000"/>
          </a:ln>
        </p:spPr>
        <p:txBody>
          <a:bodyPr lIns="45719" rIns="45719" tIns="0" bIns="0" anchor="t"/>
          <a:lstStyle>
            <a:lvl1pPr algn="l">
              <a:defRPr b="1" sz="1400">
                <a:solidFill>
                  <a:srgbClr val="B8422A"/>
                </a:solidFill>
                <a:latin typeface="Courier New"/>
              </a:defRPr>
            </a:lvl1pPr>
          </a:lstStyle>
          <a:p>
            <a:pPr/>
            <a:r>
              <a:t>/opsx:verify</a:t>
            </a:r>
          </a:p>
        </p:txBody>
      </p:sp>
      <p:sp>
        <p:nvSpPr>
          <p:cNvPr id="910" name="d3"/>
          <p:cNvSpPr txBox="1"/>
          <p:nvPr/>
        </p:nvSpPr>
        <p:spPr>
          <a:xfrm>
            <a:off x="6035040" y="4480560"/>
            <a:ext cx="5486400" cy="320040"/>
          </a:xfrm>
          <a:prstGeom prst="rect">
            <a:avLst/>
          </a:prstGeom>
          <a:ln w="12700">
            <a:noFill/>
            <a:miter lim="400000"/>
          </a:ln>
        </p:spPr>
        <p:txBody>
          <a:bodyPr lIns="45719" rIns="45719" tIns="0" bIns="0" anchor="t"/>
          <a:lstStyle>
            <a:lvl1pPr algn="l">
              <a:defRPr b="0" sz="1400">
                <a:solidFill>
                  <a:srgbClr val="5C6484"/>
                </a:solidFill>
                <a:latin typeface="Courier New"/>
              </a:defRPr>
            </a:lvl1pPr>
          </a:lstStyle>
          <a:p>
            <a:pPr/>
            <a:r>
              <a:t>check the implementation matches the spec</a:t>
            </a:r>
          </a:p>
        </p:txBody>
      </p:sp>
      <p:sp>
        <p:nvSpPr>
          <p:cNvPr id="911" name="c4"/>
          <p:cNvSpPr txBox="1"/>
          <p:nvPr/>
        </p:nvSpPr>
        <p:spPr>
          <a:xfrm>
            <a:off x="2743200" y="5029200"/>
            <a:ext cx="3200400" cy="320040"/>
          </a:xfrm>
          <a:prstGeom prst="rect">
            <a:avLst/>
          </a:prstGeom>
          <a:ln w="12700">
            <a:noFill/>
            <a:miter lim="400000"/>
          </a:ln>
        </p:spPr>
        <p:txBody>
          <a:bodyPr lIns="45719" rIns="45719" tIns="0" bIns="0" anchor="t"/>
          <a:lstStyle>
            <a:lvl1pPr algn="l">
              <a:defRPr b="1" sz="1400">
                <a:solidFill>
                  <a:srgbClr val="B8422A"/>
                </a:solidFill>
                <a:latin typeface="Courier New"/>
              </a:defRPr>
            </a:lvl1pPr>
          </a:lstStyle>
          <a:p>
            <a:pPr/>
            <a:r>
              <a:t>/opsx:archive</a:t>
            </a:r>
          </a:p>
        </p:txBody>
      </p:sp>
      <p:sp>
        <p:nvSpPr>
          <p:cNvPr id="912" name="d4"/>
          <p:cNvSpPr txBox="1"/>
          <p:nvPr/>
        </p:nvSpPr>
        <p:spPr>
          <a:xfrm>
            <a:off x="6035040" y="5029200"/>
            <a:ext cx="5486400" cy="320040"/>
          </a:xfrm>
          <a:prstGeom prst="rect">
            <a:avLst/>
          </a:prstGeom>
          <a:ln w="12700">
            <a:noFill/>
            <a:miter lim="400000"/>
          </a:ln>
        </p:spPr>
        <p:txBody>
          <a:bodyPr lIns="45719" rIns="45719" tIns="0" bIns="0" anchor="t"/>
          <a:lstStyle>
            <a:lvl1pPr algn="l">
              <a:defRPr b="0" sz="1400">
                <a:solidFill>
                  <a:srgbClr val="5C6484"/>
                </a:solidFill>
                <a:latin typeface="Courier New"/>
              </a:defRPr>
            </a:lvl1pPr>
          </a:lstStyle>
          <a:p>
            <a:pPr/>
            <a:r>
              <a:t>archive completed changes</a:t>
            </a:r>
          </a:p>
        </p:txBody>
      </p:sp>
      <p:sp>
        <p:nvSpPr>
          <p:cNvPr id="912" name="rule"/>
          <p:cNvSpPr/>
          <p:nvPr/>
        </p:nvSpPr>
        <p:spPr>
          <a:xfrm>
            <a:off x="685800" y="5760720"/>
            <a:ext cx="10881360" cy="12700"/>
          </a:xfrm>
          <a:prstGeom prst="rect">
            <a:avLst/>
          </a:prstGeom>
          <a:solidFill>
            <a:srgbClr val="CADCFC"/>
          </a:solidFill>
          <a:ln w="12700">
            <a:noFill/>
            <a:miter lim="400000"/>
          </a:ln>
        </p:spPr>
        <p:txBody>
          <a:bodyPr lIns="45719" rIns="45719"/>
          <a:lstStyle/>
          <a:p>
            <a:pPr/>
          </a:p>
        </p:txBody>
      </p:sp>
      <p:sp>
        <p:nvSpPr>
          <p:cNvPr id="913" name="n1"/>
          <p:cNvSpPr txBox="1"/>
          <p:nvPr/>
        </p:nvSpPr>
        <p:spPr>
          <a:xfrm>
            <a:off x="685800" y="5989320"/>
            <a:ext cx="10881360" cy="251460"/>
          </a:xfrm>
          <a:prstGeom prst="rect">
            <a:avLst/>
          </a:prstGeom>
          <a:ln w="12700">
            <a:noFill/>
            <a:miter lim="400000"/>
          </a:ln>
        </p:spPr>
        <p:txBody>
          <a:bodyPr lIns="45719" rIns="45719" tIns="0" bIns="0" anchor="t"/>
          <a:lstStyle>
            <a:lvl1pPr algn="l">
              <a:defRPr b="0" sz="1050">
                <a:solidFill>
                  <a:srgbClr val="2C3352"/>
                </a:solidFill>
                <a:latin typeface="Calibri"/>
              </a:defRPr>
            </a:lvl1pPr>
          </a:lstStyle>
          <a:p>
            <a:pPr/>
            <a:r>
              <a:t>explore is installed by default but writes nothing — it is a thinking step, not a stage.</a:t>
            </a:r>
          </a:p>
        </p:txBody>
      </p:sp>
      <p:sp>
        <p:nvSpPr>
          <p:cNvPr id="914" name="n2"/>
          <p:cNvSpPr txBox="1"/>
          <p:nvPr/>
        </p:nvSpPr>
        <p:spPr>
          <a:xfrm>
            <a:off x="685800" y="6263640"/>
            <a:ext cx="10881360" cy="251460"/>
          </a:xfrm>
          <a:prstGeom prst="rect">
            <a:avLst/>
          </a:prstGeom>
          <a:ln w="12700">
            <a:noFill/>
            <a:miter lim="400000"/>
          </a:ln>
        </p:spPr>
        <p:txBody>
          <a:bodyPr lIns="45719" rIns="45719" tIns="0" bIns="0" anchor="t"/>
          <a:lstStyle>
            <a:lvl1pPr algn="l">
              <a:defRPr b="0" sz="1050">
                <a:solidFill>
                  <a:srgbClr val="9AA3C0"/>
                </a:solidFill>
                <a:latin typeface="Calibri"/>
              </a:defRPr>
            </a:lvl1pPr>
          </a:lstStyle>
          <a:p>
            <a:pPr/>
            <a:r>
              <a:t>verify is not installed by default. It comes with the expanded profile — annexe 32. The default install also has update and sync, which this diagram leaves out.</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