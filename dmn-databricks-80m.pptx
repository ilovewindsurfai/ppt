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22E"/>
                </a:solidFill>
                <a:latin typeface="Calibri"/>
              </a:defRPr>
            </a:pPr>
            <a:r>
              <a:rPr sz="1300" b="0" i="0" u="none" strike="noStrike">
                <a:solidFill>
                  <a:srgbClr val="16222E"/>
                </a:solidFill>
                <a:latin typeface="Calibri"/>
              </a:rPr>
              <a:t>Minutes per run, by phase (modelled)</a:t>
            </a:r>
          </a:p>
        </c:rich>
      </c:tx>
      <c:layout/>
      <c:overlay val="0"/>
    </c:title>
    <c:autoTitleDeleted val="0"/>
    <c:plotArea>
      <c:layout/>
      <c:barChart>
        <c:barDir val="bar"/>
        <c:grouping val="stacked"/>
        <c:varyColors val="0"/>
        <c:ser>
          <c:idx val="0"/>
          <c:order val="0"/>
          <c:tx>
            <c:strRef>
              <c:f>Sheet1!$B$1</c:f>
              <c:strCache>
                <c:ptCount val="1"/>
                <c:pt idx="0">
                  <c:v>Read / export</c:v>
                </c:pt>
              </c:strCache>
            </c:strRef>
          </c:tx>
          <c:spPr>
            <a:solidFill>
              <a:srgbClr val="9AA7B2"/>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1 · Async API</c:v>
                  </c:pt>
                  <c:pt idx="1">
                    <c:v>2 · Embedded Kogito</c:v>
                  </c:pt>
                  <c:pt idx="2">
                    <c:v>3 · DMN → Spark</c:v>
                  </c:pt>
                </c:lvl>
              </c:multiLvlStrCache>
            </c:multiLvlStrRef>
          </c:cat>
          <c:val>
            <c:numRef>
              <c:f>Sheet1!$B$2:$B$4</c:f>
              <c:numCache>
                <c:formatCode>General</c:formatCode>
                <c:ptCount val="3"/>
                <c:pt idx="0">
                  <c:v>8</c:v>
                </c:pt>
                <c:pt idx="1">
                  <c:v>2</c:v>
                </c:pt>
                <c:pt idx="2">
                  <c:v>2</c:v>
                </c:pt>
              </c:numCache>
            </c:numRef>
          </c:val>
        </c:ser>
        <c:ser>
          <c:idx val="1"/>
          <c:order val="1"/>
          <c:tx>
            <c:strRef>
              <c:f>Sheet1!$C$1</c:f>
              <c:strCache>
                <c:ptCount val="1"/>
                <c:pt idx="0">
                  <c:v>Transfer out</c:v>
                </c:pt>
              </c:strCache>
            </c:strRef>
          </c:tx>
          <c:spPr>
            <a:solidFill>
              <a:srgbClr val="E8A317"/>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1 · Async API</c:v>
                  </c:pt>
                  <c:pt idx="1">
                    <c:v>2 · Embedded Kogito</c:v>
                  </c:pt>
                  <c:pt idx="2">
                    <c:v>3 · DMN → Spark</c:v>
                  </c:pt>
                </c:lvl>
              </c:multiLvlStrCache>
            </c:multiLvlStrRef>
          </c:cat>
          <c:val>
            <c:numRef>
              <c:f>Sheet1!$C$2:$C$4</c:f>
              <c:numCache>
                <c:formatCode>General</c:formatCode>
                <c:ptCount val="3"/>
                <c:pt idx="0">
                  <c:v>12</c:v>
                </c:pt>
                <c:pt idx="1">
                  <c:v>0</c:v>
                </c:pt>
                <c:pt idx="2">
                  <c:v>0</c:v>
                </c:pt>
              </c:numCache>
            </c:numRef>
          </c:val>
        </c:ser>
        <c:ser>
          <c:idx val="2"/>
          <c:order val="2"/>
          <c:tx>
            <c:strRef>
              <c:f>Sheet1!$D$1</c:f>
              <c:strCache>
                <c:ptCount val="1"/>
                <c:pt idx="0">
                  <c:v>Decision compute</c:v>
                </c:pt>
              </c:strCache>
            </c:strRef>
          </c:tx>
          <c:spPr>
            <a:solidFill>
              <a:srgbClr val="037D8C"/>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1 · Async API</c:v>
                  </c:pt>
                  <c:pt idx="1">
                    <c:v>2 · Embedded Kogito</c:v>
                  </c:pt>
                  <c:pt idx="2">
                    <c:v>3 · DMN → Spark</c:v>
                  </c:pt>
                </c:lvl>
              </c:multiLvlStrCache>
            </c:multiLvlStrRef>
          </c:cat>
          <c:val>
            <c:numRef>
              <c:f>Sheet1!$D$2:$D$4</c:f>
              <c:numCache>
                <c:formatCode>General</c:formatCode>
                <c:ptCount val="3"/>
                <c:pt idx="0">
                  <c:v>15</c:v>
                </c:pt>
                <c:pt idx="1">
                  <c:v>9</c:v>
                </c:pt>
                <c:pt idx="2">
                  <c:v>3</c:v>
                </c:pt>
              </c:numCache>
            </c:numRef>
          </c:val>
        </c:ser>
        <c:ser>
          <c:idx val="3"/>
          <c:order val="3"/>
          <c:tx>
            <c:strRef>
              <c:f>Sheet1!$E$1</c:f>
              <c:strCache>
                <c:ptCount val="1"/>
                <c:pt idx="0">
                  <c:v>Transfer back</c:v>
                </c:pt>
              </c:strCache>
            </c:strRef>
          </c:tx>
          <c:spPr>
            <a:solidFill>
              <a:srgbClr val="B0512F"/>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1 · Async API</c:v>
                  </c:pt>
                  <c:pt idx="1">
                    <c:v>2 · Embedded Kogito</c:v>
                  </c:pt>
                  <c:pt idx="2">
                    <c:v>3 · DMN → Spark</c:v>
                  </c:pt>
                </c:lvl>
              </c:multiLvlStrCache>
            </c:multiLvlStrRef>
          </c:cat>
          <c:val>
            <c:numRef>
              <c:f>Sheet1!$E$2:$E$4</c:f>
              <c:numCache>
                <c:formatCode>General</c:formatCode>
                <c:ptCount val="3"/>
                <c:pt idx="0">
                  <c:v>10</c:v>
                </c:pt>
                <c:pt idx="1">
                  <c:v>0</c:v>
                </c:pt>
                <c:pt idx="2">
                  <c:v>0</c:v>
                </c:pt>
              </c:numCache>
            </c:numRef>
          </c:val>
        </c:ser>
        <c:ser>
          <c:idx val="4"/>
          <c:order val="4"/>
          <c:tx>
            <c:strRef>
              <c:f>Sheet1!$F$1</c:f>
              <c:strCache>
                <c:ptCount val="1"/>
                <c:pt idx="0">
                  <c:v>Merge / write</c:v>
                </c:pt>
              </c:strCache>
            </c:strRef>
          </c:tx>
          <c:spPr>
            <a:solidFill>
              <a:srgbClr val="6FD3C4"/>
            </a:solidFill>
            <a:effectLst/>
          </c:spPr>
          <c:invertIfNegative val="0"/>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1 · Async API</c:v>
                  </c:pt>
                  <c:pt idx="1">
                    <c:v>2 · Embedded Kogito</c:v>
                  </c:pt>
                  <c:pt idx="2">
                    <c:v>3 · DMN → Spark</c:v>
                  </c:pt>
                </c:lvl>
              </c:multiLvlStrCache>
            </c:multiLvlStrRef>
          </c:cat>
          <c:val>
            <c:numRef>
              <c:f>Sheet1!$F$2:$F$4</c:f>
              <c:numCache>
                <c:formatCode>General</c:formatCode>
                <c:ptCount val="3"/>
                <c:pt idx="0">
                  <c:v>5</c:v>
                </c:pt>
                <c:pt idx="1">
                  <c:v>2</c:v>
                </c:pt>
                <c:pt idx="2">
                  <c:v>2</c:v>
                </c:pt>
              </c:numCache>
            </c:numRef>
          </c:val>
        </c:ser>
        <c:dLbls>
          <c:numFmt formatCode="#,##0;;" sourceLinked="0"/>
          <c:txPr>
            <a:bodyPr/>
            <a:lstStyle/>
            <a:p>
              <a:pPr>
                <a:defRPr b="1"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1" i="0" u="none" strike="noStrike">
                <a:solidFill>
                  <a:srgbClr val="16222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BE2E7"/>
              </a:solidFill>
              <a:prstDash val="solid"/>
              <a:round/>
            </a:ln>
          </c:spPr>
        </c:majorGridlines>
        <c:title>
          <c:tx>
            <c:rich>
              <a:bodyPr/>
              <a:lstStyle/>
              <a:p>
                <a:pPr>
                  <a:defRPr sz="1000" b="0" i="0" u="none" strike="noStrike">
                    <a:solidFill>
                      <a:srgbClr val="5A6672"/>
                    </a:solidFill>
                    <a:latin typeface="Arial"/>
                  </a:defRPr>
                </a:pPr>
                <a:r>
                  <a:rPr sz="1000" b="0" i="0" u="none" strike="noStrike">
                    <a:solidFill>
                      <a:srgbClr val="5A6672"/>
                    </a:solidFill>
                    <a:latin typeface="Arial"/>
                  </a:rPr>
                  <a:t>minutes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6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A667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The decision to be made is how DMN-authored business logic gets executed over an 80M-row dataset that lives in Databricks. Three options, no pre-selected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deck in 30 seconds. Everything after it is evidence. No recommendation is made yet — the comparison matrix on slide 18 and the PoC plan on slide 22 are how we get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audience on the shape of the problem before showing solutions. The 'gap' column is the framing that makes the three options intelligible.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requirements are the columns of the comparison matrix later. Push the room to challenge the 30-minute budget and the data-residency line now — both eliminate options if tightened.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takeaway: this is a data-movement problem wearing a rules-engine costume. Say the 22-hours line out loud — it is what kills naive per-row REST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De-risks the decision: most of the platform work is common. It also plants the hybrid idea, which is where these evaluations usually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API is a control plane, the payload goes S3-to-S3. That is the only version of this option that survives 80M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numbers in order. The point of the picture is that the thick data arrows all touch S3 and never the API, and that the only thing crossing from the authoring plane is a versioned .dmn bundle.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calls quickly. Dwell on the sidebar — those five items are what turn a demo into a production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reassures the architecture board that option 1 is operable. The 'poison rows' and 'partial failure' points are the ones ops will ask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Ending each option on its strongest counter-argument keeps the evaluation credible and stops the room from re-litigating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singleton runtime per executor. Building a DMNRuntime per row is the mistake that makes people conclude 'Kogito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previous diagram: the thick data arrows are now entirely inside the Databricks box. The price is the two model-plane arrows entering it, one of which is a 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Databricks standard-compute access-mode limitations. This is the slide that most often ends the debate — check the platform policy before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the DMN file is source code and Spark is the target machine. This is a compiler project, and should be staffed and scoped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argument: this diagram has the fewest arrows crossing any boundary. The risk it carries does not appear in the picture — it lives in the CI conformance gate, which is why that box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escape hatch is the point that makes option 3 fundable — you never have to support 100% of DMN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'restrict the supported subset in the editor' mitigation is powerful — it converts an open-ended compiler problem into a bounded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@kie-tools/dmn-editor-standalone on npm; Apache KIE tools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Point at three rows: data movement, compute fit, and build effort. Those three decide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a model with stated assumptions. Its purpose is to show the shape of the difference — the transfer bars — not to claim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are what the room should actually be arguing about. Two of them are policy questions, not engineering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gate. The ask today is approval of the ten-week measurement plan and the shared editor/registry build, not a choice between the three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2E"/>
        </a:solidFill>
      </p:bgPr>
    </p:bg>
    <p:spTree>
      <p:nvGrpSpPr>
        <p:cNvPr id="1" name=""/>
        <p:cNvGrpSpPr/>
        <p:nvPr/>
      </p:nvGrpSpPr>
      <p:grpSpPr>
        <a:xfrm>
          <a:off x="0" y="0"/>
          <a:ext cx="0" cy="0"/>
          <a:chOff x="0" y="0"/>
          <a:chExt cx="0" cy="0"/>
        </a:xfrm>
      </p:grpSpPr>
      <p:sp>
        <p:nvSpPr>
          <p:cNvPr id="2" name="Shape 0"/>
          <p:cNvSpPr/>
          <p:nvPr/>
        </p:nvSpPr>
        <p:spPr>
          <a:xfrm>
            <a:off x="8321040" y="-1737360"/>
            <a:ext cx="5852160" cy="5852160"/>
          </a:xfrm>
          <a:prstGeom prst="ellipse">
            <a:avLst/>
          </a:prstGeom>
          <a:solidFill>
            <a:srgbClr val="1E2E3D"/>
          </a:solidFill>
          <a:ln w="12700">
            <a:solidFill>
              <a:srgbClr val="1E2E3D"/>
            </a:solidFill>
            <a:prstDash val="solid"/>
          </a:ln>
        </p:spPr>
      </p:sp>
      <p:sp>
        <p:nvSpPr>
          <p:cNvPr id="3" name="Shape 1"/>
          <p:cNvSpPr/>
          <p:nvPr/>
        </p:nvSpPr>
        <p:spPr>
          <a:xfrm>
            <a:off x="9692640" y="3291840"/>
            <a:ext cx="3840480" cy="3840480"/>
          </a:xfrm>
          <a:prstGeom prst="ellipse">
            <a:avLst/>
          </a:prstGeom>
          <a:solidFill>
            <a:srgbClr val="1A3A44"/>
          </a:solidFill>
          <a:ln w="12700">
            <a:solidFill>
              <a:srgbClr val="1A3A44"/>
            </a:solidFill>
            <a:prstDash val="solid"/>
          </a:ln>
        </p:spPr>
      </p:sp>
      <p:sp>
        <p:nvSpPr>
          <p:cNvPr id="4" name="Text 2"/>
          <p:cNvSpPr txBox="1"/>
          <p:nvPr/>
        </p:nvSpPr>
        <p:spPr>
          <a:xfrm>
            <a:off x="548640" y="1417320"/>
            <a:ext cx="7315200" cy="274320"/>
          </a:xfrm>
          <a:prstGeom prst="rect">
            <a:avLst/>
          </a:prstGeom>
          <a:noFill/>
          <a:ln/>
        </p:spPr>
        <p:txBody>
          <a:bodyPr wrap="square" lIns="0" tIns="0" rIns="0" bIns="0" rtlCol="0" anchor="ctr"/>
          <a:lstStyle/>
          <a:p>
            <a:pPr indent="0" marL="0">
              <a:buNone/>
            </a:pPr>
            <a:r>
              <a:rPr lang="en-US" sz="1200" b="1" spc="180" kern="0" dirty="0">
                <a:solidFill>
                  <a:srgbClr val="6FD3C4"/>
                </a:solidFill>
                <a:latin typeface="Calibri" pitchFamily="34" charset="0"/>
                <a:ea typeface="Calibri" pitchFamily="34" charset="-122"/>
                <a:cs typeface="Calibri" pitchFamily="34" charset="-120"/>
              </a:rPr>
              <a:t>ARCHITECTURE REVIEW  ·  SEPTEMBER 2026</a:t>
            </a:r>
            <a:endParaRPr lang="en-US" sz="1200" dirty="0"/>
          </a:p>
        </p:txBody>
      </p:sp>
      <p:sp>
        <p:nvSpPr>
          <p:cNvPr id="5" name="Text 3"/>
          <p:cNvSpPr txBox="1"/>
          <p:nvPr/>
        </p:nvSpPr>
        <p:spPr>
          <a:xfrm>
            <a:off x="548640" y="1828800"/>
            <a:ext cx="749808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Running DMN decisions</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on 80 million rows</a:t>
            </a:r>
            <a:endParaRPr lang="en-US" sz="4400" dirty="0"/>
          </a:p>
        </p:txBody>
      </p:sp>
      <p:sp>
        <p:nvSpPr>
          <p:cNvPr id="6" name="Text 4"/>
          <p:cNvSpPr txBox="1"/>
          <p:nvPr/>
        </p:nvSpPr>
        <p:spPr>
          <a:xfrm>
            <a:off x="548640" y="3749040"/>
            <a:ext cx="6949440" cy="914400"/>
          </a:xfrm>
          <a:prstGeom prst="rect">
            <a:avLst/>
          </a:prstGeom>
          <a:noFill/>
          <a:ln/>
        </p:spPr>
        <p:txBody>
          <a:bodyPr wrap="square" lIns="0" tIns="0" rIns="0" bIns="0" rtlCol="0" anchor="ctr"/>
          <a:lstStyle/>
          <a:p>
            <a:pPr indent="0" marL="0">
              <a:lnSpc>
                <a:spcPts val="2000"/>
              </a:lnSpc>
              <a:buNone/>
            </a:pPr>
            <a:r>
              <a:rPr lang="en-US" sz="1400" dirty="0">
                <a:solidFill>
                  <a:srgbClr val="9AA7B2"/>
                </a:solidFill>
                <a:latin typeface="Calibri" pitchFamily="34" charset="0"/>
                <a:ea typeface="Calibri" pitchFamily="34" charset="-122"/>
                <a:cs typeface="Calibri" pitchFamily="34" charset="-120"/>
              </a:rPr>
              <a:t>Three candidate architectures for executing business rules authored in DMN over a Databricks-resident dataset — an asynchronous batch API on Spring Boot + Kogito, Kogito embedded inside Spark, or a DMN-to-Spark translator.</a:t>
            </a:r>
            <a:endParaRPr lang="en-US" sz="1400" dirty="0"/>
          </a:p>
        </p:txBody>
      </p:sp>
      <p:sp>
        <p:nvSpPr>
          <p:cNvPr id="7" name="Shape 5"/>
          <p:cNvSpPr/>
          <p:nvPr/>
        </p:nvSpPr>
        <p:spPr>
          <a:xfrm>
            <a:off x="548640" y="4983480"/>
            <a:ext cx="1097280" cy="329184"/>
          </a:xfrm>
          <a:prstGeom prst="roundRect">
            <a:avLst>
              <a:gd name="adj" fmla="val 50000"/>
            </a:avLst>
          </a:prstGeom>
          <a:solidFill>
            <a:srgbClr val="1E2E3D"/>
          </a:solidFill>
          <a:ln w="12700">
            <a:solidFill>
              <a:srgbClr val="31465A"/>
            </a:solidFill>
            <a:prstDash val="solid"/>
          </a:ln>
        </p:spPr>
      </p:sp>
      <p:sp>
        <p:nvSpPr>
          <p:cNvPr id="8" name="Text 6"/>
          <p:cNvSpPr txBox="1"/>
          <p:nvPr/>
        </p:nvSpPr>
        <p:spPr>
          <a:xfrm>
            <a:off x="548640" y="4983480"/>
            <a:ext cx="1097280" cy="329184"/>
          </a:xfrm>
          <a:prstGeom prst="rect">
            <a:avLst/>
          </a:prstGeom>
          <a:noFill/>
          <a:ln/>
        </p:spPr>
        <p:txBody>
          <a:bodyPr wrap="square" lIns="0" tIns="0" rIns="0" bIns="0" rtlCol="0" anchor="ctr"/>
          <a:lstStyle/>
          <a:p>
            <a:pPr algn="ctr" indent="0" marL="0">
              <a:buNone/>
            </a:pPr>
            <a:r>
              <a:rPr lang="en-US" sz="1100" dirty="0">
                <a:solidFill>
                  <a:srgbClr val="6FD3C4"/>
                </a:solidFill>
                <a:latin typeface="Calibri" pitchFamily="34" charset="0"/>
                <a:ea typeface="Calibri" pitchFamily="34" charset="-122"/>
                <a:cs typeface="Calibri" pitchFamily="34" charset="-120"/>
              </a:rPr>
              <a:t>Databricks</a:t>
            </a:r>
            <a:endParaRPr lang="en-US" sz="1100" dirty="0"/>
          </a:p>
        </p:txBody>
      </p:sp>
      <p:sp>
        <p:nvSpPr>
          <p:cNvPr id="9" name="Shape 7"/>
          <p:cNvSpPr/>
          <p:nvPr/>
        </p:nvSpPr>
        <p:spPr>
          <a:xfrm>
            <a:off x="1773936" y="4983480"/>
            <a:ext cx="828446" cy="329184"/>
          </a:xfrm>
          <a:prstGeom prst="roundRect">
            <a:avLst>
              <a:gd name="adj" fmla="val 50000"/>
            </a:avLst>
          </a:prstGeom>
          <a:solidFill>
            <a:srgbClr val="1E2E3D"/>
          </a:solidFill>
          <a:ln w="12700">
            <a:solidFill>
              <a:srgbClr val="31465A"/>
            </a:solidFill>
            <a:prstDash val="solid"/>
          </a:ln>
        </p:spPr>
      </p:sp>
      <p:sp>
        <p:nvSpPr>
          <p:cNvPr id="10" name="Text 8"/>
          <p:cNvSpPr txBox="1"/>
          <p:nvPr/>
        </p:nvSpPr>
        <p:spPr>
          <a:xfrm>
            <a:off x="1773936" y="4983480"/>
            <a:ext cx="828446" cy="329184"/>
          </a:xfrm>
          <a:prstGeom prst="rect">
            <a:avLst/>
          </a:prstGeom>
          <a:noFill/>
          <a:ln/>
        </p:spPr>
        <p:txBody>
          <a:bodyPr wrap="square" lIns="0" tIns="0" rIns="0" bIns="0" rtlCol="0" anchor="ctr"/>
          <a:lstStyle/>
          <a:p>
            <a:pPr algn="ctr" indent="0" marL="0">
              <a:buNone/>
            </a:pPr>
            <a:r>
              <a:rPr lang="en-US" sz="1100" dirty="0">
                <a:solidFill>
                  <a:srgbClr val="6FD3C4"/>
                </a:solidFill>
                <a:latin typeface="Calibri" pitchFamily="34" charset="0"/>
                <a:ea typeface="Calibri" pitchFamily="34" charset="-122"/>
                <a:cs typeface="Calibri" pitchFamily="34" charset="-120"/>
              </a:rPr>
              <a:t>DMN 1.5</a:t>
            </a:r>
            <a:endParaRPr lang="en-US" sz="1100" dirty="0"/>
          </a:p>
        </p:txBody>
      </p:sp>
      <p:sp>
        <p:nvSpPr>
          <p:cNvPr id="11" name="Shape 9"/>
          <p:cNvSpPr/>
          <p:nvPr/>
        </p:nvSpPr>
        <p:spPr>
          <a:xfrm>
            <a:off x="2730398" y="4983480"/>
            <a:ext cx="1903781" cy="329184"/>
          </a:xfrm>
          <a:prstGeom prst="roundRect">
            <a:avLst>
              <a:gd name="adj" fmla="val 50000"/>
            </a:avLst>
          </a:prstGeom>
          <a:solidFill>
            <a:srgbClr val="1E2E3D"/>
          </a:solidFill>
          <a:ln w="12700">
            <a:solidFill>
              <a:srgbClr val="31465A"/>
            </a:solidFill>
            <a:prstDash val="solid"/>
          </a:ln>
        </p:spPr>
      </p:sp>
      <p:sp>
        <p:nvSpPr>
          <p:cNvPr id="12" name="Text 10"/>
          <p:cNvSpPr txBox="1"/>
          <p:nvPr/>
        </p:nvSpPr>
        <p:spPr>
          <a:xfrm>
            <a:off x="2730398" y="4983480"/>
            <a:ext cx="1903781" cy="329184"/>
          </a:xfrm>
          <a:prstGeom prst="rect">
            <a:avLst/>
          </a:prstGeom>
          <a:noFill/>
          <a:ln/>
        </p:spPr>
        <p:txBody>
          <a:bodyPr wrap="square" lIns="0" tIns="0" rIns="0" bIns="0" rtlCol="0" anchor="ctr"/>
          <a:lstStyle/>
          <a:p>
            <a:pPr algn="ctr" indent="0" marL="0">
              <a:buNone/>
            </a:pPr>
            <a:r>
              <a:rPr lang="en-US" sz="1100" dirty="0">
                <a:solidFill>
                  <a:srgbClr val="6FD3C4"/>
                </a:solidFill>
                <a:latin typeface="Calibri" pitchFamily="34" charset="0"/>
                <a:ea typeface="Calibri" pitchFamily="34" charset="-122"/>
                <a:cs typeface="Calibri" pitchFamily="34" charset="-120"/>
              </a:rPr>
              <a:t>Apache KIE / Kogito</a:t>
            </a:r>
            <a:endParaRPr lang="en-US" sz="1100" dirty="0"/>
          </a:p>
        </p:txBody>
      </p:sp>
      <p:sp>
        <p:nvSpPr>
          <p:cNvPr id="13" name="Shape 11"/>
          <p:cNvSpPr/>
          <p:nvPr/>
        </p:nvSpPr>
        <p:spPr>
          <a:xfrm>
            <a:off x="4762195" y="4983480"/>
            <a:ext cx="649224" cy="329184"/>
          </a:xfrm>
          <a:prstGeom prst="roundRect">
            <a:avLst>
              <a:gd name="adj" fmla="val 50000"/>
            </a:avLst>
          </a:prstGeom>
          <a:solidFill>
            <a:srgbClr val="1E2E3D"/>
          </a:solidFill>
          <a:ln w="12700">
            <a:solidFill>
              <a:srgbClr val="31465A"/>
            </a:solidFill>
            <a:prstDash val="solid"/>
          </a:ln>
        </p:spPr>
      </p:sp>
      <p:sp>
        <p:nvSpPr>
          <p:cNvPr id="14" name="Text 12"/>
          <p:cNvSpPr txBox="1"/>
          <p:nvPr/>
        </p:nvSpPr>
        <p:spPr>
          <a:xfrm>
            <a:off x="4762195" y="4983480"/>
            <a:ext cx="649224" cy="329184"/>
          </a:xfrm>
          <a:prstGeom prst="rect">
            <a:avLst/>
          </a:prstGeom>
          <a:noFill/>
          <a:ln/>
        </p:spPr>
        <p:txBody>
          <a:bodyPr wrap="square" lIns="0" tIns="0" rIns="0" bIns="0" rtlCol="0" anchor="ctr"/>
          <a:lstStyle/>
          <a:p>
            <a:pPr algn="ctr" indent="0" marL="0">
              <a:buNone/>
            </a:pPr>
            <a:r>
              <a:rPr lang="en-US" sz="1100" dirty="0">
                <a:solidFill>
                  <a:srgbClr val="6FD3C4"/>
                </a:solidFill>
                <a:latin typeface="Calibri" pitchFamily="34" charset="0"/>
                <a:ea typeface="Calibri" pitchFamily="34" charset="-122"/>
                <a:cs typeface="Calibri" pitchFamily="34" charset="-120"/>
              </a:rPr>
              <a:t>Spark</a:t>
            </a:r>
            <a:endParaRPr lang="en-US" sz="1100" dirty="0"/>
          </a:p>
        </p:txBody>
      </p:sp>
      <p:sp>
        <p:nvSpPr>
          <p:cNvPr id="15" name="Shape 13"/>
          <p:cNvSpPr/>
          <p:nvPr/>
        </p:nvSpPr>
        <p:spPr>
          <a:xfrm>
            <a:off x="5539435" y="4983480"/>
            <a:ext cx="380390" cy="329184"/>
          </a:xfrm>
          <a:prstGeom prst="roundRect">
            <a:avLst>
              <a:gd name="adj" fmla="val 50000"/>
            </a:avLst>
          </a:prstGeom>
          <a:solidFill>
            <a:srgbClr val="1E2E3D"/>
          </a:solidFill>
          <a:ln w="12700">
            <a:solidFill>
              <a:srgbClr val="31465A"/>
            </a:solidFill>
            <a:prstDash val="solid"/>
          </a:ln>
        </p:spPr>
      </p:sp>
      <p:sp>
        <p:nvSpPr>
          <p:cNvPr id="16" name="Text 14"/>
          <p:cNvSpPr txBox="1"/>
          <p:nvPr/>
        </p:nvSpPr>
        <p:spPr>
          <a:xfrm>
            <a:off x="5539435" y="4983480"/>
            <a:ext cx="380390" cy="329184"/>
          </a:xfrm>
          <a:prstGeom prst="rect">
            <a:avLst/>
          </a:prstGeom>
          <a:noFill/>
          <a:ln/>
        </p:spPr>
        <p:txBody>
          <a:bodyPr wrap="square" lIns="0" tIns="0" rIns="0" bIns="0" rtlCol="0" anchor="ctr"/>
          <a:lstStyle/>
          <a:p>
            <a:pPr algn="ctr" indent="0" marL="0">
              <a:buNone/>
            </a:pPr>
            <a:r>
              <a:rPr lang="en-US" sz="1100" dirty="0">
                <a:solidFill>
                  <a:srgbClr val="6FD3C4"/>
                </a:solidFill>
                <a:latin typeface="Calibri" pitchFamily="34" charset="0"/>
                <a:ea typeface="Calibri" pitchFamily="34" charset="-122"/>
                <a:cs typeface="Calibri" pitchFamily="34" charset="-120"/>
              </a:rPr>
              <a:t>S3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EXECUTIVE SUMMARY</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three options at a glance</a:t>
            </a:r>
            <a:endParaRPr lang="en-US" sz="3000" dirty="0"/>
          </a:p>
        </p:txBody>
      </p:sp>
      <p:sp>
        <p:nvSpPr>
          <p:cNvPr id="5" name="Shape 3"/>
          <p:cNvSpPr/>
          <p:nvPr/>
        </p:nvSpPr>
        <p:spPr>
          <a:xfrm>
            <a:off x="548640" y="1600200"/>
            <a:ext cx="11064240" cy="1298448"/>
          </a:xfrm>
          <a:prstGeom prst="roundRect">
            <a:avLst>
              <a:gd name="adj" fmla="val 5634"/>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6" name="Shape 4"/>
          <p:cNvSpPr/>
          <p:nvPr/>
        </p:nvSpPr>
        <p:spPr>
          <a:xfrm>
            <a:off x="868680" y="2057400"/>
            <a:ext cx="384048" cy="384048"/>
          </a:xfrm>
          <a:prstGeom prst="ellipse">
            <a:avLst/>
          </a:prstGeom>
          <a:solidFill>
            <a:srgbClr val="E8A317"/>
          </a:solidFill>
          <a:ln w="12700">
            <a:solidFill>
              <a:srgbClr val="E8A317"/>
            </a:solidFill>
            <a:prstDash val="solid"/>
          </a:ln>
        </p:spPr>
      </p:sp>
      <p:sp>
        <p:nvSpPr>
          <p:cNvPr id="7" name="Text 5"/>
          <p:cNvSpPr txBox="1"/>
          <p:nvPr/>
        </p:nvSpPr>
        <p:spPr>
          <a:xfrm>
            <a:off x="868680" y="2057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63040" y="1801368"/>
            <a:ext cx="365760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Async batch API</a:t>
            </a:r>
            <a:endParaRPr lang="en-US" sz="1700" dirty="0"/>
          </a:p>
        </p:txBody>
      </p:sp>
      <p:sp>
        <p:nvSpPr>
          <p:cNvPr id="9" name="Text 7"/>
          <p:cNvSpPr txBox="1"/>
          <p:nvPr/>
        </p:nvSpPr>
        <p:spPr>
          <a:xfrm>
            <a:off x="1463040" y="2148840"/>
            <a:ext cx="6766560" cy="658368"/>
          </a:xfrm>
          <a:prstGeom prst="rect">
            <a:avLst/>
          </a:prstGeom>
          <a:noFill/>
          <a:ln/>
        </p:spPr>
        <p:txBody>
          <a:bodyPr wrap="square" lIns="0" tIns="0" rIns="0" bIns="0" rtlCol="0" anchor="ctr"/>
          <a:lstStyle/>
          <a:p>
            <a:pPr indent="0" marL="0">
              <a:lnSpc>
                <a:spcPts val="1600"/>
              </a:lnSpc>
              <a:buNone/>
            </a:pPr>
            <a:r>
              <a:rPr lang="en-US" sz="1200" dirty="0">
                <a:solidFill>
                  <a:srgbClr val="5A6672"/>
                </a:solidFill>
                <a:latin typeface="Calibri" pitchFamily="34" charset="0"/>
                <a:ea typeface="Calibri" pitchFamily="34" charset="-122"/>
                <a:cs typeface="Calibri" pitchFamily="34" charset="-120"/>
              </a:rPr>
              <a:t>Databricks exports a chunked ZIP to S3 (presigned PUT), calls a Spring Boot + Kogito service, polls status, downloads results via presigned GET.</a:t>
            </a:r>
            <a:endParaRPr lang="en-US" sz="1200" dirty="0"/>
          </a:p>
        </p:txBody>
      </p:sp>
      <p:sp>
        <p:nvSpPr>
          <p:cNvPr id="10" name="Shape 8"/>
          <p:cNvSpPr/>
          <p:nvPr/>
        </p:nvSpPr>
        <p:spPr>
          <a:xfrm>
            <a:off x="8823960" y="2075688"/>
            <a:ext cx="2377440" cy="347472"/>
          </a:xfrm>
          <a:prstGeom prst="roundRect">
            <a:avLst>
              <a:gd name="adj" fmla="val 50000"/>
            </a:avLst>
          </a:prstGeom>
          <a:solidFill>
            <a:srgbClr val="FFFFFF"/>
          </a:solidFill>
          <a:ln w="15875">
            <a:solidFill>
              <a:srgbClr val="E8A317"/>
            </a:solidFill>
            <a:prstDash val="solid"/>
          </a:ln>
        </p:spPr>
      </p:sp>
      <p:sp>
        <p:nvSpPr>
          <p:cNvPr id="11" name="Text 9"/>
          <p:cNvSpPr txBox="1"/>
          <p:nvPr/>
        </p:nvSpPr>
        <p:spPr>
          <a:xfrm>
            <a:off x="8823960" y="2075688"/>
            <a:ext cx="2377440" cy="347472"/>
          </a:xfrm>
          <a:prstGeom prst="rect">
            <a:avLst/>
          </a:prstGeom>
          <a:noFill/>
          <a:ln/>
        </p:spPr>
        <p:txBody>
          <a:bodyPr wrap="square" lIns="0" tIns="0" rIns="0" bIns="0" rtlCol="0" anchor="ctr"/>
          <a:lstStyle/>
          <a:p>
            <a:pPr algn="ctr" indent="0" marL="0">
              <a:buNone/>
            </a:pPr>
            <a:r>
              <a:rPr lang="en-US" sz="1050" b="1" dirty="0">
                <a:solidFill>
                  <a:srgbClr val="E8A317"/>
                </a:solidFill>
                <a:latin typeface="Calibri" pitchFamily="34" charset="0"/>
                <a:ea typeface="Calibri" pitchFamily="34" charset="-122"/>
                <a:cs typeface="Calibri" pitchFamily="34" charset="-120"/>
              </a:rPr>
              <a:t>Data leaves the platform</a:t>
            </a:r>
            <a:endParaRPr lang="en-US" sz="1050" dirty="0"/>
          </a:p>
        </p:txBody>
      </p:sp>
      <p:sp>
        <p:nvSpPr>
          <p:cNvPr id="12" name="Shape 10"/>
          <p:cNvSpPr/>
          <p:nvPr/>
        </p:nvSpPr>
        <p:spPr>
          <a:xfrm>
            <a:off x="548640" y="3063240"/>
            <a:ext cx="11064240" cy="1298448"/>
          </a:xfrm>
          <a:prstGeom prst="roundRect">
            <a:avLst>
              <a:gd name="adj" fmla="val 5634"/>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3" name="Shape 11"/>
          <p:cNvSpPr/>
          <p:nvPr/>
        </p:nvSpPr>
        <p:spPr>
          <a:xfrm>
            <a:off x="868680" y="3520440"/>
            <a:ext cx="384048" cy="384048"/>
          </a:xfrm>
          <a:prstGeom prst="ellipse">
            <a:avLst/>
          </a:prstGeom>
          <a:solidFill>
            <a:srgbClr val="037D8C"/>
          </a:solidFill>
          <a:ln w="12700">
            <a:solidFill>
              <a:srgbClr val="037D8C"/>
            </a:solidFill>
            <a:prstDash val="solid"/>
          </a:ln>
        </p:spPr>
      </p:sp>
      <p:sp>
        <p:nvSpPr>
          <p:cNvPr id="14" name="Text 12"/>
          <p:cNvSpPr txBox="1"/>
          <p:nvPr/>
        </p:nvSpPr>
        <p:spPr>
          <a:xfrm>
            <a:off x="868680"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463040" y="3264408"/>
            <a:ext cx="365760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Kogito embedded in Spark</a:t>
            </a:r>
            <a:endParaRPr lang="en-US" sz="1700" dirty="0"/>
          </a:p>
        </p:txBody>
      </p:sp>
      <p:sp>
        <p:nvSpPr>
          <p:cNvPr id="16" name="Text 14"/>
          <p:cNvSpPr txBox="1"/>
          <p:nvPr/>
        </p:nvSpPr>
        <p:spPr>
          <a:xfrm>
            <a:off x="1463040" y="3611880"/>
            <a:ext cx="6766560" cy="658368"/>
          </a:xfrm>
          <a:prstGeom prst="rect">
            <a:avLst/>
          </a:prstGeom>
          <a:noFill/>
          <a:ln/>
        </p:spPr>
        <p:txBody>
          <a:bodyPr wrap="square" lIns="0" tIns="0" rIns="0" bIns="0" rtlCol="0" anchor="ctr"/>
          <a:lstStyle/>
          <a:p>
            <a:pPr indent="0" marL="0">
              <a:lnSpc>
                <a:spcPts val="1600"/>
              </a:lnSpc>
              <a:buNone/>
            </a:pPr>
            <a:r>
              <a:rPr lang="en-US" sz="1200" dirty="0">
                <a:solidFill>
                  <a:srgbClr val="5A6672"/>
                </a:solidFill>
                <a:latin typeface="Calibri" pitchFamily="34" charset="0"/>
                <a:ea typeface="Calibri" pitchFamily="34" charset="-122"/>
                <a:cs typeface="Calibri" pitchFamily="34" charset="-120"/>
              </a:rPr>
              <a:t>The Kogito DMN runtime is shipped as a JAR to the cluster and invoked per partition. Same engine, no data movement — but constrained by Databricks compute access modes.</a:t>
            </a:r>
            <a:endParaRPr lang="en-US" sz="1200" dirty="0"/>
          </a:p>
        </p:txBody>
      </p:sp>
      <p:sp>
        <p:nvSpPr>
          <p:cNvPr id="17" name="Shape 15"/>
          <p:cNvSpPr/>
          <p:nvPr/>
        </p:nvSpPr>
        <p:spPr>
          <a:xfrm>
            <a:off x="8823960" y="3538728"/>
            <a:ext cx="2377440" cy="347472"/>
          </a:xfrm>
          <a:prstGeom prst="roundRect">
            <a:avLst>
              <a:gd name="adj" fmla="val 50000"/>
            </a:avLst>
          </a:prstGeom>
          <a:solidFill>
            <a:srgbClr val="FFFFFF"/>
          </a:solidFill>
          <a:ln w="15875">
            <a:solidFill>
              <a:srgbClr val="037D8C"/>
            </a:solidFill>
            <a:prstDash val="solid"/>
          </a:ln>
        </p:spPr>
      </p:sp>
      <p:sp>
        <p:nvSpPr>
          <p:cNvPr id="18" name="Text 16"/>
          <p:cNvSpPr txBox="1"/>
          <p:nvPr/>
        </p:nvSpPr>
        <p:spPr>
          <a:xfrm>
            <a:off x="8823960" y="3538728"/>
            <a:ext cx="2377440" cy="347472"/>
          </a:xfrm>
          <a:prstGeom prst="rect">
            <a:avLst/>
          </a:prstGeom>
          <a:noFill/>
          <a:ln/>
        </p:spPr>
        <p:txBody>
          <a:bodyPr wrap="square" lIns="0" tIns="0" rIns="0" bIns="0" rtlCol="0" anchor="ctr"/>
          <a:lstStyle/>
          <a:p>
            <a:pPr algn="ctr" indent="0" marL="0">
              <a:buNone/>
            </a:pPr>
            <a:r>
              <a:rPr lang="en-US" sz="1050" b="1" dirty="0">
                <a:solidFill>
                  <a:srgbClr val="037D8C"/>
                </a:solidFill>
                <a:latin typeface="Calibri" pitchFamily="34" charset="0"/>
                <a:ea typeface="Calibri" pitchFamily="34" charset="-122"/>
                <a:cs typeface="Calibri" pitchFamily="34" charset="-120"/>
              </a:rPr>
              <a:t>Compute-mode constrained</a:t>
            </a:r>
            <a:endParaRPr lang="en-US" sz="1050" dirty="0"/>
          </a:p>
        </p:txBody>
      </p:sp>
      <p:sp>
        <p:nvSpPr>
          <p:cNvPr id="19" name="Shape 17"/>
          <p:cNvSpPr/>
          <p:nvPr/>
        </p:nvSpPr>
        <p:spPr>
          <a:xfrm>
            <a:off x="548640" y="4526280"/>
            <a:ext cx="11064240" cy="1298448"/>
          </a:xfrm>
          <a:prstGeom prst="roundRect">
            <a:avLst>
              <a:gd name="adj" fmla="val 5634"/>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0" name="Shape 18"/>
          <p:cNvSpPr/>
          <p:nvPr/>
        </p:nvSpPr>
        <p:spPr>
          <a:xfrm>
            <a:off x="868680" y="4983480"/>
            <a:ext cx="384048" cy="384048"/>
          </a:xfrm>
          <a:prstGeom prst="ellipse">
            <a:avLst/>
          </a:prstGeom>
          <a:solidFill>
            <a:srgbClr val="00A896"/>
          </a:solidFill>
          <a:ln w="12700">
            <a:solidFill>
              <a:srgbClr val="00A896"/>
            </a:solidFill>
            <a:prstDash val="solid"/>
          </a:ln>
        </p:spPr>
      </p:sp>
      <p:sp>
        <p:nvSpPr>
          <p:cNvPr id="21" name="Text 19"/>
          <p:cNvSpPr txBox="1"/>
          <p:nvPr/>
        </p:nvSpPr>
        <p:spPr>
          <a:xfrm>
            <a:off x="868680" y="4983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1463040" y="4727448"/>
            <a:ext cx="365760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DMN → Spark translator</a:t>
            </a:r>
            <a:endParaRPr lang="en-US" sz="1700" dirty="0"/>
          </a:p>
        </p:txBody>
      </p:sp>
      <p:sp>
        <p:nvSpPr>
          <p:cNvPr id="23" name="Text 21"/>
          <p:cNvSpPr txBox="1"/>
          <p:nvPr/>
        </p:nvSpPr>
        <p:spPr>
          <a:xfrm>
            <a:off x="1463040" y="5074920"/>
            <a:ext cx="6766560" cy="658368"/>
          </a:xfrm>
          <a:prstGeom prst="rect">
            <a:avLst/>
          </a:prstGeom>
          <a:noFill/>
          <a:ln/>
        </p:spPr>
        <p:txBody>
          <a:bodyPr wrap="square" lIns="0" tIns="0" rIns="0" bIns="0" rtlCol="0" anchor="ctr"/>
          <a:lstStyle/>
          <a:p>
            <a:pPr indent="0" marL="0">
              <a:lnSpc>
                <a:spcPts val="1600"/>
              </a:lnSpc>
              <a:buNone/>
            </a:pPr>
            <a:r>
              <a:rPr lang="en-US" sz="1200" dirty="0">
                <a:solidFill>
                  <a:srgbClr val="5A6672"/>
                </a:solidFill>
                <a:latin typeface="Calibri" pitchFamily="34" charset="0"/>
                <a:ea typeface="Calibri" pitchFamily="34" charset="-122"/>
                <a:cs typeface="Calibri" pitchFamily="34" charset="-120"/>
              </a:rPr>
              <a:t>Decision tables and FEEL expressions are compiled into native Spark column expressions. Fully vectorised, Photon-eligible — at the cost of building and certifying a compiler.</a:t>
            </a:r>
            <a:endParaRPr lang="en-US" sz="1200" dirty="0"/>
          </a:p>
        </p:txBody>
      </p:sp>
      <p:sp>
        <p:nvSpPr>
          <p:cNvPr id="24" name="Shape 22"/>
          <p:cNvSpPr/>
          <p:nvPr/>
        </p:nvSpPr>
        <p:spPr>
          <a:xfrm>
            <a:off x="8823960" y="5001768"/>
            <a:ext cx="2377440" cy="347472"/>
          </a:xfrm>
          <a:prstGeom prst="roundRect">
            <a:avLst>
              <a:gd name="adj" fmla="val 50000"/>
            </a:avLst>
          </a:prstGeom>
          <a:solidFill>
            <a:srgbClr val="FFFFFF"/>
          </a:solidFill>
          <a:ln w="15875">
            <a:solidFill>
              <a:srgbClr val="00A896"/>
            </a:solidFill>
            <a:prstDash val="solid"/>
          </a:ln>
        </p:spPr>
      </p:sp>
      <p:sp>
        <p:nvSpPr>
          <p:cNvPr id="25" name="Text 23"/>
          <p:cNvSpPr txBox="1"/>
          <p:nvPr/>
        </p:nvSpPr>
        <p:spPr>
          <a:xfrm>
            <a:off x="8823960" y="5001768"/>
            <a:ext cx="2377440" cy="347472"/>
          </a:xfrm>
          <a:prstGeom prst="rect">
            <a:avLst/>
          </a:prstGeom>
          <a:noFill/>
          <a:ln/>
        </p:spPr>
        <p:txBody>
          <a:bodyPr wrap="square" lIns="0" tIns="0" rIns="0" bIns="0" rtlCol="0" anchor="ctr"/>
          <a:lstStyle/>
          <a:p>
            <a:pPr algn="ctr" indent="0" marL="0">
              <a:buNone/>
            </a:pPr>
            <a:r>
              <a:rPr lang="en-US" sz="1050" b="1" dirty="0">
                <a:solidFill>
                  <a:srgbClr val="00A896"/>
                </a:solidFill>
                <a:latin typeface="Calibri" pitchFamily="34" charset="0"/>
                <a:ea typeface="Calibri" pitchFamily="34" charset="-122"/>
                <a:cs typeface="Calibri" pitchFamily="34" charset="-120"/>
              </a:rPr>
              <a:t>Highest ceiling, highest build</a:t>
            </a:r>
            <a:endParaRPr lang="en-US" sz="1050" dirty="0"/>
          </a:p>
        </p:txBody>
      </p:sp>
      <p:sp>
        <p:nvSpPr>
          <p:cNvPr id="26" name="Text 24"/>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The real discriminator is not the decision engine — it is where the 80M rows have to be.  </a:t>
            </a:r>
            <a:pPr indent="0" marL="0">
              <a:buNone/>
            </a:pPr>
            <a:r>
              <a:rPr lang="en-US" sz="1300" dirty="0">
                <a:solidFill>
                  <a:srgbClr val="5A6672"/>
                </a:solidFill>
                <a:latin typeface="Calibri" pitchFamily="34" charset="0"/>
                <a:ea typeface="Calibri" pitchFamily="34" charset="-122"/>
                <a:cs typeface="Calibri" pitchFamily="34" charset="-120"/>
              </a:rPr>
              <a:t>Options 2 and 3 keep the data in place; option 1 moves ~40 GB out and back on every run.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What the workload actually is</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A recurring batch decisioning job over a Databricks-resident table, driven by rules that the business owns.</a:t>
            </a:r>
            <a:endParaRPr lang="en-US" sz="1300" dirty="0"/>
          </a:p>
        </p:txBody>
      </p:sp>
      <p:sp>
        <p:nvSpPr>
          <p:cNvPr id="6" name="Shape 4"/>
          <p:cNvSpPr/>
          <p:nvPr/>
        </p:nvSpPr>
        <p:spPr>
          <a:xfrm>
            <a:off x="548640" y="1783080"/>
            <a:ext cx="3474720" cy="3977640"/>
          </a:xfrm>
          <a:prstGeom prst="roundRect">
            <a:avLst>
              <a:gd name="adj" fmla="val 2105"/>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7" name="Text 5"/>
          <p:cNvSpPr txBox="1"/>
          <p:nvPr/>
        </p:nvSpPr>
        <p:spPr>
          <a:xfrm>
            <a:off x="841248" y="2011680"/>
            <a:ext cx="2926080" cy="365760"/>
          </a:xfrm>
          <a:prstGeom prst="rect">
            <a:avLst/>
          </a:prstGeom>
          <a:noFill/>
          <a:ln/>
        </p:spPr>
        <p:txBody>
          <a:bodyPr wrap="square" lIns="0" tIns="0" rIns="0" bIns="0" rtlCol="0" anchor="ctr"/>
          <a:lstStyle/>
          <a:p>
            <a:pPr indent="0" marL="0">
              <a:buNone/>
            </a:pPr>
            <a:r>
              <a:rPr lang="en-US" sz="1900" b="1" dirty="0">
                <a:solidFill>
                  <a:srgbClr val="16222E"/>
                </a:solidFill>
                <a:latin typeface="Cambria" pitchFamily="34" charset="0"/>
                <a:ea typeface="Cambria" pitchFamily="34" charset="-122"/>
                <a:cs typeface="Cambria" pitchFamily="34" charset="-120"/>
              </a:rPr>
              <a:t>The data</a:t>
            </a:r>
            <a:endParaRPr lang="en-US" sz="1900" dirty="0"/>
          </a:p>
        </p:txBody>
      </p:sp>
      <p:sp>
        <p:nvSpPr>
          <p:cNvPr id="8" name="Text 6"/>
          <p:cNvSpPr txBox="1"/>
          <p:nvPr/>
        </p:nvSpPr>
        <p:spPr>
          <a:xfrm>
            <a:off x="841248" y="2487168"/>
            <a:ext cx="2907792" cy="3108960"/>
          </a:xfrm>
          <a:prstGeom prst="rect">
            <a:avLst/>
          </a:prstGeom>
          <a:noFill/>
          <a:ln/>
        </p:spPr>
        <p:txBody>
          <a:bodyPr wrap="square" rtlCol="0" anchor="t"/>
          <a:lstStyle/>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~80 M rows per run, Delta table in Unity Catalog</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Wide records: 60–120 attributes, ~500 B/row</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 40 GB uncompressed, ≈ 5–8 GB as Parquet</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Refreshed daily; full re-evaluation, not incremental</a:t>
            </a:r>
            <a:endParaRPr lang="en-US" sz="1250" dirty="0"/>
          </a:p>
        </p:txBody>
      </p:sp>
      <p:sp>
        <p:nvSpPr>
          <p:cNvPr id="9" name="Shape 7"/>
          <p:cNvSpPr/>
          <p:nvPr/>
        </p:nvSpPr>
        <p:spPr>
          <a:xfrm>
            <a:off x="4343400" y="1783080"/>
            <a:ext cx="3474720" cy="3977640"/>
          </a:xfrm>
          <a:prstGeom prst="roundRect">
            <a:avLst>
              <a:gd name="adj" fmla="val 2105"/>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0" name="Text 8"/>
          <p:cNvSpPr txBox="1"/>
          <p:nvPr/>
        </p:nvSpPr>
        <p:spPr>
          <a:xfrm>
            <a:off x="4636008" y="2011680"/>
            <a:ext cx="2926080" cy="365760"/>
          </a:xfrm>
          <a:prstGeom prst="rect">
            <a:avLst/>
          </a:prstGeom>
          <a:noFill/>
          <a:ln/>
        </p:spPr>
        <p:txBody>
          <a:bodyPr wrap="square" lIns="0" tIns="0" rIns="0" bIns="0" rtlCol="0" anchor="ctr"/>
          <a:lstStyle/>
          <a:p>
            <a:pPr indent="0" marL="0">
              <a:buNone/>
            </a:pPr>
            <a:r>
              <a:rPr lang="en-US" sz="1900" b="1" dirty="0">
                <a:solidFill>
                  <a:srgbClr val="16222E"/>
                </a:solidFill>
                <a:latin typeface="Cambria" pitchFamily="34" charset="0"/>
                <a:ea typeface="Cambria" pitchFamily="34" charset="-122"/>
                <a:cs typeface="Cambria" pitchFamily="34" charset="-120"/>
              </a:rPr>
              <a:t>The logic</a:t>
            </a:r>
            <a:endParaRPr lang="en-US" sz="1900" dirty="0"/>
          </a:p>
        </p:txBody>
      </p:sp>
      <p:sp>
        <p:nvSpPr>
          <p:cNvPr id="11" name="Text 9"/>
          <p:cNvSpPr txBox="1"/>
          <p:nvPr/>
        </p:nvSpPr>
        <p:spPr>
          <a:xfrm>
            <a:off x="4636008" y="2487168"/>
            <a:ext cx="2907792" cy="3108960"/>
          </a:xfrm>
          <a:prstGeom prst="rect">
            <a:avLst/>
          </a:prstGeom>
          <a:noFill/>
          <a:ln/>
        </p:spPr>
        <p:txBody>
          <a:bodyPr wrap="square" rtlCol="0" anchor="t"/>
          <a:lstStyle/>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Authored as DMN 1.5 decision models (DRG + decision tables + FEEL)</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Owned and changed by business analysts, not engineers</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Dozens of models, versioned independently</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Auditability: every output must be traceable to a model version</a:t>
            </a:r>
            <a:endParaRPr lang="en-US" sz="1250" dirty="0"/>
          </a:p>
        </p:txBody>
      </p:sp>
      <p:sp>
        <p:nvSpPr>
          <p:cNvPr id="12" name="Shape 10"/>
          <p:cNvSpPr/>
          <p:nvPr/>
        </p:nvSpPr>
        <p:spPr>
          <a:xfrm>
            <a:off x="8138160" y="1783080"/>
            <a:ext cx="3474720" cy="3977640"/>
          </a:xfrm>
          <a:prstGeom prst="roundRect">
            <a:avLst>
              <a:gd name="adj" fmla="val 2105"/>
            </a:avLst>
          </a:prstGeom>
          <a:solidFill>
            <a:srgbClr val="E8F2F3"/>
          </a:solidFill>
          <a:ln w="12700">
            <a:solidFill>
              <a:srgbClr val="E8F2F3"/>
            </a:solidFill>
            <a:prstDash val="solid"/>
          </a:ln>
          <a:effectLst>
            <a:outerShdw sx="100000" sy="100000" kx="0" ky="0" algn="bl" rotWithShape="0" blurRad="101600" dist="25400" dir="5400000">
              <a:srgbClr val="16222E">
                <a:alpha val="12000"/>
              </a:srgbClr>
            </a:outerShdw>
          </a:effectLst>
        </p:spPr>
      </p:sp>
      <p:sp>
        <p:nvSpPr>
          <p:cNvPr id="13" name="Text 11"/>
          <p:cNvSpPr txBox="1"/>
          <p:nvPr/>
        </p:nvSpPr>
        <p:spPr>
          <a:xfrm>
            <a:off x="8430768" y="2011680"/>
            <a:ext cx="2926080" cy="365760"/>
          </a:xfrm>
          <a:prstGeom prst="rect">
            <a:avLst/>
          </a:prstGeom>
          <a:noFill/>
          <a:ln/>
        </p:spPr>
        <p:txBody>
          <a:bodyPr wrap="square" lIns="0" tIns="0" rIns="0" bIns="0" rtlCol="0" anchor="ctr"/>
          <a:lstStyle/>
          <a:p>
            <a:pPr indent="0" marL="0">
              <a:buNone/>
            </a:pPr>
            <a:r>
              <a:rPr lang="en-US" sz="1900" b="1" dirty="0">
                <a:solidFill>
                  <a:srgbClr val="037D8C"/>
                </a:solidFill>
                <a:latin typeface="Cambria" pitchFamily="34" charset="0"/>
                <a:ea typeface="Cambria" pitchFamily="34" charset="-122"/>
                <a:cs typeface="Cambria" pitchFamily="34" charset="-120"/>
              </a:rPr>
              <a:t>The gap</a:t>
            </a:r>
            <a:endParaRPr lang="en-US" sz="1900" dirty="0"/>
          </a:p>
        </p:txBody>
      </p:sp>
      <p:sp>
        <p:nvSpPr>
          <p:cNvPr id="14" name="Text 12"/>
          <p:cNvSpPr txBox="1"/>
          <p:nvPr/>
        </p:nvSpPr>
        <p:spPr>
          <a:xfrm>
            <a:off x="8430768" y="2487168"/>
            <a:ext cx="2907792" cy="3108960"/>
          </a:xfrm>
          <a:prstGeom prst="rect">
            <a:avLst/>
          </a:prstGeom>
          <a:noFill/>
          <a:ln/>
        </p:spPr>
        <p:txBody>
          <a:bodyPr wrap="square" rtlCol="0" anchor="t"/>
          <a:lstStyle/>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DMN engines are row-oriented, JVM, single-record APIs</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Spark is column-oriented, distributed, vectorised</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Bridging the two is the entire design problem</a:t>
            </a:r>
            <a:endParaRPr lang="en-US" sz="1250" dirty="0"/>
          </a:p>
          <a:p>
            <a:pPr marL="342900" indent="-342900">
              <a:lnSpc>
                <a:spcPts val="1600"/>
              </a:lnSpc>
              <a:spcAft>
                <a:spcPts val="700"/>
              </a:spcAft>
              <a:buSzPct val="100000"/>
              <a:buChar char="•"/>
            </a:pPr>
            <a:r>
              <a:rPr lang="en-US" sz="1250" dirty="0">
                <a:solidFill>
                  <a:srgbClr val="16222E"/>
                </a:solidFill>
                <a:latin typeface="Calibri" pitchFamily="34" charset="0"/>
                <a:ea typeface="Calibri" pitchFamily="34" charset="-122"/>
                <a:cs typeface="Calibri" pitchFamily="34" charset="-120"/>
              </a:rPr>
              <a:t>Three ways to bridge it — hence this deck</a:t>
            </a:r>
            <a:endParaRPr lang="en-US" sz="1250" dirty="0"/>
          </a:p>
        </p:txBody>
      </p:sp>
      <p:sp>
        <p:nvSpPr>
          <p:cNvPr id="15" name="Text 13"/>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100" i="1" dirty="0">
                <a:solidFill>
                  <a:srgbClr val="9AA7B2"/>
                </a:solidFill>
                <a:latin typeface="Calibri" pitchFamily="34" charset="0"/>
                <a:ea typeface="Calibri" pitchFamily="34" charset="-122"/>
                <a:cs typeface="Calibri" pitchFamily="34" charset="-120"/>
              </a:rPr>
              <a:t>Assumption to confirm in discovery: volumes, record width and model count above are working figures and drive every sizing number in this deck.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REQUIREMENTS</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What any candidate architecture has to satisfy</a:t>
            </a:r>
            <a:endParaRPr lang="en-US" sz="3000" dirty="0"/>
          </a:p>
        </p:txBody>
      </p:sp>
      <p:sp>
        <p:nvSpPr>
          <p:cNvPr id="5" name="Shape 3"/>
          <p:cNvSpPr/>
          <p:nvPr/>
        </p:nvSpPr>
        <p:spPr>
          <a:xfrm>
            <a:off x="548640" y="1417320"/>
            <a:ext cx="5349240" cy="4480560"/>
          </a:xfrm>
          <a:prstGeom prst="roundRect">
            <a:avLst>
              <a:gd name="adj" fmla="val 1633"/>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6" name="Shape 4"/>
          <p:cNvSpPr/>
          <p:nvPr/>
        </p:nvSpPr>
        <p:spPr>
          <a:xfrm>
            <a:off x="6217920" y="1417320"/>
            <a:ext cx="5349240" cy="4480560"/>
          </a:xfrm>
          <a:prstGeom prst="roundRect">
            <a:avLst>
              <a:gd name="adj" fmla="val 1633"/>
            </a:avLst>
          </a:prstGeom>
          <a:solidFill>
            <a:srgbClr val="F6F1E6"/>
          </a:solidFill>
          <a:ln w="12700">
            <a:solidFill>
              <a:srgbClr val="F6F1E6"/>
            </a:solidFill>
            <a:prstDash val="solid"/>
          </a:ln>
          <a:effectLst>
            <a:outerShdw sx="100000" sy="100000" kx="0" ky="0" algn="bl" rotWithShape="0" blurRad="101600" dist="25400" dir="5400000">
              <a:srgbClr val="16222E">
                <a:alpha val="12000"/>
              </a:srgbClr>
            </a:outerShdw>
          </a:effectLst>
        </p:spPr>
      </p:sp>
      <p:sp>
        <p:nvSpPr>
          <p:cNvPr id="7" name="Text 5"/>
          <p:cNvSpPr txBox="1"/>
          <p:nvPr/>
        </p:nvSpPr>
        <p:spPr>
          <a:xfrm>
            <a:off x="868680" y="1572768"/>
            <a:ext cx="4709160" cy="310896"/>
          </a:xfrm>
          <a:prstGeom prst="rect">
            <a:avLst/>
          </a:prstGeom>
          <a:noFill/>
          <a:ln/>
        </p:spPr>
        <p:txBody>
          <a:bodyPr wrap="square" lIns="0" tIns="0" rIns="0" bIns="0" rtlCol="0" anchor="ctr"/>
          <a:lstStyle/>
          <a:p>
            <a:pPr indent="0" marL="0">
              <a:buNone/>
            </a:pPr>
            <a:r>
              <a:rPr lang="en-US" sz="1200" b="1" spc="140" kern="0" dirty="0">
                <a:solidFill>
                  <a:srgbClr val="037D8C"/>
                </a:solidFill>
                <a:latin typeface="Calibri" pitchFamily="34" charset="0"/>
                <a:ea typeface="Calibri" pitchFamily="34" charset="-122"/>
                <a:cs typeface="Calibri" pitchFamily="34" charset="-120"/>
              </a:rPr>
              <a:t>FUNCTIONAL</a:t>
            </a:r>
            <a:endParaRPr lang="en-US" sz="1200" dirty="0"/>
          </a:p>
        </p:txBody>
      </p:sp>
      <p:sp>
        <p:nvSpPr>
          <p:cNvPr id="8" name="Shape 6"/>
          <p:cNvSpPr/>
          <p:nvPr/>
        </p:nvSpPr>
        <p:spPr>
          <a:xfrm>
            <a:off x="868680" y="1956816"/>
            <a:ext cx="128016" cy="128016"/>
          </a:xfrm>
          <a:prstGeom prst="ellipse">
            <a:avLst/>
          </a:prstGeom>
          <a:solidFill>
            <a:srgbClr val="037D8C"/>
          </a:solidFill>
          <a:ln w="12700">
            <a:solidFill>
              <a:srgbClr val="037D8C"/>
            </a:solidFill>
            <a:prstDash val="solid"/>
          </a:ln>
        </p:spPr>
      </p:sp>
      <p:sp>
        <p:nvSpPr>
          <p:cNvPr id="9" name="Text 7"/>
          <p:cNvSpPr txBox="1"/>
          <p:nvPr/>
        </p:nvSpPr>
        <p:spPr>
          <a:xfrm>
            <a:off x="1143000" y="1874520"/>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Full DMN 1.5 semantics</a:t>
            </a:r>
            <a:endParaRPr lang="en-US" sz="1350" dirty="0"/>
          </a:p>
        </p:txBody>
      </p:sp>
      <p:sp>
        <p:nvSpPr>
          <p:cNvPr id="10" name="Text 8"/>
          <p:cNvSpPr txBox="1"/>
          <p:nvPr/>
        </p:nvSpPr>
        <p:spPr>
          <a:xfrm>
            <a:off x="1143000" y="2148840"/>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Decision tables, all hit policies, FEEL expressions, BKMs, imported models.</a:t>
            </a:r>
            <a:endParaRPr lang="en-US" sz="1200" dirty="0"/>
          </a:p>
        </p:txBody>
      </p:sp>
      <p:sp>
        <p:nvSpPr>
          <p:cNvPr id="11" name="Shape 9"/>
          <p:cNvSpPr/>
          <p:nvPr/>
        </p:nvSpPr>
        <p:spPr>
          <a:xfrm>
            <a:off x="868680" y="2761488"/>
            <a:ext cx="128016" cy="128016"/>
          </a:xfrm>
          <a:prstGeom prst="ellipse">
            <a:avLst/>
          </a:prstGeom>
          <a:solidFill>
            <a:srgbClr val="037D8C"/>
          </a:solidFill>
          <a:ln w="12700">
            <a:solidFill>
              <a:srgbClr val="037D8C"/>
            </a:solidFill>
            <a:prstDash val="solid"/>
          </a:ln>
        </p:spPr>
      </p:sp>
      <p:sp>
        <p:nvSpPr>
          <p:cNvPr id="12" name="Text 10"/>
          <p:cNvSpPr txBox="1"/>
          <p:nvPr/>
        </p:nvSpPr>
        <p:spPr>
          <a:xfrm>
            <a:off x="1143000" y="2679192"/>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Business-owned authoring</a:t>
            </a:r>
            <a:endParaRPr lang="en-US" sz="1350" dirty="0"/>
          </a:p>
        </p:txBody>
      </p:sp>
      <p:sp>
        <p:nvSpPr>
          <p:cNvPr id="13" name="Text 11"/>
          <p:cNvSpPr txBox="1"/>
          <p:nvPr/>
        </p:nvSpPr>
        <p:spPr>
          <a:xfrm>
            <a:off x="1143000" y="2953512"/>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Analysts edit models in a web DMN editor; no code change to deploy a rule change.</a:t>
            </a:r>
            <a:endParaRPr lang="en-US" sz="1200" dirty="0"/>
          </a:p>
        </p:txBody>
      </p:sp>
      <p:sp>
        <p:nvSpPr>
          <p:cNvPr id="14" name="Shape 12"/>
          <p:cNvSpPr/>
          <p:nvPr/>
        </p:nvSpPr>
        <p:spPr>
          <a:xfrm>
            <a:off x="868680" y="3566160"/>
            <a:ext cx="128016" cy="128016"/>
          </a:xfrm>
          <a:prstGeom prst="ellipse">
            <a:avLst/>
          </a:prstGeom>
          <a:solidFill>
            <a:srgbClr val="037D8C"/>
          </a:solidFill>
          <a:ln w="12700">
            <a:solidFill>
              <a:srgbClr val="037D8C"/>
            </a:solidFill>
            <a:prstDash val="solid"/>
          </a:ln>
        </p:spPr>
      </p:sp>
      <p:sp>
        <p:nvSpPr>
          <p:cNvPr id="15" name="Text 13"/>
          <p:cNvSpPr txBox="1"/>
          <p:nvPr/>
        </p:nvSpPr>
        <p:spPr>
          <a:xfrm>
            <a:off x="1143000" y="3483864"/>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Model versioning &amp; audit</a:t>
            </a:r>
            <a:endParaRPr lang="en-US" sz="1350" dirty="0"/>
          </a:p>
        </p:txBody>
      </p:sp>
      <p:sp>
        <p:nvSpPr>
          <p:cNvPr id="16" name="Text 14"/>
          <p:cNvSpPr txBox="1"/>
          <p:nvPr/>
        </p:nvSpPr>
        <p:spPr>
          <a:xfrm>
            <a:off x="1143000" y="3758184"/>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Every run records the exact model version applied to every row.</a:t>
            </a:r>
            <a:endParaRPr lang="en-US" sz="1200" dirty="0"/>
          </a:p>
        </p:txBody>
      </p:sp>
      <p:sp>
        <p:nvSpPr>
          <p:cNvPr id="17" name="Shape 15"/>
          <p:cNvSpPr/>
          <p:nvPr/>
        </p:nvSpPr>
        <p:spPr>
          <a:xfrm>
            <a:off x="868680" y="4370832"/>
            <a:ext cx="128016" cy="128016"/>
          </a:xfrm>
          <a:prstGeom prst="ellipse">
            <a:avLst/>
          </a:prstGeom>
          <a:solidFill>
            <a:srgbClr val="037D8C"/>
          </a:solidFill>
          <a:ln w="12700">
            <a:solidFill>
              <a:srgbClr val="037D8C"/>
            </a:solidFill>
            <a:prstDash val="solid"/>
          </a:ln>
        </p:spPr>
      </p:sp>
      <p:sp>
        <p:nvSpPr>
          <p:cNvPr id="18" name="Text 16"/>
          <p:cNvSpPr txBox="1"/>
          <p:nvPr/>
        </p:nvSpPr>
        <p:spPr>
          <a:xfrm>
            <a:off x="1143000" y="4288536"/>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Explainability</a:t>
            </a:r>
            <a:endParaRPr lang="en-US" sz="1350" dirty="0"/>
          </a:p>
        </p:txBody>
      </p:sp>
      <p:sp>
        <p:nvSpPr>
          <p:cNvPr id="19" name="Text 17"/>
          <p:cNvSpPr txBox="1"/>
          <p:nvPr/>
        </p:nvSpPr>
        <p:spPr>
          <a:xfrm>
            <a:off x="1143000" y="4562856"/>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Ability to return which rules fired, not just the outcome.</a:t>
            </a:r>
            <a:endParaRPr lang="en-US" sz="1200" dirty="0"/>
          </a:p>
        </p:txBody>
      </p:sp>
      <p:sp>
        <p:nvSpPr>
          <p:cNvPr id="20" name="Text 18"/>
          <p:cNvSpPr txBox="1"/>
          <p:nvPr/>
        </p:nvSpPr>
        <p:spPr>
          <a:xfrm>
            <a:off x="6537960" y="1572768"/>
            <a:ext cx="4709160" cy="310896"/>
          </a:xfrm>
          <a:prstGeom prst="rect">
            <a:avLst/>
          </a:prstGeom>
          <a:noFill/>
          <a:ln/>
        </p:spPr>
        <p:txBody>
          <a:bodyPr wrap="square" lIns="0" tIns="0" rIns="0" bIns="0" rtlCol="0" anchor="ctr"/>
          <a:lstStyle/>
          <a:p>
            <a:pPr indent="0" marL="0">
              <a:buNone/>
            </a:pPr>
            <a:r>
              <a:rPr lang="en-US" sz="1200" b="1" spc="140" kern="0" dirty="0">
                <a:solidFill>
                  <a:srgbClr val="B8801A"/>
                </a:solidFill>
                <a:latin typeface="Calibri" pitchFamily="34" charset="0"/>
                <a:ea typeface="Calibri" pitchFamily="34" charset="-122"/>
                <a:cs typeface="Calibri" pitchFamily="34" charset="-120"/>
              </a:rPr>
              <a:t>NON-FUNCTIONAL</a:t>
            </a:r>
            <a:endParaRPr lang="en-US" sz="1200" dirty="0"/>
          </a:p>
        </p:txBody>
      </p:sp>
      <p:sp>
        <p:nvSpPr>
          <p:cNvPr id="21" name="Shape 19"/>
          <p:cNvSpPr/>
          <p:nvPr/>
        </p:nvSpPr>
        <p:spPr>
          <a:xfrm>
            <a:off x="6537960" y="1956816"/>
            <a:ext cx="128016" cy="128016"/>
          </a:xfrm>
          <a:prstGeom prst="ellipse">
            <a:avLst/>
          </a:prstGeom>
          <a:solidFill>
            <a:srgbClr val="B8801A"/>
          </a:solidFill>
          <a:ln w="12700">
            <a:solidFill>
              <a:srgbClr val="B8801A"/>
            </a:solidFill>
            <a:prstDash val="solid"/>
          </a:ln>
        </p:spPr>
      </p:sp>
      <p:sp>
        <p:nvSpPr>
          <p:cNvPr id="22" name="Text 20"/>
          <p:cNvSpPr txBox="1"/>
          <p:nvPr/>
        </p:nvSpPr>
        <p:spPr>
          <a:xfrm>
            <a:off x="6812280" y="1874520"/>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Wall-clock budget</a:t>
            </a:r>
            <a:endParaRPr lang="en-US" sz="1350" dirty="0"/>
          </a:p>
        </p:txBody>
      </p:sp>
      <p:sp>
        <p:nvSpPr>
          <p:cNvPr id="23" name="Text 21"/>
          <p:cNvSpPr txBox="1"/>
          <p:nvPr/>
        </p:nvSpPr>
        <p:spPr>
          <a:xfrm>
            <a:off x="6812280" y="2148840"/>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80 M rows evaluated inside the nightly window — target &lt; 30 min end to end.</a:t>
            </a:r>
            <a:endParaRPr lang="en-US" sz="1200" dirty="0"/>
          </a:p>
        </p:txBody>
      </p:sp>
      <p:sp>
        <p:nvSpPr>
          <p:cNvPr id="24" name="Shape 22"/>
          <p:cNvSpPr/>
          <p:nvPr/>
        </p:nvSpPr>
        <p:spPr>
          <a:xfrm>
            <a:off x="6537960" y="2761488"/>
            <a:ext cx="128016" cy="128016"/>
          </a:xfrm>
          <a:prstGeom prst="ellipse">
            <a:avLst/>
          </a:prstGeom>
          <a:solidFill>
            <a:srgbClr val="B8801A"/>
          </a:solidFill>
          <a:ln w="12700">
            <a:solidFill>
              <a:srgbClr val="B8801A"/>
            </a:solidFill>
            <a:prstDash val="solid"/>
          </a:ln>
        </p:spPr>
      </p:sp>
      <p:sp>
        <p:nvSpPr>
          <p:cNvPr id="25" name="Text 23"/>
          <p:cNvSpPr txBox="1"/>
          <p:nvPr/>
        </p:nvSpPr>
        <p:spPr>
          <a:xfrm>
            <a:off x="6812280" y="2679192"/>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Cost per run</a:t>
            </a:r>
            <a:endParaRPr lang="en-US" sz="1350" dirty="0"/>
          </a:p>
        </p:txBody>
      </p:sp>
      <p:sp>
        <p:nvSpPr>
          <p:cNvPr id="26" name="Text 24"/>
          <p:cNvSpPr txBox="1"/>
          <p:nvPr/>
        </p:nvSpPr>
        <p:spPr>
          <a:xfrm>
            <a:off x="6812280" y="2953512"/>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Compute + egress must stay predictable and be attributable to the job.</a:t>
            </a:r>
            <a:endParaRPr lang="en-US" sz="1200" dirty="0"/>
          </a:p>
        </p:txBody>
      </p:sp>
      <p:sp>
        <p:nvSpPr>
          <p:cNvPr id="27" name="Shape 25"/>
          <p:cNvSpPr/>
          <p:nvPr/>
        </p:nvSpPr>
        <p:spPr>
          <a:xfrm>
            <a:off x="6537960" y="3566160"/>
            <a:ext cx="128016" cy="128016"/>
          </a:xfrm>
          <a:prstGeom prst="ellipse">
            <a:avLst/>
          </a:prstGeom>
          <a:solidFill>
            <a:srgbClr val="B8801A"/>
          </a:solidFill>
          <a:ln w="12700">
            <a:solidFill>
              <a:srgbClr val="B8801A"/>
            </a:solidFill>
            <a:prstDash val="solid"/>
          </a:ln>
        </p:spPr>
      </p:sp>
      <p:sp>
        <p:nvSpPr>
          <p:cNvPr id="28" name="Text 26"/>
          <p:cNvSpPr txBox="1"/>
          <p:nvPr/>
        </p:nvSpPr>
        <p:spPr>
          <a:xfrm>
            <a:off x="6812280" y="3483864"/>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Compute compatibility</a:t>
            </a:r>
            <a:endParaRPr lang="en-US" sz="1350" dirty="0"/>
          </a:p>
        </p:txBody>
      </p:sp>
      <p:sp>
        <p:nvSpPr>
          <p:cNvPr id="29" name="Text 27"/>
          <p:cNvSpPr txBox="1"/>
          <p:nvPr/>
        </p:nvSpPr>
        <p:spPr>
          <a:xfrm>
            <a:off x="6812280" y="3758184"/>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Should work on the platform's standard Databricks compute policy, not a bespoke cluster.</a:t>
            </a:r>
            <a:endParaRPr lang="en-US" sz="1200" dirty="0"/>
          </a:p>
        </p:txBody>
      </p:sp>
      <p:sp>
        <p:nvSpPr>
          <p:cNvPr id="30" name="Shape 28"/>
          <p:cNvSpPr/>
          <p:nvPr/>
        </p:nvSpPr>
        <p:spPr>
          <a:xfrm>
            <a:off x="6537960" y="4370832"/>
            <a:ext cx="128016" cy="128016"/>
          </a:xfrm>
          <a:prstGeom prst="ellipse">
            <a:avLst/>
          </a:prstGeom>
          <a:solidFill>
            <a:srgbClr val="B8801A"/>
          </a:solidFill>
          <a:ln w="12700">
            <a:solidFill>
              <a:srgbClr val="B8801A"/>
            </a:solidFill>
            <a:prstDash val="solid"/>
          </a:ln>
        </p:spPr>
      </p:sp>
      <p:sp>
        <p:nvSpPr>
          <p:cNvPr id="31" name="Text 29"/>
          <p:cNvSpPr txBox="1"/>
          <p:nvPr/>
        </p:nvSpPr>
        <p:spPr>
          <a:xfrm>
            <a:off x="6812280" y="4288536"/>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Failure &amp; restart</a:t>
            </a:r>
            <a:endParaRPr lang="en-US" sz="1350" dirty="0"/>
          </a:p>
        </p:txBody>
      </p:sp>
      <p:sp>
        <p:nvSpPr>
          <p:cNvPr id="32" name="Text 30"/>
          <p:cNvSpPr txBox="1"/>
          <p:nvPr/>
        </p:nvSpPr>
        <p:spPr>
          <a:xfrm>
            <a:off x="6812280" y="4562856"/>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Partial failure must be resumable; no full re-run of 80 M rows on one bad chunk.</a:t>
            </a:r>
            <a:endParaRPr lang="en-US" sz="1200" dirty="0"/>
          </a:p>
        </p:txBody>
      </p:sp>
      <p:sp>
        <p:nvSpPr>
          <p:cNvPr id="33" name="Shape 31"/>
          <p:cNvSpPr/>
          <p:nvPr/>
        </p:nvSpPr>
        <p:spPr>
          <a:xfrm>
            <a:off x="6537960" y="5175504"/>
            <a:ext cx="128016" cy="128016"/>
          </a:xfrm>
          <a:prstGeom prst="ellipse">
            <a:avLst/>
          </a:prstGeom>
          <a:solidFill>
            <a:srgbClr val="B8801A"/>
          </a:solidFill>
          <a:ln w="12700">
            <a:solidFill>
              <a:srgbClr val="B8801A"/>
            </a:solidFill>
            <a:prstDash val="solid"/>
          </a:ln>
        </p:spPr>
      </p:sp>
      <p:sp>
        <p:nvSpPr>
          <p:cNvPr id="34" name="Text 32"/>
          <p:cNvSpPr txBox="1"/>
          <p:nvPr/>
        </p:nvSpPr>
        <p:spPr>
          <a:xfrm>
            <a:off x="6812280" y="5093208"/>
            <a:ext cx="4434840" cy="256032"/>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Data residency</a:t>
            </a:r>
            <a:endParaRPr lang="en-US" sz="1350" dirty="0"/>
          </a:p>
        </p:txBody>
      </p:sp>
      <p:sp>
        <p:nvSpPr>
          <p:cNvPr id="35" name="Text 33"/>
          <p:cNvSpPr txBox="1"/>
          <p:nvPr/>
        </p:nvSpPr>
        <p:spPr>
          <a:xfrm>
            <a:off x="6812280" y="5367528"/>
            <a:ext cx="4434840" cy="457200"/>
          </a:xfrm>
          <a:prstGeom prst="rect">
            <a:avLst/>
          </a:prstGeom>
          <a:noFill/>
          <a:ln/>
        </p:spPr>
        <p:txBody>
          <a:bodyPr wrap="square" lIns="0" tIns="0" rIns="0" bIns="0" rtlCol="0" anchor="ctr"/>
          <a:lstStyle/>
          <a:p>
            <a:pPr indent="0" marL="0">
              <a:lnSpc>
                <a:spcPts val="1500"/>
              </a:lnSpc>
              <a:buNone/>
            </a:pPr>
            <a:r>
              <a:rPr lang="en-US" sz="1200" dirty="0">
                <a:solidFill>
                  <a:srgbClr val="5A6672"/>
                </a:solidFill>
                <a:latin typeface="Calibri" pitchFamily="34" charset="0"/>
                <a:ea typeface="Calibri" pitchFamily="34" charset="-122"/>
                <a:cs typeface="Calibri" pitchFamily="34" charset="-120"/>
              </a:rPr>
              <a:t>Records may not leave the governed perimeter without an explicit control.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22E"/>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6FD3C4"/>
                </a:solidFill>
                <a:latin typeface="Calibri" pitchFamily="34" charset="0"/>
                <a:ea typeface="Calibri" pitchFamily="34" charset="-122"/>
                <a:cs typeface="Calibri" pitchFamily="34" charset="-120"/>
              </a:rPr>
              <a:t>SCALE</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80 million decisions per run costs you</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9AA7B2"/>
                </a:solidFill>
                <a:latin typeface="Calibri" pitchFamily="34" charset="0"/>
                <a:ea typeface="Calibri" pitchFamily="34" charset="-122"/>
                <a:cs typeface="Calibri" pitchFamily="34" charset="-120"/>
              </a:rPr>
              <a:t>Order-of-magnitude figures to size the problem before choosing an architecture.</a:t>
            </a:r>
            <a:endParaRPr lang="en-US" sz="1300" dirty="0"/>
          </a:p>
        </p:txBody>
      </p:sp>
      <p:sp>
        <p:nvSpPr>
          <p:cNvPr id="6" name="Shape 4"/>
          <p:cNvSpPr/>
          <p:nvPr/>
        </p:nvSpPr>
        <p:spPr>
          <a:xfrm>
            <a:off x="548640" y="1828800"/>
            <a:ext cx="2560320" cy="1508760"/>
          </a:xfrm>
          <a:prstGeom prst="roundRect">
            <a:avLst>
              <a:gd name="adj" fmla="val 4848"/>
            </a:avLst>
          </a:prstGeom>
          <a:solidFill>
            <a:srgbClr val="1E2E3D"/>
          </a:solidFill>
          <a:ln w="12700">
            <a:solidFill>
              <a:srgbClr val="2C4256"/>
            </a:solidFill>
            <a:prstDash val="solid"/>
          </a:ln>
        </p:spPr>
      </p:sp>
      <p:sp>
        <p:nvSpPr>
          <p:cNvPr id="7" name="Text 5"/>
          <p:cNvSpPr txBox="1"/>
          <p:nvPr/>
        </p:nvSpPr>
        <p:spPr>
          <a:xfrm>
            <a:off x="731520" y="2029968"/>
            <a:ext cx="2194560" cy="685800"/>
          </a:xfrm>
          <a:prstGeom prst="rect">
            <a:avLst/>
          </a:prstGeom>
          <a:noFill/>
          <a:ln/>
        </p:spPr>
        <p:txBody>
          <a:bodyPr wrap="square" lIns="0" tIns="0" rIns="0" bIns="0" rtlCol="0" anchor="ctr"/>
          <a:lstStyle/>
          <a:p>
            <a:pPr indent="0" marL="0">
              <a:buNone/>
            </a:pPr>
            <a:r>
              <a:rPr lang="en-US" sz="3400" b="1" dirty="0">
                <a:solidFill>
                  <a:srgbClr val="6FD3C4"/>
                </a:solidFill>
                <a:latin typeface="Cambria" pitchFamily="34" charset="0"/>
                <a:ea typeface="Cambria" pitchFamily="34" charset="-122"/>
                <a:cs typeface="Cambria" pitchFamily="34" charset="-120"/>
              </a:rPr>
              <a:t>80 M</a:t>
            </a:r>
            <a:endParaRPr lang="en-US" sz="3400" dirty="0"/>
          </a:p>
        </p:txBody>
      </p:sp>
      <p:sp>
        <p:nvSpPr>
          <p:cNvPr id="8" name="Text 6"/>
          <p:cNvSpPr txBox="1"/>
          <p:nvPr/>
        </p:nvSpPr>
        <p:spPr>
          <a:xfrm>
            <a:off x="731520" y="2724912"/>
            <a:ext cx="2194560" cy="502920"/>
          </a:xfrm>
          <a:prstGeom prst="rect">
            <a:avLst/>
          </a:prstGeom>
          <a:noFill/>
          <a:ln/>
        </p:spPr>
        <p:txBody>
          <a:bodyPr wrap="square" lIns="0" tIns="0" rIns="0" bIns="0" rtlCol="0" anchor="ctr"/>
          <a:lstStyle/>
          <a:p>
            <a:pPr indent="0" marL="0">
              <a:lnSpc>
                <a:spcPts val="1500"/>
              </a:lnSpc>
              <a:buNone/>
            </a:pPr>
            <a:r>
              <a:rPr lang="en-US" sz="1200" dirty="0">
                <a:solidFill>
                  <a:srgbClr val="9AA7B2"/>
                </a:solidFill>
                <a:latin typeface="Calibri" pitchFamily="34" charset="0"/>
                <a:ea typeface="Calibri" pitchFamily="34" charset="-122"/>
                <a:cs typeface="Calibri" pitchFamily="34" charset="-120"/>
              </a:rPr>
              <a:t>rows per run</a:t>
            </a:r>
            <a:endParaRPr lang="en-US" sz="1200" dirty="0"/>
          </a:p>
        </p:txBody>
      </p:sp>
      <p:sp>
        <p:nvSpPr>
          <p:cNvPr id="9" name="Shape 7"/>
          <p:cNvSpPr/>
          <p:nvPr/>
        </p:nvSpPr>
        <p:spPr>
          <a:xfrm>
            <a:off x="3383280" y="1828800"/>
            <a:ext cx="2560320" cy="1508760"/>
          </a:xfrm>
          <a:prstGeom prst="roundRect">
            <a:avLst>
              <a:gd name="adj" fmla="val 4848"/>
            </a:avLst>
          </a:prstGeom>
          <a:solidFill>
            <a:srgbClr val="1E2E3D"/>
          </a:solidFill>
          <a:ln w="12700">
            <a:solidFill>
              <a:srgbClr val="2C4256"/>
            </a:solidFill>
            <a:prstDash val="solid"/>
          </a:ln>
        </p:spPr>
      </p:sp>
      <p:sp>
        <p:nvSpPr>
          <p:cNvPr id="10" name="Text 8"/>
          <p:cNvSpPr txBox="1"/>
          <p:nvPr/>
        </p:nvSpPr>
        <p:spPr>
          <a:xfrm>
            <a:off x="3566160" y="2029968"/>
            <a:ext cx="2194560" cy="685800"/>
          </a:xfrm>
          <a:prstGeom prst="rect">
            <a:avLst/>
          </a:prstGeom>
          <a:noFill/>
          <a:ln/>
        </p:spPr>
        <p:txBody>
          <a:bodyPr wrap="square" lIns="0" tIns="0" rIns="0" bIns="0" rtlCol="0" anchor="ctr"/>
          <a:lstStyle/>
          <a:p>
            <a:pPr indent="0" marL="0">
              <a:buNone/>
            </a:pPr>
            <a:r>
              <a:rPr lang="en-US" sz="3400" b="1" dirty="0">
                <a:solidFill>
                  <a:srgbClr val="6FD3C4"/>
                </a:solidFill>
                <a:latin typeface="Cambria" pitchFamily="34" charset="0"/>
                <a:ea typeface="Cambria" pitchFamily="34" charset="-122"/>
                <a:cs typeface="Cambria" pitchFamily="34" charset="-120"/>
              </a:rPr>
              <a:t>≈ 40 GB</a:t>
            </a:r>
            <a:endParaRPr lang="en-US" sz="3400" dirty="0"/>
          </a:p>
        </p:txBody>
      </p:sp>
      <p:sp>
        <p:nvSpPr>
          <p:cNvPr id="11" name="Text 9"/>
          <p:cNvSpPr txBox="1"/>
          <p:nvPr/>
        </p:nvSpPr>
        <p:spPr>
          <a:xfrm>
            <a:off x="3566160" y="2724912"/>
            <a:ext cx="2194560" cy="502920"/>
          </a:xfrm>
          <a:prstGeom prst="rect">
            <a:avLst/>
          </a:prstGeom>
          <a:noFill/>
          <a:ln/>
        </p:spPr>
        <p:txBody>
          <a:bodyPr wrap="square" lIns="0" tIns="0" rIns="0" bIns="0" rtlCol="0" anchor="ctr"/>
          <a:lstStyle/>
          <a:p>
            <a:pPr indent="0" marL="0">
              <a:lnSpc>
                <a:spcPts val="1500"/>
              </a:lnSpc>
              <a:buNone/>
            </a:pPr>
            <a:r>
              <a:rPr lang="en-US" sz="1200" dirty="0">
                <a:solidFill>
                  <a:srgbClr val="9AA7B2"/>
                </a:solidFill>
                <a:latin typeface="Calibri" pitchFamily="34" charset="0"/>
                <a:ea typeface="Calibri" pitchFamily="34" charset="-122"/>
                <a:cs typeface="Calibri" pitchFamily="34" charset="-120"/>
              </a:rPr>
              <a:t>uncompressed payload</a:t>
            </a:r>
            <a:endParaRPr lang="en-US" sz="1200" dirty="0"/>
          </a:p>
        </p:txBody>
      </p:sp>
      <p:sp>
        <p:nvSpPr>
          <p:cNvPr id="12" name="Shape 10"/>
          <p:cNvSpPr/>
          <p:nvPr/>
        </p:nvSpPr>
        <p:spPr>
          <a:xfrm>
            <a:off x="6217920" y="1828800"/>
            <a:ext cx="2560320" cy="1508760"/>
          </a:xfrm>
          <a:prstGeom prst="roundRect">
            <a:avLst>
              <a:gd name="adj" fmla="val 4848"/>
            </a:avLst>
          </a:prstGeom>
          <a:solidFill>
            <a:srgbClr val="1E2E3D"/>
          </a:solidFill>
          <a:ln w="12700">
            <a:solidFill>
              <a:srgbClr val="2C4256"/>
            </a:solidFill>
            <a:prstDash val="solid"/>
          </a:ln>
        </p:spPr>
      </p:sp>
      <p:sp>
        <p:nvSpPr>
          <p:cNvPr id="13" name="Text 11"/>
          <p:cNvSpPr txBox="1"/>
          <p:nvPr/>
        </p:nvSpPr>
        <p:spPr>
          <a:xfrm>
            <a:off x="6400800" y="2029968"/>
            <a:ext cx="2194560" cy="685800"/>
          </a:xfrm>
          <a:prstGeom prst="rect">
            <a:avLst/>
          </a:prstGeom>
          <a:noFill/>
          <a:ln/>
        </p:spPr>
        <p:txBody>
          <a:bodyPr wrap="square" lIns="0" tIns="0" rIns="0" bIns="0" rtlCol="0" anchor="ctr"/>
          <a:lstStyle/>
          <a:p>
            <a:pPr indent="0" marL="0">
              <a:buNone/>
            </a:pPr>
            <a:r>
              <a:rPr lang="en-US" sz="3400" b="1" dirty="0">
                <a:solidFill>
                  <a:srgbClr val="E8A317"/>
                </a:solidFill>
                <a:latin typeface="Cambria" pitchFamily="34" charset="0"/>
                <a:ea typeface="Cambria" pitchFamily="34" charset="-122"/>
                <a:cs typeface="Cambria" pitchFamily="34" charset="-120"/>
              </a:rPr>
              <a:t>44 500 /s</a:t>
            </a:r>
            <a:endParaRPr lang="en-US" sz="3400" dirty="0"/>
          </a:p>
        </p:txBody>
      </p:sp>
      <p:sp>
        <p:nvSpPr>
          <p:cNvPr id="14" name="Text 12"/>
          <p:cNvSpPr txBox="1"/>
          <p:nvPr/>
        </p:nvSpPr>
        <p:spPr>
          <a:xfrm>
            <a:off x="6400800" y="2724912"/>
            <a:ext cx="2194560" cy="502920"/>
          </a:xfrm>
          <a:prstGeom prst="rect">
            <a:avLst/>
          </a:prstGeom>
          <a:noFill/>
          <a:ln/>
        </p:spPr>
        <p:txBody>
          <a:bodyPr wrap="square" lIns="0" tIns="0" rIns="0" bIns="0" rtlCol="0" anchor="ctr"/>
          <a:lstStyle/>
          <a:p>
            <a:pPr indent="0" marL="0">
              <a:lnSpc>
                <a:spcPts val="1500"/>
              </a:lnSpc>
              <a:buNone/>
            </a:pPr>
            <a:r>
              <a:rPr lang="en-US" sz="1200" dirty="0">
                <a:solidFill>
                  <a:srgbClr val="9AA7B2"/>
                </a:solidFill>
                <a:latin typeface="Calibri" pitchFamily="34" charset="0"/>
                <a:ea typeface="Calibri" pitchFamily="34" charset="-122"/>
                <a:cs typeface="Calibri" pitchFamily="34" charset="-120"/>
              </a:rPr>
              <a:t>sustained rate for a 30-min window</a:t>
            </a:r>
            <a:endParaRPr lang="en-US" sz="1200" dirty="0"/>
          </a:p>
        </p:txBody>
      </p:sp>
      <p:sp>
        <p:nvSpPr>
          <p:cNvPr id="15" name="Shape 13"/>
          <p:cNvSpPr/>
          <p:nvPr/>
        </p:nvSpPr>
        <p:spPr>
          <a:xfrm>
            <a:off x="9052560" y="1828800"/>
            <a:ext cx="2560320" cy="1508760"/>
          </a:xfrm>
          <a:prstGeom prst="roundRect">
            <a:avLst>
              <a:gd name="adj" fmla="val 4848"/>
            </a:avLst>
          </a:prstGeom>
          <a:solidFill>
            <a:srgbClr val="1E2E3D"/>
          </a:solidFill>
          <a:ln w="12700">
            <a:solidFill>
              <a:srgbClr val="2C4256"/>
            </a:solidFill>
            <a:prstDash val="solid"/>
          </a:ln>
        </p:spPr>
      </p:sp>
      <p:sp>
        <p:nvSpPr>
          <p:cNvPr id="16" name="Text 14"/>
          <p:cNvSpPr txBox="1"/>
          <p:nvPr/>
        </p:nvSpPr>
        <p:spPr>
          <a:xfrm>
            <a:off x="9235440" y="2029968"/>
            <a:ext cx="2194560" cy="685800"/>
          </a:xfrm>
          <a:prstGeom prst="rect">
            <a:avLst/>
          </a:prstGeom>
          <a:noFill/>
          <a:ln/>
        </p:spPr>
        <p:txBody>
          <a:bodyPr wrap="square" lIns="0" tIns="0" rIns="0" bIns="0" rtlCol="0" anchor="ctr"/>
          <a:lstStyle/>
          <a:p>
            <a:pPr indent="0" marL="0">
              <a:buNone/>
            </a:pPr>
            <a:r>
              <a:rPr lang="en-US" sz="3400" b="1" dirty="0">
                <a:solidFill>
                  <a:srgbClr val="6FD3C4"/>
                </a:solidFill>
                <a:latin typeface="Cambria" pitchFamily="34" charset="0"/>
                <a:ea typeface="Cambria" pitchFamily="34" charset="-122"/>
                <a:cs typeface="Cambria" pitchFamily="34" charset="-120"/>
              </a:rPr>
              <a:t>≈ 2.2</a:t>
            </a:r>
            <a:endParaRPr lang="en-US" sz="3400" dirty="0"/>
          </a:p>
        </p:txBody>
      </p:sp>
      <p:sp>
        <p:nvSpPr>
          <p:cNvPr id="17" name="Text 15"/>
          <p:cNvSpPr txBox="1"/>
          <p:nvPr/>
        </p:nvSpPr>
        <p:spPr>
          <a:xfrm>
            <a:off x="9235440" y="2724912"/>
            <a:ext cx="2194560" cy="502920"/>
          </a:xfrm>
          <a:prstGeom prst="rect">
            <a:avLst/>
          </a:prstGeom>
          <a:noFill/>
          <a:ln/>
        </p:spPr>
        <p:txBody>
          <a:bodyPr wrap="square" lIns="0" tIns="0" rIns="0" bIns="0" rtlCol="0" anchor="ctr"/>
          <a:lstStyle/>
          <a:p>
            <a:pPr indent="0" marL="0">
              <a:lnSpc>
                <a:spcPts val="1500"/>
              </a:lnSpc>
              <a:buNone/>
            </a:pPr>
            <a:r>
              <a:rPr lang="en-US" sz="1200" dirty="0">
                <a:solidFill>
                  <a:srgbClr val="9AA7B2"/>
                </a:solidFill>
                <a:latin typeface="Calibri" pitchFamily="34" charset="0"/>
                <a:ea typeface="Calibri" pitchFamily="34" charset="-122"/>
                <a:cs typeface="Calibri" pitchFamily="34" charset="-120"/>
              </a:rPr>
              <a:t>core-hours of pure DMN evaluation*</a:t>
            </a:r>
            <a:endParaRPr lang="en-US" sz="1200" dirty="0"/>
          </a:p>
        </p:txBody>
      </p:sp>
      <p:sp>
        <p:nvSpPr>
          <p:cNvPr id="18" name="Text 16"/>
          <p:cNvSpPr txBox="1"/>
          <p:nvPr/>
        </p:nvSpPr>
        <p:spPr>
          <a:xfrm>
            <a:off x="548640" y="3456432"/>
            <a:ext cx="10515600" cy="256032"/>
          </a:xfrm>
          <a:prstGeom prst="rect">
            <a:avLst/>
          </a:prstGeom>
          <a:noFill/>
          <a:ln/>
        </p:spPr>
        <p:txBody>
          <a:bodyPr wrap="square" lIns="0" tIns="0" rIns="0" bIns="0" rtlCol="0" anchor="ctr"/>
          <a:lstStyle/>
          <a:p>
            <a:pPr indent="0" marL="0">
              <a:buNone/>
            </a:pPr>
            <a:r>
              <a:rPr lang="en-US" sz="1050" i="1" dirty="0">
                <a:solidFill>
                  <a:srgbClr val="9AA7B2"/>
                </a:solidFill>
                <a:latin typeface="Calibri" pitchFamily="34" charset="0"/>
                <a:ea typeface="Calibri" pitchFamily="34" charset="-122"/>
                <a:cs typeface="Calibri" pitchFamily="34" charset="-120"/>
              </a:rPr>
              <a:t>* At an assumed 10 000 decisions / second / core for a moderately sized DMN model — to be replaced with a measured figure in the PoC.</a:t>
            </a:r>
            <a:endParaRPr lang="en-US" sz="1050" dirty="0"/>
          </a:p>
        </p:txBody>
      </p:sp>
      <p:sp>
        <p:nvSpPr>
          <p:cNvPr id="19" name="Shape 17"/>
          <p:cNvSpPr/>
          <p:nvPr/>
        </p:nvSpPr>
        <p:spPr>
          <a:xfrm>
            <a:off x="548640" y="4023360"/>
            <a:ext cx="329184" cy="329184"/>
          </a:xfrm>
          <a:prstGeom prst="ellipse">
            <a:avLst/>
          </a:prstGeom>
          <a:solidFill>
            <a:srgbClr val="6FD3C4"/>
          </a:solidFill>
          <a:ln w="12700">
            <a:solidFill>
              <a:srgbClr val="6FD3C4"/>
            </a:solidFill>
            <a:prstDash val="solid"/>
          </a:ln>
        </p:spPr>
      </p:sp>
      <p:sp>
        <p:nvSpPr>
          <p:cNvPr id="20" name="Text 18"/>
          <p:cNvSpPr txBox="1"/>
          <p:nvPr/>
        </p:nvSpPr>
        <p:spPr>
          <a:xfrm>
            <a:off x="548640" y="4023360"/>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1</a:t>
            </a:r>
            <a:endParaRPr lang="en-US" sz="1300" dirty="0"/>
          </a:p>
        </p:txBody>
      </p:sp>
      <p:sp>
        <p:nvSpPr>
          <p:cNvPr id="21" name="Text 19"/>
          <p:cNvSpPr txBox="1"/>
          <p:nvPr/>
        </p:nvSpPr>
        <p:spPr>
          <a:xfrm>
            <a:off x="1005840" y="4023360"/>
            <a:ext cx="3035808" cy="384048"/>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Evaluation is not the bottleneck.</a:t>
            </a:r>
            <a:endParaRPr lang="en-US" sz="1350" dirty="0"/>
          </a:p>
        </p:txBody>
      </p:sp>
      <p:sp>
        <p:nvSpPr>
          <p:cNvPr id="22" name="Text 20"/>
          <p:cNvSpPr txBox="1"/>
          <p:nvPr/>
        </p:nvSpPr>
        <p:spPr>
          <a:xfrm>
            <a:off x="548640" y="4526280"/>
            <a:ext cx="3493008" cy="1371600"/>
          </a:xfrm>
          <a:prstGeom prst="rect">
            <a:avLst/>
          </a:prstGeom>
          <a:noFill/>
          <a:ln/>
        </p:spPr>
        <p:txBody>
          <a:bodyPr wrap="square" lIns="0" tIns="0" rIns="0" bIns="0" rtlCol="0" anchor="t"/>
          <a:lstStyle/>
          <a:p>
            <a:pPr indent="0" marL="0">
              <a:lnSpc>
                <a:spcPts val="1600"/>
              </a:lnSpc>
              <a:buNone/>
            </a:pPr>
            <a:r>
              <a:rPr lang="en-US" sz="1200" dirty="0">
                <a:solidFill>
                  <a:srgbClr val="9AA7B2"/>
                </a:solidFill>
                <a:latin typeface="Calibri" pitchFamily="34" charset="0"/>
                <a:ea typeface="Calibri" pitchFamily="34" charset="-122"/>
                <a:cs typeface="Calibri" pitchFamily="34" charset="-120"/>
              </a:rPr>
              <a:t>Two core-hours is roughly four minutes on a 32-core cluster. The DMN engine is fast enough; the plumbing around it is what costs time.</a:t>
            </a:r>
            <a:endParaRPr lang="en-US" sz="1200" dirty="0"/>
          </a:p>
        </p:txBody>
      </p:sp>
      <p:sp>
        <p:nvSpPr>
          <p:cNvPr id="23" name="Shape 21"/>
          <p:cNvSpPr/>
          <p:nvPr/>
        </p:nvSpPr>
        <p:spPr>
          <a:xfrm>
            <a:off x="4334256" y="4023360"/>
            <a:ext cx="329184" cy="329184"/>
          </a:xfrm>
          <a:prstGeom prst="ellipse">
            <a:avLst/>
          </a:prstGeom>
          <a:solidFill>
            <a:srgbClr val="6FD3C4"/>
          </a:solidFill>
          <a:ln w="12700">
            <a:solidFill>
              <a:srgbClr val="6FD3C4"/>
            </a:solidFill>
            <a:prstDash val="solid"/>
          </a:ln>
        </p:spPr>
      </p:sp>
      <p:sp>
        <p:nvSpPr>
          <p:cNvPr id="24" name="Text 22"/>
          <p:cNvSpPr txBox="1"/>
          <p:nvPr/>
        </p:nvSpPr>
        <p:spPr>
          <a:xfrm>
            <a:off x="4334256" y="4023360"/>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2</a:t>
            </a:r>
            <a:endParaRPr lang="en-US" sz="1300" dirty="0"/>
          </a:p>
        </p:txBody>
      </p:sp>
      <p:sp>
        <p:nvSpPr>
          <p:cNvPr id="25" name="Text 23"/>
          <p:cNvSpPr txBox="1"/>
          <p:nvPr/>
        </p:nvSpPr>
        <p:spPr>
          <a:xfrm>
            <a:off x="4791456" y="4023360"/>
            <a:ext cx="3035808" cy="384048"/>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Movement is the bottleneck.</a:t>
            </a:r>
            <a:endParaRPr lang="en-US" sz="1350" dirty="0"/>
          </a:p>
        </p:txBody>
      </p:sp>
      <p:sp>
        <p:nvSpPr>
          <p:cNvPr id="26" name="Text 24"/>
          <p:cNvSpPr txBox="1"/>
          <p:nvPr/>
        </p:nvSpPr>
        <p:spPr>
          <a:xfrm>
            <a:off x="4334256" y="4526280"/>
            <a:ext cx="3493008" cy="1371600"/>
          </a:xfrm>
          <a:prstGeom prst="rect">
            <a:avLst/>
          </a:prstGeom>
          <a:noFill/>
          <a:ln/>
        </p:spPr>
        <p:txBody>
          <a:bodyPr wrap="square" lIns="0" tIns="0" rIns="0" bIns="0" rtlCol="0" anchor="t"/>
          <a:lstStyle/>
          <a:p>
            <a:pPr indent="0" marL="0">
              <a:lnSpc>
                <a:spcPts val="1600"/>
              </a:lnSpc>
              <a:buNone/>
            </a:pPr>
            <a:r>
              <a:rPr lang="en-US" sz="1200" dirty="0">
                <a:solidFill>
                  <a:srgbClr val="9AA7B2"/>
                </a:solidFill>
                <a:latin typeface="Calibri" pitchFamily="34" charset="0"/>
                <a:ea typeface="Calibri" pitchFamily="34" charset="-122"/>
                <a:cs typeface="Calibri" pitchFamily="34" charset="-120"/>
              </a:rPr>
              <a:t>Pushing 40 GB out of Databricks and pulling results back is measured in tens of minutes, dwarfing the decision compute itself.</a:t>
            </a:r>
            <a:endParaRPr lang="en-US" sz="1200" dirty="0"/>
          </a:p>
        </p:txBody>
      </p:sp>
      <p:sp>
        <p:nvSpPr>
          <p:cNvPr id="27" name="Shape 25"/>
          <p:cNvSpPr/>
          <p:nvPr/>
        </p:nvSpPr>
        <p:spPr>
          <a:xfrm>
            <a:off x="8119872" y="4023360"/>
            <a:ext cx="329184" cy="329184"/>
          </a:xfrm>
          <a:prstGeom prst="ellipse">
            <a:avLst/>
          </a:prstGeom>
          <a:solidFill>
            <a:srgbClr val="6FD3C4"/>
          </a:solidFill>
          <a:ln w="12700">
            <a:solidFill>
              <a:srgbClr val="6FD3C4"/>
            </a:solidFill>
            <a:prstDash val="solid"/>
          </a:ln>
        </p:spPr>
      </p:sp>
      <p:sp>
        <p:nvSpPr>
          <p:cNvPr id="28" name="Text 26"/>
          <p:cNvSpPr txBox="1"/>
          <p:nvPr/>
        </p:nvSpPr>
        <p:spPr>
          <a:xfrm>
            <a:off x="8119872" y="4023360"/>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3</a:t>
            </a:r>
            <a:endParaRPr lang="en-US" sz="1300" dirty="0"/>
          </a:p>
        </p:txBody>
      </p:sp>
      <p:sp>
        <p:nvSpPr>
          <p:cNvPr id="29" name="Text 27"/>
          <p:cNvSpPr txBox="1"/>
          <p:nvPr/>
        </p:nvSpPr>
        <p:spPr>
          <a:xfrm>
            <a:off x="8577072" y="4023360"/>
            <a:ext cx="3035808" cy="384048"/>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Per-row overhead dominates.</a:t>
            </a:r>
            <a:endParaRPr lang="en-US" sz="1350" dirty="0"/>
          </a:p>
        </p:txBody>
      </p:sp>
      <p:sp>
        <p:nvSpPr>
          <p:cNvPr id="30" name="Text 28"/>
          <p:cNvSpPr txBox="1"/>
          <p:nvPr/>
        </p:nvSpPr>
        <p:spPr>
          <a:xfrm>
            <a:off x="8119872" y="4526280"/>
            <a:ext cx="3493008" cy="1371600"/>
          </a:xfrm>
          <a:prstGeom prst="rect">
            <a:avLst/>
          </a:prstGeom>
          <a:noFill/>
          <a:ln/>
        </p:spPr>
        <p:txBody>
          <a:bodyPr wrap="square" lIns="0" tIns="0" rIns="0" bIns="0" rtlCol="0" anchor="t"/>
          <a:lstStyle/>
          <a:p>
            <a:pPr indent="0" marL="0">
              <a:lnSpc>
                <a:spcPts val="1600"/>
              </a:lnSpc>
              <a:buNone/>
            </a:pPr>
            <a:r>
              <a:rPr lang="en-US" sz="1200" dirty="0">
                <a:solidFill>
                  <a:srgbClr val="9AA7B2"/>
                </a:solidFill>
                <a:latin typeface="Calibri" pitchFamily="34" charset="0"/>
                <a:ea typeface="Calibri" pitchFamily="34" charset="-122"/>
                <a:cs typeface="Calibri" pitchFamily="34" charset="-120"/>
              </a:rPr>
              <a:t>At 80 M rows, one millisecond of serialisation per row is 22 hours. Anything row-at-a-time across a process boundary has to be amortised or eliminated.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COMMON GROUND</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What all three options share</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Choosing an execution engine does not change the authoring, governance or storage layer.</a:t>
            </a:r>
            <a:endParaRPr lang="en-US" sz="1300" dirty="0"/>
          </a:p>
        </p:txBody>
      </p:sp>
      <p:sp>
        <p:nvSpPr>
          <p:cNvPr id="6" name="Shape 4"/>
          <p:cNvSpPr/>
          <p:nvPr/>
        </p:nvSpPr>
        <p:spPr>
          <a:xfrm>
            <a:off x="548640" y="1737360"/>
            <a:ext cx="7680960" cy="713232"/>
          </a:xfrm>
          <a:prstGeom prst="roundRect">
            <a:avLst>
              <a:gd name="adj" fmla="val 10256"/>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7" name="Shape 5"/>
          <p:cNvSpPr/>
          <p:nvPr/>
        </p:nvSpPr>
        <p:spPr>
          <a:xfrm>
            <a:off x="749808" y="1911096"/>
            <a:ext cx="365760" cy="365760"/>
          </a:xfrm>
          <a:prstGeom prst="roundRect">
            <a:avLst>
              <a:gd name="adj" fmla="val 25000"/>
            </a:avLst>
          </a:prstGeom>
          <a:solidFill>
            <a:srgbClr val="00A896"/>
          </a:solidFill>
          <a:ln w="12700">
            <a:solidFill>
              <a:srgbClr val="00A896"/>
            </a:solidFill>
            <a:prstDash val="solid"/>
          </a:ln>
        </p:spPr>
      </p:sp>
      <p:sp>
        <p:nvSpPr>
          <p:cNvPr id="8" name="Text 6"/>
          <p:cNvSpPr txBox="1"/>
          <p:nvPr/>
        </p:nvSpPr>
        <p:spPr>
          <a:xfrm>
            <a:off x="1298448" y="1828800"/>
            <a:ext cx="2011680" cy="292608"/>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Authoring</a:t>
            </a:r>
            <a:endParaRPr lang="en-US" sz="1350" dirty="0"/>
          </a:p>
        </p:txBody>
      </p:sp>
      <p:sp>
        <p:nvSpPr>
          <p:cNvPr id="9" name="Text 7"/>
          <p:cNvSpPr txBox="1"/>
          <p:nvPr/>
        </p:nvSpPr>
        <p:spPr>
          <a:xfrm>
            <a:off x="1298448" y="2103120"/>
            <a:ext cx="67665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Standalone web DMN editor (Apache KIE dmn-editor-standalone) embedded in an internal app</a:t>
            </a:r>
            <a:endParaRPr lang="en-US" sz="1150" dirty="0"/>
          </a:p>
        </p:txBody>
      </p:sp>
      <p:sp>
        <p:nvSpPr>
          <p:cNvPr id="10" name="Shape 8"/>
          <p:cNvSpPr/>
          <p:nvPr/>
        </p:nvSpPr>
        <p:spPr>
          <a:xfrm>
            <a:off x="548640" y="2560320"/>
            <a:ext cx="7680960" cy="713232"/>
          </a:xfrm>
          <a:prstGeom prst="roundRect">
            <a:avLst>
              <a:gd name="adj" fmla="val 10256"/>
            </a:avLst>
          </a:prstGeom>
          <a:solidFill>
            <a:srgbClr val="FAFBFC"/>
          </a:solidFill>
          <a:ln w="12700">
            <a:solidFill>
              <a:srgbClr val="FAFBFC"/>
            </a:solidFill>
            <a:prstDash val="solid"/>
          </a:ln>
          <a:effectLst>
            <a:outerShdw sx="100000" sy="100000" kx="0" ky="0" algn="bl" rotWithShape="0" blurRad="101600" dist="25400" dir="5400000">
              <a:srgbClr val="16222E">
                <a:alpha val="12000"/>
              </a:srgbClr>
            </a:outerShdw>
          </a:effectLst>
        </p:spPr>
      </p:sp>
      <p:sp>
        <p:nvSpPr>
          <p:cNvPr id="11" name="Shape 9"/>
          <p:cNvSpPr/>
          <p:nvPr/>
        </p:nvSpPr>
        <p:spPr>
          <a:xfrm>
            <a:off x="749808" y="2734056"/>
            <a:ext cx="365760" cy="365760"/>
          </a:xfrm>
          <a:prstGeom prst="roundRect">
            <a:avLst>
              <a:gd name="adj" fmla="val 25000"/>
            </a:avLst>
          </a:prstGeom>
          <a:solidFill>
            <a:srgbClr val="00A896"/>
          </a:solidFill>
          <a:ln w="12700">
            <a:solidFill>
              <a:srgbClr val="00A896"/>
            </a:solidFill>
            <a:prstDash val="solid"/>
          </a:ln>
        </p:spPr>
      </p:sp>
      <p:sp>
        <p:nvSpPr>
          <p:cNvPr id="12" name="Text 10"/>
          <p:cNvSpPr txBox="1"/>
          <p:nvPr/>
        </p:nvSpPr>
        <p:spPr>
          <a:xfrm>
            <a:off x="1298448" y="2651760"/>
            <a:ext cx="2011680" cy="292608"/>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Model repository</a:t>
            </a:r>
            <a:endParaRPr lang="en-US" sz="1350" dirty="0"/>
          </a:p>
        </p:txBody>
      </p:sp>
      <p:sp>
        <p:nvSpPr>
          <p:cNvPr id="13" name="Text 11"/>
          <p:cNvSpPr txBox="1"/>
          <p:nvPr/>
        </p:nvSpPr>
        <p:spPr>
          <a:xfrm>
            <a:off x="1298448" y="2926080"/>
            <a:ext cx="67665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Git-backed .dmn files, pull-request review, semantic versioning, promotion dev → uat → prod</a:t>
            </a:r>
            <a:endParaRPr lang="en-US" sz="1150" dirty="0"/>
          </a:p>
        </p:txBody>
      </p:sp>
      <p:sp>
        <p:nvSpPr>
          <p:cNvPr id="14" name="Shape 12"/>
          <p:cNvSpPr/>
          <p:nvPr/>
        </p:nvSpPr>
        <p:spPr>
          <a:xfrm>
            <a:off x="548640" y="3383280"/>
            <a:ext cx="7680960" cy="713232"/>
          </a:xfrm>
          <a:prstGeom prst="roundRect">
            <a:avLst>
              <a:gd name="adj" fmla="val 10256"/>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5" name="Shape 13"/>
          <p:cNvSpPr/>
          <p:nvPr/>
        </p:nvSpPr>
        <p:spPr>
          <a:xfrm>
            <a:off x="749808" y="3557016"/>
            <a:ext cx="365760" cy="365760"/>
          </a:xfrm>
          <a:prstGeom prst="roundRect">
            <a:avLst>
              <a:gd name="adj" fmla="val 25000"/>
            </a:avLst>
          </a:prstGeom>
          <a:solidFill>
            <a:srgbClr val="037D8C"/>
          </a:solidFill>
          <a:ln w="12700">
            <a:solidFill>
              <a:srgbClr val="037D8C"/>
            </a:solidFill>
            <a:prstDash val="solid"/>
          </a:ln>
        </p:spPr>
      </p:sp>
      <p:sp>
        <p:nvSpPr>
          <p:cNvPr id="16" name="Text 14"/>
          <p:cNvSpPr txBox="1"/>
          <p:nvPr/>
        </p:nvSpPr>
        <p:spPr>
          <a:xfrm>
            <a:off x="1298448" y="3474720"/>
            <a:ext cx="2011680" cy="292608"/>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Model registry</a:t>
            </a:r>
            <a:endParaRPr lang="en-US" sz="1350" dirty="0"/>
          </a:p>
        </p:txBody>
      </p:sp>
      <p:sp>
        <p:nvSpPr>
          <p:cNvPr id="17" name="Text 15"/>
          <p:cNvSpPr txBox="1"/>
          <p:nvPr/>
        </p:nvSpPr>
        <p:spPr>
          <a:xfrm>
            <a:off x="1298448" y="3749040"/>
            <a:ext cx="67665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Immutable, signed model bundles published to S3 / Unity Catalog Volume, addressed by version</a:t>
            </a:r>
            <a:endParaRPr lang="en-US" sz="1150" dirty="0"/>
          </a:p>
        </p:txBody>
      </p:sp>
      <p:sp>
        <p:nvSpPr>
          <p:cNvPr id="18" name="Shape 16"/>
          <p:cNvSpPr/>
          <p:nvPr/>
        </p:nvSpPr>
        <p:spPr>
          <a:xfrm>
            <a:off x="548640" y="4206240"/>
            <a:ext cx="7680960" cy="713232"/>
          </a:xfrm>
          <a:prstGeom prst="roundRect">
            <a:avLst>
              <a:gd name="adj" fmla="val 10256"/>
            </a:avLst>
          </a:prstGeom>
          <a:solidFill>
            <a:srgbClr val="FAFBFC"/>
          </a:solidFill>
          <a:ln w="12700">
            <a:solidFill>
              <a:srgbClr val="FAFBFC"/>
            </a:solidFill>
            <a:prstDash val="solid"/>
          </a:ln>
          <a:effectLst>
            <a:outerShdw sx="100000" sy="100000" kx="0" ky="0" algn="bl" rotWithShape="0" blurRad="101600" dist="25400" dir="5400000">
              <a:srgbClr val="16222E">
                <a:alpha val="12000"/>
              </a:srgbClr>
            </a:outerShdw>
          </a:effectLst>
        </p:spPr>
      </p:sp>
      <p:sp>
        <p:nvSpPr>
          <p:cNvPr id="19" name="Shape 17"/>
          <p:cNvSpPr/>
          <p:nvPr/>
        </p:nvSpPr>
        <p:spPr>
          <a:xfrm>
            <a:off x="749808" y="4379976"/>
            <a:ext cx="365760" cy="365760"/>
          </a:xfrm>
          <a:prstGeom prst="roundRect">
            <a:avLst>
              <a:gd name="adj" fmla="val 25000"/>
            </a:avLst>
          </a:prstGeom>
          <a:solidFill>
            <a:srgbClr val="037D8C"/>
          </a:solidFill>
          <a:ln w="12700">
            <a:solidFill>
              <a:srgbClr val="037D8C"/>
            </a:solidFill>
            <a:prstDash val="solid"/>
          </a:ln>
        </p:spPr>
      </p:sp>
      <p:sp>
        <p:nvSpPr>
          <p:cNvPr id="20" name="Text 18"/>
          <p:cNvSpPr txBox="1"/>
          <p:nvPr/>
        </p:nvSpPr>
        <p:spPr>
          <a:xfrm>
            <a:off x="1298448" y="4297680"/>
            <a:ext cx="2011680" cy="292608"/>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Test &amp; simulation</a:t>
            </a:r>
            <a:endParaRPr lang="en-US" sz="1350" dirty="0"/>
          </a:p>
        </p:txBody>
      </p:sp>
      <p:sp>
        <p:nvSpPr>
          <p:cNvPr id="21" name="Text 19"/>
          <p:cNvSpPr txBox="1"/>
          <p:nvPr/>
        </p:nvSpPr>
        <p:spPr>
          <a:xfrm>
            <a:off x="1298448" y="4572000"/>
            <a:ext cx="67665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DMN test scenarios + a golden-sample regression suite run on every model change</a:t>
            </a:r>
            <a:endParaRPr lang="en-US" sz="1150" dirty="0"/>
          </a:p>
        </p:txBody>
      </p:sp>
      <p:sp>
        <p:nvSpPr>
          <p:cNvPr id="22" name="Shape 20"/>
          <p:cNvSpPr/>
          <p:nvPr/>
        </p:nvSpPr>
        <p:spPr>
          <a:xfrm>
            <a:off x="548640" y="5029200"/>
            <a:ext cx="7680960" cy="713232"/>
          </a:xfrm>
          <a:prstGeom prst="roundRect">
            <a:avLst>
              <a:gd name="adj" fmla="val 10256"/>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3" name="Shape 21"/>
          <p:cNvSpPr/>
          <p:nvPr/>
        </p:nvSpPr>
        <p:spPr>
          <a:xfrm>
            <a:off x="749808" y="5202936"/>
            <a:ext cx="365760" cy="365760"/>
          </a:xfrm>
          <a:prstGeom prst="roundRect">
            <a:avLst>
              <a:gd name="adj" fmla="val 25000"/>
            </a:avLst>
          </a:prstGeom>
          <a:solidFill>
            <a:srgbClr val="1E2E3D"/>
          </a:solidFill>
          <a:ln w="12700">
            <a:solidFill>
              <a:srgbClr val="1E2E3D"/>
            </a:solidFill>
            <a:prstDash val="solid"/>
          </a:ln>
        </p:spPr>
      </p:sp>
      <p:sp>
        <p:nvSpPr>
          <p:cNvPr id="24" name="Text 22"/>
          <p:cNvSpPr txBox="1"/>
          <p:nvPr/>
        </p:nvSpPr>
        <p:spPr>
          <a:xfrm>
            <a:off x="1298448" y="5120640"/>
            <a:ext cx="2011680" cy="292608"/>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Data plane</a:t>
            </a:r>
            <a:endParaRPr lang="en-US" sz="1350" dirty="0"/>
          </a:p>
        </p:txBody>
      </p:sp>
      <p:sp>
        <p:nvSpPr>
          <p:cNvPr id="25" name="Text 23"/>
          <p:cNvSpPr txBox="1"/>
          <p:nvPr/>
        </p:nvSpPr>
        <p:spPr>
          <a:xfrm>
            <a:off x="1298448" y="5394960"/>
            <a:ext cx="6766560" cy="310896"/>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Delta tables in Unity Catalog; run metadata, model version and rule provenance written back per row</a:t>
            </a:r>
            <a:endParaRPr lang="en-US" sz="1150" dirty="0"/>
          </a:p>
        </p:txBody>
      </p:sp>
      <p:sp>
        <p:nvSpPr>
          <p:cNvPr id="26" name="Shape 24"/>
          <p:cNvSpPr/>
          <p:nvPr/>
        </p:nvSpPr>
        <p:spPr>
          <a:xfrm>
            <a:off x="8549640" y="1737360"/>
            <a:ext cx="3063240" cy="4023360"/>
          </a:xfrm>
          <a:prstGeom prst="roundRect">
            <a:avLst>
              <a:gd name="adj" fmla="val 2388"/>
            </a:avLst>
          </a:prstGeom>
          <a:solidFill>
            <a:srgbClr val="E8F2F3"/>
          </a:solidFill>
          <a:ln w="12700">
            <a:solidFill>
              <a:srgbClr val="E8F2F3"/>
            </a:solidFill>
            <a:prstDash val="solid"/>
          </a:ln>
          <a:effectLst>
            <a:outerShdw sx="100000" sy="100000" kx="0" ky="0" algn="bl" rotWithShape="0" blurRad="101600" dist="25400" dir="5400000">
              <a:srgbClr val="16222E">
                <a:alpha val="12000"/>
              </a:srgbClr>
            </a:outerShdw>
          </a:effectLst>
        </p:spPr>
      </p:sp>
      <p:sp>
        <p:nvSpPr>
          <p:cNvPr id="27" name="Text 25"/>
          <p:cNvSpPr txBox="1"/>
          <p:nvPr/>
        </p:nvSpPr>
        <p:spPr>
          <a:xfrm>
            <a:off x="8823960" y="1965960"/>
            <a:ext cx="2560320" cy="310896"/>
          </a:xfrm>
          <a:prstGeom prst="rect">
            <a:avLst/>
          </a:prstGeom>
          <a:noFill/>
          <a:ln/>
        </p:spPr>
        <p:txBody>
          <a:bodyPr wrap="square" lIns="0" tIns="0" rIns="0" bIns="0" rtlCol="0" anchor="ctr"/>
          <a:lstStyle/>
          <a:p>
            <a:pPr indent="0" marL="0">
              <a:buNone/>
            </a:pPr>
            <a:r>
              <a:rPr lang="en-US" sz="1700" b="1" dirty="0">
                <a:solidFill>
                  <a:srgbClr val="037D8C"/>
                </a:solidFill>
                <a:latin typeface="Cambria" pitchFamily="34" charset="0"/>
                <a:ea typeface="Cambria" pitchFamily="34" charset="-122"/>
                <a:cs typeface="Cambria" pitchFamily="34" charset="-120"/>
              </a:rPr>
              <a:t>Why this matters</a:t>
            </a:r>
            <a:endParaRPr lang="en-US" sz="1700" dirty="0"/>
          </a:p>
        </p:txBody>
      </p:sp>
      <p:sp>
        <p:nvSpPr>
          <p:cNvPr id="28" name="Text 26"/>
          <p:cNvSpPr txBox="1"/>
          <p:nvPr/>
        </p:nvSpPr>
        <p:spPr>
          <a:xfrm>
            <a:off x="8823960" y="2395728"/>
            <a:ext cx="2514600" cy="310896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The choice is reversible at the execution layer only — models, tests and governance are a sunk, shared investment.</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It also means a hybrid is legitimate: translator for the hot path, Kogito service for the long tail.</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Build the registry and the conformance suite first, whichever option wins.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1</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Asynchronous batch API — Spring Boot + Kogito</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Databricks stays a data platform; decisioning is an external service invoked per chunk.</a:t>
            </a:r>
            <a:endParaRPr lang="en-US" sz="1300" dirty="0"/>
          </a:p>
        </p:txBody>
      </p:sp>
      <p:sp>
        <p:nvSpPr>
          <p:cNvPr id="6" name="Shape 4"/>
          <p:cNvSpPr/>
          <p:nvPr/>
        </p:nvSpPr>
        <p:spPr>
          <a:xfrm>
            <a:off x="548640" y="1828800"/>
            <a:ext cx="1965960" cy="960120"/>
          </a:xfrm>
          <a:prstGeom prst="roundRect">
            <a:avLst>
              <a:gd name="adj" fmla="val 7619"/>
            </a:avLst>
          </a:prstGeom>
          <a:solidFill>
            <a:srgbClr val="1E2E3D"/>
          </a:solidFill>
          <a:ln w="12700">
            <a:solidFill>
              <a:srgbClr val="1E2E3D"/>
            </a:solidFill>
            <a:prstDash val="solid"/>
          </a:ln>
          <a:effectLst>
            <a:outerShdw sx="100000" sy="100000" kx="0" ky="0" algn="bl" rotWithShape="0" blurRad="101600" dist="25400" dir="5400000">
              <a:srgbClr val="16222E">
                <a:alpha val="12000"/>
              </a:srgbClr>
            </a:outerShdw>
          </a:effectLst>
        </p:spPr>
      </p:sp>
      <p:sp>
        <p:nvSpPr>
          <p:cNvPr id="7" name="Text 5"/>
          <p:cNvSpPr txBox="1"/>
          <p:nvPr/>
        </p:nvSpPr>
        <p:spPr>
          <a:xfrm>
            <a:off x="54864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Databricks</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job</a:t>
            </a:r>
            <a:endParaRPr lang="en-US" sz="1250" dirty="0"/>
          </a:p>
        </p:txBody>
      </p:sp>
      <p:sp>
        <p:nvSpPr>
          <p:cNvPr id="8" name="Shape 6"/>
          <p:cNvSpPr/>
          <p:nvPr/>
        </p:nvSpPr>
        <p:spPr>
          <a:xfrm>
            <a:off x="2578608" y="2212848"/>
            <a:ext cx="256032" cy="201168"/>
          </a:xfrm>
          <a:prstGeom prst="rightArrow">
            <a:avLst/>
          </a:prstGeom>
          <a:solidFill>
            <a:srgbClr val="9AA7B2"/>
          </a:solidFill>
          <a:ln w="12700">
            <a:solidFill>
              <a:srgbClr val="9AA7B2"/>
            </a:solidFill>
            <a:prstDash val="solid"/>
          </a:ln>
        </p:spPr>
      </p:sp>
      <p:sp>
        <p:nvSpPr>
          <p:cNvPr id="9" name="Shape 7"/>
          <p:cNvSpPr/>
          <p:nvPr/>
        </p:nvSpPr>
        <p:spPr>
          <a:xfrm>
            <a:off x="2880360" y="1828800"/>
            <a:ext cx="1965960" cy="960120"/>
          </a:xfrm>
          <a:prstGeom prst="roundRect">
            <a:avLst>
              <a:gd name="adj" fmla="val 7619"/>
            </a:avLst>
          </a:prstGeom>
          <a:solidFill>
            <a:srgbClr val="037D8C"/>
          </a:solidFill>
          <a:ln w="12700">
            <a:solidFill>
              <a:srgbClr val="037D8C"/>
            </a:solidFill>
            <a:prstDash val="solid"/>
          </a:ln>
          <a:effectLst>
            <a:outerShdw sx="100000" sy="100000" kx="0" ky="0" algn="bl" rotWithShape="0" blurRad="101600" dist="25400" dir="5400000">
              <a:srgbClr val="16222E">
                <a:alpha val="12000"/>
              </a:srgbClr>
            </a:outerShdw>
          </a:effectLst>
        </p:spPr>
      </p:sp>
      <p:sp>
        <p:nvSpPr>
          <p:cNvPr id="10" name="Text 8"/>
          <p:cNvSpPr txBox="1"/>
          <p:nvPr/>
        </p:nvSpPr>
        <p:spPr>
          <a:xfrm>
            <a:off x="288036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S3 bucket</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(presigned)</a:t>
            </a:r>
            <a:endParaRPr lang="en-US" sz="1250" dirty="0"/>
          </a:p>
        </p:txBody>
      </p:sp>
      <p:sp>
        <p:nvSpPr>
          <p:cNvPr id="11" name="Shape 9"/>
          <p:cNvSpPr/>
          <p:nvPr/>
        </p:nvSpPr>
        <p:spPr>
          <a:xfrm>
            <a:off x="4910328" y="2212848"/>
            <a:ext cx="256032" cy="201168"/>
          </a:xfrm>
          <a:prstGeom prst="rightArrow">
            <a:avLst/>
          </a:prstGeom>
          <a:solidFill>
            <a:srgbClr val="9AA7B2"/>
          </a:solidFill>
          <a:ln w="12700">
            <a:solidFill>
              <a:srgbClr val="9AA7B2"/>
            </a:solidFill>
            <a:prstDash val="solid"/>
          </a:ln>
        </p:spPr>
      </p:sp>
      <p:sp>
        <p:nvSpPr>
          <p:cNvPr id="12" name="Shape 10"/>
          <p:cNvSpPr/>
          <p:nvPr/>
        </p:nvSpPr>
        <p:spPr>
          <a:xfrm>
            <a:off x="5212080" y="1828800"/>
            <a:ext cx="1965960" cy="960120"/>
          </a:xfrm>
          <a:prstGeom prst="roundRect">
            <a:avLst>
              <a:gd name="adj" fmla="val 7619"/>
            </a:avLst>
          </a:prstGeom>
          <a:solidFill>
            <a:srgbClr val="037D8C"/>
          </a:solidFill>
          <a:ln w="12700">
            <a:solidFill>
              <a:srgbClr val="037D8C"/>
            </a:solidFill>
            <a:prstDash val="solid"/>
          </a:ln>
          <a:effectLst>
            <a:outerShdw sx="100000" sy="100000" kx="0" ky="0" algn="bl" rotWithShape="0" blurRad="101600" dist="25400" dir="5400000">
              <a:srgbClr val="16222E">
                <a:alpha val="12000"/>
              </a:srgbClr>
            </a:outerShdw>
          </a:effectLst>
        </p:spPr>
      </p:sp>
      <p:sp>
        <p:nvSpPr>
          <p:cNvPr id="13" name="Text 11"/>
          <p:cNvSpPr txBox="1"/>
          <p:nvPr/>
        </p:nvSpPr>
        <p:spPr>
          <a:xfrm>
            <a:off x="521208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Decision API</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Spring Boot</a:t>
            </a:r>
            <a:endParaRPr lang="en-US" sz="1250" dirty="0"/>
          </a:p>
        </p:txBody>
      </p:sp>
      <p:sp>
        <p:nvSpPr>
          <p:cNvPr id="14" name="Shape 12"/>
          <p:cNvSpPr/>
          <p:nvPr/>
        </p:nvSpPr>
        <p:spPr>
          <a:xfrm>
            <a:off x="7242048" y="2212848"/>
            <a:ext cx="256032" cy="201168"/>
          </a:xfrm>
          <a:prstGeom prst="rightArrow">
            <a:avLst/>
          </a:prstGeom>
          <a:solidFill>
            <a:srgbClr val="9AA7B2"/>
          </a:solidFill>
          <a:ln w="12700">
            <a:solidFill>
              <a:srgbClr val="9AA7B2"/>
            </a:solidFill>
            <a:prstDash val="solid"/>
          </a:ln>
        </p:spPr>
      </p:sp>
      <p:sp>
        <p:nvSpPr>
          <p:cNvPr id="15" name="Shape 13"/>
          <p:cNvSpPr/>
          <p:nvPr/>
        </p:nvSpPr>
        <p:spPr>
          <a:xfrm>
            <a:off x="7543800" y="1828800"/>
            <a:ext cx="1965960" cy="960120"/>
          </a:xfrm>
          <a:prstGeom prst="roundRect">
            <a:avLst>
              <a:gd name="adj" fmla="val 7619"/>
            </a:avLst>
          </a:prstGeom>
          <a:solidFill>
            <a:srgbClr val="00A896"/>
          </a:solidFill>
          <a:ln w="12700">
            <a:solidFill>
              <a:srgbClr val="00A896"/>
            </a:solidFill>
            <a:prstDash val="solid"/>
          </a:ln>
          <a:effectLst>
            <a:outerShdw sx="100000" sy="100000" kx="0" ky="0" algn="bl" rotWithShape="0" blurRad="101600" dist="25400" dir="5400000">
              <a:srgbClr val="16222E">
                <a:alpha val="12000"/>
              </a:srgbClr>
            </a:outerShdw>
          </a:effectLst>
        </p:spPr>
      </p:sp>
      <p:sp>
        <p:nvSpPr>
          <p:cNvPr id="16" name="Text 14"/>
          <p:cNvSpPr txBox="1"/>
          <p:nvPr/>
        </p:nvSpPr>
        <p:spPr>
          <a:xfrm>
            <a:off x="754380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Kogito DMN</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worker pool</a:t>
            </a:r>
            <a:endParaRPr lang="en-US" sz="1250" dirty="0"/>
          </a:p>
        </p:txBody>
      </p:sp>
      <p:sp>
        <p:nvSpPr>
          <p:cNvPr id="17" name="Shape 15"/>
          <p:cNvSpPr/>
          <p:nvPr/>
        </p:nvSpPr>
        <p:spPr>
          <a:xfrm>
            <a:off x="9573768" y="2212848"/>
            <a:ext cx="256032" cy="201168"/>
          </a:xfrm>
          <a:prstGeom prst="rightArrow">
            <a:avLst/>
          </a:prstGeom>
          <a:solidFill>
            <a:srgbClr val="9AA7B2"/>
          </a:solidFill>
          <a:ln w="12700">
            <a:solidFill>
              <a:srgbClr val="9AA7B2"/>
            </a:solidFill>
            <a:prstDash val="solid"/>
          </a:ln>
        </p:spPr>
      </p:sp>
      <p:sp>
        <p:nvSpPr>
          <p:cNvPr id="18" name="Shape 16"/>
          <p:cNvSpPr/>
          <p:nvPr/>
        </p:nvSpPr>
        <p:spPr>
          <a:xfrm>
            <a:off x="9875520" y="1828800"/>
            <a:ext cx="1965960" cy="960120"/>
          </a:xfrm>
          <a:prstGeom prst="roundRect">
            <a:avLst>
              <a:gd name="adj" fmla="val 7619"/>
            </a:avLst>
          </a:prstGeom>
          <a:solidFill>
            <a:srgbClr val="1E2E3D"/>
          </a:solidFill>
          <a:ln w="12700">
            <a:solidFill>
              <a:srgbClr val="1E2E3D"/>
            </a:solidFill>
            <a:prstDash val="solid"/>
          </a:ln>
          <a:effectLst>
            <a:outerShdw sx="100000" sy="100000" kx="0" ky="0" algn="bl" rotWithShape="0" blurRad="101600" dist="25400" dir="5400000">
              <a:srgbClr val="16222E">
                <a:alpha val="12000"/>
              </a:srgbClr>
            </a:outerShdw>
          </a:effectLst>
        </p:spPr>
      </p:sp>
      <p:sp>
        <p:nvSpPr>
          <p:cNvPr id="19" name="Text 17"/>
          <p:cNvSpPr txBox="1"/>
          <p:nvPr/>
        </p:nvSpPr>
        <p:spPr>
          <a:xfrm>
            <a:off x="987552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Delta table</a:t>
            </a:r>
            <a:endParaRPr lang="en-US" sz="1250" dirty="0"/>
          </a:p>
        </p:txBody>
      </p:sp>
      <p:sp>
        <p:nvSpPr>
          <p:cNvPr id="20" name="Text 18"/>
          <p:cNvSpPr txBox="1"/>
          <p:nvPr/>
        </p:nvSpPr>
        <p:spPr>
          <a:xfrm>
            <a:off x="548640" y="2880360"/>
            <a:ext cx="11064240" cy="274320"/>
          </a:xfrm>
          <a:prstGeom prst="rect">
            <a:avLst/>
          </a:prstGeom>
          <a:noFill/>
          <a:ln/>
        </p:spPr>
        <p:txBody>
          <a:bodyPr wrap="square" lIns="0" tIns="0" rIns="0" bIns="0" rtlCol="0" anchor="ctr"/>
          <a:lstStyle/>
          <a:p>
            <a:pPr algn="ctr" indent="0" marL="0">
              <a:buNone/>
            </a:pPr>
            <a:r>
              <a:rPr lang="en-US" sz="1150" i="1" dirty="0">
                <a:solidFill>
                  <a:srgbClr val="5A6672"/>
                </a:solidFill>
                <a:latin typeface="Calibri" pitchFamily="34" charset="0"/>
                <a:ea typeface="Calibri" pitchFamily="34" charset="-122"/>
                <a:cs typeface="Calibri" pitchFamily="34" charset="-120"/>
              </a:rPr>
              <a:t>ZIP upload  ·  run  ·  poll  ·  presigned download</a:t>
            </a:r>
            <a:endParaRPr lang="en-US" sz="1150" dirty="0"/>
          </a:p>
        </p:txBody>
      </p:sp>
      <p:sp>
        <p:nvSpPr>
          <p:cNvPr id="21" name="Shape 19"/>
          <p:cNvSpPr/>
          <p:nvPr/>
        </p:nvSpPr>
        <p:spPr>
          <a:xfrm>
            <a:off x="548640" y="3291840"/>
            <a:ext cx="5349240" cy="2606040"/>
          </a:xfrm>
          <a:prstGeom prst="roundRect">
            <a:avLst>
              <a:gd name="adj" fmla="val 28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2" name="Text 20"/>
          <p:cNvSpPr txBox="1"/>
          <p:nvPr/>
        </p:nvSpPr>
        <p:spPr>
          <a:xfrm>
            <a:off x="841248" y="3493008"/>
            <a:ext cx="475488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How it works</a:t>
            </a:r>
            <a:endParaRPr lang="en-US" sz="1700" dirty="0"/>
          </a:p>
        </p:txBody>
      </p:sp>
      <p:sp>
        <p:nvSpPr>
          <p:cNvPr id="23" name="Text 21"/>
          <p:cNvSpPr txBox="1"/>
          <p:nvPr/>
        </p:nvSpPr>
        <p:spPr>
          <a:xfrm>
            <a:off x="841248" y="3877056"/>
            <a:ext cx="4754880" cy="1874520"/>
          </a:xfrm>
          <a:prstGeom prst="rect">
            <a:avLst/>
          </a:prstGeom>
          <a:noFill/>
          <a:ln/>
        </p:spPr>
        <p:txBody>
          <a:bodyPr wrap="square" rtlCol="0" anchor="t"/>
          <a:lstStyle/>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The Spark job partitions 80 M rows into N chunks and writes each as a compressed file.</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It requests a presigned PUT URL per chunk and uploads directly to S3 — the API never streams payload.</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A run is started by reference; the service pulls from S3, evaluates with Kogito, writes results back to S3.</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Databricks polls run status, then reads results through a presigned GET URL.</a:t>
            </a:r>
            <a:endParaRPr lang="en-US" sz="1200" dirty="0"/>
          </a:p>
        </p:txBody>
      </p:sp>
      <p:sp>
        <p:nvSpPr>
          <p:cNvPr id="24" name="Shape 22"/>
          <p:cNvSpPr/>
          <p:nvPr/>
        </p:nvSpPr>
        <p:spPr>
          <a:xfrm>
            <a:off x="6217920" y="3291840"/>
            <a:ext cx="5349240" cy="2606040"/>
          </a:xfrm>
          <a:prstGeom prst="roundRect">
            <a:avLst>
              <a:gd name="adj" fmla="val 28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5" name="Text 23"/>
          <p:cNvSpPr txBox="1"/>
          <p:nvPr/>
        </p:nvSpPr>
        <p:spPr>
          <a:xfrm>
            <a:off x="6510528" y="3493008"/>
            <a:ext cx="475488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Why you would choose it</a:t>
            </a:r>
            <a:endParaRPr lang="en-US" sz="1700" dirty="0"/>
          </a:p>
        </p:txBody>
      </p:sp>
      <p:sp>
        <p:nvSpPr>
          <p:cNvPr id="26" name="Text 24"/>
          <p:cNvSpPr txBox="1"/>
          <p:nvPr/>
        </p:nvSpPr>
        <p:spPr>
          <a:xfrm>
            <a:off x="6510528" y="3877056"/>
            <a:ext cx="4754880" cy="1874520"/>
          </a:xfrm>
          <a:prstGeom prst="rect">
            <a:avLst/>
          </a:prstGeom>
          <a:noFill/>
          <a:ln/>
        </p:spPr>
        <p:txBody>
          <a:bodyPr wrap="square" rtlCol="0" anchor="t"/>
          <a:lstStyle/>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The decision service already exists — or is wanted anyway for online, low-latency scoring.</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Clean separation: the rules team owns a deployable service with its own lifecycle and SLA.</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Reference DMN engine, so semantics are exact by construction.</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No JAR, no cluster policy exception, works on serverless Databricks compute.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1 · ARCHITECTURE</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File and API flows, end to end</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The model travels editor → registry → service; the 80 M rows travel S3-to-S3; the API carries control only.</a:t>
            </a:r>
            <a:endParaRPr lang="en-US" sz="1300" dirty="0"/>
          </a:p>
        </p:txBody>
      </p:sp>
      <p:sp>
        <p:nvSpPr>
          <p:cNvPr id="6" name="Shape 4"/>
          <p:cNvSpPr/>
          <p:nvPr/>
        </p:nvSpPr>
        <p:spPr>
          <a:xfrm>
            <a:off x="6355080" y="502920"/>
            <a:ext cx="310896" cy="0"/>
          </a:xfrm>
          <a:prstGeom prst="line">
            <a:avLst/>
          </a:prstGeom>
          <a:noFill/>
          <a:ln w="28575">
            <a:solidFill>
              <a:srgbClr val="037D8C"/>
            </a:solidFill>
            <a:prstDash val="solid"/>
            <a:tailEnd type="triangle"/>
          </a:ln>
        </p:spPr>
      </p:sp>
      <p:sp>
        <p:nvSpPr>
          <p:cNvPr id="7" name="Text 5"/>
          <p:cNvSpPr txBox="1"/>
          <p:nvPr/>
        </p:nvSpPr>
        <p:spPr>
          <a:xfrm>
            <a:off x="673912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.dmn model flow</a:t>
            </a:r>
            <a:endParaRPr lang="en-US" sz="1000" dirty="0"/>
          </a:p>
        </p:txBody>
      </p:sp>
      <p:sp>
        <p:nvSpPr>
          <p:cNvPr id="8" name="Shape 6"/>
          <p:cNvSpPr/>
          <p:nvPr/>
        </p:nvSpPr>
        <p:spPr>
          <a:xfrm>
            <a:off x="8138160" y="502920"/>
            <a:ext cx="310896" cy="0"/>
          </a:xfrm>
          <a:prstGeom prst="line">
            <a:avLst/>
          </a:prstGeom>
          <a:noFill/>
          <a:ln w="28575">
            <a:solidFill>
              <a:srgbClr val="B0512F"/>
            </a:solidFill>
            <a:prstDash val="solid"/>
            <a:tailEnd type="triangle"/>
          </a:ln>
        </p:spPr>
      </p:sp>
      <p:sp>
        <p:nvSpPr>
          <p:cNvPr id="9" name="Text 7"/>
          <p:cNvSpPr txBox="1"/>
          <p:nvPr/>
        </p:nvSpPr>
        <p:spPr>
          <a:xfrm>
            <a:off x="852220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data file flow</a:t>
            </a:r>
            <a:endParaRPr lang="en-US" sz="1000" dirty="0"/>
          </a:p>
        </p:txBody>
      </p:sp>
      <p:sp>
        <p:nvSpPr>
          <p:cNvPr id="10" name="Shape 8"/>
          <p:cNvSpPr/>
          <p:nvPr/>
        </p:nvSpPr>
        <p:spPr>
          <a:xfrm>
            <a:off x="9921240" y="502920"/>
            <a:ext cx="310896" cy="0"/>
          </a:xfrm>
          <a:prstGeom prst="line">
            <a:avLst/>
          </a:prstGeom>
          <a:noFill/>
          <a:ln w="22225">
            <a:solidFill>
              <a:srgbClr val="5A6672"/>
            </a:solidFill>
            <a:prstDash val="dash"/>
            <a:tailEnd type="triangle"/>
          </a:ln>
        </p:spPr>
      </p:sp>
      <p:sp>
        <p:nvSpPr>
          <p:cNvPr id="11" name="Text 9"/>
          <p:cNvSpPr txBox="1"/>
          <p:nvPr/>
        </p:nvSpPr>
        <p:spPr>
          <a:xfrm>
            <a:off x="1030528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API / control call</a:t>
            </a:r>
            <a:endParaRPr lang="en-US" sz="1000" dirty="0"/>
          </a:p>
        </p:txBody>
      </p:sp>
      <p:sp>
        <p:nvSpPr>
          <p:cNvPr id="12" name="Shape 10"/>
          <p:cNvSpPr/>
          <p:nvPr/>
        </p:nvSpPr>
        <p:spPr>
          <a:xfrm>
            <a:off x="5486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3" name="Text 11"/>
          <p:cNvSpPr txBox="1"/>
          <p:nvPr/>
        </p:nvSpPr>
        <p:spPr>
          <a:xfrm>
            <a:off x="6949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DMN editor web app</a:t>
            </a:r>
            <a:endParaRPr lang="en-US" sz="1200" dirty="0"/>
          </a:p>
        </p:txBody>
      </p:sp>
      <p:sp>
        <p:nvSpPr>
          <p:cNvPr id="14" name="Text 12"/>
          <p:cNvSpPr txBox="1"/>
          <p:nvPr/>
        </p:nvSpPr>
        <p:spPr>
          <a:xfrm>
            <a:off x="6949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React app embedding</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dmn-editor-standalone</a:t>
            </a:r>
            <a:endParaRPr lang="en-US" sz="1000" dirty="0"/>
          </a:p>
        </p:txBody>
      </p:sp>
      <p:sp>
        <p:nvSpPr>
          <p:cNvPr id="15" name="Shape 13"/>
          <p:cNvSpPr/>
          <p:nvPr/>
        </p:nvSpPr>
        <p:spPr>
          <a:xfrm>
            <a:off x="30632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6" name="Text 14"/>
          <p:cNvSpPr txBox="1"/>
          <p:nvPr/>
        </p:nvSpPr>
        <p:spPr>
          <a:xfrm>
            <a:off x="32095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Git repository</a:t>
            </a:r>
            <a:endParaRPr lang="en-US" sz="1200" dirty="0"/>
          </a:p>
        </p:txBody>
      </p:sp>
      <p:sp>
        <p:nvSpPr>
          <p:cNvPr id="17" name="Text 15"/>
          <p:cNvSpPr txBox="1"/>
          <p:nvPr/>
        </p:nvSpPr>
        <p:spPr>
          <a:xfrm>
            <a:off x="32095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.dmn + test scenarios,</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pull-request review</a:t>
            </a:r>
            <a:endParaRPr lang="en-US" sz="1000" dirty="0"/>
          </a:p>
        </p:txBody>
      </p:sp>
      <p:sp>
        <p:nvSpPr>
          <p:cNvPr id="18" name="Shape 16"/>
          <p:cNvSpPr/>
          <p:nvPr/>
        </p:nvSpPr>
        <p:spPr>
          <a:xfrm>
            <a:off x="55778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9" name="Text 17"/>
          <p:cNvSpPr txBox="1"/>
          <p:nvPr/>
        </p:nvSpPr>
        <p:spPr>
          <a:xfrm>
            <a:off x="57241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Model registry</a:t>
            </a:r>
            <a:endParaRPr lang="en-US" sz="1200" dirty="0"/>
          </a:p>
        </p:txBody>
      </p:sp>
      <p:sp>
        <p:nvSpPr>
          <p:cNvPr id="20" name="Text 18"/>
          <p:cNvSpPr txBox="1"/>
          <p:nvPr/>
        </p:nvSpPr>
        <p:spPr>
          <a:xfrm>
            <a:off x="57241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Signed, versioned bundle</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S3 / Unity Catalog Volume</a:t>
            </a:r>
            <a:endParaRPr lang="en-US" sz="1000" dirty="0"/>
          </a:p>
        </p:txBody>
      </p:sp>
      <p:sp>
        <p:nvSpPr>
          <p:cNvPr id="21" name="Shape 19"/>
          <p:cNvSpPr/>
          <p:nvPr/>
        </p:nvSpPr>
        <p:spPr>
          <a:xfrm>
            <a:off x="2788920" y="2171700"/>
            <a:ext cx="274320" cy="0"/>
          </a:xfrm>
          <a:prstGeom prst="line">
            <a:avLst/>
          </a:prstGeom>
          <a:noFill/>
          <a:ln w="28575">
            <a:solidFill>
              <a:srgbClr val="037D8C"/>
            </a:solidFill>
            <a:prstDash val="solid"/>
            <a:tailEnd type="triangle"/>
          </a:ln>
        </p:spPr>
      </p:sp>
      <p:sp>
        <p:nvSpPr>
          <p:cNvPr id="22" name="Shape 20"/>
          <p:cNvSpPr/>
          <p:nvPr/>
        </p:nvSpPr>
        <p:spPr>
          <a:xfrm>
            <a:off x="5303520" y="2171700"/>
            <a:ext cx="274320" cy="0"/>
          </a:xfrm>
          <a:prstGeom prst="line">
            <a:avLst/>
          </a:prstGeom>
          <a:noFill/>
          <a:ln w="28575">
            <a:solidFill>
              <a:srgbClr val="037D8C"/>
            </a:solidFill>
            <a:prstDash val="solid"/>
            <a:tailEnd type="triangle"/>
          </a:ln>
        </p:spPr>
      </p:sp>
      <p:sp>
        <p:nvSpPr>
          <p:cNvPr id="23" name="Shape 21"/>
          <p:cNvSpPr/>
          <p:nvPr/>
        </p:nvSpPr>
        <p:spPr>
          <a:xfrm>
            <a:off x="7818120" y="2171700"/>
            <a:ext cx="2377440" cy="0"/>
          </a:xfrm>
          <a:prstGeom prst="line">
            <a:avLst/>
          </a:prstGeom>
          <a:noFill/>
          <a:ln w="28575">
            <a:solidFill>
              <a:srgbClr val="037D8C"/>
            </a:solidFill>
            <a:prstDash val="solid"/>
          </a:ln>
        </p:spPr>
      </p:sp>
      <p:sp>
        <p:nvSpPr>
          <p:cNvPr id="24" name="Shape 22"/>
          <p:cNvSpPr/>
          <p:nvPr/>
        </p:nvSpPr>
        <p:spPr>
          <a:xfrm>
            <a:off x="10195560" y="2171700"/>
            <a:ext cx="0" cy="525780"/>
          </a:xfrm>
          <a:prstGeom prst="line">
            <a:avLst/>
          </a:prstGeom>
          <a:noFill/>
          <a:ln w="28575">
            <a:solidFill>
              <a:srgbClr val="037D8C"/>
            </a:solidFill>
            <a:prstDash val="solid"/>
            <a:tailEnd type="triangle"/>
          </a:ln>
        </p:spPr>
      </p:sp>
      <p:sp>
        <p:nvSpPr>
          <p:cNvPr id="25" name="Shape 23"/>
          <p:cNvSpPr/>
          <p:nvPr/>
        </p:nvSpPr>
        <p:spPr>
          <a:xfrm>
            <a:off x="8732520" y="1883664"/>
            <a:ext cx="256032" cy="256032"/>
          </a:xfrm>
          <a:prstGeom prst="ellipse">
            <a:avLst/>
          </a:prstGeom>
          <a:solidFill>
            <a:srgbClr val="037D8C"/>
          </a:solidFill>
          <a:ln w="12700">
            <a:solidFill>
              <a:srgbClr val="037D8C"/>
            </a:solidFill>
            <a:prstDash val="solid"/>
          </a:ln>
        </p:spPr>
      </p:sp>
      <p:sp>
        <p:nvSpPr>
          <p:cNvPr id="26" name="Text 24"/>
          <p:cNvSpPr txBox="1"/>
          <p:nvPr/>
        </p:nvSpPr>
        <p:spPr>
          <a:xfrm>
            <a:off x="8732520" y="1883664"/>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7" name="Shape 25"/>
          <p:cNvSpPr/>
          <p:nvPr/>
        </p:nvSpPr>
        <p:spPr>
          <a:xfrm>
            <a:off x="8778240" y="2697480"/>
            <a:ext cx="2834640" cy="2560320"/>
          </a:xfrm>
          <a:prstGeom prst="roundRect">
            <a:avLst>
              <a:gd name="adj" fmla="val 2500"/>
            </a:avLst>
          </a:prstGeom>
          <a:solidFill>
            <a:srgbClr val="037D8C"/>
          </a:solidFill>
          <a:ln w="12700">
            <a:solidFill>
              <a:srgbClr val="037D8C"/>
            </a:solidFill>
            <a:prstDash val="solid"/>
          </a:ln>
          <a:effectLst>
            <a:outerShdw sx="100000" sy="100000" kx="0" ky="0" algn="bl" rotWithShape="0" blurRad="76200" dist="19050" dir="5400000">
              <a:srgbClr val="16222E">
                <a:alpha val="10000"/>
              </a:srgbClr>
            </a:outerShdw>
          </a:effectLst>
        </p:spPr>
      </p:sp>
      <p:sp>
        <p:nvSpPr>
          <p:cNvPr id="28" name="Text 26"/>
          <p:cNvSpPr txBox="1"/>
          <p:nvPr/>
        </p:nvSpPr>
        <p:spPr>
          <a:xfrm>
            <a:off x="8924544" y="2807208"/>
            <a:ext cx="254203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Decision service</a:t>
            </a:r>
            <a:endParaRPr lang="en-US" sz="1200" dirty="0"/>
          </a:p>
        </p:txBody>
      </p:sp>
      <p:sp>
        <p:nvSpPr>
          <p:cNvPr id="29" name="Text 27"/>
          <p:cNvSpPr txBox="1"/>
          <p:nvPr/>
        </p:nvSpPr>
        <p:spPr>
          <a:xfrm>
            <a:off x="8924544" y="3099816"/>
            <a:ext cx="2542032" cy="2029968"/>
          </a:xfrm>
          <a:prstGeom prst="rect">
            <a:avLst/>
          </a:prstGeom>
          <a:noFill/>
          <a:ln/>
        </p:spPr>
        <p:txBody>
          <a:bodyPr wrap="square" lIns="0" tIns="0" rIns="0" bIns="0" rtlCol="0" anchor="t"/>
          <a:lstStyle/>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Spring Boot decision API</a:t>
            </a:r>
            <a:endParaRPr lang="en-US" sz="1000" dirty="0"/>
          </a:p>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 run registry &amp; status store</a:t>
            </a:r>
            <a:endParaRPr lang="en-US" sz="1000" dirty="0"/>
          </a:p>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 presigned-URL broker</a:t>
            </a:r>
            <a:endParaRPr lang="en-US" sz="1000" dirty="0"/>
          </a:p>
          <a:p>
            <a:pPr indent="0" marL="0">
              <a:lnSpc>
                <a:spcPts val="1250"/>
              </a:lnSpc>
              <a:buNone/>
            </a:pPr>
            <a:endParaRPr lang="en-US" sz="1000" dirty="0"/>
          </a:p>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Kogito DMN worker pool</a:t>
            </a:r>
            <a:endParaRPr lang="en-US" sz="1000" dirty="0"/>
          </a:p>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 DMNRuntime per worker</a:t>
            </a:r>
            <a:endParaRPr lang="en-US" sz="1000" dirty="0"/>
          </a:p>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 model bundle cache,</a:t>
            </a:r>
            <a:endParaRPr lang="en-US" sz="1000" dirty="0"/>
          </a:p>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  version-pinned per run</a:t>
            </a:r>
            <a:endParaRPr lang="en-US" sz="1000" dirty="0"/>
          </a:p>
        </p:txBody>
      </p:sp>
      <p:sp>
        <p:nvSpPr>
          <p:cNvPr id="30" name="Shape 28"/>
          <p:cNvSpPr/>
          <p:nvPr/>
        </p:nvSpPr>
        <p:spPr>
          <a:xfrm>
            <a:off x="548640" y="2926080"/>
            <a:ext cx="3337560" cy="2331720"/>
          </a:xfrm>
          <a:prstGeom prst="roundRect">
            <a:avLst>
              <a:gd name="adj" fmla="val 2745"/>
            </a:avLst>
          </a:prstGeom>
          <a:solidFill>
            <a:srgbClr val="1E2E3D"/>
          </a:solidFill>
          <a:ln w="12700">
            <a:solidFill>
              <a:srgbClr val="1E2E3D"/>
            </a:solidFill>
            <a:prstDash val="solid"/>
          </a:ln>
          <a:effectLst>
            <a:outerShdw sx="100000" sy="100000" kx="0" ky="0" algn="bl" rotWithShape="0" blurRad="76200" dist="19050" dir="5400000">
              <a:srgbClr val="16222E">
                <a:alpha val="10000"/>
              </a:srgbClr>
            </a:outerShdw>
          </a:effectLst>
        </p:spPr>
      </p:sp>
      <p:sp>
        <p:nvSpPr>
          <p:cNvPr id="31" name="Text 29"/>
          <p:cNvSpPr txBox="1"/>
          <p:nvPr/>
        </p:nvSpPr>
        <p:spPr>
          <a:xfrm>
            <a:off x="694944" y="3035808"/>
            <a:ext cx="304495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Databricks</a:t>
            </a:r>
            <a:endParaRPr lang="en-US" sz="1200" dirty="0"/>
          </a:p>
        </p:txBody>
      </p:sp>
      <p:sp>
        <p:nvSpPr>
          <p:cNvPr id="32" name="Text 30"/>
          <p:cNvSpPr txBox="1"/>
          <p:nvPr/>
        </p:nvSpPr>
        <p:spPr>
          <a:xfrm>
            <a:off x="694944" y="3328416"/>
            <a:ext cx="3044952" cy="1801368"/>
          </a:xfrm>
          <a:prstGeom prst="rect">
            <a:avLst/>
          </a:prstGeom>
          <a:noFill/>
          <a:ln/>
        </p:spPr>
        <p:txBody>
          <a:bodyPr wrap="square" lIns="0" tIns="0" rIns="0" bIns="0" rtlCol="0" anchor="t"/>
          <a:lstStyle/>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Spark job over the 80 M-row</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Delta table</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 partition into 80–320 chunks</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 write chunk files</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 poll run status</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 merge results → result Delta</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  table (+ model version)</a:t>
            </a:r>
            <a:endParaRPr lang="en-US" sz="1000" dirty="0"/>
          </a:p>
        </p:txBody>
      </p:sp>
      <p:sp>
        <p:nvSpPr>
          <p:cNvPr id="33" name="Shape 31"/>
          <p:cNvSpPr/>
          <p:nvPr/>
        </p:nvSpPr>
        <p:spPr>
          <a:xfrm>
            <a:off x="4617720" y="3794760"/>
            <a:ext cx="3063240" cy="1463040"/>
          </a:xfrm>
          <a:prstGeom prst="roundRect">
            <a:avLst>
              <a:gd name="adj" fmla="val 4375"/>
            </a:avLst>
          </a:prstGeom>
          <a:solidFill>
            <a:srgbClr val="FAEFE9"/>
          </a:solidFill>
          <a:ln w="12700">
            <a:solidFill>
              <a:srgbClr val="FAEFE9"/>
            </a:solidFill>
            <a:prstDash val="solid"/>
          </a:ln>
          <a:effectLst>
            <a:outerShdw sx="100000" sy="100000" kx="0" ky="0" algn="bl" rotWithShape="0" blurRad="76200" dist="19050" dir="5400000">
              <a:srgbClr val="16222E">
                <a:alpha val="10000"/>
              </a:srgbClr>
            </a:outerShdw>
          </a:effectLst>
        </p:spPr>
      </p:sp>
      <p:sp>
        <p:nvSpPr>
          <p:cNvPr id="34" name="Text 32"/>
          <p:cNvSpPr txBox="1"/>
          <p:nvPr/>
        </p:nvSpPr>
        <p:spPr>
          <a:xfrm>
            <a:off x="4764024" y="3904488"/>
            <a:ext cx="2770632" cy="274320"/>
          </a:xfrm>
          <a:prstGeom prst="rect">
            <a:avLst/>
          </a:prstGeom>
          <a:noFill/>
          <a:ln/>
        </p:spPr>
        <p:txBody>
          <a:bodyPr wrap="square" lIns="0" tIns="0" rIns="0" bIns="0" rtlCol="0" anchor="t"/>
          <a:lstStyle/>
          <a:p>
            <a:pPr indent="0" marL="0">
              <a:lnSpc>
                <a:spcPts val="1400"/>
              </a:lnSpc>
              <a:buNone/>
            </a:pPr>
            <a:r>
              <a:rPr lang="en-US" sz="1200" b="1" dirty="0">
                <a:solidFill>
                  <a:srgbClr val="8A3A20"/>
                </a:solidFill>
                <a:latin typeface="Calibri" pitchFamily="34" charset="0"/>
                <a:ea typeface="Calibri" pitchFamily="34" charset="-122"/>
                <a:cs typeface="Calibri" pitchFamily="34" charset="-120"/>
              </a:rPr>
              <a:t>S3 payload bucket</a:t>
            </a:r>
            <a:endParaRPr lang="en-US" sz="1200" dirty="0"/>
          </a:p>
        </p:txBody>
      </p:sp>
      <p:sp>
        <p:nvSpPr>
          <p:cNvPr id="35" name="Text 33"/>
          <p:cNvSpPr txBox="1"/>
          <p:nvPr/>
        </p:nvSpPr>
        <p:spPr>
          <a:xfrm>
            <a:off x="4764024" y="4197096"/>
            <a:ext cx="2770632" cy="932688"/>
          </a:xfrm>
          <a:prstGeom prst="rect">
            <a:avLst/>
          </a:prstGeom>
          <a:noFill/>
          <a:ln/>
        </p:spPr>
        <p:txBody>
          <a:bodyPr wrap="square" lIns="0" tIns="0" rIns="0" bIns="0" rtlCol="0" anchor="t"/>
          <a:lstStyle/>
          <a:p>
            <a:pPr indent="0" marL="0">
              <a:lnSpc>
                <a:spcPts val="1250"/>
              </a:lnSpc>
              <a:buNone/>
            </a:pPr>
            <a:r>
              <a:rPr lang="en-US" sz="1000" dirty="0">
                <a:solidFill>
                  <a:srgbClr val="7A5A4E"/>
                </a:solidFill>
                <a:latin typeface="Calibri" pitchFamily="34" charset="0"/>
                <a:ea typeface="Calibri" pitchFamily="34" charset="-122"/>
                <a:cs typeface="Calibri" pitchFamily="34" charset="-120"/>
              </a:rPr>
              <a:t>inbound/ · outbound/</a:t>
            </a:r>
            <a:endParaRPr lang="en-US" sz="1000" dirty="0"/>
          </a:p>
          <a:p>
            <a:pPr indent="0" marL="0">
              <a:lnSpc>
                <a:spcPts val="1250"/>
              </a:lnSpc>
              <a:buNone/>
            </a:pPr>
            <a:r>
              <a:rPr lang="en-US" sz="1000" dirty="0">
                <a:solidFill>
                  <a:srgbClr val="7A5A4E"/>
                </a:solidFill>
                <a:latin typeface="Calibri" pitchFamily="34" charset="0"/>
                <a:ea typeface="Calibri" pitchFamily="34" charset="-122"/>
                <a:cs typeface="Calibri" pitchFamily="34" charset="-120"/>
              </a:rPr>
              <a:t>presigned PUT and GET</a:t>
            </a:r>
            <a:endParaRPr lang="en-US" sz="1000" dirty="0"/>
          </a:p>
          <a:p>
            <a:pPr indent="0" marL="0">
              <a:lnSpc>
                <a:spcPts val="1250"/>
              </a:lnSpc>
              <a:buNone/>
            </a:pPr>
            <a:r>
              <a:rPr lang="en-US" sz="1000" dirty="0">
                <a:solidFill>
                  <a:srgbClr val="7A5A4E"/>
                </a:solidFill>
                <a:latin typeface="Calibri" pitchFamily="34" charset="0"/>
                <a:ea typeface="Calibri" pitchFamily="34" charset="-122"/>
                <a:cs typeface="Calibri" pitchFamily="34" charset="-120"/>
              </a:rPr>
              <a:t>short TTL, SSE-KMS</a:t>
            </a:r>
            <a:endParaRPr lang="en-US" sz="1000" dirty="0"/>
          </a:p>
        </p:txBody>
      </p:sp>
      <p:sp>
        <p:nvSpPr>
          <p:cNvPr id="36" name="Shape 34"/>
          <p:cNvSpPr/>
          <p:nvPr/>
        </p:nvSpPr>
        <p:spPr>
          <a:xfrm>
            <a:off x="3886200" y="3310128"/>
            <a:ext cx="4892040" cy="0"/>
          </a:xfrm>
          <a:prstGeom prst="line">
            <a:avLst/>
          </a:prstGeom>
          <a:noFill/>
          <a:ln w="22225">
            <a:solidFill>
              <a:srgbClr val="5A6672"/>
            </a:solidFill>
            <a:prstDash val="dash"/>
            <a:tailEnd type="triangle"/>
          </a:ln>
        </p:spPr>
      </p:sp>
      <p:sp>
        <p:nvSpPr>
          <p:cNvPr id="37" name="Shape 35"/>
          <p:cNvSpPr/>
          <p:nvPr/>
        </p:nvSpPr>
        <p:spPr>
          <a:xfrm>
            <a:off x="5989320" y="3017520"/>
            <a:ext cx="256032" cy="256032"/>
          </a:xfrm>
          <a:prstGeom prst="ellipse">
            <a:avLst/>
          </a:prstGeom>
          <a:solidFill>
            <a:srgbClr val="5A6672"/>
          </a:solidFill>
          <a:ln w="12700">
            <a:solidFill>
              <a:srgbClr val="5A6672"/>
            </a:solidFill>
            <a:prstDash val="solid"/>
          </a:ln>
        </p:spPr>
      </p:sp>
      <p:sp>
        <p:nvSpPr>
          <p:cNvPr id="38" name="Text 36"/>
          <p:cNvSpPr txBox="1"/>
          <p:nvPr/>
        </p:nvSpPr>
        <p:spPr>
          <a:xfrm>
            <a:off x="5989320" y="30175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9" name="Shape 37"/>
          <p:cNvSpPr/>
          <p:nvPr/>
        </p:nvSpPr>
        <p:spPr>
          <a:xfrm>
            <a:off x="3886200" y="4224528"/>
            <a:ext cx="731520" cy="0"/>
          </a:xfrm>
          <a:prstGeom prst="line">
            <a:avLst/>
          </a:prstGeom>
          <a:noFill/>
          <a:ln w="28575">
            <a:solidFill>
              <a:srgbClr val="B0512F"/>
            </a:solidFill>
            <a:prstDash val="solid"/>
            <a:tailEnd type="triangle"/>
          </a:ln>
        </p:spPr>
      </p:sp>
      <p:sp>
        <p:nvSpPr>
          <p:cNvPr id="40" name="Shape 38"/>
          <p:cNvSpPr/>
          <p:nvPr/>
        </p:nvSpPr>
        <p:spPr>
          <a:xfrm>
            <a:off x="4123944" y="3931920"/>
            <a:ext cx="256032" cy="256032"/>
          </a:xfrm>
          <a:prstGeom prst="ellipse">
            <a:avLst/>
          </a:prstGeom>
          <a:solidFill>
            <a:srgbClr val="B0512F"/>
          </a:solidFill>
          <a:ln w="12700">
            <a:solidFill>
              <a:srgbClr val="B0512F"/>
            </a:solidFill>
            <a:prstDash val="solid"/>
          </a:ln>
        </p:spPr>
      </p:sp>
      <p:sp>
        <p:nvSpPr>
          <p:cNvPr id="41" name="Text 39"/>
          <p:cNvSpPr txBox="1"/>
          <p:nvPr/>
        </p:nvSpPr>
        <p:spPr>
          <a:xfrm>
            <a:off x="4123944" y="39319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2" name="Shape 40"/>
          <p:cNvSpPr/>
          <p:nvPr/>
        </p:nvSpPr>
        <p:spPr>
          <a:xfrm>
            <a:off x="7680960" y="4224528"/>
            <a:ext cx="1097280" cy="0"/>
          </a:xfrm>
          <a:prstGeom prst="line">
            <a:avLst/>
          </a:prstGeom>
          <a:noFill/>
          <a:ln w="28575">
            <a:solidFill>
              <a:srgbClr val="B0512F"/>
            </a:solidFill>
            <a:prstDash val="solid"/>
            <a:tailEnd type="triangle"/>
          </a:ln>
        </p:spPr>
      </p:sp>
      <p:sp>
        <p:nvSpPr>
          <p:cNvPr id="43" name="Shape 41"/>
          <p:cNvSpPr/>
          <p:nvPr/>
        </p:nvSpPr>
        <p:spPr>
          <a:xfrm>
            <a:off x="8101584" y="3931920"/>
            <a:ext cx="256032" cy="256032"/>
          </a:xfrm>
          <a:prstGeom prst="ellipse">
            <a:avLst/>
          </a:prstGeom>
          <a:solidFill>
            <a:srgbClr val="B0512F"/>
          </a:solidFill>
          <a:ln w="12700">
            <a:solidFill>
              <a:srgbClr val="B0512F"/>
            </a:solidFill>
            <a:prstDash val="solid"/>
          </a:ln>
        </p:spPr>
      </p:sp>
      <p:sp>
        <p:nvSpPr>
          <p:cNvPr id="44" name="Text 42"/>
          <p:cNvSpPr txBox="1"/>
          <p:nvPr/>
        </p:nvSpPr>
        <p:spPr>
          <a:xfrm>
            <a:off x="8101584" y="39319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5" name="Shape 43"/>
          <p:cNvSpPr/>
          <p:nvPr/>
        </p:nvSpPr>
        <p:spPr>
          <a:xfrm>
            <a:off x="7680960" y="4828032"/>
            <a:ext cx="1097280" cy="0"/>
          </a:xfrm>
          <a:prstGeom prst="line">
            <a:avLst/>
          </a:prstGeom>
          <a:noFill/>
          <a:ln w="28575">
            <a:solidFill>
              <a:srgbClr val="B0512F"/>
            </a:solidFill>
            <a:prstDash val="solid"/>
            <a:headEnd type="triangle"/>
          </a:ln>
        </p:spPr>
      </p:sp>
      <p:sp>
        <p:nvSpPr>
          <p:cNvPr id="46" name="Shape 44"/>
          <p:cNvSpPr/>
          <p:nvPr/>
        </p:nvSpPr>
        <p:spPr>
          <a:xfrm>
            <a:off x="3886200" y="4828032"/>
            <a:ext cx="731520" cy="0"/>
          </a:xfrm>
          <a:prstGeom prst="line">
            <a:avLst/>
          </a:prstGeom>
          <a:noFill/>
          <a:ln w="28575">
            <a:solidFill>
              <a:srgbClr val="B0512F"/>
            </a:solidFill>
            <a:prstDash val="solid"/>
            <a:headEnd type="triangle"/>
          </a:ln>
        </p:spPr>
      </p:sp>
      <p:sp>
        <p:nvSpPr>
          <p:cNvPr id="47" name="Shape 45"/>
          <p:cNvSpPr/>
          <p:nvPr/>
        </p:nvSpPr>
        <p:spPr>
          <a:xfrm>
            <a:off x="4123944" y="4535424"/>
            <a:ext cx="256032" cy="256032"/>
          </a:xfrm>
          <a:prstGeom prst="ellipse">
            <a:avLst/>
          </a:prstGeom>
          <a:solidFill>
            <a:srgbClr val="B0512F"/>
          </a:solidFill>
          <a:ln w="12700">
            <a:solidFill>
              <a:srgbClr val="B0512F"/>
            </a:solidFill>
            <a:prstDash val="solid"/>
          </a:ln>
        </p:spPr>
      </p:sp>
      <p:sp>
        <p:nvSpPr>
          <p:cNvPr id="48" name="Text 46"/>
          <p:cNvSpPr txBox="1"/>
          <p:nvPr/>
        </p:nvSpPr>
        <p:spPr>
          <a:xfrm>
            <a:off x="4123944" y="4535424"/>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9" name="Shape 47"/>
          <p:cNvSpPr/>
          <p:nvPr/>
        </p:nvSpPr>
        <p:spPr>
          <a:xfrm>
            <a:off x="548640" y="5532120"/>
            <a:ext cx="256032" cy="256032"/>
          </a:xfrm>
          <a:prstGeom prst="ellipse">
            <a:avLst/>
          </a:prstGeom>
          <a:solidFill>
            <a:srgbClr val="037D8C"/>
          </a:solidFill>
          <a:ln w="12700">
            <a:solidFill>
              <a:srgbClr val="037D8C"/>
            </a:solidFill>
            <a:prstDash val="solid"/>
          </a:ln>
        </p:spPr>
      </p:sp>
      <p:sp>
        <p:nvSpPr>
          <p:cNvPr id="50" name="Text 48"/>
          <p:cNvSpPr txBox="1"/>
          <p:nvPr/>
        </p:nvSpPr>
        <p:spPr>
          <a:xfrm>
            <a:off x="548640"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1" name="Text 49"/>
          <p:cNvSpPr txBox="1"/>
          <p:nvPr/>
        </p:nvSpPr>
        <p:spPr>
          <a:xfrm>
            <a:off x="896112" y="5504688"/>
            <a:ext cx="175564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CI publishes a versioned .dmn bundle to the registry; the service pulls it and pins the version for the whole run.</a:t>
            </a:r>
            <a:endParaRPr lang="en-US" sz="950" dirty="0"/>
          </a:p>
        </p:txBody>
      </p:sp>
      <p:sp>
        <p:nvSpPr>
          <p:cNvPr id="52" name="Shape 50"/>
          <p:cNvSpPr/>
          <p:nvPr/>
        </p:nvSpPr>
        <p:spPr>
          <a:xfrm>
            <a:off x="2788920" y="5532120"/>
            <a:ext cx="256032" cy="256032"/>
          </a:xfrm>
          <a:prstGeom prst="ellipse">
            <a:avLst/>
          </a:prstGeom>
          <a:solidFill>
            <a:srgbClr val="B0512F"/>
          </a:solidFill>
          <a:ln w="12700">
            <a:solidFill>
              <a:srgbClr val="B0512F"/>
            </a:solidFill>
            <a:prstDash val="solid"/>
          </a:ln>
        </p:spPr>
      </p:sp>
      <p:sp>
        <p:nvSpPr>
          <p:cNvPr id="53" name="Text 51"/>
          <p:cNvSpPr txBox="1"/>
          <p:nvPr/>
        </p:nvSpPr>
        <p:spPr>
          <a:xfrm>
            <a:off x="2788920"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4" name="Text 52"/>
          <p:cNvSpPr txBox="1"/>
          <p:nvPr/>
        </p:nvSpPr>
        <p:spPr>
          <a:xfrm>
            <a:off x="3136392" y="5504688"/>
            <a:ext cx="175564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Spark writes 80–320 chunk files straight to S3 through presigned PUT URLs — never through the API.</a:t>
            </a:r>
            <a:endParaRPr lang="en-US" sz="950" dirty="0"/>
          </a:p>
        </p:txBody>
      </p:sp>
      <p:sp>
        <p:nvSpPr>
          <p:cNvPr id="55" name="Shape 53"/>
          <p:cNvSpPr/>
          <p:nvPr/>
        </p:nvSpPr>
        <p:spPr>
          <a:xfrm>
            <a:off x="5029200" y="5532120"/>
            <a:ext cx="256032" cy="256032"/>
          </a:xfrm>
          <a:prstGeom prst="ellipse">
            <a:avLst/>
          </a:prstGeom>
          <a:solidFill>
            <a:srgbClr val="B0512F"/>
          </a:solidFill>
          <a:ln w="12700">
            <a:solidFill>
              <a:srgbClr val="B0512F"/>
            </a:solidFill>
            <a:prstDash val="solid"/>
          </a:ln>
        </p:spPr>
      </p:sp>
      <p:sp>
        <p:nvSpPr>
          <p:cNvPr id="56" name="Text 54"/>
          <p:cNvSpPr txBox="1"/>
          <p:nvPr/>
        </p:nvSpPr>
        <p:spPr>
          <a:xfrm>
            <a:off x="5029200"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7" name="Text 55"/>
          <p:cNvSpPr txBox="1"/>
          <p:nvPr/>
        </p:nvSpPr>
        <p:spPr>
          <a:xfrm>
            <a:off x="5376672" y="5504688"/>
            <a:ext cx="175564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Workers pull chunks from S3, evaluate them with Kogito and write result files back to the outbound prefix.</a:t>
            </a:r>
            <a:endParaRPr lang="en-US" sz="950" dirty="0"/>
          </a:p>
        </p:txBody>
      </p:sp>
      <p:sp>
        <p:nvSpPr>
          <p:cNvPr id="58" name="Shape 56"/>
          <p:cNvSpPr/>
          <p:nvPr/>
        </p:nvSpPr>
        <p:spPr>
          <a:xfrm>
            <a:off x="7269480" y="5532120"/>
            <a:ext cx="256032" cy="256032"/>
          </a:xfrm>
          <a:prstGeom prst="ellipse">
            <a:avLst/>
          </a:prstGeom>
          <a:solidFill>
            <a:srgbClr val="5A6672"/>
          </a:solidFill>
          <a:ln w="12700">
            <a:solidFill>
              <a:srgbClr val="5A6672"/>
            </a:solidFill>
            <a:prstDash val="solid"/>
          </a:ln>
        </p:spPr>
      </p:sp>
      <p:sp>
        <p:nvSpPr>
          <p:cNvPr id="59" name="Text 57"/>
          <p:cNvSpPr txBox="1"/>
          <p:nvPr/>
        </p:nvSpPr>
        <p:spPr>
          <a:xfrm>
            <a:off x="7269480"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0" name="Text 58"/>
          <p:cNvSpPr txBox="1"/>
          <p:nvPr/>
        </p:nvSpPr>
        <p:spPr>
          <a:xfrm>
            <a:off x="7616952" y="5504688"/>
            <a:ext cx="175564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REST carries control only: create run, start, poll status, fetch result URLs. Payload never transits it.</a:t>
            </a:r>
            <a:endParaRPr lang="en-US" sz="950" dirty="0"/>
          </a:p>
        </p:txBody>
      </p:sp>
      <p:sp>
        <p:nvSpPr>
          <p:cNvPr id="61" name="Shape 59"/>
          <p:cNvSpPr/>
          <p:nvPr/>
        </p:nvSpPr>
        <p:spPr>
          <a:xfrm>
            <a:off x="9509760" y="5532120"/>
            <a:ext cx="256032" cy="256032"/>
          </a:xfrm>
          <a:prstGeom prst="ellipse">
            <a:avLst/>
          </a:prstGeom>
          <a:solidFill>
            <a:srgbClr val="B0512F"/>
          </a:solidFill>
          <a:ln w="12700">
            <a:solidFill>
              <a:srgbClr val="B0512F"/>
            </a:solidFill>
            <a:prstDash val="solid"/>
          </a:ln>
        </p:spPr>
      </p:sp>
      <p:sp>
        <p:nvSpPr>
          <p:cNvPr id="62" name="Text 60"/>
          <p:cNvSpPr txBox="1"/>
          <p:nvPr/>
        </p:nvSpPr>
        <p:spPr>
          <a:xfrm>
            <a:off x="9509760"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3" name="Text 61"/>
          <p:cNvSpPr txBox="1"/>
          <p:nvPr/>
        </p:nvSpPr>
        <p:spPr>
          <a:xfrm>
            <a:off x="9857232" y="5504688"/>
            <a:ext cx="175564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Databricks reads the result files via presigned GET and merges them into the result Delta table.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1 · CONTRACT</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five-call protocol</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Payload never transits the API. The API brokers presigned URLs and run state.</a:t>
            </a:r>
            <a:endParaRPr lang="en-US" sz="1300" dirty="0"/>
          </a:p>
        </p:txBody>
      </p:sp>
      <p:sp>
        <p:nvSpPr>
          <p:cNvPr id="6" name="Shape 4"/>
          <p:cNvSpPr/>
          <p:nvPr/>
        </p:nvSpPr>
        <p:spPr>
          <a:xfrm>
            <a:off x="548640" y="1691640"/>
            <a:ext cx="7863840" cy="786384"/>
          </a:xfrm>
          <a:prstGeom prst="roundRect">
            <a:avLst>
              <a:gd name="adj" fmla="val 9302"/>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7" name="Shape 5"/>
          <p:cNvSpPr/>
          <p:nvPr/>
        </p:nvSpPr>
        <p:spPr>
          <a:xfrm>
            <a:off x="768096" y="1892808"/>
            <a:ext cx="384048" cy="384048"/>
          </a:xfrm>
          <a:prstGeom prst="ellipse">
            <a:avLst/>
          </a:prstGeom>
          <a:solidFill>
            <a:srgbClr val="037D8C"/>
          </a:solidFill>
          <a:ln w="12700">
            <a:solidFill>
              <a:srgbClr val="037D8C"/>
            </a:solidFill>
            <a:prstDash val="solid"/>
          </a:ln>
        </p:spPr>
      </p:sp>
      <p:sp>
        <p:nvSpPr>
          <p:cNvPr id="8" name="Text 6"/>
          <p:cNvSpPr txBox="1"/>
          <p:nvPr/>
        </p:nvSpPr>
        <p:spPr>
          <a:xfrm>
            <a:off x="768096" y="1892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Shape 7"/>
          <p:cNvSpPr/>
          <p:nvPr/>
        </p:nvSpPr>
        <p:spPr>
          <a:xfrm>
            <a:off x="1298448" y="1837944"/>
            <a:ext cx="658368" cy="274320"/>
          </a:xfrm>
          <a:prstGeom prst="roundRect">
            <a:avLst>
              <a:gd name="adj" fmla="val 16667"/>
            </a:avLst>
          </a:prstGeom>
          <a:solidFill>
            <a:srgbClr val="16222E"/>
          </a:solidFill>
          <a:ln w="12700">
            <a:solidFill>
              <a:srgbClr val="16222E"/>
            </a:solidFill>
            <a:prstDash val="solid"/>
          </a:ln>
        </p:spPr>
      </p:sp>
      <p:sp>
        <p:nvSpPr>
          <p:cNvPr id="10" name="Text 8"/>
          <p:cNvSpPr txBox="1"/>
          <p:nvPr/>
        </p:nvSpPr>
        <p:spPr>
          <a:xfrm>
            <a:off x="1298448" y="1837944"/>
            <a:ext cx="658368" cy="274320"/>
          </a:xfrm>
          <a:prstGeom prst="rect">
            <a:avLst/>
          </a:prstGeom>
          <a:noFill/>
          <a:ln/>
        </p:spPr>
        <p:txBody>
          <a:bodyPr wrap="square" lIns="0" tIns="0" rIns="0" bIns="0" rtlCol="0" anchor="ctr"/>
          <a:lstStyle/>
          <a:p>
            <a:pPr algn="ctr" indent="0" marL="0">
              <a:buNone/>
            </a:pPr>
            <a:r>
              <a:rPr lang="en-US" sz="1000" b="1" dirty="0">
                <a:solidFill>
                  <a:srgbClr val="6FD3C4"/>
                </a:solidFill>
                <a:latin typeface="Courier New" pitchFamily="34" charset="0"/>
                <a:ea typeface="Courier New" pitchFamily="34" charset="-122"/>
                <a:cs typeface="Courier New" pitchFamily="34" charset="-120"/>
              </a:rPr>
              <a:t>POST</a:t>
            </a:r>
            <a:endParaRPr lang="en-US" sz="1000" dirty="0"/>
          </a:p>
        </p:txBody>
      </p:sp>
      <p:sp>
        <p:nvSpPr>
          <p:cNvPr id="11" name="Text 9"/>
          <p:cNvSpPr txBox="1"/>
          <p:nvPr/>
        </p:nvSpPr>
        <p:spPr>
          <a:xfrm>
            <a:off x="2048256" y="1837944"/>
            <a:ext cx="3840480" cy="274320"/>
          </a:xfrm>
          <a:prstGeom prst="rect">
            <a:avLst/>
          </a:prstGeom>
          <a:noFill/>
          <a:ln/>
        </p:spPr>
        <p:txBody>
          <a:bodyPr wrap="square" lIns="0" tIns="0" rIns="0" bIns="0" rtlCol="0" anchor="ctr"/>
          <a:lstStyle/>
          <a:p>
            <a:pPr indent="0" marL="0">
              <a:buNone/>
            </a:pPr>
            <a:r>
              <a:rPr lang="en-US" sz="1150" b="1" dirty="0">
                <a:solidFill>
                  <a:srgbClr val="16222E"/>
                </a:solidFill>
                <a:latin typeface="Courier New" pitchFamily="34" charset="0"/>
                <a:ea typeface="Courier New" pitchFamily="34" charset="-122"/>
                <a:cs typeface="Courier New" pitchFamily="34" charset="-120"/>
              </a:rPr>
              <a:t>/v1/decision-runs</a:t>
            </a:r>
            <a:endParaRPr lang="en-US" sz="1150" dirty="0"/>
          </a:p>
        </p:txBody>
      </p:sp>
      <p:sp>
        <p:nvSpPr>
          <p:cNvPr id="12" name="Text 10"/>
          <p:cNvSpPr txBox="1"/>
          <p:nvPr/>
        </p:nvSpPr>
        <p:spPr>
          <a:xfrm>
            <a:off x="1298448" y="2112264"/>
            <a:ext cx="6949440" cy="36576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Body: model reference + version, chunk count, output schema, idempotency key.</a:t>
            </a:r>
            <a:endParaRPr lang="en-US" sz="1100" dirty="0"/>
          </a:p>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Returns: runId, presigned PUT URL(s), required headers, expiry.</a:t>
            </a:r>
            <a:endParaRPr lang="en-US" sz="1100" dirty="0"/>
          </a:p>
        </p:txBody>
      </p:sp>
      <p:sp>
        <p:nvSpPr>
          <p:cNvPr id="13" name="Shape 11"/>
          <p:cNvSpPr/>
          <p:nvPr/>
        </p:nvSpPr>
        <p:spPr>
          <a:xfrm>
            <a:off x="548640" y="2551176"/>
            <a:ext cx="7863840" cy="786384"/>
          </a:xfrm>
          <a:prstGeom prst="roundRect">
            <a:avLst>
              <a:gd name="adj" fmla="val 9302"/>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4" name="Shape 12"/>
          <p:cNvSpPr/>
          <p:nvPr/>
        </p:nvSpPr>
        <p:spPr>
          <a:xfrm>
            <a:off x="768096" y="2752344"/>
            <a:ext cx="384048" cy="384048"/>
          </a:xfrm>
          <a:prstGeom prst="ellipse">
            <a:avLst/>
          </a:prstGeom>
          <a:solidFill>
            <a:srgbClr val="037D8C"/>
          </a:solidFill>
          <a:ln w="12700">
            <a:solidFill>
              <a:srgbClr val="037D8C"/>
            </a:solidFill>
            <a:prstDash val="solid"/>
          </a:ln>
        </p:spPr>
      </p:sp>
      <p:sp>
        <p:nvSpPr>
          <p:cNvPr id="15" name="Text 13"/>
          <p:cNvSpPr txBox="1"/>
          <p:nvPr/>
        </p:nvSpPr>
        <p:spPr>
          <a:xfrm>
            <a:off x="768096" y="2752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Shape 14"/>
          <p:cNvSpPr/>
          <p:nvPr/>
        </p:nvSpPr>
        <p:spPr>
          <a:xfrm>
            <a:off x="1298448" y="2697480"/>
            <a:ext cx="658368" cy="274320"/>
          </a:xfrm>
          <a:prstGeom prst="roundRect">
            <a:avLst>
              <a:gd name="adj" fmla="val 16667"/>
            </a:avLst>
          </a:prstGeom>
          <a:solidFill>
            <a:srgbClr val="16222E"/>
          </a:solidFill>
          <a:ln w="12700">
            <a:solidFill>
              <a:srgbClr val="16222E"/>
            </a:solidFill>
            <a:prstDash val="solid"/>
          </a:ln>
        </p:spPr>
      </p:sp>
      <p:sp>
        <p:nvSpPr>
          <p:cNvPr id="17" name="Text 15"/>
          <p:cNvSpPr txBox="1"/>
          <p:nvPr/>
        </p:nvSpPr>
        <p:spPr>
          <a:xfrm>
            <a:off x="1298448" y="2697480"/>
            <a:ext cx="658368" cy="274320"/>
          </a:xfrm>
          <a:prstGeom prst="rect">
            <a:avLst/>
          </a:prstGeom>
          <a:noFill/>
          <a:ln/>
        </p:spPr>
        <p:txBody>
          <a:bodyPr wrap="square" lIns="0" tIns="0" rIns="0" bIns="0" rtlCol="0" anchor="ctr"/>
          <a:lstStyle/>
          <a:p>
            <a:pPr algn="ctr" indent="0" marL="0">
              <a:buNone/>
            </a:pPr>
            <a:r>
              <a:rPr lang="en-US" sz="1000" b="1" dirty="0">
                <a:solidFill>
                  <a:srgbClr val="6FD3C4"/>
                </a:solidFill>
                <a:latin typeface="Courier New" pitchFamily="34" charset="0"/>
                <a:ea typeface="Courier New" pitchFamily="34" charset="-122"/>
                <a:cs typeface="Courier New" pitchFamily="34" charset="-120"/>
              </a:rPr>
              <a:t>PUT</a:t>
            </a:r>
            <a:endParaRPr lang="en-US" sz="1000" dirty="0"/>
          </a:p>
        </p:txBody>
      </p:sp>
      <p:sp>
        <p:nvSpPr>
          <p:cNvPr id="18" name="Text 16"/>
          <p:cNvSpPr txBox="1"/>
          <p:nvPr/>
        </p:nvSpPr>
        <p:spPr>
          <a:xfrm>
            <a:off x="2048256" y="2697480"/>
            <a:ext cx="3840480" cy="274320"/>
          </a:xfrm>
          <a:prstGeom prst="rect">
            <a:avLst/>
          </a:prstGeom>
          <a:noFill/>
          <a:ln/>
        </p:spPr>
        <p:txBody>
          <a:bodyPr wrap="square" lIns="0" tIns="0" rIns="0" bIns="0" rtlCol="0" anchor="ctr"/>
          <a:lstStyle/>
          <a:p>
            <a:pPr indent="0" marL="0">
              <a:buNone/>
            </a:pPr>
            <a:r>
              <a:rPr lang="en-US" sz="1150" b="1" dirty="0">
                <a:solidFill>
                  <a:srgbClr val="16222E"/>
                </a:solidFill>
                <a:latin typeface="Courier New" pitchFamily="34" charset="0"/>
                <a:ea typeface="Courier New" pitchFamily="34" charset="-122"/>
                <a:cs typeface="Courier New" pitchFamily="34" charset="-120"/>
              </a:rPr>
              <a:t>presigned S3 URL</a:t>
            </a:r>
            <a:endParaRPr lang="en-US" sz="1150" dirty="0"/>
          </a:p>
        </p:txBody>
      </p:sp>
      <p:sp>
        <p:nvSpPr>
          <p:cNvPr id="19" name="Text 17"/>
          <p:cNvSpPr txBox="1"/>
          <p:nvPr/>
        </p:nvSpPr>
        <p:spPr>
          <a:xfrm>
            <a:off x="1298448" y="2971800"/>
            <a:ext cx="6949440" cy="36576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Client uploads the ZIP / Parquet chunk straight to S3.</a:t>
            </a:r>
            <a:endParaRPr lang="en-US" sz="1100" dirty="0"/>
          </a:p>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Above 5 GB a single PUT is not possible — multipart upload, or chunk smaller.</a:t>
            </a:r>
            <a:endParaRPr lang="en-US" sz="1100" dirty="0"/>
          </a:p>
        </p:txBody>
      </p:sp>
      <p:sp>
        <p:nvSpPr>
          <p:cNvPr id="20" name="Shape 18"/>
          <p:cNvSpPr/>
          <p:nvPr/>
        </p:nvSpPr>
        <p:spPr>
          <a:xfrm>
            <a:off x="548640" y="3410712"/>
            <a:ext cx="7863840" cy="786384"/>
          </a:xfrm>
          <a:prstGeom prst="roundRect">
            <a:avLst>
              <a:gd name="adj" fmla="val 9302"/>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1" name="Shape 19"/>
          <p:cNvSpPr/>
          <p:nvPr/>
        </p:nvSpPr>
        <p:spPr>
          <a:xfrm>
            <a:off x="768096" y="3611880"/>
            <a:ext cx="384048" cy="384048"/>
          </a:xfrm>
          <a:prstGeom prst="ellipse">
            <a:avLst/>
          </a:prstGeom>
          <a:solidFill>
            <a:srgbClr val="037D8C"/>
          </a:solidFill>
          <a:ln w="12700">
            <a:solidFill>
              <a:srgbClr val="037D8C"/>
            </a:solidFill>
            <a:prstDash val="solid"/>
          </a:ln>
        </p:spPr>
      </p:sp>
      <p:sp>
        <p:nvSpPr>
          <p:cNvPr id="22" name="Text 20"/>
          <p:cNvSpPr txBox="1"/>
          <p:nvPr/>
        </p:nvSpPr>
        <p:spPr>
          <a:xfrm>
            <a:off x="768096" y="3611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1298448" y="3557016"/>
            <a:ext cx="658368" cy="274320"/>
          </a:xfrm>
          <a:prstGeom prst="roundRect">
            <a:avLst>
              <a:gd name="adj" fmla="val 16667"/>
            </a:avLst>
          </a:prstGeom>
          <a:solidFill>
            <a:srgbClr val="16222E"/>
          </a:solidFill>
          <a:ln w="12700">
            <a:solidFill>
              <a:srgbClr val="16222E"/>
            </a:solidFill>
            <a:prstDash val="solid"/>
          </a:ln>
        </p:spPr>
      </p:sp>
      <p:sp>
        <p:nvSpPr>
          <p:cNvPr id="24" name="Text 22"/>
          <p:cNvSpPr txBox="1"/>
          <p:nvPr/>
        </p:nvSpPr>
        <p:spPr>
          <a:xfrm>
            <a:off x="1298448" y="3557016"/>
            <a:ext cx="658368" cy="274320"/>
          </a:xfrm>
          <a:prstGeom prst="rect">
            <a:avLst/>
          </a:prstGeom>
          <a:noFill/>
          <a:ln/>
        </p:spPr>
        <p:txBody>
          <a:bodyPr wrap="square" lIns="0" tIns="0" rIns="0" bIns="0" rtlCol="0" anchor="ctr"/>
          <a:lstStyle/>
          <a:p>
            <a:pPr algn="ctr" indent="0" marL="0">
              <a:buNone/>
            </a:pPr>
            <a:r>
              <a:rPr lang="en-US" sz="1000" b="1" dirty="0">
                <a:solidFill>
                  <a:srgbClr val="6FD3C4"/>
                </a:solidFill>
                <a:latin typeface="Courier New" pitchFamily="34" charset="0"/>
                <a:ea typeface="Courier New" pitchFamily="34" charset="-122"/>
                <a:cs typeface="Courier New" pitchFamily="34" charset="-120"/>
              </a:rPr>
              <a:t>POST</a:t>
            </a:r>
            <a:endParaRPr lang="en-US" sz="1000" dirty="0"/>
          </a:p>
        </p:txBody>
      </p:sp>
      <p:sp>
        <p:nvSpPr>
          <p:cNvPr id="25" name="Text 23"/>
          <p:cNvSpPr txBox="1"/>
          <p:nvPr/>
        </p:nvSpPr>
        <p:spPr>
          <a:xfrm>
            <a:off x="2048256" y="3557016"/>
            <a:ext cx="3840480" cy="274320"/>
          </a:xfrm>
          <a:prstGeom prst="rect">
            <a:avLst/>
          </a:prstGeom>
          <a:noFill/>
          <a:ln/>
        </p:spPr>
        <p:txBody>
          <a:bodyPr wrap="square" lIns="0" tIns="0" rIns="0" bIns="0" rtlCol="0" anchor="ctr"/>
          <a:lstStyle/>
          <a:p>
            <a:pPr indent="0" marL="0">
              <a:buNone/>
            </a:pPr>
            <a:r>
              <a:rPr lang="en-US" sz="1150" b="1" dirty="0">
                <a:solidFill>
                  <a:srgbClr val="16222E"/>
                </a:solidFill>
                <a:latin typeface="Courier New" pitchFamily="34" charset="0"/>
                <a:ea typeface="Courier New" pitchFamily="34" charset="-122"/>
                <a:cs typeface="Courier New" pitchFamily="34" charset="-120"/>
              </a:rPr>
              <a:t>/v1/decision-runs/{id}/start</a:t>
            </a:r>
            <a:endParaRPr lang="en-US" sz="1150" dirty="0"/>
          </a:p>
        </p:txBody>
      </p:sp>
      <p:sp>
        <p:nvSpPr>
          <p:cNvPr id="26" name="Text 24"/>
          <p:cNvSpPr txBox="1"/>
          <p:nvPr/>
        </p:nvSpPr>
        <p:spPr>
          <a:xfrm>
            <a:off x="1298448" y="3831336"/>
            <a:ext cx="6949440" cy="36576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Returns 202 Accepted + Retry-After. The worker pool fans out over the uploaded chunks.</a:t>
            </a:r>
            <a:endParaRPr lang="en-US" sz="1100" dirty="0"/>
          </a:p>
        </p:txBody>
      </p:sp>
      <p:sp>
        <p:nvSpPr>
          <p:cNvPr id="27" name="Shape 25"/>
          <p:cNvSpPr/>
          <p:nvPr/>
        </p:nvSpPr>
        <p:spPr>
          <a:xfrm>
            <a:off x="548640" y="4270248"/>
            <a:ext cx="7863840" cy="786384"/>
          </a:xfrm>
          <a:prstGeom prst="roundRect">
            <a:avLst>
              <a:gd name="adj" fmla="val 9302"/>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8" name="Shape 26"/>
          <p:cNvSpPr/>
          <p:nvPr/>
        </p:nvSpPr>
        <p:spPr>
          <a:xfrm>
            <a:off x="768096" y="4471416"/>
            <a:ext cx="384048" cy="384048"/>
          </a:xfrm>
          <a:prstGeom prst="ellipse">
            <a:avLst/>
          </a:prstGeom>
          <a:solidFill>
            <a:srgbClr val="037D8C"/>
          </a:solidFill>
          <a:ln w="12700">
            <a:solidFill>
              <a:srgbClr val="037D8C"/>
            </a:solidFill>
            <a:prstDash val="solid"/>
          </a:ln>
        </p:spPr>
      </p:sp>
      <p:sp>
        <p:nvSpPr>
          <p:cNvPr id="29" name="Text 27"/>
          <p:cNvSpPr txBox="1"/>
          <p:nvPr/>
        </p:nvSpPr>
        <p:spPr>
          <a:xfrm>
            <a:off x="768096" y="4471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Shape 28"/>
          <p:cNvSpPr/>
          <p:nvPr/>
        </p:nvSpPr>
        <p:spPr>
          <a:xfrm>
            <a:off x="1298448" y="4416552"/>
            <a:ext cx="658368" cy="274320"/>
          </a:xfrm>
          <a:prstGeom prst="roundRect">
            <a:avLst>
              <a:gd name="adj" fmla="val 16667"/>
            </a:avLst>
          </a:prstGeom>
          <a:solidFill>
            <a:srgbClr val="16222E"/>
          </a:solidFill>
          <a:ln w="12700">
            <a:solidFill>
              <a:srgbClr val="16222E"/>
            </a:solidFill>
            <a:prstDash val="solid"/>
          </a:ln>
        </p:spPr>
      </p:sp>
      <p:sp>
        <p:nvSpPr>
          <p:cNvPr id="31" name="Text 29"/>
          <p:cNvSpPr txBox="1"/>
          <p:nvPr/>
        </p:nvSpPr>
        <p:spPr>
          <a:xfrm>
            <a:off x="1298448" y="4416552"/>
            <a:ext cx="658368" cy="274320"/>
          </a:xfrm>
          <a:prstGeom prst="rect">
            <a:avLst/>
          </a:prstGeom>
          <a:noFill/>
          <a:ln/>
        </p:spPr>
        <p:txBody>
          <a:bodyPr wrap="square" lIns="0" tIns="0" rIns="0" bIns="0" rtlCol="0" anchor="ctr"/>
          <a:lstStyle/>
          <a:p>
            <a:pPr algn="ctr" indent="0" marL="0">
              <a:buNone/>
            </a:pPr>
            <a:r>
              <a:rPr lang="en-US" sz="1000" b="1" dirty="0">
                <a:solidFill>
                  <a:srgbClr val="6FD3C4"/>
                </a:solidFill>
                <a:latin typeface="Courier New" pitchFamily="34" charset="0"/>
                <a:ea typeface="Courier New" pitchFamily="34" charset="-122"/>
                <a:cs typeface="Courier New" pitchFamily="34" charset="-120"/>
              </a:rPr>
              <a:t>GET</a:t>
            </a:r>
            <a:endParaRPr lang="en-US" sz="1000" dirty="0"/>
          </a:p>
        </p:txBody>
      </p:sp>
      <p:sp>
        <p:nvSpPr>
          <p:cNvPr id="32" name="Text 30"/>
          <p:cNvSpPr txBox="1"/>
          <p:nvPr/>
        </p:nvSpPr>
        <p:spPr>
          <a:xfrm>
            <a:off x="2048256" y="4416552"/>
            <a:ext cx="3840480" cy="274320"/>
          </a:xfrm>
          <a:prstGeom prst="rect">
            <a:avLst/>
          </a:prstGeom>
          <a:noFill/>
          <a:ln/>
        </p:spPr>
        <p:txBody>
          <a:bodyPr wrap="square" lIns="0" tIns="0" rIns="0" bIns="0" rtlCol="0" anchor="ctr"/>
          <a:lstStyle/>
          <a:p>
            <a:pPr indent="0" marL="0">
              <a:buNone/>
            </a:pPr>
            <a:r>
              <a:rPr lang="en-US" sz="1150" b="1" dirty="0">
                <a:solidFill>
                  <a:srgbClr val="16222E"/>
                </a:solidFill>
                <a:latin typeface="Courier New" pitchFamily="34" charset="0"/>
                <a:ea typeface="Courier New" pitchFamily="34" charset="-122"/>
                <a:cs typeface="Courier New" pitchFamily="34" charset="-120"/>
              </a:rPr>
              <a:t>/v1/decision-runs/{id}</a:t>
            </a:r>
            <a:endParaRPr lang="en-US" sz="1150" dirty="0"/>
          </a:p>
        </p:txBody>
      </p:sp>
      <p:sp>
        <p:nvSpPr>
          <p:cNvPr id="33" name="Text 31"/>
          <p:cNvSpPr txBox="1"/>
          <p:nvPr/>
        </p:nvSpPr>
        <p:spPr>
          <a:xfrm>
            <a:off x="1298448" y="4690872"/>
            <a:ext cx="6949440" cy="36576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PENDING · RUNNING · SUCCEEDED · PARTIAL · FAILED, with rows processed, per-chunk state and error digest.</a:t>
            </a:r>
            <a:endParaRPr lang="en-US" sz="1100" dirty="0"/>
          </a:p>
        </p:txBody>
      </p:sp>
      <p:sp>
        <p:nvSpPr>
          <p:cNvPr id="34" name="Shape 32"/>
          <p:cNvSpPr/>
          <p:nvPr/>
        </p:nvSpPr>
        <p:spPr>
          <a:xfrm>
            <a:off x="548640" y="5129784"/>
            <a:ext cx="7863840" cy="786384"/>
          </a:xfrm>
          <a:prstGeom prst="roundRect">
            <a:avLst>
              <a:gd name="adj" fmla="val 9302"/>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35" name="Shape 33"/>
          <p:cNvSpPr/>
          <p:nvPr/>
        </p:nvSpPr>
        <p:spPr>
          <a:xfrm>
            <a:off x="768096" y="5330952"/>
            <a:ext cx="384048" cy="384048"/>
          </a:xfrm>
          <a:prstGeom prst="ellipse">
            <a:avLst/>
          </a:prstGeom>
          <a:solidFill>
            <a:srgbClr val="037D8C"/>
          </a:solidFill>
          <a:ln w="12700">
            <a:solidFill>
              <a:srgbClr val="037D8C"/>
            </a:solidFill>
            <a:prstDash val="solid"/>
          </a:ln>
        </p:spPr>
      </p:sp>
      <p:sp>
        <p:nvSpPr>
          <p:cNvPr id="36" name="Text 34"/>
          <p:cNvSpPr txBox="1"/>
          <p:nvPr/>
        </p:nvSpPr>
        <p:spPr>
          <a:xfrm>
            <a:off x="768096" y="5330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7" name="Shape 35"/>
          <p:cNvSpPr/>
          <p:nvPr/>
        </p:nvSpPr>
        <p:spPr>
          <a:xfrm>
            <a:off x="1298448" y="5276088"/>
            <a:ext cx="658368" cy="274320"/>
          </a:xfrm>
          <a:prstGeom prst="roundRect">
            <a:avLst>
              <a:gd name="adj" fmla="val 16667"/>
            </a:avLst>
          </a:prstGeom>
          <a:solidFill>
            <a:srgbClr val="16222E"/>
          </a:solidFill>
          <a:ln w="12700">
            <a:solidFill>
              <a:srgbClr val="16222E"/>
            </a:solidFill>
            <a:prstDash val="solid"/>
          </a:ln>
        </p:spPr>
      </p:sp>
      <p:sp>
        <p:nvSpPr>
          <p:cNvPr id="38" name="Text 36"/>
          <p:cNvSpPr txBox="1"/>
          <p:nvPr/>
        </p:nvSpPr>
        <p:spPr>
          <a:xfrm>
            <a:off x="1298448" y="5276088"/>
            <a:ext cx="658368" cy="274320"/>
          </a:xfrm>
          <a:prstGeom prst="rect">
            <a:avLst/>
          </a:prstGeom>
          <a:noFill/>
          <a:ln/>
        </p:spPr>
        <p:txBody>
          <a:bodyPr wrap="square" lIns="0" tIns="0" rIns="0" bIns="0" rtlCol="0" anchor="ctr"/>
          <a:lstStyle/>
          <a:p>
            <a:pPr algn="ctr" indent="0" marL="0">
              <a:buNone/>
            </a:pPr>
            <a:r>
              <a:rPr lang="en-US" sz="1000" b="1" dirty="0">
                <a:solidFill>
                  <a:srgbClr val="6FD3C4"/>
                </a:solidFill>
                <a:latin typeface="Courier New" pitchFamily="34" charset="0"/>
                <a:ea typeface="Courier New" pitchFamily="34" charset="-122"/>
                <a:cs typeface="Courier New" pitchFamily="34" charset="-120"/>
              </a:rPr>
              <a:t>GET</a:t>
            </a:r>
            <a:endParaRPr lang="en-US" sz="1000" dirty="0"/>
          </a:p>
        </p:txBody>
      </p:sp>
      <p:sp>
        <p:nvSpPr>
          <p:cNvPr id="39" name="Text 37"/>
          <p:cNvSpPr txBox="1"/>
          <p:nvPr/>
        </p:nvSpPr>
        <p:spPr>
          <a:xfrm>
            <a:off x="2048256" y="5276088"/>
            <a:ext cx="3840480" cy="274320"/>
          </a:xfrm>
          <a:prstGeom prst="rect">
            <a:avLst/>
          </a:prstGeom>
          <a:noFill/>
          <a:ln/>
        </p:spPr>
        <p:txBody>
          <a:bodyPr wrap="square" lIns="0" tIns="0" rIns="0" bIns="0" rtlCol="0" anchor="ctr"/>
          <a:lstStyle/>
          <a:p>
            <a:pPr indent="0" marL="0">
              <a:buNone/>
            </a:pPr>
            <a:r>
              <a:rPr lang="en-US" sz="1150" b="1" dirty="0">
                <a:solidFill>
                  <a:srgbClr val="16222E"/>
                </a:solidFill>
                <a:latin typeface="Courier New" pitchFamily="34" charset="0"/>
                <a:ea typeface="Courier New" pitchFamily="34" charset="-122"/>
                <a:cs typeface="Courier New" pitchFamily="34" charset="-120"/>
              </a:rPr>
              <a:t>/v1/decision-runs/{id}/result</a:t>
            </a:r>
            <a:endParaRPr lang="en-US" sz="1150" dirty="0"/>
          </a:p>
        </p:txBody>
      </p:sp>
      <p:sp>
        <p:nvSpPr>
          <p:cNvPr id="40" name="Text 38"/>
          <p:cNvSpPr txBox="1"/>
          <p:nvPr/>
        </p:nvSpPr>
        <p:spPr>
          <a:xfrm>
            <a:off x="1298448" y="5550408"/>
            <a:ext cx="6949440" cy="365760"/>
          </a:xfrm>
          <a:prstGeom prst="rect">
            <a:avLst/>
          </a:prstGeom>
          <a:noFill/>
          <a:ln/>
        </p:spPr>
        <p:txBody>
          <a:bodyPr wrap="square" lIns="0" tIns="0" rIns="0" bIns="0" rtlCol="0" anchor="ctr"/>
          <a:lstStyle/>
          <a:p>
            <a:pPr indent="0" marL="0">
              <a:lnSpc>
                <a:spcPts val="1400"/>
              </a:lnSpc>
              <a:buNone/>
            </a:pPr>
            <a:r>
              <a:rPr lang="en-US" sz="1100" dirty="0">
                <a:solidFill>
                  <a:srgbClr val="5A6672"/>
                </a:solidFill>
                <a:latin typeface="Calibri" pitchFamily="34" charset="0"/>
                <a:ea typeface="Calibri" pitchFamily="34" charset="-122"/>
                <a:cs typeface="Calibri" pitchFamily="34" charset="-120"/>
              </a:rPr>
              <a:t>Returns presigned GET URL(s) + manifest + expiry. Databricks reads them directly into a Delta table.</a:t>
            </a:r>
            <a:endParaRPr lang="en-US" sz="1100" dirty="0"/>
          </a:p>
        </p:txBody>
      </p:sp>
      <p:sp>
        <p:nvSpPr>
          <p:cNvPr id="41" name="Shape 39"/>
          <p:cNvSpPr/>
          <p:nvPr/>
        </p:nvSpPr>
        <p:spPr>
          <a:xfrm>
            <a:off x="8686800" y="1691640"/>
            <a:ext cx="2926080" cy="4023360"/>
          </a:xfrm>
          <a:prstGeom prst="roundRect">
            <a:avLst>
              <a:gd name="adj" fmla="val 2500"/>
            </a:avLst>
          </a:prstGeom>
          <a:solidFill>
            <a:srgbClr val="F6F1E6"/>
          </a:solidFill>
          <a:ln w="12700">
            <a:solidFill>
              <a:srgbClr val="F6F1E6"/>
            </a:solidFill>
            <a:prstDash val="solid"/>
          </a:ln>
          <a:effectLst>
            <a:outerShdw sx="100000" sy="100000" kx="0" ky="0" algn="bl" rotWithShape="0" blurRad="101600" dist="25400" dir="5400000">
              <a:srgbClr val="16222E">
                <a:alpha val="12000"/>
              </a:srgbClr>
            </a:outerShdw>
          </a:effectLst>
        </p:spPr>
      </p:sp>
      <p:sp>
        <p:nvSpPr>
          <p:cNvPr id="42" name="Text 40"/>
          <p:cNvSpPr txBox="1"/>
          <p:nvPr/>
        </p:nvSpPr>
        <p:spPr>
          <a:xfrm>
            <a:off x="8942832" y="1874520"/>
            <a:ext cx="2468880" cy="594360"/>
          </a:xfrm>
          <a:prstGeom prst="rect">
            <a:avLst/>
          </a:prstGeom>
          <a:noFill/>
          <a:ln/>
        </p:spPr>
        <p:txBody>
          <a:bodyPr wrap="square" lIns="0" tIns="0" rIns="0" bIns="0" rtlCol="0" anchor="ctr"/>
          <a:lstStyle/>
          <a:p>
            <a:pPr indent="0" marL="0">
              <a:lnSpc>
                <a:spcPts val="2000"/>
              </a:lnSpc>
              <a:buNone/>
            </a:pPr>
            <a:r>
              <a:rPr lang="en-US" sz="1600" b="1" dirty="0">
                <a:solidFill>
                  <a:srgbClr val="8A5B00"/>
                </a:solidFill>
                <a:latin typeface="Cambria" pitchFamily="34" charset="0"/>
                <a:ea typeface="Cambria" pitchFamily="34" charset="-122"/>
                <a:cs typeface="Cambria" pitchFamily="34" charset="-120"/>
              </a:rPr>
              <a:t>Contract details that</a:t>
            </a:r>
            <a:endParaRPr lang="en-US" sz="1600" dirty="0"/>
          </a:p>
          <a:p>
            <a:pPr indent="0" marL="0">
              <a:lnSpc>
                <a:spcPts val="2000"/>
              </a:lnSpc>
              <a:buNone/>
            </a:pPr>
            <a:r>
              <a:rPr lang="en-US" sz="1600" b="1" dirty="0">
                <a:solidFill>
                  <a:srgbClr val="8A5B00"/>
                </a:solidFill>
                <a:latin typeface="Cambria" pitchFamily="34" charset="0"/>
                <a:ea typeface="Cambria" pitchFamily="34" charset="-122"/>
                <a:cs typeface="Cambria" pitchFamily="34" charset="-120"/>
              </a:rPr>
              <a:t>bite later</a:t>
            </a:r>
            <a:endParaRPr lang="en-US" sz="1600" dirty="0"/>
          </a:p>
        </p:txBody>
      </p:sp>
      <p:sp>
        <p:nvSpPr>
          <p:cNvPr id="43" name="Text 41"/>
          <p:cNvSpPr txBox="1"/>
          <p:nvPr/>
        </p:nvSpPr>
        <p:spPr>
          <a:xfrm>
            <a:off x="8942832" y="2560320"/>
            <a:ext cx="2423160" cy="3063240"/>
          </a:xfrm>
          <a:prstGeom prst="rect">
            <a:avLst/>
          </a:prstGeom>
          <a:noFill/>
          <a:ln/>
        </p:spPr>
        <p:txBody>
          <a:bodyPr wrap="square" rtlCol="0" anchor="t"/>
          <a:lstStyle/>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Presigned URL expiry: cap at the run's realistic duration, not the 7-day maximum.</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Idempotency-Key on POST so a Spark task retry does not launch a second run.</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ETag / checksum per chunk — silent truncation is the classic failure here.</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Result manifest must carry the model version actually applied.</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Server-side encryption + bucket policy: the payload is production data at rest outside Databricks.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1 · SCALING</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Chunking, parallelism and failure handling</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The design lives or dies on how the 80 M rows are cut and how a bad chunk is contained.</a:t>
            </a:r>
            <a:endParaRPr lang="en-US" sz="1300" dirty="0"/>
          </a:p>
        </p:txBody>
      </p:sp>
      <p:sp>
        <p:nvSpPr>
          <p:cNvPr id="6" name="Shape 4"/>
          <p:cNvSpPr/>
          <p:nvPr/>
        </p:nvSpPr>
        <p:spPr>
          <a:xfrm>
            <a:off x="548640" y="1691640"/>
            <a:ext cx="5349240" cy="987552"/>
          </a:xfrm>
          <a:prstGeom prst="roundRect">
            <a:avLst>
              <a:gd name="adj" fmla="val 74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7" name="Shape 5"/>
          <p:cNvSpPr/>
          <p:nvPr/>
        </p:nvSpPr>
        <p:spPr>
          <a:xfrm>
            <a:off x="786384" y="1984248"/>
            <a:ext cx="146304" cy="384048"/>
          </a:xfrm>
          <a:prstGeom prst="roundRect">
            <a:avLst>
              <a:gd name="adj" fmla="val 37500"/>
            </a:avLst>
          </a:prstGeom>
          <a:solidFill>
            <a:srgbClr val="037D8C"/>
          </a:solidFill>
          <a:ln w="12700">
            <a:solidFill>
              <a:srgbClr val="037D8C"/>
            </a:solidFill>
            <a:prstDash val="solid"/>
          </a:ln>
        </p:spPr>
      </p:sp>
      <p:sp>
        <p:nvSpPr>
          <p:cNvPr id="8" name="Text 6"/>
          <p:cNvSpPr txBox="1"/>
          <p:nvPr/>
        </p:nvSpPr>
        <p:spPr>
          <a:xfrm>
            <a:off x="1115568" y="1837944"/>
            <a:ext cx="4572000" cy="274320"/>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Chunk sizing</a:t>
            </a:r>
            <a:endParaRPr lang="en-US" sz="1350" dirty="0"/>
          </a:p>
        </p:txBody>
      </p:sp>
      <p:sp>
        <p:nvSpPr>
          <p:cNvPr id="9" name="Text 7"/>
          <p:cNvSpPr txBox="1"/>
          <p:nvPr/>
        </p:nvSpPr>
        <p:spPr>
          <a:xfrm>
            <a:off x="1115568" y="2112264"/>
            <a:ext cx="4572000" cy="51206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Target 250 k–1 M rows per chunk → 80–320 chunks. Small enough to retry cheaply, large enough that per-run overhead is negligible.</a:t>
            </a:r>
            <a:endParaRPr lang="en-US" sz="1150" dirty="0"/>
          </a:p>
        </p:txBody>
      </p:sp>
      <p:sp>
        <p:nvSpPr>
          <p:cNvPr id="10" name="Shape 8"/>
          <p:cNvSpPr/>
          <p:nvPr/>
        </p:nvSpPr>
        <p:spPr>
          <a:xfrm>
            <a:off x="548640" y="2770632"/>
            <a:ext cx="5349240" cy="987552"/>
          </a:xfrm>
          <a:prstGeom prst="roundRect">
            <a:avLst>
              <a:gd name="adj" fmla="val 74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1" name="Shape 9"/>
          <p:cNvSpPr/>
          <p:nvPr/>
        </p:nvSpPr>
        <p:spPr>
          <a:xfrm>
            <a:off x="786384" y="3063240"/>
            <a:ext cx="146304" cy="384048"/>
          </a:xfrm>
          <a:prstGeom prst="roundRect">
            <a:avLst>
              <a:gd name="adj" fmla="val 37500"/>
            </a:avLst>
          </a:prstGeom>
          <a:solidFill>
            <a:srgbClr val="037D8C"/>
          </a:solidFill>
          <a:ln w="12700">
            <a:solidFill>
              <a:srgbClr val="037D8C"/>
            </a:solidFill>
            <a:prstDash val="solid"/>
          </a:ln>
        </p:spPr>
      </p:sp>
      <p:sp>
        <p:nvSpPr>
          <p:cNvPr id="12" name="Text 10"/>
          <p:cNvSpPr txBox="1"/>
          <p:nvPr/>
        </p:nvSpPr>
        <p:spPr>
          <a:xfrm>
            <a:off x="1115568" y="2916936"/>
            <a:ext cx="4572000" cy="274320"/>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Parallelism</a:t>
            </a:r>
            <a:endParaRPr lang="en-US" sz="1350" dirty="0"/>
          </a:p>
        </p:txBody>
      </p:sp>
      <p:sp>
        <p:nvSpPr>
          <p:cNvPr id="13" name="Text 11"/>
          <p:cNvSpPr txBox="1"/>
          <p:nvPr/>
        </p:nvSpPr>
        <p:spPr>
          <a:xfrm>
            <a:off x="1115568" y="3191256"/>
            <a:ext cx="4572000" cy="51206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Chunks are independent: N Spark tasks upload concurrently, the worker pool consumes them in parallel. Throughput scales with pool size, not with the API.</a:t>
            </a:r>
            <a:endParaRPr lang="en-US" sz="1150" dirty="0"/>
          </a:p>
        </p:txBody>
      </p:sp>
      <p:sp>
        <p:nvSpPr>
          <p:cNvPr id="14" name="Shape 12"/>
          <p:cNvSpPr/>
          <p:nvPr/>
        </p:nvSpPr>
        <p:spPr>
          <a:xfrm>
            <a:off x="548640" y="3849624"/>
            <a:ext cx="5349240" cy="987552"/>
          </a:xfrm>
          <a:prstGeom prst="roundRect">
            <a:avLst>
              <a:gd name="adj" fmla="val 74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5" name="Shape 13"/>
          <p:cNvSpPr/>
          <p:nvPr/>
        </p:nvSpPr>
        <p:spPr>
          <a:xfrm>
            <a:off x="786384" y="4142232"/>
            <a:ext cx="146304" cy="384048"/>
          </a:xfrm>
          <a:prstGeom prst="roundRect">
            <a:avLst>
              <a:gd name="adj" fmla="val 37500"/>
            </a:avLst>
          </a:prstGeom>
          <a:solidFill>
            <a:srgbClr val="037D8C"/>
          </a:solidFill>
          <a:ln w="12700">
            <a:solidFill>
              <a:srgbClr val="037D8C"/>
            </a:solidFill>
            <a:prstDash val="solid"/>
          </a:ln>
        </p:spPr>
      </p:sp>
      <p:sp>
        <p:nvSpPr>
          <p:cNvPr id="16" name="Text 14"/>
          <p:cNvSpPr txBox="1"/>
          <p:nvPr/>
        </p:nvSpPr>
        <p:spPr>
          <a:xfrm>
            <a:off x="1115568" y="3995928"/>
            <a:ext cx="4572000" cy="274320"/>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Back-pressure</a:t>
            </a:r>
            <a:endParaRPr lang="en-US" sz="1350" dirty="0"/>
          </a:p>
        </p:txBody>
      </p:sp>
      <p:sp>
        <p:nvSpPr>
          <p:cNvPr id="17" name="Text 15"/>
          <p:cNvSpPr txBox="1"/>
          <p:nvPr/>
        </p:nvSpPr>
        <p:spPr>
          <a:xfrm>
            <a:off x="1115568" y="4270248"/>
            <a:ext cx="4572000" cy="51206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Bound in-flight chunks; the API returns 429 with Retry-After and the Spark side honours it, otherwise a burst of 320 uploads saturates the pool.</a:t>
            </a:r>
            <a:endParaRPr lang="en-US" sz="1150" dirty="0"/>
          </a:p>
        </p:txBody>
      </p:sp>
      <p:sp>
        <p:nvSpPr>
          <p:cNvPr id="18" name="Shape 16"/>
          <p:cNvSpPr/>
          <p:nvPr/>
        </p:nvSpPr>
        <p:spPr>
          <a:xfrm>
            <a:off x="548640" y="4928616"/>
            <a:ext cx="5349240" cy="987552"/>
          </a:xfrm>
          <a:prstGeom prst="roundRect">
            <a:avLst>
              <a:gd name="adj" fmla="val 74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9" name="Shape 17"/>
          <p:cNvSpPr/>
          <p:nvPr/>
        </p:nvSpPr>
        <p:spPr>
          <a:xfrm>
            <a:off x="786384" y="5221224"/>
            <a:ext cx="146304" cy="384048"/>
          </a:xfrm>
          <a:prstGeom prst="roundRect">
            <a:avLst>
              <a:gd name="adj" fmla="val 37500"/>
            </a:avLst>
          </a:prstGeom>
          <a:solidFill>
            <a:srgbClr val="037D8C"/>
          </a:solidFill>
          <a:ln w="12700">
            <a:solidFill>
              <a:srgbClr val="037D8C"/>
            </a:solidFill>
            <a:prstDash val="solid"/>
          </a:ln>
        </p:spPr>
      </p:sp>
      <p:sp>
        <p:nvSpPr>
          <p:cNvPr id="20" name="Text 18"/>
          <p:cNvSpPr txBox="1"/>
          <p:nvPr/>
        </p:nvSpPr>
        <p:spPr>
          <a:xfrm>
            <a:off x="1115568" y="5074920"/>
            <a:ext cx="4572000" cy="274320"/>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Lifecycle</a:t>
            </a:r>
            <a:endParaRPr lang="en-US" sz="1350" dirty="0"/>
          </a:p>
        </p:txBody>
      </p:sp>
      <p:sp>
        <p:nvSpPr>
          <p:cNvPr id="21" name="Text 19"/>
          <p:cNvSpPr txBox="1"/>
          <p:nvPr/>
        </p:nvSpPr>
        <p:spPr>
          <a:xfrm>
            <a:off x="1115568" y="5349240"/>
            <a:ext cx="4572000" cy="51206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S3 objects expire on a short TTL; results are deleted once the Delta write is committed, so nothing lingers outside the perimeter.</a:t>
            </a:r>
            <a:endParaRPr lang="en-US" sz="1150" dirty="0"/>
          </a:p>
        </p:txBody>
      </p:sp>
      <p:sp>
        <p:nvSpPr>
          <p:cNvPr id="22" name="Shape 20"/>
          <p:cNvSpPr/>
          <p:nvPr/>
        </p:nvSpPr>
        <p:spPr>
          <a:xfrm>
            <a:off x="6217920" y="1691640"/>
            <a:ext cx="5349240" cy="987552"/>
          </a:xfrm>
          <a:prstGeom prst="roundRect">
            <a:avLst>
              <a:gd name="adj" fmla="val 74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3" name="Shape 21"/>
          <p:cNvSpPr/>
          <p:nvPr/>
        </p:nvSpPr>
        <p:spPr>
          <a:xfrm>
            <a:off x="6455664" y="1984248"/>
            <a:ext cx="146304" cy="384048"/>
          </a:xfrm>
          <a:prstGeom prst="roundRect">
            <a:avLst>
              <a:gd name="adj" fmla="val 37500"/>
            </a:avLst>
          </a:prstGeom>
          <a:solidFill>
            <a:srgbClr val="00A896"/>
          </a:solidFill>
          <a:ln w="12700">
            <a:solidFill>
              <a:srgbClr val="00A896"/>
            </a:solidFill>
            <a:prstDash val="solid"/>
          </a:ln>
        </p:spPr>
      </p:sp>
      <p:sp>
        <p:nvSpPr>
          <p:cNvPr id="24" name="Text 22"/>
          <p:cNvSpPr txBox="1"/>
          <p:nvPr/>
        </p:nvSpPr>
        <p:spPr>
          <a:xfrm>
            <a:off x="6784848" y="1837944"/>
            <a:ext cx="4572000" cy="274320"/>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Partial failure</a:t>
            </a:r>
            <a:endParaRPr lang="en-US" sz="1350" dirty="0"/>
          </a:p>
        </p:txBody>
      </p:sp>
      <p:sp>
        <p:nvSpPr>
          <p:cNvPr id="25" name="Text 23"/>
          <p:cNvSpPr txBox="1"/>
          <p:nvPr/>
        </p:nvSpPr>
        <p:spPr>
          <a:xfrm>
            <a:off x="6784848" y="2112264"/>
            <a:ext cx="4572000" cy="51206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PARTIAL status plus a per-chunk state map. Only failed chunks are re-run — never the whole 80 M.</a:t>
            </a:r>
            <a:endParaRPr lang="en-US" sz="1150" dirty="0"/>
          </a:p>
        </p:txBody>
      </p:sp>
      <p:sp>
        <p:nvSpPr>
          <p:cNvPr id="26" name="Shape 24"/>
          <p:cNvSpPr/>
          <p:nvPr/>
        </p:nvSpPr>
        <p:spPr>
          <a:xfrm>
            <a:off x="6217920" y="2770632"/>
            <a:ext cx="5349240" cy="987552"/>
          </a:xfrm>
          <a:prstGeom prst="roundRect">
            <a:avLst>
              <a:gd name="adj" fmla="val 74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7" name="Shape 25"/>
          <p:cNvSpPr/>
          <p:nvPr/>
        </p:nvSpPr>
        <p:spPr>
          <a:xfrm>
            <a:off x="6455664" y="3063240"/>
            <a:ext cx="146304" cy="384048"/>
          </a:xfrm>
          <a:prstGeom prst="roundRect">
            <a:avLst>
              <a:gd name="adj" fmla="val 37500"/>
            </a:avLst>
          </a:prstGeom>
          <a:solidFill>
            <a:srgbClr val="00A896"/>
          </a:solidFill>
          <a:ln w="12700">
            <a:solidFill>
              <a:srgbClr val="00A896"/>
            </a:solidFill>
            <a:prstDash val="solid"/>
          </a:ln>
        </p:spPr>
      </p:sp>
      <p:sp>
        <p:nvSpPr>
          <p:cNvPr id="28" name="Text 26"/>
          <p:cNvSpPr txBox="1"/>
          <p:nvPr/>
        </p:nvSpPr>
        <p:spPr>
          <a:xfrm>
            <a:off x="6784848" y="2916936"/>
            <a:ext cx="4572000" cy="274320"/>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Poison rows</a:t>
            </a:r>
            <a:endParaRPr lang="en-US" sz="1350" dirty="0"/>
          </a:p>
        </p:txBody>
      </p:sp>
      <p:sp>
        <p:nvSpPr>
          <p:cNvPr id="29" name="Text 27"/>
          <p:cNvSpPr txBox="1"/>
          <p:nvPr/>
        </p:nvSpPr>
        <p:spPr>
          <a:xfrm>
            <a:off x="6784848" y="3191256"/>
            <a:ext cx="4572000" cy="51206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Rows that throw inside the DMN engine are diverted to a reject file with the FEEL error, not failing the chunk.</a:t>
            </a:r>
            <a:endParaRPr lang="en-US" sz="1150" dirty="0"/>
          </a:p>
        </p:txBody>
      </p:sp>
      <p:sp>
        <p:nvSpPr>
          <p:cNvPr id="30" name="Shape 28"/>
          <p:cNvSpPr/>
          <p:nvPr/>
        </p:nvSpPr>
        <p:spPr>
          <a:xfrm>
            <a:off x="6217920" y="3849624"/>
            <a:ext cx="5349240" cy="987552"/>
          </a:xfrm>
          <a:prstGeom prst="roundRect">
            <a:avLst>
              <a:gd name="adj" fmla="val 74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31" name="Shape 29"/>
          <p:cNvSpPr/>
          <p:nvPr/>
        </p:nvSpPr>
        <p:spPr>
          <a:xfrm>
            <a:off x="6455664" y="4142232"/>
            <a:ext cx="146304" cy="384048"/>
          </a:xfrm>
          <a:prstGeom prst="roundRect">
            <a:avLst>
              <a:gd name="adj" fmla="val 37500"/>
            </a:avLst>
          </a:prstGeom>
          <a:solidFill>
            <a:srgbClr val="00A896"/>
          </a:solidFill>
          <a:ln w="12700">
            <a:solidFill>
              <a:srgbClr val="00A896"/>
            </a:solidFill>
            <a:prstDash val="solid"/>
          </a:ln>
        </p:spPr>
      </p:sp>
      <p:sp>
        <p:nvSpPr>
          <p:cNvPr id="32" name="Text 30"/>
          <p:cNvSpPr txBox="1"/>
          <p:nvPr/>
        </p:nvSpPr>
        <p:spPr>
          <a:xfrm>
            <a:off x="6784848" y="3995928"/>
            <a:ext cx="4572000" cy="274320"/>
          </a:xfrm>
          <a:prstGeom prst="rect">
            <a:avLst/>
          </a:prstGeom>
          <a:noFill/>
          <a:ln/>
        </p:spPr>
        <p:txBody>
          <a:bodyPr wrap="square" lIns="0" tIns="0" rIns="0" bIns="0" rtlCol="0" anchor="ctr"/>
          <a:lstStyle/>
          <a:p>
            <a:pPr indent="0" marL="0">
              <a:buNone/>
            </a:pPr>
            <a:r>
              <a:rPr lang="en-US" sz="1350" b="1" dirty="0">
                <a:solidFill>
                  <a:srgbClr val="16222E"/>
                </a:solidFill>
                <a:latin typeface="Calibri" pitchFamily="34" charset="0"/>
                <a:ea typeface="Calibri" pitchFamily="34" charset="-122"/>
                <a:cs typeface="Calibri" pitchFamily="34" charset="-120"/>
              </a:rPr>
              <a:t>Observability</a:t>
            </a:r>
            <a:endParaRPr lang="en-US" sz="1350" dirty="0"/>
          </a:p>
        </p:txBody>
      </p:sp>
      <p:sp>
        <p:nvSpPr>
          <p:cNvPr id="33" name="Text 31"/>
          <p:cNvSpPr txBox="1"/>
          <p:nvPr/>
        </p:nvSpPr>
        <p:spPr>
          <a:xfrm>
            <a:off x="6784848" y="4270248"/>
            <a:ext cx="4572000" cy="51206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Correlate runId ↔ Databricks run_id ↔ chunk id in both logs. Without it, a stuck nightly job is undiagnosable.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1 · ASSESSMENT</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Strengths, costs and the honest objection</a:t>
            </a:r>
            <a:endParaRPr lang="en-US" sz="3000" dirty="0"/>
          </a:p>
        </p:txBody>
      </p:sp>
      <p:sp>
        <p:nvSpPr>
          <p:cNvPr id="5" name="Shape 3"/>
          <p:cNvSpPr/>
          <p:nvPr/>
        </p:nvSpPr>
        <p:spPr>
          <a:xfrm>
            <a:off x="548640" y="1572768"/>
            <a:ext cx="3493008" cy="4206240"/>
          </a:xfrm>
          <a:prstGeom prst="roundRect">
            <a:avLst>
              <a:gd name="adj" fmla="val 2094"/>
            </a:avLst>
          </a:prstGeom>
          <a:solidFill>
            <a:srgbClr val="E8F2F3"/>
          </a:solidFill>
          <a:ln w="12700">
            <a:solidFill>
              <a:srgbClr val="E8F2F3"/>
            </a:solidFill>
            <a:prstDash val="solid"/>
          </a:ln>
          <a:effectLst>
            <a:outerShdw sx="100000" sy="100000" kx="0" ky="0" algn="bl" rotWithShape="0" blurRad="101600" dist="25400" dir="5400000">
              <a:srgbClr val="16222E">
                <a:alpha val="12000"/>
              </a:srgbClr>
            </a:outerShdw>
          </a:effectLst>
        </p:spPr>
      </p:sp>
      <p:sp>
        <p:nvSpPr>
          <p:cNvPr id="6" name="Text 4"/>
          <p:cNvSpPr txBox="1"/>
          <p:nvPr/>
        </p:nvSpPr>
        <p:spPr>
          <a:xfrm>
            <a:off x="822960" y="1783080"/>
            <a:ext cx="2944368" cy="329184"/>
          </a:xfrm>
          <a:prstGeom prst="rect">
            <a:avLst/>
          </a:prstGeom>
          <a:noFill/>
          <a:ln/>
        </p:spPr>
        <p:txBody>
          <a:bodyPr wrap="square" lIns="0" tIns="0" rIns="0" bIns="0" rtlCol="0" anchor="ctr"/>
          <a:lstStyle/>
          <a:p>
            <a:pPr indent="0" marL="0">
              <a:buNone/>
            </a:pPr>
            <a:r>
              <a:rPr lang="en-US" sz="1900" b="1" dirty="0">
                <a:solidFill>
                  <a:srgbClr val="037D8C"/>
                </a:solidFill>
                <a:latin typeface="Cambria" pitchFamily="34" charset="0"/>
                <a:ea typeface="Cambria" pitchFamily="34" charset="-122"/>
                <a:cs typeface="Cambria" pitchFamily="34" charset="-120"/>
              </a:rPr>
              <a:t>Strengths</a:t>
            </a:r>
            <a:endParaRPr lang="en-US" sz="1900" dirty="0"/>
          </a:p>
        </p:txBody>
      </p:sp>
      <p:sp>
        <p:nvSpPr>
          <p:cNvPr id="7" name="Text 5"/>
          <p:cNvSpPr txBox="1"/>
          <p:nvPr/>
        </p:nvSpPr>
        <p:spPr>
          <a:xfrm>
            <a:off x="822960"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Fastest path to production if a Kogito service already exists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Reference DMN engine — zero semantic risk</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Rules team owns an independently deployable artefact</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Same service also serves online / per-request scoring</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No cluster JAR, no access-mode exception, serverless-compatible</a:t>
            </a:r>
            <a:endParaRPr lang="en-US" sz="1200" dirty="0"/>
          </a:p>
        </p:txBody>
      </p:sp>
      <p:sp>
        <p:nvSpPr>
          <p:cNvPr id="8" name="Shape 6"/>
          <p:cNvSpPr/>
          <p:nvPr/>
        </p:nvSpPr>
        <p:spPr>
          <a:xfrm>
            <a:off x="4334256" y="1572768"/>
            <a:ext cx="3493008" cy="4206240"/>
          </a:xfrm>
          <a:prstGeom prst="roundRect">
            <a:avLst>
              <a:gd name="adj" fmla="val 2094"/>
            </a:avLst>
          </a:prstGeom>
          <a:solidFill>
            <a:srgbClr val="F6F1E6"/>
          </a:solidFill>
          <a:ln w="12700">
            <a:solidFill>
              <a:srgbClr val="F6F1E6"/>
            </a:solidFill>
            <a:prstDash val="solid"/>
          </a:ln>
          <a:effectLst>
            <a:outerShdw sx="100000" sy="100000" kx="0" ky="0" algn="bl" rotWithShape="0" blurRad="101600" dist="25400" dir="5400000">
              <a:srgbClr val="16222E">
                <a:alpha val="12000"/>
              </a:srgbClr>
            </a:outerShdw>
          </a:effectLst>
        </p:spPr>
      </p:sp>
      <p:sp>
        <p:nvSpPr>
          <p:cNvPr id="9" name="Text 7"/>
          <p:cNvSpPr txBox="1"/>
          <p:nvPr/>
        </p:nvSpPr>
        <p:spPr>
          <a:xfrm>
            <a:off x="4608576" y="1783080"/>
            <a:ext cx="2944368" cy="329184"/>
          </a:xfrm>
          <a:prstGeom prst="rect">
            <a:avLst/>
          </a:prstGeom>
          <a:noFill/>
          <a:ln/>
        </p:spPr>
        <p:txBody>
          <a:bodyPr wrap="square" lIns="0" tIns="0" rIns="0" bIns="0" rtlCol="0" anchor="ctr"/>
          <a:lstStyle/>
          <a:p>
            <a:pPr indent="0" marL="0">
              <a:buNone/>
            </a:pPr>
            <a:r>
              <a:rPr lang="en-US" sz="1900" b="1" dirty="0">
                <a:solidFill>
                  <a:srgbClr val="B8801A"/>
                </a:solidFill>
                <a:latin typeface="Cambria" pitchFamily="34" charset="0"/>
                <a:ea typeface="Cambria" pitchFamily="34" charset="-122"/>
                <a:cs typeface="Cambria" pitchFamily="34" charset="-120"/>
              </a:rPr>
              <a:t>Costs</a:t>
            </a:r>
            <a:endParaRPr lang="en-US" sz="1900" dirty="0"/>
          </a:p>
        </p:txBody>
      </p:sp>
      <p:sp>
        <p:nvSpPr>
          <p:cNvPr id="10" name="Text 8"/>
          <p:cNvSpPr txBox="1"/>
          <p:nvPr/>
        </p:nvSpPr>
        <p:spPr>
          <a:xfrm>
            <a:off x="4608576"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~40 GB out and back on every run — the dominant wall-clock term</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Egress and S3 request charges on top of two compute footprints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Two systems to size, monitor, deploy and be on call for</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Worker pool must be provisioned for the nightly peak, idle otherwise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Production data at rest outside the Databricks governance perimeter</a:t>
            </a:r>
            <a:endParaRPr lang="en-US" sz="1200" dirty="0"/>
          </a:p>
        </p:txBody>
      </p:sp>
      <p:sp>
        <p:nvSpPr>
          <p:cNvPr id="11" name="Shape 9"/>
          <p:cNvSpPr/>
          <p:nvPr/>
        </p:nvSpPr>
        <p:spPr>
          <a:xfrm>
            <a:off x="8119872" y="1572768"/>
            <a:ext cx="3493008" cy="4206240"/>
          </a:xfrm>
          <a:prstGeom prst="roundRect">
            <a:avLst>
              <a:gd name="adj" fmla="val 2094"/>
            </a:avLst>
          </a:prstGeom>
          <a:solidFill>
            <a:srgbClr val="F7ECEC"/>
          </a:solidFill>
          <a:ln w="12700">
            <a:solidFill>
              <a:srgbClr val="F7ECEC"/>
            </a:solidFill>
            <a:prstDash val="solid"/>
          </a:ln>
          <a:effectLst>
            <a:outerShdw sx="100000" sy="100000" kx="0" ky="0" algn="bl" rotWithShape="0" blurRad="101600" dist="25400" dir="5400000">
              <a:srgbClr val="16222E">
                <a:alpha val="12000"/>
              </a:srgbClr>
            </a:outerShdw>
          </a:effectLst>
        </p:spPr>
      </p:sp>
      <p:sp>
        <p:nvSpPr>
          <p:cNvPr id="12" name="Text 10"/>
          <p:cNvSpPr txBox="1"/>
          <p:nvPr/>
        </p:nvSpPr>
        <p:spPr>
          <a:xfrm>
            <a:off x="8394192" y="1783080"/>
            <a:ext cx="2944368" cy="329184"/>
          </a:xfrm>
          <a:prstGeom prst="rect">
            <a:avLst/>
          </a:prstGeom>
          <a:noFill/>
          <a:ln/>
        </p:spPr>
        <p:txBody>
          <a:bodyPr wrap="square" lIns="0" tIns="0" rIns="0" bIns="0" rtlCol="0" anchor="ctr"/>
          <a:lstStyle/>
          <a:p>
            <a:pPr indent="0" marL="0">
              <a:buNone/>
            </a:pPr>
            <a:r>
              <a:rPr lang="en-US" sz="1900" b="1" dirty="0">
                <a:solidFill>
                  <a:srgbClr val="9B3B3B"/>
                </a:solidFill>
                <a:latin typeface="Cambria" pitchFamily="34" charset="0"/>
                <a:ea typeface="Cambria" pitchFamily="34" charset="-122"/>
                <a:cs typeface="Cambria" pitchFamily="34" charset="-120"/>
              </a:rPr>
              <a:t>The objection</a:t>
            </a:r>
            <a:endParaRPr lang="en-US" sz="1900" dirty="0"/>
          </a:p>
        </p:txBody>
      </p:sp>
      <p:sp>
        <p:nvSpPr>
          <p:cNvPr id="13" name="Text 11"/>
          <p:cNvSpPr txBox="1"/>
          <p:nvPr/>
        </p:nvSpPr>
        <p:spPr>
          <a:xfrm>
            <a:off x="8394192"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"We are paying a distributed-systems tax to avoid putting a JAR on a cluster."</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Valid when the service is only ever used by this batch job.</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Loses force if online scoring is a real, funded requirement — then the service exists regardless and batch reuses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2</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Kogito embedded inside Databricks</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The DMN runtime travels to the data: a JAR on the cluster, invoked once per partition.</a:t>
            </a:r>
            <a:endParaRPr lang="en-US" sz="1300" dirty="0"/>
          </a:p>
        </p:txBody>
      </p:sp>
      <p:sp>
        <p:nvSpPr>
          <p:cNvPr id="6" name="Shape 4"/>
          <p:cNvSpPr/>
          <p:nvPr/>
        </p:nvSpPr>
        <p:spPr>
          <a:xfrm>
            <a:off x="548640" y="1828800"/>
            <a:ext cx="1965960" cy="960120"/>
          </a:xfrm>
          <a:prstGeom prst="roundRect">
            <a:avLst>
              <a:gd name="adj" fmla="val 7619"/>
            </a:avLst>
          </a:prstGeom>
          <a:solidFill>
            <a:srgbClr val="1E2E3D"/>
          </a:solidFill>
          <a:ln w="12700">
            <a:solidFill>
              <a:srgbClr val="1E2E3D"/>
            </a:solidFill>
            <a:prstDash val="solid"/>
          </a:ln>
          <a:effectLst>
            <a:outerShdw sx="100000" sy="100000" kx="0" ky="0" algn="bl" rotWithShape="0" blurRad="101600" dist="25400" dir="5400000">
              <a:srgbClr val="16222E">
                <a:alpha val="12000"/>
              </a:srgbClr>
            </a:outerShdw>
          </a:effectLst>
        </p:spPr>
      </p:sp>
      <p:sp>
        <p:nvSpPr>
          <p:cNvPr id="7" name="Text 5"/>
          <p:cNvSpPr txBox="1"/>
          <p:nvPr/>
        </p:nvSpPr>
        <p:spPr>
          <a:xfrm>
            <a:off x="54864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Model registry</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(UC Volume)</a:t>
            </a:r>
            <a:endParaRPr lang="en-US" sz="1250" dirty="0"/>
          </a:p>
        </p:txBody>
      </p:sp>
      <p:sp>
        <p:nvSpPr>
          <p:cNvPr id="8" name="Shape 6"/>
          <p:cNvSpPr/>
          <p:nvPr/>
        </p:nvSpPr>
        <p:spPr>
          <a:xfrm>
            <a:off x="2578608" y="2212848"/>
            <a:ext cx="256032" cy="201168"/>
          </a:xfrm>
          <a:prstGeom prst="rightArrow">
            <a:avLst/>
          </a:prstGeom>
          <a:solidFill>
            <a:srgbClr val="9AA7B2"/>
          </a:solidFill>
          <a:ln w="12700">
            <a:solidFill>
              <a:srgbClr val="9AA7B2"/>
            </a:solidFill>
            <a:prstDash val="solid"/>
          </a:ln>
        </p:spPr>
      </p:sp>
      <p:sp>
        <p:nvSpPr>
          <p:cNvPr id="9" name="Shape 7"/>
          <p:cNvSpPr/>
          <p:nvPr/>
        </p:nvSpPr>
        <p:spPr>
          <a:xfrm>
            <a:off x="2880360" y="1828800"/>
            <a:ext cx="1965960" cy="960120"/>
          </a:xfrm>
          <a:prstGeom prst="roundRect">
            <a:avLst>
              <a:gd name="adj" fmla="val 7619"/>
            </a:avLst>
          </a:prstGeom>
          <a:solidFill>
            <a:srgbClr val="037D8C"/>
          </a:solidFill>
          <a:ln w="12700">
            <a:solidFill>
              <a:srgbClr val="037D8C"/>
            </a:solidFill>
            <a:prstDash val="solid"/>
          </a:ln>
          <a:effectLst>
            <a:outerShdw sx="100000" sy="100000" kx="0" ky="0" algn="bl" rotWithShape="0" blurRad="101600" dist="25400" dir="5400000">
              <a:srgbClr val="16222E">
                <a:alpha val="12000"/>
              </a:srgbClr>
            </a:outerShdw>
          </a:effectLst>
        </p:spPr>
      </p:sp>
      <p:sp>
        <p:nvSpPr>
          <p:cNvPr id="10" name="Text 8"/>
          <p:cNvSpPr txBox="1"/>
          <p:nvPr/>
        </p:nvSpPr>
        <p:spPr>
          <a:xfrm>
            <a:off x="288036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Fat JAR</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kie-dmn-core</a:t>
            </a:r>
            <a:endParaRPr lang="en-US" sz="1250" dirty="0"/>
          </a:p>
        </p:txBody>
      </p:sp>
      <p:sp>
        <p:nvSpPr>
          <p:cNvPr id="11" name="Shape 9"/>
          <p:cNvSpPr/>
          <p:nvPr/>
        </p:nvSpPr>
        <p:spPr>
          <a:xfrm>
            <a:off x="4910328" y="2212848"/>
            <a:ext cx="256032" cy="201168"/>
          </a:xfrm>
          <a:prstGeom prst="rightArrow">
            <a:avLst/>
          </a:prstGeom>
          <a:solidFill>
            <a:srgbClr val="9AA7B2"/>
          </a:solidFill>
          <a:ln w="12700">
            <a:solidFill>
              <a:srgbClr val="9AA7B2"/>
            </a:solidFill>
            <a:prstDash val="solid"/>
          </a:ln>
        </p:spPr>
      </p:sp>
      <p:sp>
        <p:nvSpPr>
          <p:cNvPr id="12" name="Shape 10"/>
          <p:cNvSpPr/>
          <p:nvPr/>
        </p:nvSpPr>
        <p:spPr>
          <a:xfrm>
            <a:off x="5212080" y="1828800"/>
            <a:ext cx="1965960" cy="960120"/>
          </a:xfrm>
          <a:prstGeom prst="roundRect">
            <a:avLst>
              <a:gd name="adj" fmla="val 7619"/>
            </a:avLst>
          </a:prstGeom>
          <a:solidFill>
            <a:srgbClr val="00A896"/>
          </a:solidFill>
          <a:ln w="12700">
            <a:solidFill>
              <a:srgbClr val="00A896"/>
            </a:solidFill>
            <a:prstDash val="solid"/>
          </a:ln>
          <a:effectLst>
            <a:outerShdw sx="100000" sy="100000" kx="0" ky="0" algn="bl" rotWithShape="0" blurRad="101600" dist="25400" dir="5400000">
              <a:srgbClr val="16222E">
                <a:alpha val="12000"/>
              </a:srgbClr>
            </a:outerShdw>
          </a:effectLst>
        </p:spPr>
      </p:sp>
      <p:sp>
        <p:nvSpPr>
          <p:cNvPr id="13" name="Text 11"/>
          <p:cNvSpPr txBox="1"/>
          <p:nvPr/>
        </p:nvSpPr>
        <p:spPr>
          <a:xfrm>
            <a:off x="521208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Executor JVM</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DMNRuntime</a:t>
            </a:r>
            <a:endParaRPr lang="en-US" sz="1250" dirty="0"/>
          </a:p>
        </p:txBody>
      </p:sp>
      <p:sp>
        <p:nvSpPr>
          <p:cNvPr id="14" name="Shape 12"/>
          <p:cNvSpPr/>
          <p:nvPr/>
        </p:nvSpPr>
        <p:spPr>
          <a:xfrm>
            <a:off x="7242048" y="2212848"/>
            <a:ext cx="256032" cy="201168"/>
          </a:xfrm>
          <a:prstGeom prst="rightArrow">
            <a:avLst/>
          </a:prstGeom>
          <a:solidFill>
            <a:srgbClr val="9AA7B2"/>
          </a:solidFill>
          <a:ln w="12700">
            <a:solidFill>
              <a:srgbClr val="9AA7B2"/>
            </a:solidFill>
            <a:prstDash val="solid"/>
          </a:ln>
        </p:spPr>
      </p:sp>
      <p:sp>
        <p:nvSpPr>
          <p:cNvPr id="15" name="Shape 13"/>
          <p:cNvSpPr/>
          <p:nvPr/>
        </p:nvSpPr>
        <p:spPr>
          <a:xfrm>
            <a:off x="7543800" y="1828800"/>
            <a:ext cx="1965960" cy="960120"/>
          </a:xfrm>
          <a:prstGeom prst="roundRect">
            <a:avLst>
              <a:gd name="adj" fmla="val 7619"/>
            </a:avLst>
          </a:prstGeom>
          <a:solidFill>
            <a:srgbClr val="00A896"/>
          </a:solidFill>
          <a:ln w="12700">
            <a:solidFill>
              <a:srgbClr val="00A896"/>
            </a:solidFill>
            <a:prstDash val="solid"/>
          </a:ln>
          <a:effectLst>
            <a:outerShdw sx="100000" sy="100000" kx="0" ky="0" algn="bl" rotWithShape="0" blurRad="101600" dist="25400" dir="5400000">
              <a:srgbClr val="16222E">
                <a:alpha val="12000"/>
              </a:srgbClr>
            </a:outerShdw>
          </a:effectLst>
        </p:spPr>
      </p:sp>
      <p:sp>
        <p:nvSpPr>
          <p:cNvPr id="16" name="Text 14"/>
          <p:cNvSpPr txBox="1"/>
          <p:nvPr/>
        </p:nvSpPr>
        <p:spPr>
          <a:xfrm>
            <a:off x="754380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mapPartitions</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over Delta</a:t>
            </a:r>
            <a:endParaRPr lang="en-US" sz="1250" dirty="0"/>
          </a:p>
        </p:txBody>
      </p:sp>
      <p:sp>
        <p:nvSpPr>
          <p:cNvPr id="17" name="Shape 15"/>
          <p:cNvSpPr/>
          <p:nvPr/>
        </p:nvSpPr>
        <p:spPr>
          <a:xfrm>
            <a:off x="9573768" y="2212848"/>
            <a:ext cx="256032" cy="201168"/>
          </a:xfrm>
          <a:prstGeom prst="rightArrow">
            <a:avLst/>
          </a:prstGeom>
          <a:solidFill>
            <a:srgbClr val="9AA7B2"/>
          </a:solidFill>
          <a:ln w="12700">
            <a:solidFill>
              <a:srgbClr val="9AA7B2"/>
            </a:solidFill>
            <a:prstDash val="solid"/>
          </a:ln>
        </p:spPr>
      </p:sp>
      <p:sp>
        <p:nvSpPr>
          <p:cNvPr id="18" name="Shape 16"/>
          <p:cNvSpPr/>
          <p:nvPr/>
        </p:nvSpPr>
        <p:spPr>
          <a:xfrm>
            <a:off x="9875520" y="1828800"/>
            <a:ext cx="1965960" cy="960120"/>
          </a:xfrm>
          <a:prstGeom prst="roundRect">
            <a:avLst>
              <a:gd name="adj" fmla="val 7619"/>
            </a:avLst>
          </a:prstGeom>
          <a:solidFill>
            <a:srgbClr val="1E2E3D"/>
          </a:solidFill>
          <a:ln w="12700">
            <a:solidFill>
              <a:srgbClr val="1E2E3D"/>
            </a:solidFill>
            <a:prstDash val="solid"/>
          </a:ln>
          <a:effectLst>
            <a:outerShdw sx="100000" sy="100000" kx="0" ky="0" algn="bl" rotWithShape="0" blurRad="101600" dist="25400" dir="5400000">
              <a:srgbClr val="16222E">
                <a:alpha val="12000"/>
              </a:srgbClr>
            </a:outerShdw>
          </a:effectLst>
        </p:spPr>
      </p:sp>
      <p:sp>
        <p:nvSpPr>
          <p:cNvPr id="19" name="Text 17"/>
          <p:cNvSpPr txBox="1"/>
          <p:nvPr/>
        </p:nvSpPr>
        <p:spPr>
          <a:xfrm>
            <a:off x="987552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Delta table</a:t>
            </a:r>
            <a:endParaRPr lang="en-US" sz="1250" dirty="0"/>
          </a:p>
        </p:txBody>
      </p:sp>
      <p:sp>
        <p:nvSpPr>
          <p:cNvPr id="20" name="Text 18"/>
          <p:cNvSpPr txBox="1"/>
          <p:nvPr/>
        </p:nvSpPr>
        <p:spPr>
          <a:xfrm>
            <a:off x="548640" y="2880360"/>
            <a:ext cx="11064240" cy="274320"/>
          </a:xfrm>
          <a:prstGeom prst="rect">
            <a:avLst/>
          </a:prstGeom>
          <a:noFill/>
          <a:ln/>
        </p:spPr>
        <p:txBody>
          <a:bodyPr wrap="square" lIns="0" tIns="0" rIns="0" bIns="0" rtlCol="0" anchor="ctr"/>
          <a:lstStyle/>
          <a:p>
            <a:pPr algn="ctr" indent="0" marL="0">
              <a:buNone/>
            </a:pPr>
            <a:r>
              <a:rPr lang="en-US" sz="1150" i="1" dirty="0">
                <a:solidFill>
                  <a:srgbClr val="5A6672"/>
                </a:solidFill>
                <a:latin typeface="Calibri" pitchFamily="34" charset="0"/>
                <a:ea typeface="Calibri" pitchFamily="34" charset="-122"/>
                <a:cs typeface="Calibri" pitchFamily="34" charset="-120"/>
              </a:rPr>
              <a:t>Zero data movement  ·  one job  ·  one bill</a:t>
            </a:r>
            <a:endParaRPr lang="en-US" sz="1150" dirty="0"/>
          </a:p>
        </p:txBody>
      </p:sp>
      <p:sp>
        <p:nvSpPr>
          <p:cNvPr id="21" name="Shape 19"/>
          <p:cNvSpPr/>
          <p:nvPr/>
        </p:nvSpPr>
        <p:spPr>
          <a:xfrm>
            <a:off x="548640" y="3291840"/>
            <a:ext cx="5349240" cy="2606040"/>
          </a:xfrm>
          <a:prstGeom prst="roundRect">
            <a:avLst>
              <a:gd name="adj" fmla="val 28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2" name="Text 20"/>
          <p:cNvSpPr txBox="1"/>
          <p:nvPr/>
        </p:nvSpPr>
        <p:spPr>
          <a:xfrm>
            <a:off x="841248" y="3493008"/>
            <a:ext cx="475488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How it works</a:t>
            </a:r>
            <a:endParaRPr lang="en-US" sz="1700" dirty="0"/>
          </a:p>
        </p:txBody>
      </p:sp>
      <p:sp>
        <p:nvSpPr>
          <p:cNvPr id="23" name="Text 21"/>
          <p:cNvSpPr txBox="1"/>
          <p:nvPr/>
        </p:nvSpPr>
        <p:spPr>
          <a:xfrm>
            <a:off x="841248" y="3877056"/>
            <a:ext cx="4754880" cy="1874520"/>
          </a:xfrm>
          <a:prstGeom prst="rect">
            <a:avLst/>
          </a:prstGeom>
          <a:noFill/>
          <a:ln/>
        </p:spPr>
        <p:txBody>
          <a:bodyPr wrap="square" rtlCol="0" anchor="t"/>
          <a:lstStyle/>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DMN models are read from a Unity Catalog Volume and broadcast to executors as bytes.</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Each executor builds a DMNRuntime once — in a lazy singleton, not per row — and reuses it.</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mapPartitions (or a Scala UDF) feeds rows into the runtime and emits the decision outputs as columns.</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Everything stays inside one Spark job: same cluster, same governance, same lineage.</a:t>
            </a:r>
            <a:endParaRPr lang="en-US" sz="1200" dirty="0"/>
          </a:p>
        </p:txBody>
      </p:sp>
      <p:sp>
        <p:nvSpPr>
          <p:cNvPr id="24" name="Shape 22"/>
          <p:cNvSpPr/>
          <p:nvPr/>
        </p:nvSpPr>
        <p:spPr>
          <a:xfrm>
            <a:off x="6217920" y="3291840"/>
            <a:ext cx="5349240" cy="2606040"/>
          </a:xfrm>
          <a:prstGeom prst="roundRect">
            <a:avLst>
              <a:gd name="adj" fmla="val 28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5" name="Text 23"/>
          <p:cNvSpPr txBox="1"/>
          <p:nvPr/>
        </p:nvSpPr>
        <p:spPr>
          <a:xfrm>
            <a:off x="6510528" y="3493008"/>
            <a:ext cx="475488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Why you would choose it</a:t>
            </a:r>
            <a:endParaRPr lang="en-US" sz="1700" dirty="0"/>
          </a:p>
        </p:txBody>
      </p:sp>
      <p:sp>
        <p:nvSpPr>
          <p:cNvPr id="26" name="Text 24"/>
          <p:cNvSpPr txBox="1"/>
          <p:nvPr/>
        </p:nvSpPr>
        <p:spPr>
          <a:xfrm>
            <a:off x="6510528" y="3877056"/>
            <a:ext cx="4754880" cy="1874520"/>
          </a:xfrm>
          <a:prstGeom prst="rect">
            <a:avLst/>
          </a:prstGeom>
          <a:noFill/>
          <a:ln/>
        </p:spPr>
        <p:txBody>
          <a:bodyPr wrap="square" rtlCol="0" anchor="t"/>
          <a:lstStyle/>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Eliminates the entire data-movement term — the largest cost in option 1.</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Reference DMN engine, so semantics remain exact, unlike option 3.</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One system to operate, one cost centre, one run to monitor.</a:t>
            </a:r>
            <a:endParaRPr lang="en-US" sz="1200" dirty="0"/>
          </a:p>
          <a:p>
            <a:pPr marL="342900" indent="-342900">
              <a:lnSpc>
                <a:spcPts val="15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Scales by adding executors; Spark handles partitioning and retry for free.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2 · ARCHITECTURE</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model and the engine travel to the data</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Two artefacts cross the boundary — a .dmn bundle and a JAR. No data file crosses at all.</a:t>
            </a:r>
            <a:endParaRPr lang="en-US" sz="1300" dirty="0"/>
          </a:p>
        </p:txBody>
      </p:sp>
      <p:sp>
        <p:nvSpPr>
          <p:cNvPr id="6" name="Shape 4"/>
          <p:cNvSpPr/>
          <p:nvPr/>
        </p:nvSpPr>
        <p:spPr>
          <a:xfrm>
            <a:off x="6355080" y="502920"/>
            <a:ext cx="310896" cy="0"/>
          </a:xfrm>
          <a:prstGeom prst="line">
            <a:avLst/>
          </a:prstGeom>
          <a:noFill/>
          <a:ln w="28575">
            <a:solidFill>
              <a:srgbClr val="037D8C"/>
            </a:solidFill>
            <a:prstDash val="solid"/>
            <a:tailEnd type="triangle"/>
          </a:ln>
        </p:spPr>
      </p:sp>
      <p:sp>
        <p:nvSpPr>
          <p:cNvPr id="7" name="Text 5"/>
          <p:cNvSpPr txBox="1"/>
          <p:nvPr/>
        </p:nvSpPr>
        <p:spPr>
          <a:xfrm>
            <a:off x="673912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.dmn model flow</a:t>
            </a:r>
            <a:endParaRPr lang="en-US" sz="1000" dirty="0"/>
          </a:p>
        </p:txBody>
      </p:sp>
      <p:sp>
        <p:nvSpPr>
          <p:cNvPr id="8" name="Shape 6"/>
          <p:cNvSpPr/>
          <p:nvPr/>
        </p:nvSpPr>
        <p:spPr>
          <a:xfrm>
            <a:off x="8138160" y="502920"/>
            <a:ext cx="310896" cy="0"/>
          </a:xfrm>
          <a:prstGeom prst="line">
            <a:avLst/>
          </a:prstGeom>
          <a:noFill/>
          <a:ln w="28575">
            <a:solidFill>
              <a:srgbClr val="B0512F"/>
            </a:solidFill>
            <a:prstDash val="solid"/>
            <a:tailEnd type="triangle"/>
          </a:ln>
        </p:spPr>
      </p:sp>
      <p:sp>
        <p:nvSpPr>
          <p:cNvPr id="9" name="Text 7"/>
          <p:cNvSpPr txBox="1"/>
          <p:nvPr/>
        </p:nvSpPr>
        <p:spPr>
          <a:xfrm>
            <a:off x="852220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data file flow</a:t>
            </a:r>
            <a:endParaRPr lang="en-US" sz="1000" dirty="0"/>
          </a:p>
        </p:txBody>
      </p:sp>
      <p:sp>
        <p:nvSpPr>
          <p:cNvPr id="10" name="Shape 8"/>
          <p:cNvSpPr/>
          <p:nvPr/>
        </p:nvSpPr>
        <p:spPr>
          <a:xfrm>
            <a:off x="9921240" y="502920"/>
            <a:ext cx="310896" cy="0"/>
          </a:xfrm>
          <a:prstGeom prst="line">
            <a:avLst/>
          </a:prstGeom>
          <a:noFill/>
          <a:ln w="22225">
            <a:solidFill>
              <a:srgbClr val="5A6672"/>
            </a:solidFill>
            <a:prstDash val="dash"/>
            <a:tailEnd type="triangle"/>
          </a:ln>
        </p:spPr>
      </p:sp>
      <p:sp>
        <p:nvSpPr>
          <p:cNvPr id="11" name="Text 9"/>
          <p:cNvSpPr txBox="1"/>
          <p:nvPr/>
        </p:nvSpPr>
        <p:spPr>
          <a:xfrm>
            <a:off x="1030528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API / control call</a:t>
            </a:r>
            <a:endParaRPr lang="en-US" sz="1000" dirty="0"/>
          </a:p>
        </p:txBody>
      </p:sp>
      <p:sp>
        <p:nvSpPr>
          <p:cNvPr id="12" name="Shape 10"/>
          <p:cNvSpPr/>
          <p:nvPr/>
        </p:nvSpPr>
        <p:spPr>
          <a:xfrm>
            <a:off x="5486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3" name="Text 11"/>
          <p:cNvSpPr txBox="1"/>
          <p:nvPr/>
        </p:nvSpPr>
        <p:spPr>
          <a:xfrm>
            <a:off x="6949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DMN editor web app</a:t>
            </a:r>
            <a:endParaRPr lang="en-US" sz="1200" dirty="0"/>
          </a:p>
        </p:txBody>
      </p:sp>
      <p:sp>
        <p:nvSpPr>
          <p:cNvPr id="14" name="Text 12"/>
          <p:cNvSpPr txBox="1"/>
          <p:nvPr/>
        </p:nvSpPr>
        <p:spPr>
          <a:xfrm>
            <a:off x="6949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React app embedding</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dmn-editor-standalone</a:t>
            </a:r>
            <a:endParaRPr lang="en-US" sz="1000" dirty="0"/>
          </a:p>
        </p:txBody>
      </p:sp>
      <p:sp>
        <p:nvSpPr>
          <p:cNvPr id="15" name="Shape 13"/>
          <p:cNvSpPr/>
          <p:nvPr/>
        </p:nvSpPr>
        <p:spPr>
          <a:xfrm>
            <a:off x="30632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6" name="Text 14"/>
          <p:cNvSpPr txBox="1"/>
          <p:nvPr/>
        </p:nvSpPr>
        <p:spPr>
          <a:xfrm>
            <a:off x="32095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Git repository</a:t>
            </a:r>
            <a:endParaRPr lang="en-US" sz="1200" dirty="0"/>
          </a:p>
        </p:txBody>
      </p:sp>
      <p:sp>
        <p:nvSpPr>
          <p:cNvPr id="17" name="Text 15"/>
          <p:cNvSpPr txBox="1"/>
          <p:nvPr/>
        </p:nvSpPr>
        <p:spPr>
          <a:xfrm>
            <a:off x="32095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.dmn + test scenarios,</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pull-request review</a:t>
            </a:r>
            <a:endParaRPr lang="en-US" sz="1000" dirty="0"/>
          </a:p>
        </p:txBody>
      </p:sp>
      <p:sp>
        <p:nvSpPr>
          <p:cNvPr id="18" name="Shape 16"/>
          <p:cNvSpPr/>
          <p:nvPr/>
        </p:nvSpPr>
        <p:spPr>
          <a:xfrm>
            <a:off x="55778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9" name="Text 17"/>
          <p:cNvSpPr txBox="1"/>
          <p:nvPr/>
        </p:nvSpPr>
        <p:spPr>
          <a:xfrm>
            <a:off x="57241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CI pipeline</a:t>
            </a:r>
            <a:endParaRPr lang="en-US" sz="1200" dirty="0"/>
          </a:p>
        </p:txBody>
      </p:sp>
      <p:sp>
        <p:nvSpPr>
          <p:cNvPr id="20" name="Text 18"/>
          <p:cNvSpPr txBox="1"/>
          <p:nvPr/>
        </p:nvSpPr>
        <p:spPr>
          <a:xfrm>
            <a:off x="57241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Builds the model bundle</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and the fat JAR (kie-dmn)</a:t>
            </a:r>
            <a:endParaRPr lang="en-US" sz="1000" dirty="0"/>
          </a:p>
        </p:txBody>
      </p:sp>
      <p:sp>
        <p:nvSpPr>
          <p:cNvPr id="21" name="Shape 19"/>
          <p:cNvSpPr/>
          <p:nvPr/>
        </p:nvSpPr>
        <p:spPr>
          <a:xfrm>
            <a:off x="80924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22" name="Text 20"/>
          <p:cNvSpPr txBox="1"/>
          <p:nvPr/>
        </p:nvSpPr>
        <p:spPr>
          <a:xfrm>
            <a:off x="82387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Model registry</a:t>
            </a:r>
            <a:endParaRPr lang="en-US" sz="1200" dirty="0"/>
          </a:p>
        </p:txBody>
      </p:sp>
      <p:sp>
        <p:nvSpPr>
          <p:cNvPr id="23" name="Text 21"/>
          <p:cNvSpPr txBox="1"/>
          <p:nvPr/>
        </p:nvSpPr>
        <p:spPr>
          <a:xfrm>
            <a:off x="82387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Versioned .dmn bundle</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Unity Catalog Volume</a:t>
            </a:r>
            <a:endParaRPr lang="en-US" sz="1000" dirty="0"/>
          </a:p>
        </p:txBody>
      </p:sp>
      <p:sp>
        <p:nvSpPr>
          <p:cNvPr id="24" name="Shape 22"/>
          <p:cNvSpPr/>
          <p:nvPr/>
        </p:nvSpPr>
        <p:spPr>
          <a:xfrm>
            <a:off x="2788920" y="2171700"/>
            <a:ext cx="274320" cy="0"/>
          </a:xfrm>
          <a:prstGeom prst="line">
            <a:avLst/>
          </a:prstGeom>
          <a:noFill/>
          <a:ln w="28575">
            <a:solidFill>
              <a:srgbClr val="037D8C"/>
            </a:solidFill>
            <a:prstDash val="solid"/>
            <a:tailEnd type="triangle"/>
          </a:ln>
        </p:spPr>
      </p:sp>
      <p:sp>
        <p:nvSpPr>
          <p:cNvPr id="25" name="Shape 23"/>
          <p:cNvSpPr/>
          <p:nvPr/>
        </p:nvSpPr>
        <p:spPr>
          <a:xfrm>
            <a:off x="5303520" y="2171700"/>
            <a:ext cx="274320" cy="0"/>
          </a:xfrm>
          <a:prstGeom prst="line">
            <a:avLst/>
          </a:prstGeom>
          <a:noFill/>
          <a:ln w="28575">
            <a:solidFill>
              <a:srgbClr val="037D8C"/>
            </a:solidFill>
            <a:prstDash val="solid"/>
            <a:tailEnd type="triangle"/>
          </a:ln>
        </p:spPr>
      </p:sp>
      <p:sp>
        <p:nvSpPr>
          <p:cNvPr id="26" name="Shape 24"/>
          <p:cNvSpPr/>
          <p:nvPr/>
        </p:nvSpPr>
        <p:spPr>
          <a:xfrm>
            <a:off x="7818120" y="2171700"/>
            <a:ext cx="274320" cy="0"/>
          </a:xfrm>
          <a:prstGeom prst="line">
            <a:avLst/>
          </a:prstGeom>
          <a:noFill/>
          <a:ln w="28575">
            <a:solidFill>
              <a:srgbClr val="037D8C"/>
            </a:solidFill>
            <a:prstDash val="solid"/>
            <a:tailEnd type="triangle"/>
          </a:ln>
        </p:spPr>
      </p:sp>
      <p:sp>
        <p:nvSpPr>
          <p:cNvPr id="27" name="Shape 25"/>
          <p:cNvSpPr/>
          <p:nvPr/>
        </p:nvSpPr>
        <p:spPr>
          <a:xfrm>
            <a:off x="6693408" y="2560320"/>
            <a:ext cx="0" cy="502920"/>
          </a:xfrm>
          <a:prstGeom prst="line">
            <a:avLst/>
          </a:prstGeom>
          <a:noFill/>
          <a:ln w="28575">
            <a:solidFill>
              <a:srgbClr val="037D8C"/>
            </a:solidFill>
            <a:prstDash val="solid"/>
            <a:tailEnd type="triangle"/>
          </a:ln>
        </p:spPr>
      </p:sp>
      <p:sp>
        <p:nvSpPr>
          <p:cNvPr id="28" name="Shape 26"/>
          <p:cNvSpPr/>
          <p:nvPr/>
        </p:nvSpPr>
        <p:spPr>
          <a:xfrm>
            <a:off x="6327648" y="2633472"/>
            <a:ext cx="256032" cy="256032"/>
          </a:xfrm>
          <a:prstGeom prst="ellipse">
            <a:avLst/>
          </a:prstGeom>
          <a:solidFill>
            <a:srgbClr val="037D8C"/>
          </a:solidFill>
          <a:ln w="12700">
            <a:solidFill>
              <a:srgbClr val="037D8C"/>
            </a:solidFill>
            <a:prstDash val="solid"/>
          </a:ln>
        </p:spPr>
      </p:sp>
      <p:sp>
        <p:nvSpPr>
          <p:cNvPr id="29" name="Text 27"/>
          <p:cNvSpPr txBox="1"/>
          <p:nvPr/>
        </p:nvSpPr>
        <p:spPr>
          <a:xfrm>
            <a:off x="6327648" y="263347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0" name="Shape 28"/>
          <p:cNvSpPr/>
          <p:nvPr/>
        </p:nvSpPr>
        <p:spPr>
          <a:xfrm>
            <a:off x="9208008" y="2560320"/>
            <a:ext cx="0" cy="502920"/>
          </a:xfrm>
          <a:prstGeom prst="line">
            <a:avLst/>
          </a:prstGeom>
          <a:noFill/>
          <a:ln w="28575">
            <a:solidFill>
              <a:srgbClr val="037D8C"/>
            </a:solidFill>
            <a:prstDash val="solid"/>
            <a:tailEnd type="triangle"/>
          </a:ln>
        </p:spPr>
      </p:sp>
      <p:sp>
        <p:nvSpPr>
          <p:cNvPr id="31" name="Shape 29"/>
          <p:cNvSpPr/>
          <p:nvPr/>
        </p:nvSpPr>
        <p:spPr>
          <a:xfrm>
            <a:off x="8842248" y="2633472"/>
            <a:ext cx="256032" cy="256032"/>
          </a:xfrm>
          <a:prstGeom prst="ellipse">
            <a:avLst/>
          </a:prstGeom>
          <a:solidFill>
            <a:srgbClr val="037D8C"/>
          </a:solidFill>
          <a:ln w="12700">
            <a:solidFill>
              <a:srgbClr val="037D8C"/>
            </a:solidFill>
            <a:prstDash val="solid"/>
          </a:ln>
        </p:spPr>
      </p:sp>
      <p:sp>
        <p:nvSpPr>
          <p:cNvPr id="32" name="Text 30"/>
          <p:cNvSpPr txBox="1"/>
          <p:nvPr/>
        </p:nvSpPr>
        <p:spPr>
          <a:xfrm>
            <a:off x="8842248" y="263347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3" name="Shape 31"/>
          <p:cNvSpPr/>
          <p:nvPr/>
        </p:nvSpPr>
        <p:spPr>
          <a:xfrm>
            <a:off x="548640" y="3063240"/>
            <a:ext cx="11064240" cy="2194560"/>
          </a:xfrm>
          <a:prstGeom prst="roundRect">
            <a:avLst>
              <a:gd name="adj" fmla="val 3333"/>
            </a:avLst>
          </a:prstGeom>
          <a:solidFill>
            <a:srgbClr val="F2F5F7"/>
          </a:solidFill>
          <a:ln w="15875">
            <a:solidFill>
              <a:srgbClr val="D3DDE4"/>
            </a:solidFill>
            <a:prstDash val="solid"/>
          </a:ln>
        </p:spPr>
      </p:sp>
      <p:sp>
        <p:nvSpPr>
          <p:cNvPr id="34" name="Text 32"/>
          <p:cNvSpPr txBox="1"/>
          <p:nvPr/>
        </p:nvSpPr>
        <p:spPr>
          <a:xfrm>
            <a:off x="822960" y="3154680"/>
            <a:ext cx="10241280" cy="237744"/>
          </a:xfrm>
          <a:prstGeom prst="rect">
            <a:avLst/>
          </a:prstGeom>
          <a:noFill/>
          <a:ln/>
        </p:spPr>
        <p:txBody>
          <a:bodyPr wrap="square" lIns="0" tIns="0" rIns="0" bIns="0" rtlCol="0" anchor="ctr"/>
          <a:lstStyle/>
          <a:p>
            <a:pPr indent="0" marL="0">
              <a:buNone/>
            </a:pPr>
            <a:r>
              <a:rPr lang="en-US" sz="1000" b="1" spc="120" kern="0" dirty="0">
                <a:solidFill>
                  <a:srgbClr val="5A6672"/>
                </a:solidFill>
                <a:latin typeface="Calibri" pitchFamily="34" charset="0"/>
                <a:ea typeface="Calibri" pitchFamily="34" charset="-122"/>
                <a:cs typeface="Calibri" pitchFamily="34" charset="-120"/>
              </a:rPr>
              <a:t>DATABRICKS  ·  DEDICATED ACCESS-MODE CLUSTER  ·  ONE SPARK JOB</a:t>
            </a:r>
            <a:endParaRPr lang="en-US" sz="1000" dirty="0"/>
          </a:p>
        </p:txBody>
      </p:sp>
      <p:sp>
        <p:nvSpPr>
          <p:cNvPr id="35" name="Shape 33"/>
          <p:cNvSpPr/>
          <p:nvPr/>
        </p:nvSpPr>
        <p:spPr>
          <a:xfrm>
            <a:off x="822960" y="3529584"/>
            <a:ext cx="10241280" cy="493776"/>
          </a:xfrm>
          <a:prstGeom prst="roundRect">
            <a:avLst>
              <a:gd name="adj" fmla="val 12963"/>
            </a:avLst>
          </a:prstGeom>
          <a:solidFill>
            <a:srgbClr val="FFFFFF"/>
          </a:solidFill>
          <a:ln w="12700">
            <a:solidFill>
              <a:srgbClr val="D3DDE4"/>
            </a:solidFill>
            <a:prstDash val="solid"/>
          </a:ln>
          <a:effectLst>
            <a:outerShdw sx="100000" sy="100000" kx="0" ky="0" algn="bl" rotWithShape="0" blurRad="76200" dist="19050" dir="5400000">
              <a:srgbClr val="16222E">
                <a:alpha val="10000"/>
              </a:srgbClr>
            </a:outerShdw>
          </a:effectLst>
        </p:spPr>
      </p:sp>
      <p:sp>
        <p:nvSpPr>
          <p:cNvPr id="36" name="Text 34"/>
          <p:cNvSpPr txBox="1"/>
          <p:nvPr/>
        </p:nvSpPr>
        <p:spPr>
          <a:xfrm>
            <a:off x="969264" y="3639312"/>
            <a:ext cx="9948672" cy="310896"/>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Driver — pins the model version, loads the .dmn from the Volume, broadcasts the model bytes; the fat JAR is on the cluster classpath</a:t>
            </a:r>
            <a:endParaRPr lang="en-US" sz="1200" dirty="0"/>
          </a:p>
        </p:txBody>
      </p:sp>
      <p:sp>
        <p:nvSpPr>
          <p:cNvPr id="37" name="Shape 35"/>
          <p:cNvSpPr/>
          <p:nvPr/>
        </p:nvSpPr>
        <p:spPr>
          <a:xfrm>
            <a:off x="5760720" y="4023360"/>
            <a:ext cx="0" cy="201168"/>
          </a:xfrm>
          <a:prstGeom prst="line">
            <a:avLst/>
          </a:prstGeom>
          <a:noFill/>
          <a:ln w="28575">
            <a:solidFill>
              <a:srgbClr val="037D8C"/>
            </a:solidFill>
            <a:prstDash val="solid"/>
            <a:tailEnd type="triangle"/>
          </a:ln>
        </p:spPr>
      </p:sp>
      <p:sp>
        <p:nvSpPr>
          <p:cNvPr id="38" name="Shape 36"/>
          <p:cNvSpPr/>
          <p:nvPr/>
        </p:nvSpPr>
        <p:spPr>
          <a:xfrm>
            <a:off x="822960" y="4224528"/>
            <a:ext cx="2331720" cy="914400"/>
          </a:xfrm>
          <a:prstGeom prst="roundRect">
            <a:avLst>
              <a:gd name="adj" fmla="val 7000"/>
            </a:avLst>
          </a:prstGeom>
          <a:solidFill>
            <a:srgbClr val="1E2E3D"/>
          </a:solidFill>
          <a:ln w="12700">
            <a:solidFill>
              <a:srgbClr val="1E2E3D"/>
            </a:solidFill>
            <a:prstDash val="solid"/>
          </a:ln>
          <a:effectLst>
            <a:outerShdw sx="100000" sy="100000" kx="0" ky="0" algn="bl" rotWithShape="0" blurRad="76200" dist="19050" dir="5400000">
              <a:srgbClr val="16222E">
                <a:alpha val="10000"/>
              </a:srgbClr>
            </a:outerShdw>
          </a:effectLst>
        </p:spPr>
      </p:sp>
      <p:sp>
        <p:nvSpPr>
          <p:cNvPr id="39" name="Text 37"/>
          <p:cNvSpPr txBox="1"/>
          <p:nvPr/>
        </p:nvSpPr>
        <p:spPr>
          <a:xfrm>
            <a:off x="969264" y="4334256"/>
            <a:ext cx="203911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Source Delta table</a:t>
            </a:r>
            <a:endParaRPr lang="en-US" sz="1200" dirty="0"/>
          </a:p>
        </p:txBody>
      </p:sp>
      <p:sp>
        <p:nvSpPr>
          <p:cNvPr id="40" name="Text 38"/>
          <p:cNvSpPr txBox="1"/>
          <p:nvPr/>
        </p:nvSpPr>
        <p:spPr>
          <a:xfrm>
            <a:off x="969264" y="4626864"/>
            <a:ext cx="2039112" cy="384048"/>
          </a:xfrm>
          <a:prstGeom prst="rect">
            <a:avLst/>
          </a:prstGeom>
          <a:noFill/>
          <a:ln/>
        </p:spPr>
        <p:txBody>
          <a:bodyPr wrap="square" lIns="0" tIns="0" rIns="0" bIns="0" rtlCol="0" anchor="t"/>
          <a:lstStyle/>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80 M rows</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Unity Catalog</a:t>
            </a:r>
            <a:endParaRPr lang="en-US" sz="1000" dirty="0"/>
          </a:p>
        </p:txBody>
      </p:sp>
      <p:sp>
        <p:nvSpPr>
          <p:cNvPr id="41" name="Shape 39"/>
          <p:cNvSpPr/>
          <p:nvPr/>
        </p:nvSpPr>
        <p:spPr>
          <a:xfrm>
            <a:off x="3429000" y="4224528"/>
            <a:ext cx="4663440" cy="914400"/>
          </a:xfrm>
          <a:prstGeom prst="roundRect">
            <a:avLst>
              <a:gd name="adj" fmla="val 7000"/>
            </a:avLst>
          </a:prstGeom>
          <a:solidFill>
            <a:srgbClr val="037D8C"/>
          </a:solidFill>
          <a:ln w="12700">
            <a:solidFill>
              <a:srgbClr val="037D8C"/>
            </a:solidFill>
            <a:prstDash val="solid"/>
          </a:ln>
          <a:effectLst>
            <a:outerShdw sx="100000" sy="100000" kx="0" ky="0" algn="bl" rotWithShape="0" blurRad="76200" dist="19050" dir="5400000">
              <a:srgbClr val="16222E">
                <a:alpha val="10000"/>
              </a:srgbClr>
            </a:outerShdw>
          </a:effectLst>
        </p:spPr>
      </p:sp>
      <p:sp>
        <p:nvSpPr>
          <p:cNvPr id="42" name="Text 40"/>
          <p:cNvSpPr txBox="1"/>
          <p:nvPr/>
        </p:nvSpPr>
        <p:spPr>
          <a:xfrm>
            <a:off x="3575304" y="4334256"/>
            <a:ext cx="437083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Executor JVMs</a:t>
            </a:r>
            <a:endParaRPr lang="en-US" sz="1200" dirty="0"/>
          </a:p>
        </p:txBody>
      </p:sp>
      <p:sp>
        <p:nvSpPr>
          <p:cNvPr id="43" name="Text 41"/>
          <p:cNvSpPr txBox="1"/>
          <p:nvPr/>
        </p:nvSpPr>
        <p:spPr>
          <a:xfrm>
            <a:off x="3575304" y="4626864"/>
            <a:ext cx="4370832" cy="384048"/>
          </a:xfrm>
          <a:prstGeom prst="rect">
            <a:avLst/>
          </a:prstGeom>
          <a:noFill/>
          <a:ln/>
        </p:spPr>
        <p:txBody>
          <a:bodyPr wrap="square" lIns="0" tIns="0" rIns="0" bIns="0" rtlCol="0" anchor="t"/>
          <a:lstStyle/>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One DMNRuntime per executor, built lazily and reused · mapPartitions (or a Scala UDF) feeds rows in and emits decision columns</a:t>
            </a:r>
            <a:endParaRPr lang="en-US" sz="1000" dirty="0"/>
          </a:p>
        </p:txBody>
      </p:sp>
      <p:sp>
        <p:nvSpPr>
          <p:cNvPr id="44" name="Shape 42"/>
          <p:cNvSpPr/>
          <p:nvPr/>
        </p:nvSpPr>
        <p:spPr>
          <a:xfrm>
            <a:off x="8366760" y="4224528"/>
            <a:ext cx="2697480" cy="914400"/>
          </a:xfrm>
          <a:prstGeom prst="roundRect">
            <a:avLst>
              <a:gd name="adj" fmla="val 7000"/>
            </a:avLst>
          </a:prstGeom>
          <a:solidFill>
            <a:srgbClr val="1E2E3D"/>
          </a:solidFill>
          <a:ln w="12700">
            <a:solidFill>
              <a:srgbClr val="1E2E3D"/>
            </a:solidFill>
            <a:prstDash val="solid"/>
          </a:ln>
          <a:effectLst>
            <a:outerShdw sx="100000" sy="100000" kx="0" ky="0" algn="bl" rotWithShape="0" blurRad="76200" dist="19050" dir="5400000">
              <a:srgbClr val="16222E">
                <a:alpha val="10000"/>
              </a:srgbClr>
            </a:outerShdw>
          </a:effectLst>
        </p:spPr>
      </p:sp>
      <p:sp>
        <p:nvSpPr>
          <p:cNvPr id="45" name="Text 43"/>
          <p:cNvSpPr txBox="1"/>
          <p:nvPr/>
        </p:nvSpPr>
        <p:spPr>
          <a:xfrm>
            <a:off x="8513064" y="4334256"/>
            <a:ext cx="240487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Result Delta table</a:t>
            </a:r>
            <a:endParaRPr lang="en-US" sz="1200" dirty="0"/>
          </a:p>
        </p:txBody>
      </p:sp>
      <p:sp>
        <p:nvSpPr>
          <p:cNvPr id="46" name="Text 44"/>
          <p:cNvSpPr txBox="1"/>
          <p:nvPr/>
        </p:nvSpPr>
        <p:spPr>
          <a:xfrm>
            <a:off x="8513064" y="4626864"/>
            <a:ext cx="2404872" cy="384048"/>
          </a:xfrm>
          <a:prstGeom prst="rect">
            <a:avLst/>
          </a:prstGeom>
          <a:noFill/>
          <a:ln/>
        </p:spPr>
        <p:txBody>
          <a:bodyPr wrap="square" lIns="0" tIns="0" rIns="0" bIns="0" rtlCol="0" anchor="t"/>
          <a:lstStyle/>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Decision outputs +</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model version per row</a:t>
            </a:r>
            <a:endParaRPr lang="en-US" sz="1000" dirty="0"/>
          </a:p>
        </p:txBody>
      </p:sp>
      <p:sp>
        <p:nvSpPr>
          <p:cNvPr id="47" name="Shape 45"/>
          <p:cNvSpPr/>
          <p:nvPr/>
        </p:nvSpPr>
        <p:spPr>
          <a:xfrm>
            <a:off x="3154680" y="4681728"/>
            <a:ext cx="274320" cy="0"/>
          </a:xfrm>
          <a:prstGeom prst="line">
            <a:avLst/>
          </a:prstGeom>
          <a:noFill/>
          <a:ln w="28575">
            <a:solidFill>
              <a:srgbClr val="B0512F"/>
            </a:solidFill>
            <a:prstDash val="solid"/>
            <a:tailEnd type="triangle"/>
          </a:ln>
        </p:spPr>
      </p:sp>
      <p:sp>
        <p:nvSpPr>
          <p:cNvPr id="48" name="Shape 46"/>
          <p:cNvSpPr/>
          <p:nvPr/>
        </p:nvSpPr>
        <p:spPr>
          <a:xfrm>
            <a:off x="8092440" y="4681728"/>
            <a:ext cx="274320" cy="0"/>
          </a:xfrm>
          <a:prstGeom prst="line">
            <a:avLst/>
          </a:prstGeom>
          <a:noFill/>
          <a:ln w="28575">
            <a:solidFill>
              <a:srgbClr val="B0512F"/>
            </a:solidFill>
            <a:prstDash val="solid"/>
            <a:tailEnd type="triangle"/>
          </a:ln>
        </p:spPr>
      </p:sp>
      <p:sp>
        <p:nvSpPr>
          <p:cNvPr id="49" name="Shape 47"/>
          <p:cNvSpPr/>
          <p:nvPr/>
        </p:nvSpPr>
        <p:spPr>
          <a:xfrm>
            <a:off x="548640" y="5532120"/>
            <a:ext cx="256032" cy="256032"/>
          </a:xfrm>
          <a:prstGeom prst="ellipse">
            <a:avLst/>
          </a:prstGeom>
          <a:solidFill>
            <a:srgbClr val="037D8C"/>
          </a:solidFill>
          <a:ln w="12700">
            <a:solidFill>
              <a:srgbClr val="037D8C"/>
            </a:solidFill>
            <a:prstDash val="solid"/>
          </a:ln>
        </p:spPr>
      </p:sp>
      <p:sp>
        <p:nvSpPr>
          <p:cNvPr id="50" name="Text 48"/>
          <p:cNvSpPr txBox="1"/>
          <p:nvPr/>
        </p:nvSpPr>
        <p:spPr>
          <a:xfrm>
            <a:off x="548640"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1" name="Text 49"/>
          <p:cNvSpPr txBox="1"/>
          <p:nvPr/>
        </p:nvSpPr>
        <p:spPr>
          <a:xfrm>
            <a:off x="896112"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The registry serves a version-pinned .dmn bundle from a Unity Catalog Volume; the driver reads it and broadcasts the bytes to every executor.</a:t>
            </a:r>
            <a:endParaRPr lang="en-US" sz="950" dirty="0"/>
          </a:p>
        </p:txBody>
      </p:sp>
      <p:sp>
        <p:nvSpPr>
          <p:cNvPr id="52" name="Shape 50"/>
          <p:cNvSpPr/>
          <p:nvPr/>
        </p:nvSpPr>
        <p:spPr>
          <a:xfrm>
            <a:off x="3364992" y="5532120"/>
            <a:ext cx="256032" cy="256032"/>
          </a:xfrm>
          <a:prstGeom prst="ellipse">
            <a:avLst/>
          </a:prstGeom>
          <a:solidFill>
            <a:srgbClr val="037D8C"/>
          </a:solidFill>
          <a:ln w="12700">
            <a:solidFill>
              <a:srgbClr val="037D8C"/>
            </a:solidFill>
            <a:prstDash val="solid"/>
          </a:ln>
        </p:spPr>
      </p:sp>
      <p:sp>
        <p:nvSpPr>
          <p:cNvPr id="53" name="Text 51"/>
          <p:cNvSpPr txBox="1"/>
          <p:nvPr/>
        </p:nvSpPr>
        <p:spPr>
          <a:xfrm>
            <a:off x="3364992"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4" name="Text 52"/>
          <p:cNvSpPr txBox="1"/>
          <p:nvPr/>
        </p:nvSpPr>
        <p:spPr>
          <a:xfrm>
            <a:off x="3712464"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CI publishes the fat JAR (kie-dmn-core + FEEL) as a cluster library. This is the artefact that forces dedicated access mode.</a:t>
            </a:r>
            <a:endParaRPr lang="en-US" sz="950" dirty="0"/>
          </a:p>
        </p:txBody>
      </p:sp>
      <p:sp>
        <p:nvSpPr>
          <p:cNvPr id="55" name="Shape 53"/>
          <p:cNvSpPr/>
          <p:nvPr/>
        </p:nvSpPr>
        <p:spPr>
          <a:xfrm>
            <a:off x="6181344" y="5532120"/>
            <a:ext cx="256032" cy="256032"/>
          </a:xfrm>
          <a:prstGeom prst="ellipse">
            <a:avLst/>
          </a:prstGeom>
          <a:solidFill>
            <a:srgbClr val="B0512F"/>
          </a:solidFill>
          <a:ln w="12700">
            <a:solidFill>
              <a:srgbClr val="B0512F"/>
            </a:solidFill>
            <a:prstDash val="solid"/>
          </a:ln>
        </p:spPr>
      </p:sp>
      <p:sp>
        <p:nvSpPr>
          <p:cNvPr id="56" name="Text 54"/>
          <p:cNvSpPr txBox="1"/>
          <p:nvPr/>
        </p:nvSpPr>
        <p:spPr>
          <a:xfrm>
            <a:off x="6181344"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7" name="Text 55"/>
          <p:cNvSpPr txBox="1"/>
          <p:nvPr/>
        </p:nvSpPr>
        <p:spPr>
          <a:xfrm>
            <a:off x="6528816"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Rows never leave the platform: the Delta table is read, evaluated and written inside the same job, under the same governance and lineage.</a:t>
            </a:r>
            <a:endParaRPr lang="en-US" sz="950" dirty="0"/>
          </a:p>
        </p:txBody>
      </p:sp>
      <p:sp>
        <p:nvSpPr>
          <p:cNvPr id="58" name="Shape 56"/>
          <p:cNvSpPr/>
          <p:nvPr/>
        </p:nvSpPr>
        <p:spPr>
          <a:xfrm>
            <a:off x="8997696" y="5532120"/>
            <a:ext cx="256032" cy="256032"/>
          </a:xfrm>
          <a:prstGeom prst="ellipse">
            <a:avLst/>
          </a:prstGeom>
          <a:solidFill>
            <a:srgbClr val="5A6672"/>
          </a:solidFill>
          <a:ln w="12700">
            <a:solidFill>
              <a:srgbClr val="5A6672"/>
            </a:solidFill>
            <a:prstDash val="solid"/>
          </a:ln>
        </p:spPr>
      </p:sp>
      <p:sp>
        <p:nvSpPr>
          <p:cNvPr id="59" name="Text 57"/>
          <p:cNvSpPr txBox="1"/>
          <p:nvPr/>
        </p:nvSpPr>
        <p:spPr>
          <a:xfrm>
            <a:off x="8997696"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0" name="Text 58"/>
          <p:cNvSpPr txBox="1"/>
          <p:nvPr/>
        </p:nvSpPr>
        <p:spPr>
          <a:xfrm>
            <a:off x="9345168"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There is no API and no object-storage payload hop — the entire control plane is the Spark job's own scheduler.</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2 · CONSTRAINTS</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Databricks compute question decides this option</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Custom JVM code is exactly what Unity Catalog's stricter access modes restrict.</a:t>
            </a:r>
            <a:endParaRPr lang="en-US" sz="1300" dirty="0"/>
          </a:p>
        </p:txBody>
      </p:sp>
      <p:sp>
        <p:nvSpPr>
          <p:cNvPr id="6" name="Shape 4"/>
          <p:cNvSpPr/>
          <p:nvPr/>
        </p:nvSpPr>
        <p:spPr>
          <a:xfrm>
            <a:off x="548640" y="1691640"/>
            <a:ext cx="7863840" cy="1170432"/>
          </a:xfrm>
          <a:prstGeom prst="roundRect">
            <a:avLst>
              <a:gd name="adj" fmla="val 6250"/>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7" name="Text 5"/>
          <p:cNvSpPr txBox="1"/>
          <p:nvPr/>
        </p:nvSpPr>
        <p:spPr>
          <a:xfrm>
            <a:off x="841248" y="1837944"/>
            <a:ext cx="5120640" cy="292608"/>
          </a:xfrm>
          <a:prstGeom prst="rect">
            <a:avLst/>
          </a:prstGeom>
          <a:noFill/>
          <a:ln/>
        </p:spPr>
        <p:txBody>
          <a:bodyPr wrap="square" lIns="0" tIns="0" rIns="0" bIns="0" rtlCol="0" anchor="ctr"/>
          <a:lstStyle/>
          <a:p>
            <a:pPr indent="0" marL="0">
              <a:buNone/>
            </a:pPr>
            <a:r>
              <a:rPr lang="en-US" sz="1400" b="1" dirty="0">
                <a:solidFill>
                  <a:srgbClr val="16222E"/>
                </a:solidFill>
                <a:latin typeface="Calibri" pitchFamily="34" charset="0"/>
                <a:ea typeface="Calibri" pitchFamily="34" charset="-122"/>
                <a:cs typeface="Calibri" pitchFamily="34" charset="-120"/>
              </a:rPr>
              <a:t>Standard (shared) access mode</a:t>
            </a:r>
            <a:endParaRPr lang="en-US" sz="1400" dirty="0"/>
          </a:p>
        </p:txBody>
      </p:sp>
      <p:sp>
        <p:nvSpPr>
          <p:cNvPr id="8" name="Text 6"/>
          <p:cNvSpPr txBox="1"/>
          <p:nvPr/>
        </p:nvSpPr>
        <p:spPr>
          <a:xfrm>
            <a:off x="841248" y="2167128"/>
            <a:ext cx="7223760" cy="60350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spark.jars / spark.jars.packages are unavailable; RDD APIs unsupported; Scala UDFs cannot be used inside higher-order functions; sparkContext not exposed in Scala.</a:t>
            </a:r>
            <a:endParaRPr lang="en-US" sz="1150" dirty="0"/>
          </a:p>
        </p:txBody>
      </p:sp>
      <p:sp>
        <p:nvSpPr>
          <p:cNvPr id="9" name="Shape 7"/>
          <p:cNvSpPr/>
          <p:nvPr/>
        </p:nvSpPr>
        <p:spPr>
          <a:xfrm>
            <a:off x="6035040" y="1810512"/>
            <a:ext cx="2194560" cy="310896"/>
          </a:xfrm>
          <a:prstGeom prst="roundRect">
            <a:avLst>
              <a:gd name="adj" fmla="val 50000"/>
            </a:avLst>
          </a:prstGeom>
          <a:solidFill>
            <a:srgbClr val="FFFFFF"/>
          </a:solidFill>
          <a:ln w="15875">
            <a:solidFill>
              <a:srgbClr val="9B3B3B"/>
            </a:solidFill>
            <a:prstDash val="solid"/>
          </a:ln>
        </p:spPr>
      </p:sp>
      <p:sp>
        <p:nvSpPr>
          <p:cNvPr id="10" name="Text 8"/>
          <p:cNvSpPr txBox="1"/>
          <p:nvPr/>
        </p:nvSpPr>
        <p:spPr>
          <a:xfrm>
            <a:off x="6035040" y="1810512"/>
            <a:ext cx="2194560" cy="310896"/>
          </a:xfrm>
          <a:prstGeom prst="rect">
            <a:avLst/>
          </a:prstGeom>
          <a:noFill/>
          <a:ln/>
        </p:spPr>
        <p:txBody>
          <a:bodyPr wrap="square" lIns="0" tIns="0" rIns="0" bIns="0" rtlCol="0" anchor="ctr"/>
          <a:lstStyle/>
          <a:p>
            <a:pPr algn="ctr" indent="0" marL="0">
              <a:buNone/>
            </a:pPr>
            <a:r>
              <a:rPr lang="en-US" sz="1000" b="1" dirty="0">
                <a:solidFill>
                  <a:srgbClr val="9B3B3B"/>
                </a:solidFill>
                <a:latin typeface="Calibri" pitchFamily="34" charset="0"/>
                <a:ea typeface="Calibri" pitchFamily="34" charset="-122"/>
                <a:cs typeface="Calibri" pitchFamily="34" charset="-120"/>
              </a:rPr>
              <a:t>Blocked or heavily degraded</a:t>
            </a:r>
            <a:endParaRPr lang="en-US" sz="1000" dirty="0"/>
          </a:p>
        </p:txBody>
      </p:sp>
      <p:sp>
        <p:nvSpPr>
          <p:cNvPr id="11" name="Shape 9"/>
          <p:cNvSpPr/>
          <p:nvPr/>
        </p:nvSpPr>
        <p:spPr>
          <a:xfrm>
            <a:off x="548640" y="2953512"/>
            <a:ext cx="7863840" cy="1170432"/>
          </a:xfrm>
          <a:prstGeom prst="roundRect">
            <a:avLst>
              <a:gd name="adj" fmla="val 6250"/>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2" name="Text 10"/>
          <p:cNvSpPr txBox="1"/>
          <p:nvPr/>
        </p:nvSpPr>
        <p:spPr>
          <a:xfrm>
            <a:off x="841248" y="3099816"/>
            <a:ext cx="5120640" cy="292608"/>
          </a:xfrm>
          <a:prstGeom prst="rect">
            <a:avLst/>
          </a:prstGeom>
          <a:noFill/>
          <a:ln/>
        </p:spPr>
        <p:txBody>
          <a:bodyPr wrap="square" lIns="0" tIns="0" rIns="0" bIns="0" rtlCol="0" anchor="ctr"/>
          <a:lstStyle/>
          <a:p>
            <a:pPr indent="0" marL="0">
              <a:buNone/>
            </a:pPr>
            <a:r>
              <a:rPr lang="en-US" sz="1400" b="1" dirty="0">
                <a:solidFill>
                  <a:srgbClr val="16222E"/>
                </a:solidFill>
                <a:latin typeface="Calibri" pitchFamily="34" charset="0"/>
                <a:ea typeface="Calibri" pitchFamily="34" charset="-122"/>
                <a:cs typeface="Calibri" pitchFamily="34" charset="-120"/>
              </a:rPr>
              <a:t>Dedicated access mode</a:t>
            </a:r>
            <a:endParaRPr lang="en-US" sz="1400" dirty="0"/>
          </a:p>
        </p:txBody>
      </p:sp>
      <p:sp>
        <p:nvSpPr>
          <p:cNvPr id="13" name="Text 11"/>
          <p:cNvSpPr txBox="1"/>
          <p:nvPr/>
        </p:nvSpPr>
        <p:spPr>
          <a:xfrm>
            <a:off x="841248" y="3429000"/>
            <a:ext cx="7223760" cy="60350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Custom JARs, RDD APIs and Scala UDFs are available. Documented as the fallback when a workload needs exactly these features.</a:t>
            </a:r>
            <a:endParaRPr lang="en-US" sz="1150" dirty="0"/>
          </a:p>
        </p:txBody>
      </p:sp>
      <p:sp>
        <p:nvSpPr>
          <p:cNvPr id="14" name="Shape 12"/>
          <p:cNvSpPr/>
          <p:nvPr/>
        </p:nvSpPr>
        <p:spPr>
          <a:xfrm>
            <a:off x="6035040" y="3072384"/>
            <a:ext cx="2194560" cy="310896"/>
          </a:xfrm>
          <a:prstGeom prst="roundRect">
            <a:avLst>
              <a:gd name="adj" fmla="val 50000"/>
            </a:avLst>
          </a:prstGeom>
          <a:solidFill>
            <a:srgbClr val="FFFFFF"/>
          </a:solidFill>
          <a:ln w="15875">
            <a:solidFill>
              <a:srgbClr val="2E7D32"/>
            </a:solidFill>
            <a:prstDash val="solid"/>
          </a:ln>
        </p:spPr>
      </p:sp>
      <p:sp>
        <p:nvSpPr>
          <p:cNvPr id="15" name="Text 13"/>
          <p:cNvSpPr txBox="1"/>
          <p:nvPr/>
        </p:nvSpPr>
        <p:spPr>
          <a:xfrm>
            <a:off x="6035040" y="3072384"/>
            <a:ext cx="2194560" cy="310896"/>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Viable</a:t>
            </a:r>
            <a:endParaRPr lang="en-US" sz="1000" dirty="0"/>
          </a:p>
        </p:txBody>
      </p:sp>
      <p:sp>
        <p:nvSpPr>
          <p:cNvPr id="16" name="Shape 14"/>
          <p:cNvSpPr/>
          <p:nvPr/>
        </p:nvSpPr>
        <p:spPr>
          <a:xfrm>
            <a:off x="548640" y="4215384"/>
            <a:ext cx="7863840" cy="1170432"/>
          </a:xfrm>
          <a:prstGeom prst="roundRect">
            <a:avLst>
              <a:gd name="adj" fmla="val 6250"/>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7" name="Text 15"/>
          <p:cNvSpPr txBox="1"/>
          <p:nvPr/>
        </p:nvSpPr>
        <p:spPr>
          <a:xfrm>
            <a:off x="841248" y="4361688"/>
            <a:ext cx="5120640" cy="292608"/>
          </a:xfrm>
          <a:prstGeom prst="rect">
            <a:avLst/>
          </a:prstGeom>
          <a:noFill/>
          <a:ln/>
        </p:spPr>
        <p:txBody>
          <a:bodyPr wrap="square" lIns="0" tIns="0" rIns="0" bIns="0" rtlCol="0" anchor="ctr"/>
          <a:lstStyle/>
          <a:p>
            <a:pPr indent="0" marL="0">
              <a:buNone/>
            </a:pPr>
            <a:r>
              <a:rPr lang="en-US" sz="1400" b="1" dirty="0">
                <a:solidFill>
                  <a:srgbClr val="16222E"/>
                </a:solidFill>
                <a:latin typeface="Calibri" pitchFamily="34" charset="0"/>
                <a:ea typeface="Calibri" pitchFamily="34" charset="-122"/>
                <a:cs typeface="Calibri" pitchFamily="34" charset="-120"/>
              </a:rPr>
              <a:t>Serverless compute</a:t>
            </a:r>
            <a:endParaRPr lang="en-US" sz="1400" dirty="0"/>
          </a:p>
        </p:txBody>
      </p:sp>
      <p:sp>
        <p:nvSpPr>
          <p:cNvPr id="18" name="Text 16"/>
          <p:cNvSpPr txBox="1"/>
          <p:nvPr/>
        </p:nvSpPr>
        <p:spPr>
          <a:xfrm>
            <a:off x="841248" y="4690872"/>
            <a:ext cx="7223760" cy="603504"/>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No cluster-scoped custom JVM libraries. Option 2 does not run here.</a:t>
            </a:r>
            <a:endParaRPr lang="en-US" sz="1150" dirty="0"/>
          </a:p>
        </p:txBody>
      </p:sp>
      <p:sp>
        <p:nvSpPr>
          <p:cNvPr id="19" name="Shape 17"/>
          <p:cNvSpPr/>
          <p:nvPr/>
        </p:nvSpPr>
        <p:spPr>
          <a:xfrm>
            <a:off x="6035040" y="4334256"/>
            <a:ext cx="2194560" cy="310896"/>
          </a:xfrm>
          <a:prstGeom prst="roundRect">
            <a:avLst>
              <a:gd name="adj" fmla="val 50000"/>
            </a:avLst>
          </a:prstGeom>
          <a:solidFill>
            <a:srgbClr val="FFFFFF"/>
          </a:solidFill>
          <a:ln w="15875">
            <a:solidFill>
              <a:srgbClr val="9B3B3B"/>
            </a:solidFill>
            <a:prstDash val="solid"/>
          </a:ln>
        </p:spPr>
      </p:sp>
      <p:sp>
        <p:nvSpPr>
          <p:cNvPr id="20" name="Text 18"/>
          <p:cNvSpPr txBox="1"/>
          <p:nvPr/>
        </p:nvSpPr>
        <p:spPr>
          <a:xfrm>
            <a:off x="6035040" y="4334256"/>
            <a:ext cx="2194560" cy="310896"/>
          </a:xfrm>
          <a:prstGeom prst="rect">
            <a:avLst/>
          </a:prstGeom>
          <a:noFill/>
          <a:ln/>
        </p:spPr>
        <p:txBody>
          <a:bodyPr wrap="square" lIns="0" tIns="0" rIns="0" bIns="0" rtlCol="0" anchor="ctr"/>
          <a:lstStyle/>
          <a:p>
            <a:pPr algn="ctr" indent="0" marL="0">
              <a:buNone/>
            </a:pPr>
            <a:r>
              <a:rPr lang="en-US" sz="1000" b="1" dirty="0">
                <a:solidFill>
                  <a:srgbClr val="9B3B3B"/>
                </a:solidFill>
                <a:latin typeface="Calibri" pitchFamily="34" charset="0"/>
                <a:ea typeface="Calibri" pitchFamily="34" charset="-122"/>
                <a:cs typeface="Calibri" pitchFamily="34" charset="-120"/>
              </a:rPr>
              <a:t>Not available</a:t>
            </a:r>
            <a:endParaRPr lang="en-US" sz="1000" dirty="0"/>
          </a:p>
        </p:txBody>
      </p:sp>
      <p:sp>
        <p:nvSpPr>
          <p:cNvPr id="21" name="Shape 19"/>
          <p:cNvSpPr/>
          <p:nvPr/>
        </p:nvSpPr>
        <p:spPr>
          <a:xfrm>
            <a:off x="8686800" y="1691640"/>
            <a:ext cx="2926080" cy="3785616"/>
          </a:xfrm>
          <a:prstGeom prst="roundRect">
            <a:avLst>
              <a:gd name="adj" fmla="val 2500"/>
            </a:avLst>
          </a:prstGeom>
          <a:solidFill>
            <a:srgbClr val="F6F1E6"/>
          </a:solidFill>
          <a:ln w="12700">
            <a:solidFill>
              <a:srgbClr val="F6F1E6"/>
            </a:solidFill>
            <a:prstDash val="solid"/>
          </a:ln>
          <a:effectLst>
            <a:outerShdw sx="100000" sy="100000" kx="0" ky="0" algn="bl" rotWithShape="0" blurRad="101600" dist="25400" dir="5400000">
              <a:srgbClr val="16222E">
                <a:alpha val="12000"/>
              </a:srgbClr>
            </a:outerShdw>
          </a:effectLst>
        </p:spPr>
      </p:sp>
      <p:sp>
        <p:nvSpPr>
          <p:cNvPr id="22" name="Text 20"/>
          <p:cNvSpPr txBox="1"/>
          <p:nvPr/>
        </p:nvSpPr>
        <p:spPr>
          <a:xfrm>
            <a:off x="8942832" y="1874520"/>
            <a:ext cx="2468880" cy="310896"/>
          </a:xfrm>
          <a:prstGeom prst="rect">
            <a:avLst/>
          </a:prstGeom>
          <a:noFill/>
          <a:ln/>
        </p:spPr>
        <p:txBody>
          <a:bodyPr wrap="square" lIns="0" tIns="0" rIns="0" bIns="0" rtlCol="0" anchor="ctr"/>
          <a:lstStyle/>
          <a:p>
            <a:pPr indent="0" marL="0">
              <a:buNone/>
            </a:pPr>
            <a:r>
              <a:rPr lang="en-US" sz="1600" b="1" dirty="0">
                <a:solidFill>
                  <a:srgbClr val="8A5B00"/>
                </a:solidFill>
                <a:latin typeface="Cambria" pitchFamily="34" charset="0"/>
                <a:ea typeface="Cambria" pitchFamily="34" charset="-122"/>
                <a:cs typeface="Cambria" pitchFamily="34" charset="-120"/>
              </a:rPr>
              <a:t>Engineering risks</a:t>
            </a:r>
            <a:endParaRPr lang="en-US" sz="1600" dirty="0"/>
          </a:p>
        </p:txBody>
      </p:sp>
      <p:sp>
        <p:nvSpPr>
          <p:cNvPr id="23" name="Text 21"/>
          <p:cNvSpPr txBox="1"/>
          <p:nvPr/>
        </p:nvSpPr>
        <p:spPr>
          <a:xfrm>
            <a:off x="8942832" y="2286000"/>
            <a:ext cx="2423160" cy="2926080"/>
          </a:xfrm>
          <a:prstGeom prst="rect">
            <a:avLst/>
          </a:prstGeom>
          <a:noFill/>
          <a:ln/>
        </p:spPr>
        <p:txBody>
          <a:bodyPr wrap="square" rtlCol="0" anchor="t"/>
          <a:lstStyle/>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Dependency conflicts between the KIE stack and the runtime's own classpath</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Cold start: model compilation on every executor at job start</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Row-at-a-time JVM object marshalling — no Photon, no vectorisation</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A rule change becomes a JAR or bundle redeploy unless models load dynamically</a:t>
            </a:r>
            <a:endParaRPr lang="en-US" sz="1100" dirty="0"/>
          </a:p>
          <a:p>
            <a:pPr marL="342900" indent="-342900">
              <a:lnSpc>
                <a:spcPts val="1400"/>
              </a:lnSpc>
              <a:spcAft>
                <a:spcPts val="700"/>
              </a:spcAft>
              <a:buSzPct val="100000"/>
              <a:buChar char="•"/>
            </a:pPr>
            <a:r>
              <a:rPr lang="en-US" sz="1100" dirty="0">
                <a:solidFill>
                  <a:srgbClr val="5A4A2A"/>
                </a:solidFill>
                <a:latin typeface="Calibri" pitchFamily="34" charset="0"/>
                <a:ea typeface="Calibri" pitchFamily="34" charset="-122"/>
                <a:cs typeface="Calibri" pitchFamily="34" charset="-120"/>
              </a:rPr>
              <a:t>Cluster policy exception must be granted and defended</a:t>
            </a:r>
            <a:endParaRPr lang="en-US" sz="1100" dirty="0"/>
          </a:p>
        </p:txBody>
      </p:sp>
      <p:sp>
        <p:nvSpPr>
          <p:cNvPr id="24" name="Text 22"/>
          <p:cNvSpPr txBox="1"/>
          <p:nvPr/>
        </p:nvSpPr>
        <p:spPr>
          <a:xfrm>
            <a:off x="548640" y="5623560"/>
            <a:ext cx="11064240" cy="457200"/>
          </a:xfrm>
          <a:prstGeom prst="rect">
            <a:avLst/>
          </a:prstGeom>
          <a:noFill/>
          <a:ln/>
        </p:spPr>
        <p:txBody>
          <a:bodyPr wrap="square" lIns="0" tIns="0" rIns="0" bIns="0" rtlCol="0" anchor="ctr"/>
          <a:lstStyle/>
          <a:p>
            <a:pPr indent="0" marL="0">
              <a:lnSpc>
                <a:spcPts val="1700"/>
              </a:lnSpc>
              <a:buNone/>
            </a:pPr>
            <a:r>
              <a:rPr lang="en-US" sz="1250" b="1" dirty="0">
                <a:solidFill>
                  <a:srgbClr val="16222E"/>
                </a:solidFill>
                <a:latin typeface="Calibri" pitchFamily="34" charset="0"/>
                <a:ea typeface="Calibri" pitchFamily="34" charset="-122"/>
                <a:cs typeface="Calibri" pitchFamily="34" charset="-120"/>
              </a:rPr>
              <a:t>Practical consequence: option 2 is only on the table if the platform team will grant a dedicated-access-mode cluster for this job — confirm that before spending PoC effort here.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2 · ASSESSMENT</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Strengths, costs and the honest objection</a:t>
            </a:r>
            <a:endParaRPr lang="en-US" sz="3000" dirty="0"/>
          </a:p>
        </p:txBody>
      </p:sp>
      <p:sp>
        <p:nvSpPr>
          <p:cNvPr id="5" name="Shape 3"/>
          <p:cNvSpPr/>
          <p:nvPr/>
        </p:nvSpPr>
        <p:spPr>
          <a:xfrm>
            <a:off x="548640" y="1572768"/>
            <a:ext cx="3493008" cy="4206240"/>
          </a:xfrm>
          <a:prstGeom prst="roundRect">
            <a:avLst>
              <a:gd name="adj" fmla="val 2094"/>
            </a:avLst>
          </a:prstGeom>
          <a:solidFill>
            <a:srgbClr val="E8F2F3"/>
          </a:solidFill>
          <a:ln w="12700">
            <a:solidFill>
              <a:srgbClr val="E8F2F3"/>
            </a:solidFill>
            <a:prstDash val="solid"/>
          </a:ln>
          <a:effectLst>
            <a:outerShdw sx="100000" sy="100000" kx="0" ky="0" algn="bl" rotWithShape="0" blurRad="101600" dist="25400" dir="5400000">
              <a:srgbClr val="16222E">
                <a:alpha val="12000"/>
              </a:srgbClr>
            </a:outerShdw>
          </a:effectLst>
        </p:spPr>
      </p:sp>
      <p:sp>
        <p:nvSpPr>
          <p:cNvPr id="6" name="Text 4"/>
          <p:cNvSpPr txBox="1"/>
          <p:nvPr/>
        </p:nvSpPr>
        <p:spPr>
          <a:xfrm>
            <a:off x="822960" y="1783080"/>
            <a:ext cx="2944368" cy="329184"/>
          </a:xfrm>
          <a:prstGeom prst="rect">
            <a:avLst/>
          </a:prstGeom>
          <a:noFill/>
          <a:ln/>
        </p:spPr>
        <p:txBody>
          <a:bodyPr wrap="square" lIns="0" tIns="0" rIns="0" bIns="0" rtlCol="0" anchor="ctr"/>
          <a:lstStyle/>
          <a:p>
            <a:pPr indent="0" marL="0">
              <a:buNone/>
            </a:pPr>
            <a:r>
              <a:rPr lang="en-US" sz="1900" b="1" dirty="0">
                <a:solidFill>
                  <a:srgbClr val="037D8C"/>
                </a:solidFill>
                <a:latin typeface="Cambria" pitchFamily="34" charset="0"/>
                <a:ea typeface="Cambria" pitchFamily="34" charset="-122"/>
                <a:cs typeface="Cambria" pitchFamily="34" charset="-120"/>
              </a:rPr>
              <a:t>Strengths</a:t>
            </a:r>
            <a:endParaRPr lang="en-US" sz="1900" dirty="0"/>
          </a:p>
        </p:txBody>
      </p:sp>
      <p:sp>
        <p:nvSpPr>
          <p:cNvPr id="7" name="Text 5"/>
          <p:cNvSpPr txBox="1"/>
          <p:nvPr/>
        </p:nvSpPr>
        <p:spPr>
          <a:xfrm>
            <a:off x="822960"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No data leaves the platform — the biggest cost term simply disappears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Exact DMN semantics, same engine as the authoring tool</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One job, one cluster, one bill, one thing to monitor</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Native Spark retry, partitioning and lineage come for free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Moderate build effort: packaging and a partition-level wrapper</a:t>
            </a:r>
            <a:endParaRPr lang="en-US" sz="1200" dirty="0"/>
          </a:p>
        </p:txBody>
      </p:sp>
      <p:sp>
        <p:nvSpPr>
          <p:cNvPr id="8" name="Shape 6"/>
          <p:cNvSpPr/>
          <p:nvPr/>
        </p:nvSpPr>
        <p:spPr>
          <a:xfrm>
            <a:off x="4334256" y="1572768"/>
            <a:ext cx="3493008" cy="4206240"/>
          </a:xfrm>
          <a:prstGeom prst="roundRect">
            <a:avLst>
              <a:gd name="adj" fmla="val 2094"/>
            </a:avLst>
          </a:prstGeom>
          <a:solidFill>
            <a:srgbClr val="F6F1E6"/>
          </a:solidFill>
          <a:ln w="12700">
            <a:solidFill>
              <a:srgbClr val="F6F1E6"/>
            </a:solidFill>
            <a:prstDash val="solid"/>
          </a:ln>
          <a:effectLst>
            <a:outerShdw sx="100000" sy="100000" kx="0" ky="0" algn="bl" rotWithShape="0" blurRad="101600" dist="25400" dir="5400000">
              <a:srgbClr val="16222E">
                <a:alpha val="12000"/>
              </a:srgbClr>
            </a:outerShdw>
          </a:effectLst>
        </p:spPr>
      </p:sp>
      <p:sp>
        <p:nvSpPr>
          <p:cNvPr id="9" name="Text 7"/>
          <p:cNvSpPr txBox="1"/>
          <p:nvPr/>
        </p:nvSpPr>
        <p:spPr>
          <a:xfrm>
            <a:off x="4608576" y="1783080"/>
            <a:ext cx="2944368" cy="329184"/>
          </a:xfrm>
          <a:prstGeom prst="rect">
            <a:avLst/>
          </a:prstGeom>
          <a:noFill/>
          <a:ln/>
        </p:spPr>
        <p:txBody>
          <a:bodyPr wrap="square" lIns="0" tIns="0" rIns="0" bIns="0" rtlCol="0" anchor="ctr"/>
          <a:lstStyle/>
          <a:p>
            <a:pPr indent="0" marL="0">
              <a:buNone/>
            </a:pPr>
            <a:r>
              <a:rPr lang="en-US" sz="1900" b="1" dirty="0">
                <a:solidFill>
                  <a:srgbClr val="B8801A"/>
                </a:solidFill>
                <a:latin typeface="Cambria" pitchFamily="34" charset="0"/>
                <a:ea typeface="Cambria" pitchFamily="34" charset="-122"/>
                <a:cs typeface="Cambria" pitchFamily="34" charset="-120"/>
              </a:rPr>
              <a:t>Costs</a:t>
            </a:r>
            <a:endParaRPr lang="en-US" sz="1900" dirty="0"/>
          </a:p>
        </p:txBody>
      </p:sp>
      <p:sp>
        <p:nvSpPr>
          <p:cNvPr id="10" name="Text 8"/>
          <p:cNvSpPr txBox="1"/>
          <p:nvPr/>
        </p:nvSpPr>
        <p:spPr>
          <a:xfrm>
            <a:off x="4608576"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Requires dedicated access mode; excluded from serverless and standard compute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Row-at-a-time evaluation forfeits vectorisation and Photon</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JVM dependency management becomes the data team's problem</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Model updates coupled to a deployment unless dynamically loaded</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Harder to reuse for online scoring — no service boundary</a:t>
            </a:r>
            <a:endParaRPr lang="en-US" sz="1200" dirty="0"/>
          </a:p>
        </p:txBody>
      </p:sp>
      <p:sp>
        <p:nvSpPr>
          <p:cNvPr id="11" name="Shape 9"/>
          <p:cNvSpPr/>
          <p:nvPr/>
        </p:nvSpPr>
        <p:spPr>
          <a:xfrm>
            <a:off x="8119872" y="1572768"/>
            <a:ext cx="3493008" cy="4206240"/>
          </a:xfrm>
          <a:prstGeom prst="roundRect">
            <a:avLst>
              <a:gd name="adj" fmla="val 2094"/>
            </a:avLst>
          </a:prstGeom>
          <a:solidFill>
            <a:srgbClr val="F7ECEC"/>
          </a:solidFill>
          <a:ln w="12700">
            <a:solidFill>
              <a:srgbClr val="F7ECEC"/>
            </a:solidFill>
            <a:prstDash val="solid"/>
          </a:ln>
          <a:effectLst>
            <a:outerShdw sx="100000" sy="100000" kx="0" ky="0" algn="bl" rotWithShape="0" blurRad="101600" dist="25400" dir="5400000">
              <a:srgbClr val="16222E">
                <a:alpha val="12000"/>
              </a:srgbClr>
            </a:outerShdw>
          </a:effectLst>
        </p:spPr>
      </p:sp>
      <p:sp>
        <p:nvSpPr>
          <p:cNvPr id="12" name="Text 10"/>
          <p:cNvSpPr txBox="1"/>
          <p:nvPr/>
        </p:nvSpPr>
        <p:spPr>
          <a:xfrm>
            <a:off x="8394192" y="1783080"/>
            <a:ext cx="2944368" cy="329184"/>
          </a:xfrm>
          <a:prstGeom prst="rect">
            <a:avLst/>
          </a:prstGeom>
          <a:noFill/>
          <a:ln/>
        </p:spPr>
        <p:txBody>
          <a:bodyPr wrap="square" lIns="0" tIns="0" rIns="0" bIns="0" rtlCol="0" anchor="ctr"/>
          <a:lstStyle/>
          <a:p>
            <a:pPr indent="0" marL="0">
              <a:buNone/>
            </a:pPr>
            <a:r>
              <a:rPr lang="en-US" sz="1900" b="1" dirty="0">
                <a:solidFill>
                  <a:srgbClr val="9B3B3B"/>
                </a:solidFill>
                <a:latin typeface="Cambria" pitchFamily="34" charset="0"/>
                <a:ea typeface="Cambria" pitchFamily="34" charset="-122"/>
                <a:cs typeface="Cambria" pitchFamily="34" charset="-120"/>
              </a:rPr>
              <a:t>The objection</a:t>
            </a:r>
            <a:endParaRPr lang="en-US" sz="1900" dirty="0"/>
          </a:p>
        </p:txBody>
      </p:sp>
      <p:sp>
        <p:nvSpPr>
          <p:cNvPr id="13" name="Text 11"/>
          <p:cNvSpPr txBox="1"/>
          <p:nvPr/>
        </p:nvSpPr>
        <p:spPr>
          <a:xfrm>
            <a:off x="8394192"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"We are pinning our data platform's compute policy to a library choice."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A future Databricks change to access modes or runtimes can strand the job.</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Counter-argument: the JAR is small, the interface is stable, and the alternative options carry their own lock-in — to an API contract or to a home-grown compiler.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3</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DMN → Spark translator</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Compile the decision model into native Spark column expressions. No engine at runtime at all.</a:t>
            </a:r>
            <a:endParaRPr lang="en-US" sz="1300" dirty="0"/>
          </a:p>
        </p:txBody>
      </p:sp>
      <p:sp>
        <p:nvSpPr>
          <p:cNvPr id="6" name="Shape 4"/>
          <p:cNvSpPr/>
          <p:nvPr/>
        </p:nvSpPr>
        <p:spPr>
          <a:xfrm>
            <a:off x="548640" y="1828800"/>
            <a:ext cx="1965960" cy="960120"/>
          </a:xfrm>
          <a:prstGeom prst="roundRect">
            <a:avLst>
              <a:gd name="adj" fmla="val 7619"/>
            </a:avLst>
          </a:prstGeom>
          <a:solidFill>
            <a:srgbClr val="1E2E3D"/>
          </a:solidFill>
          <a:ln w="12700">
            <a:solidFill>
              <a:srgbClr val="1E2E3D"/>
            </a:solidFill>
            <a:prstDash val="solid"/>
          </a:ln>
          <a:effectLst>
            <a:outerShdw sx="100000" sy="100000" kx="0" ky="0" algn="bl" rotWithShape="0" blurRad="101600" dist="25400" dir="5400000">
              <a:srgbClr val="16222E">
                <a:alpha val="12000"/>
              </a:srgbClr>
            </a:outerShdw>
          </a:effectLst>
        </p:spPr>
      </p:sp>
      <p:sp>
        <p:nvSpPr>
          <p:cNvPr id="7" name="Text 5"/>
          <p:cNvSpPr txBox="1"/>
          <p:nvPr/>
        </p:nvSpPr>
        <p:spPr>
          <a:xfrm>
            <a:off x="54864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.dmn model</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(DRG + tables)</a:t>
            </a:r>
            <a:endParaRPr lang="en-US" sz="1250" dirty="0"/>
          </a:p>
        </p:txBody>
      </p:sp>
      <p:sp>
        <p:nvSpPr>
          <p:cNvPr id="8" name="Shape 6"/>
          <p:cNvSpPr/>
          <p:nvPr/>
        </p:nvSpPr>
        <p:spPr>
          <a:xfrm>
            <a:off x="2578608" y="2212848"/>
            <a:ext cx="256032" cy="201168"/>
          </a:xfrm>
          <a:prstGeom prst="rightArrow">
            <a:avLst/>
          </a:prstGeom>
          <a:solidFill>
            <a:srgbClr val="9AA7B2"/>
          </a:solidFill>
          <a:ln w="12700">
            <a:solidFill>
              <a:srgbClr val="9AA7B2"/>
            </a:solidFill>
            <a:prstDash val="solid"/>
          </a:ln>
        </p:spPr>
      </p:sp>
      <p:sp>
        <p:nvSpPr>
          <p:cNvPr id="9" name="Shape 7"/>
          <p:cNvSpPr/>
          <p:nvPr/>
        </p:nvSpPr>
        <p:spPr>
          <a:xfrm>
            <a:off x="2880360" y="1828800"/>
            <a:ext cx="1965960" cy="960120"/>
          </a:xfrm>
          <a:prstGeom prst="roundRect">
            <a:avLst>
              <a:gd name="adj" fmla="val 7619"/>
            </a:avLst>
          </a:prstGeom>
          <a:solidFill>
            <a:srgbClr val="037D8C"/>
          </a:solidFill>
          <a:ln w="12700">
            <a:solidFill>
              <a:srgbClr val="037D8C"/>
            </a:solidFill>
            <a:prstDash val="solid"/>
          </a:ln>
          <a:effectLst>
            <a:outerShdw sx="100000" sy="100000" kx="0" ky="0" algn="bl" rotWithShape="0" blurRad="101600" dist="25400" dir="5400000">
              <a:srgbClr val="16222E">
                <a:alpha val="12000"/>
              </a:srgbClr>
            </a:outerShdw>
          </a:effectLst>
        </p:spPr>
      </p:sp>
      <p:sp>
        <p:nvSpPr>
          <p:cNvPr id="10" name="Text 8"/>
          <p:cNvSpPr txBox="1"/>
          <p:nvPr/>
        </p:nvSpPr>
        <p:spPr>
          <a:xfrm>
            <a:off x="288036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Parser</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DMN → AST</a:t>
            </a:r>
            <a:endParaRPr lang="en-US" sz="1250" dirty="0"/>
          </a:p>
        </p:txBody>
      </p:sp>
      <p:sp>
        <p:nvSpPr>
          <p:cNvPr id="11" name="Shape 9"/>
          <p:cNvSpPr/>
          <p:nvPr/>
        </p:nvSpPr>
        <p:spPr>
          <a:xfrm>
            <a:off x="4910328" y="2212848"/>
            <a:ext cx="256032" cy="201168"/>
          </a:xfrm>
          <a:prstGeom prst="rightArrow">
            <a:avLst/>
          </a:prstGeom>
          <a:solidFill>
            <a:srgbClr val="9AA7B2"/>
          </a:solidFill>
          <a:ln w="12700">
            <a:solidFill>
              <a:srgbClr val="9AA7B2"/>
            </a:solidFill>
            <a:prstDash val="solid"/>
          </a:ln>
        </p:spPr>
      </p:sp>
      <p:sp>
        <p:nvSpPr>
          <p:cNvPr id="12" name="Shape 10"/>
          <p:cNvSpPr/>
          <p:nvPr/>
        </p:nvSpPr>
        <p:spPr>
          <a:xfrm>
            <a:off x="5212080" y="1828800"/>
            <a:ext cx="1965960" cy="960120"/>
          </a:xfrm>
          <a:prstGeom prst="roundRect">
            <a:avLst>
              <a:gd name="adj" fmla="val 7619"/>
            </a:avLst>
          </a:prstGeom>
          <a:solidFill>
            <a:srgbClr val="00A896"/>
          </a:solidFill>
          <a:ln w="12700">
            <a:solidFill>
              <a:srgbClr val="00A896"/>
            </a:solidFill>
            <a:prstDash val="solid"/>
          </a:ln>
          <a:effectLst>
            <a:outerShdw sx="100000" sy="100000" kx="0" ky="0" algn="bl" rotWithShape="0" blurRad="101600" dist="25400" dir="5400000">
              <a:srgbClr val="16222E">
                <a:alpha val="12000"/>
              </a:srgbClr>
            </a:outerShdw>
          </a:effectLst>
        </p:spPr>
      </p:sp>
      <p:sp>
        <p:nvSpPr>
          <p:cNvPr id="13" name="Text 11"/>
          <p:cNvSpPr txBox="1"/>
          <p:nvPr/>
        </p:nvSpPr>
        <p:spPr>
          <a:xfrm>
            <a:off x="521208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Compiler</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AST → Column</a:t>
            </a:r>
            <a:endParaRPr lang="en-US" sz="1250" dirty="0"/>
          </a:p>
        </p:txBody>
      </p:sp>
      <p:sp>
        <p:nvSpPr>
          <p:cNvPr id="14" name="Shape 12"/>
          <p:cNvSpPr/>
          <p:nvPr/>
        </p:nvSpPr>
        <p:spPr>
          <a:xfrm>
            <a:off x="7242048" y="2212848"/>
            <a:ext cx="256032" cy="201168"/>
          </a:xfrm>
          <a:prstGeom prst="rightArrow">
            <a:avLst/>
          </a:prstGeom>
          <a:solidFill>
            <a:srgbClr val="9AA7B2"/>
          </a:solidFill>
          <a:ln w="12700">
            <a:solidFill>
              <a:srgbClr val="9AA7B2"/>
            </a:solidFill>
            <a:prstDash val="solid"/>
          </a:ln>
        </p:spPr>
      </p:sp>
      <p:sp>
        <p:nvSpPr>
          <p:cNvPr id="15" name="Shape 13"/>
          <p:cNvSpPr/>
          <p:nvPr/>
        </p:nvSpPr>
        <p:spPr>
          <a:xfrm>
            <a:off x="7543800" y="1828800"/>
            <a:ext cx="1965960" cy="960120"/>
          </a:xfrm>
          <a:prstGeom prst="roundRect">
            <a:avLst>
              <a:gd name="adj" fmla="val 7619"/>
            </a:avLst>
          </a:prstGeom>
          <a:solidFill>
            <a:srgbClr val="00A896"/>
          </a:solidFill>
          <a:ln w="12700">
            <a:solidFill>
              <a:srgbClr val="00A896"/>
            </a:solidFill>
            <a:prstDash val="solid"/>
          </a:ln>
          <a:effectLst>
            <a:outerShdw sx="100000" sy="100000" kx="0" ky="0" algn="bl" rotWithShape="0" blurRad="101600" dist="25400" dir="5400000">
              <a:srgbClr val="16222E">
                <a:alpha val="12000"/>
              </a:srgbClr>
            </a:outerShdw>
          </a:effectLst>
        </p:spPr>
      </p:sp>
      <p:sp>
        <p:nvSpPr>
          <p:cNvPr id="16" name="Text 14"/>
          <p:cNvSpPr txBox="1"/>
          <p:nvPr/>
        </p:nvSpPr>
        <p:spPr>
          <a:xfrm>
            <a:off x="754380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Catalyst plan</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 Photon</a:t>
            </a:r>
            <a:endParaRPr lang="en-US" sz="1250" dirty="0"/>
          </a:p>
        </p:txBody>
      </p:sp>
      <p:sp>
        <p:nvSpPr>
          <p:cNvPr id="17" name="Shape 15"/>
          <p:cNvSpPr/>
          <p:nvPr/>
        </p:nvSpPr>
        <p:spPr>
          <a:xfrm>
            <a:off x="9573768" y="2212848"/>
            <a:ext cx="256032" cy="201168"/>
          </a:xfrm>
          <a:prstGeom prst="rightArrow">
            <a:avLst/>
          </a:prstGeom>
          <a:solidFill>
            <a:srgbClr val="9AA7B2"/>
          </a:solidFill>
          <a:ln w="12700">
            <a:solidFill>
              <a:srgbClr val="9AA7B2"/>
            </a:solidFill>
            <a:prstDash val="solid"/>
          </a:ln>
        </p:spPr>
      </p:sp>
      <p:sp>
        <p:nvSpPr>
          <p:cNvPr id="18" name="Shape 16"/>
          <p:cNvSpPr/>
          <p:nvPr/>
        </p:nvSpPr>
        <p:spPr>
          <a:xfrm>
            <a:off x="9875520" y="1828800"/>
            <a:ext cx="1965960" cy="960120"/>
          </a:xfrm>
          <a:prstGeom prst="roundRect">
            <a:avLst>
              <a:gd name="adj" fmla="val 7619"/>
            </a:avLst>
          </a:prstGeom>
          <a:solidFill>
            <a:srgbClr val="1E2E3D"/>
          </a:solidFill>
          <a:ln w="12700">
            <a:solidFill>
              <a:srgbClr val="1E2E3D"/>
            </a:solidFill>
            <a:prstDash val="solid"/>
          </a:ln>
          <a:effectLst>
            <a:outerShdw sx="100000" sy="100000" kx="0" ky="0" algn="bl" rotWithShape="0" blurRad="101600" dist="25400" dir="5400000">
              <a:srgbClr val="16222E">
                <a:alpha val="12000"/>
              </a:srgbClr>
            </a:outerShdw>
          </a:effectLst>
        </p:spPr>
      </p:sp>
      <p:sp>
        <p:nvSpPr>
          <p:cNvPr id="19" name="Text 17"/>
          <p:cNvSpPr txBox="1"/>
          <p:nvPr/>
        </p:nvSpPr>
        <p:spPr>
          <a:xfrm>
            <a:off x="9875520" y="1828800"/>
            <a:ext cx="1965960" cy="960120"/>
          </a:xfrm>
          <a:prstGeom prst="rect">
            <a:avLst/>
          </a:prstGeom>
          <a:noFill/>
          <a:ln/>
        </p:spPr>
        <p:txBody>
          <a:bodyPr wrap="square" lIns="0" tIns="0" rIns="0" bIns="0"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p>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Delta table</a:t>
            </a:r>
            <a:endParaRPr lang="en-US" sz="1250" dirty="0"/>
          </a:p>
        </p:txBody>
      </p:sp>
      <p:sp>
        <p:nvSpPr>
          <p:cNvPr id="20" name="Text 18"/>
          <p:cNvSpPr txBox="1"/>
          <p:nvPr/>
        </p:nvSpPr>
        <p:spPr>
          <a:xfrm>
            <a:off x="548640" y="2880360"/>
            <a:ext cx="11064240" cy="274320"/>
          </a:xfrm>
          <a:prstGeom prst="rect">
            <a:avLst/>
          </a:prstGeom>
          <a:noFill/>
          <a:ln/>
        </p:spPr>
        <p:txBody>
          <a:bodyPr wrap="square" lIns="0" tIns="0" rIns="0" bIns="0" rtlCol="0" anchor="ctr"/>
          <a:lstStyle/>
          <a:p>
            <a:pPr algn="ctr" indent="0" marL="0">
              <a:buNone/>
            </a:pPr>
            <a:r>
              <a:rPr lang="en-US" sz="1150" i="1" dirty="0">
                <a:solidFill>
                  <a:srgbClr val="5A6672"/>
                </a:solidFill>
                <a:latin typeface="Calibri" pitchFamily="34" charset="0"/>
                <a:ea typeface="Calibri" pitchFamily="34" charset="-122"/>
                <a:cs typeface="Calibri" pitchFamily="34" charset="-120"/>
              </a:rPr>
              <a:t>Build once at job start  ·  execute as if the rules had been written in SQL</a:t>
            </a:r>
            <a:endParaRPr lang="en-US" sz="1150" dirty="0"/>
          </a:p>
        </p:txBody>
      </p:sp>
      <p:sp>
        <p:nvSpPr>
          <p:cNvPr id="21" name="Shape 19"/>
          <p:cNvSpPr/>
          <p:nvPr/>
        </p:nvSpPr>
        <p:spPr>
          <a:xfrm>
            <a:off x="548640" y="3291840"/>
            <a:ext cx="5349240" cy="2606040"/>
          </a:xfrm>
          <a:prstGeom prst="roundRect">
            <a:avLst>
              <a:gd name="adj" fmla="val 28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2" name="Text 20"/>
          <p:cNvSpPr txBox="1"/>
          <p:nvPr/>
        </p:nvSpPr>
        <p:spPr>
          <a:xfrm>
            <a:off x="841248" y="3493008"/>
            <a:ext cx="475488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The translation, concretely</a:t>
            </a:r>
            <a:endParaRPr lang="en-US" sz="1700" dirty="0"/>
          </a:p>
        </p:txBody>
      </p:sp>
      <p:sp>
        <p:nvSpPr>
          <p:cNvPr id="23" name="Text 21"/>
          <p:cNvSpPr txBox="1"/>
          <p:nvPr/>
        </p:nvSpPr>
        <p:spPr>
          <a:xfrm>
            <a:off x="841248" y="3877056"/>
            <a:ext cx="4754880" cy="1874520"/>
          </a:xfrm>
          <a:prstGeom prst="rect">
            <a:avLst/>
          </a:prstGeom>
          <a:noFill/>
          <a:ln/>
        </p:spPr>
        <p:txBody>
          <a:bodyPr wrap="square" rtlCol="0" anchor="t"/>
          <a:lstStyle/>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A decision table becomes a chain of when(...).otherwise(...) expressions, or a broadcast join against a rules DataFrame.</a:t>
            </a:r>
            <a:endParaRPr lang="en-US" sz="1150" dirty="0"/>
          </a:p>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Hit policies map to expression shape: UNIQUE / FIRST to first-match, COLLECT to array aggregation, PRIORITY to an ordered case.</a:t>
            </a:r>
            <a:endParaRPr lang="en-US" sz="1150" dirty="0"/>
          </a:p>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FEEL comparisons, ranges, arithmetic, date and string functions map to Spark SQL equivalents.</a:t>
            </a:r>
            <a:endParaRPr lang="en-US" sz="1150" dirty="0"/>
          </a:p>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The DRG becomes a topological chain of withColumn calls — intermediate decisions are just intermediate columns.</a:t>
            </a:r>
            <a:endParaRPr lang="en-US" sz="1150" dirty="0"/>
          </a:p>
        </p:txBody>
      </p:sp>
      <p:sp>
        <p:nvSpPr>
          <p:cNvPr id="24" name="Shape 22"/>
          <p:cNvSpPr/>
          <p:nvPr/>
        </p:nvSpPr>
        <p:spPr>
          <a:xfrm>
            <a:off x="6217920" y="3291840"/>
            <a:ext cx="5349240" cy="2606040"/>
          </a:xfrm>
          <a:prstGeom prst="roundRect">
            <a:avLst>
              <a:gd name="adj" fmla="val 2807"/>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5" name="Text 23"/>
          <p:cNvSpPr txBox="1"/>
          <p:nvPr/>
        </p:nvSpPr>
        <p:spPr>
          <a:xfrm>
            <a:off x="6510528" y="3493008"/>
            <a:ext cx="4754880" cy="310896"/>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Why you would choose it</a:t>
            </a:r>
            <a:endParaRPr lang="en-US" sz="1700" dirty="0"/>
          </a:p>
        </p:txBody>
      </p:sp>
      <p:sp>
        <p:nvSpPr>
          <p:cNvPr id="26" name="Text 24"/>
          <p:cNvSpPr txBox="1"/>
          <p:nvPr/>
        </p:nvSpPr>
        <p:spPr>
          <a:xfrm>
            <a:off x="6510528" y="3877056"/>
            <a:ext cx="4754880" cy="1874520"/>
          </a:xfrm>
          <a:prstGeom prst="rect">
            <a:avLst/>
          </a:prstGeom>
          <a:noFill/>
          <a:ln/>
        </p:spPr>
        <p:txBody>
          <a:bodyPr wrap="square" rtlCol="0" anchor="t"/>
          <a:lstStyle/>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Fully vectorised: no JVM object per row, Photon-eligible, Catalyst can prune and push down.</a:t>
            </a:r>
            <a:endParaRPr lang="en-US" sz="1150" dirty="0"/>
          </a:p>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Runs on any compute — serverless, standard access mode, SQL warehouse.</a:t>
            </a:r>
            <a:endParaRPr lang="en-US" sz="1150" dirty="0"/>
          </a:p>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No runtime dependency on the KIE stack at all in production.</a:t>
            </a:r>
            <a:endParaRPr lang="en-US" sz="1150" dirty="0"/>
          </a:p>
          <a:p>
            <a:pPr marL="342900" indent="-342900">
              <a:lnSpc>
                <a:spcPts val="1500"/>
              </a:lnSpc>
              <a:spcAft>
                <a:spcPts val="700"/>
              </a:spcAft>
              <a:buSzPct val="100000"/>
              <a:buChar char="•"/>
            </a:pPr>
            <a:r>
              <a:rPr lang="en-US" sz="1150" dirty="0">
                <a:solidFill>
                  <a:srgbClr val="16222E"/>
                </a:solidFill>
                <a:latin typeface="Calibri" pitchFamily="34" charset="0"/>
                <a:ea typeface="Calibri" pitchFamily="34" charset="-122"/>
                <a:cs typeface="Calibri" pitchFamily="34" charset="-120"/>
              </a:rPr>
              <a:t>Best cost curve; the advantage grows as volume grows beyond 80 M.</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3 · ARCHITECTURE</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Only the .dmn file crosses the boundary</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No engine, no JAR, no payload hop — the model is compiled into the Spark plan at job start.</a:t>
            </a:r>
            <a:endParaRPr lang="en-US" sz="1300" dirty="0"/>
          </a:p>
        </p:txBody>
      </p:sp>
      <p:sp>
        <p:nvSpPr>
          <p:cNvPr id="6" name="Shape 4"/>
          <p:cNvSpPr/>
          <p:nvPr/>
        </p:nvSpPr>
        <p:spPr>
          <a:xfrm>
            <a:off x="6355080" y="502920"/>
            <a:ext cx="310896" cy="0"/>
          </a:xfrm>
          <a:prstGeom prst="line">
            <a:avLst/>
          </a:prstGeom>
          <a:noFill/>
          <a:ln w="28575">
            <a:solidFill>
              <a:srgbClr val="037D8C"/>
            </a:solidFill>
            <a:prstDash val="solid"/>
            <a:tailEnd type="triangle"/>
          </a:ln>
        </p:spPr>
      </p:sp>
      <p:sp>
        <p:nvSpPr>
          <p:cNvPr id="7" name="Text 5"/>
          <p:cNvSpPr txBox="1"/>
          <p:nvPr/>
        </p:nvSpPr>
        <p:spPr>
          <a:xfrm>
            <a:off x="673912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.dmn model flow</a:t>
            </a:r>
            <a:endParaRPr lang="en-US" sz="1000" dirty="0"/>
          </a:p>
        </p:txBody>
      </p:sp>
      <p:sp>
        <p:nvSpPr>
          <p:cNvPr id="8" name="Shape 6"/>
          <p:cNvSpPr/>
          <p:nvPr/>
        </p:nvSpPr>
        <p:spPr>
          <a:xfrm>
            <a:off x="8138160" y="502920"/>
            <a:ext cx="310896" cy="0"/>
          </a:xfrm>
          <a:prstGeom prst="line">
            <a:avLst/>
          </a:prstGeom>
          <a:noFill/>
          <a:ln w="28575">
            <a:solidFill>
              <a:srgbClr val="B0512F"/>
            </a:solidFill>
            <a:prstDash val="solid"/>
            <a:tailEnd type="triangle"/>
          </a:ln>
        </p:spPr>
      </p:sp>
      <p:sp>
        <p:nvSpPr>
          <p:cNvPr id="9" name="Text 7"/>
          <p:cNvSpPr txBox="1"/>
          <p:nvPr/>
        </p:nvSpPr>
        <p:spPr>
          <a:xfrm>
            <a:off x="852220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data file flow</a:t>
            </a:r>
            <a:endParaRPr lang="en-US" sz="1000" dirty="0"/>
          </a:p>
        </p:txBody>
      </p:sp>
      <p:sp>
        <p:nvSpPr>
          <p:cNvPr id="10" name="Shape 8"/>
          <p:cNvSpPr/>
          <p:nvPr/>
        </p:nvSpPr>
        <p:spPr>
          <a:xfrm>
            <a:off x="9921240" y="502920"/>
            <a:ext cx="310896" cy="0"/>
          </a:xfrm>
          <a:prstGeom prst="line">
            <a:avLst/>
          </a:prstGeom>
          <a:noFill/>
          <a:ln w="22225">
            <a:solidFill>
              <a:srgbClr val="5A6672"/>
            </a:solidFill>
            <a:prstDash val="dash"/>
            <a:tailEnd type="triangle"/>
          </a:ln>
        </p:spPr>
      </p:sp>
      <p:sp>
        <p:nvSpPr>
          <p:cNvPr id="11" name="Text 9"/>
          <p:cNvSpPr txBox="1"/>
          <p:nvPr/>
        </p:nvSpPr>
        <p:spPr>
          <a:xfrm>
            <a:off x="10305288" y="374904"/>
            <a:ext cx="1371600" cy="256032"/>
          </a:xfrm>
          <a:prstGeom prst="rect">
            <a:avLst/>
          </a:prstGeom>
          <a:noFill/>
          <a:ln/>
        </p:spPr>
        <p:txBody>
          <a:bodyPr wrap="square" lIns="0" tIns="0" rIns="0" bIns="0" rtlCol="0" anchor="ctr"/>
          <a:lstStyle/>
          <a:p>
            <a:pPr indent="0" marL="0">
              <a:buNone/>
            </a:pPr>
            <a:r>
              <a:rPr lang="en-US" sz="1000" dirty="0">
                <a:solidFill>
                  <a:srgbClr val="5A6672"/>
                </a:solidFill>
                <a:latin typeface="Calibri" pitchFamily="34" charset="0"/>
                <a:ea typeface="Calibri" pitchFamily="34" charset="-122"/>
                <a:cs typeface="Calibri" pitchFamily="34" charset="-120"/>
              </a:rPr>
              <a:t>API / control call</a:t>
            </a:r>
            <a:endParaRPr lang="en-US" sz="1000" dirty="0"/>
          </a:p>
        </p:txBody>
      </p:sp>
      <p:sp>
        <p:nvSpPr>
          <p:cNvPr id="12" name="Shape 10"/>
          <p:cNvSpPr/>
          <p:nvPr/>
        </p:nvSpPr>
        <p:spPr>
          <a:xfrm>
            <a:off x="5486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3" name="Text 11"/>
          <p:cNvSpPr txBox="1"/>
          <p:nvPr/>
        </p:nvSpPr>
        <p:spPr>
          <a:xfrm>
            <a:off x="6949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DMN editor web app</a:t>
            </a:r>
            <a:endParaRPr lang="en-US" sz="1200" dirty="0"/>
          </a:p>
        </p:txBody>
      </p:sp>
      <p:sp>
        <p:nvSpPr>
          <p:cNvPr id="14" name="Text 12"/>
          <p:cNvSpPr txBox="1"/>
          <p:nvPr/>
        </p:nvSpPr>
        <p:spPr>
          <a:xfrm>
            <a:off x="6949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Validation gate rejects</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unsupported constructs</a:t>
            </a:r>
            <a:endParaRPr lang="en-US" sz="1000" dirty="0"/>
          </a:p>
        </p:txBody>
      </p:sp>
      <p:sp>
        <p:nvSpPr>
          <p:cNvPr id="15" name="Shape 13"/>
          <p:cNvSpPr/>
          <p:nvPr/>
        </p:nvSpPr>
        <p:spPr>
          <a:xfrm>
            <a:off x="30632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6" name="Text 14"/>
          <p:cNvSpPr txBox="1"/>
          <p:nvPr/>
        </p:nvSpPr>
        <p:spPr>
          <a:xfrm>
            <a:off x="32095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Git repository</a:t>
            </a:r>
            <a:endParaRPr lang="en-US" sz="1200" dirty="0"/>
          </a:p>
        </p:txBody>
      </p:sp>
      <p:sp>
        <p:nvSpPr>
          <p:cNvPr id="17" name="Text 15"/>
          <p:cNvSpPr txBox="1"/>
          <p:nvPr/>
        </p:nvSpPr>
        <p:spPr>
          <a:xfrm>
            <a:off x="32095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.dmn + test scenarios,</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pull-request review</a:t>
            </a:r>
            <a:endParaRPr lang="en-US" sz="1000" dirty="0"/>
          </a:p>
        </p:txBody>
      </p:sp>
      <p:sp>
        <p:nvSpPr>
          <p:cNvPr id="18" name="Shape 16"/>
          <p:cNvSpPr/>
          <p:nvPr/>
        </p:nvSpPr>
        <p:spPr>
          <a:xfrm>
            <a:off x="55778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19" name="Text 17"/>
          <p:cNvSpPr txBox="1"/>
          <p:nvPr/>
        </p:nvSpPr>
        <p:spPr>
          <a:xfrm>
            <a:off x="57241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CI conformance gate</a:t>
            </a:r>
            <a:endParaRPr lang="en-US" sz="1200" dirty="0"/>
          </a:p>
        </p:txBody>
      </p:sp>
      <p:sp>
        <p:nvSpPr>
          <p:cNvPr id="20" name="Text 18"/>
          <p:cNvSpPr txBox="1"/>
          <p:nvPr/>
        </p:nvSpPr>
        <p:spPr>
          <a:xfrm>
            <a:off x="57241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DMN TCK + dual-run against</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Kogito as the oracle</a:t>
            </a:r>
            <a:endParaRPr lang="en-US" sz="1000" dirty="0"/>
          </a:p>
        </p:txBody>
      </p:sp>
      <p:sp>
        <p:nvSpPr>
          <p:cNvPr id="21" name="Shape 19"/>
          <p:cNvSpPr/>
          <p:nvPr/>
        </p:nvSpPr>
        <p:spPr>
          <a:xfrm>
            <a:off x="8092440" y="1783080"/>
            <a:ext cx="2240280" cy="777240"/>
          </a:xfrm>
          <a:prstGeom prst="roundRect">
            <a:avLst>
              <a:gd name="adj" fmla="val 8235"/>
            </a:avLst>
          </a:prstGeom>
          <a:solidFill>
            <a:srgbClr val="E8F2F3"/>
          </a:solidFill>
          <a:ln w="12700">
            <a:solidFill>
              <a:srgbClr val="E8F2F3"/>
            </a:solidFill>
            <a:prstDash val="solid"/>
          </a:ln>
          <a:effectLst>
            <a:outerShdw sx="100000" sy="100000" kx="0" ky="0" algn="bl" rotWithShape="0" blurRad="76200" dist="19050" dir="5400000">
              <a:srgbClr val="16222E">
                <a:alpha val="10000"/>
              </a:srgbClr>
            </a:outerShdw>
          </a:effectLst>
        </p:spPr>
      </p:sp>
      <p:sp>
        <p:nvSpPr>
          <p:cNvPr id="22" name="Text 20"/>
          <p:cNvSpPr txBox="1"/>
          <p:nvPr/>
        </p:nvSpPr>
        <p:spPr>
          <a:xfrm>
            <a:off x="8238744" y="1892808"/>
            <a:ext cx="1947672" cy="274320"/>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Model registry</a:t>
            </a:r>
            <a:endParaRPr lang="en-US" sz="1200" dirty="0"/>
          </a:p>
        </p:txBody>
      </p:sp>
      <p:sp>
        <p:nvSpPr>
          <p:cNvPr id="23" name="Text 21"/>
          <p:cNvSpPr txBox="1"/>
          <p:nvPr/>
        </p:nvSpPr>
        <p:spPr>
          <a:xfrm>
            <a:off x="8238744" y="2185416"/>
            <a:ext cx="1947672" cy="246888"/>
          </a:xfrm>
          <a:prstGeom prst="rect">
            <a:avLst/>
          </a:prstGeom>
          <a:noFill/>
          <a:ln/>
        </p:spPr>
        <p:txBody>
          <a:bodyPr wrap="square" lIns="0" tIns="0" rIns="0" bIns="0" rtlCol="0" anchor="t"/>
          <a:lstStyle/>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Versioned .dmn file</a:t>
            </a:r>
            <a:endParaRPr lang="en-US" sz="1000" dirty="0"/>
          </a:p>
          <a:p>
            <a:pPr indent="0" marL="0">
              <a:lnSpc>
                <a:spcPts val="1250"/>
              </a:lnSpc>
              <a:buNone/>
            </a:pPr>
            <a:r>
              <a:rPr lang="en-US" sz="1000" dirty="0">
                <a:solidFill>
                  <a:srgbClr val="5A6672"/>
                </a:solidFill>
                <a:latin typeface="Calibri" pitchFamily="34" charset="0"/>
                <a:ea typeface="Calibri" pitchFamily="34" charset="-122"/>
                <a:cs typeface="Calibri" pitchFamily="34" charset="-120"/>
              </a:rPr>
              <a:t>Unity Catalog Volume</a:t>
            </a:r>
            <a:endParaRPr lang="en-US" sz="1000" dirty="0"/>
          </a:p>
        </p:txBody>
      </p:sp>
      <p:sp>
        <p:nvSpPr>
          <p:cNvPr id="24" name="Shape 22"/>
          <p:cNvSpPr/>
          <p:nvPr/>
        </p:nvSpPr>
        <p:spPr>
          <a:xfrm>
            <a:off x="2788920" y="2171700"/>
            <a:ext cx="274320" cy="0"/>
          </a:xfrm>
          <a:prstGeom prst="line">
            <a:avLst/>
          </a:prstGeom>
          <a:noFill/>
          <a:ln w="28575">
            <a:solidFill>
              <a:srgbClr val="037D8C"/>
            </a:solidFill>
            <a:prstDash val="solid"/>
            <a:tailEnd type="triangle"/>
          </a:ln>
        </p:spPr>
      </p:sp>
      <p:sp>
        <p:nvSpPr>
          <p:cNvPr id="25" name="Shape 23"/>
          <p:cNvSpPr/>
          <p:nvPr/>
        </p:nvSpPr>
        <p:spPr>
          <a:xfrm>
            <a:off x="5303520" y="2171700"/>
            <a:ext cx="274320" cy="0"/>
          </a:xfrm>
          <a:prstGeom prst="line">
            <a:avLst/>
          </a:prstGeom>
          <a:noFill/>
          <a:ln w="28575">
            <a:solidFill>
              <a:srgbClr val="037D8C"/>
            </a:solidFill>
            <a:prstDash val="solid"/>
            <a:tailEnd type="triangle"/>
          </a:ln>
        </p:spPr>
      </p:sp>
      <p:sp>
        <p:nvSpPr>
          <p:cNvPr id="26" name="Shape 24"/>
          <p:cNvSpPr/>
          <p:nvPr/>
        </p:nvSpPr>
        <p:spPr>
          <a:xfrm>
            <a:off x="7818120" y="2171700"/>
            <a:ext cx="274320" cy="0"/>
          </a:xfrm>
          <a:prstGeom prst="line">
            <a:avLst/>
          </a:prstGeom>
          <a:noFill/>
          <a:ln w="28575">
            <a:solidFill>
              <a:srgbClr val="037D8C"/>
            </a:solidFill>
            <a:prstDash val="solid"/>
            <a:tailEnd type="triangle"/>
          </a:ln>
        </p:spPr>
      </p:sp>
      <p:sp>
        <p:nvSpPr>
          <p:cNvPr id="27" name="Shape 25"/>
          <p:cNvSpPr/>
          <p:nvPr/>
        </p:nvSpPr>
        <p:spPr>
          <a:xfrm>
            <a:off x="9208008" y="2560320"/>
            <a:ext cx="0" cy="502920"/>
          </a:xfrm>
          <a:prstGeom prst="line">
            <a:avLst/>
          </a:prstGeom>
          <a:noFill/>
          <a:ln w="28575">
            <a:solidFill>
              <a:srgbClr val="037D8C"/>
            </a:solidFill>
            <a:prstDash val="solid"/>
            <a:tailEnd type="triangle"/>
          </a:ln>
        </p:spPr>
      </p:sp>
      <p:sp>
        <p:nvSpPr>
          <p:cNvPr id="28" name="Shape 26"/>
          <p:cNvSpPr/>
          <p:nvPr/>
        </p:nvSpPr>
        <p:spPr>
          <a:xfrm>
            <a:off x="8842248" y="2633472"/>
            <a:ext cx="256032" cy="256032"/>
          </a:xfrm>
          <a:prstGeom prst="ellipse">
            <a:avLst/>
          </a:prstGeom>
          <a:solidFill>
            <a:srgbClr val="037D8C"/>
          </a:solidFill>
          <a:ln w="12700">
            <a:solidFill>
              <a:srgbClr val="037D8C"/>
            </a:solidFill>
            <a:prstDash val="solid"/>
          </a:ln>
        </p:spPr>
      </p:sp>
      <p:sp>
        <p:nvSpPr>
          <p:cNvPr id="29" name="Text 27"/>
          <p:cNvSpPr txBox="1"/>
          <p:nvPr/>
        </p:nvSpPr>
        <p:spPr>
          <a:xfrm>
            <a:off x="8842248" y="2633472"/>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Shape 28"/>
          <p:cNvSpPr/>
          <p:nvPr/>
        </p:nvSpPr>
        <p:spPr>
          <a:xfrm>
            <a:off x="548640" y="3063240"/>
            <a:ext cx="11064240" cy="2194560"/>
          </a:xfrm>
          <a:prstGeom prst="roundRect">
            <a:avLst>
              <a:gd name="adj" fmla="val 3333"/>
            </a:avLst>
          </a:prstGeom>
          <a:solidFill>
            <a:srgbClr val="F2F5F7"/>
          </a:solidFill>
          <a:ln w="15875">
            <a:solidFill>
              <a:srgbClr val="D3DDE4"/>
            </a:solidFill>
            <a:prstDash val="solid"/>
          </a:ln>
        </p:spPr>
      </p:sp>
      <p:sp>
        <p:nvSpPr>
          <p:cNvPr id="31" name="Text 29"/>
          <p:cNvSpPr txBox="1"/>
          <p:nvPr/>
        </p:nvSpPr>
        <p:spPr>
          <a:xfrm>
            <a:off x="822960" y="3154680"/>
            <a:ext cx="10241280" cy="237744"/>
          </a:xfrm>
          <a:prstGeom prst="rect">
            <a:avLst/>
          </a:prstGeom>
          <a:noFill/>
          <a:ln/>
        </p:spPr>
        <p:txBody>
          <a:bodyPr wrap="square" lIns="0" tIns="0" rIns="0" bIns="0" rtlCol="0" anchor="ctr"/>
          <a:lstStyle/>
          <a:p>
            <a:pPr indent="0" marL="0">
              <a:buNone/>
            </a:pPr>
            <a:r>
              <a:rPr lang="en-US" sz="1000" b="1" spc="120" kern="0" dirty="0">
                <a:solidFill>
                  <a:srgbClr val="5A6672"/>
                </a:solidFill>
                <a:latin typeface="Calibri" pitchFamily="34" charset="0"/>
                <a:ea typeface="Calibri" pitchFamily="34" charset="-122"/>
                <a:cs typeface="Calibri" pitchFamily="34" charset="-120"/>
              </a:rPr>
              <a:t>DATABRICKS  ·  ANY COMPUTE: SERVERLESS, STANDARD OR DEDICATED  ·  NO KIE DEPENDENCY AT RUNTIME</a:t>
            </a:r>
            <a:endParaRPr lang="en-US" sz="1000" dirty="0"/>
          </a:p>
        </p:txBody>
      </p:sp>
      <p:sp>
        <p:nvSpPr>
          <p:cNvPr id="32" name="Shape 30"/>
          <p:cNvSpPr/>
          <p:nvPr/>
        </p:nvSpPr>
        <p:spPr>
          <a:xfrm>
            <a:off x="822960" y="3529584"/>
            <a:ext cx="10241280" cy="493776"/>
          </a:xfrm>
          <a:prstGeom prst="roundRect">
            <a:avLst>
              <a:gd name="adj" fmla="val 12963"/>
            </a:avLst>
          </a:prstGeom>
          <a:solidFill>
            <a:srgbClr val="FFFFFF"/>
          </a:solidFill>
          <a:ln w="12700">
            <a:solidFill>
              <a:srgbClr val="D3DDE4"/>
            </a:solidFill>
            <a:prstDash val="solid"/>
          </a:ln>
          <a:effectLst>
            <a:outerShdw sx="100000" sy="100000" kx="0" ky="0" algn="bl" rotWithShape="0" blurRad="76200" dist="19050" dir="5400000">
              <a:srgbClr val="16222E">
                <a:alpha val="10000"/>
              </a:srgbClr>
            </a:outerShdw>
          </a:effectLst>
        </p:spPr>
      </p:sp>
      <p:sp>
        <p:nvSpPr>
          <p:cNvPr id="33" name="Text 31"/>
          <p:cNvSpPr txBox="1"/>
          <p:nvPr/>
        </p:nvSpPr>
        <p:spPr>
          <a:xfrm>
            <a:off x="969264" y="3639312"/>
            <a:ext cx="9948672" cy="310896"/>
          </a:xfrm>
          <a:prstGeom prst="rect">
            <a:avLst/>
          </a:prstGeom>
          <a:noFill/>
          <a:ln/>
        </p:spPr>
        <p:txBody>
          <a:bodyPr wrap="square" lIns="0" tIns="0" rIns="0" bIns="0" rtlCol="0" anchor="t"/>
          <a:lstStyle/>
          <a:p>
            <a:pPr indent="0" marL="0">
              <a:lnSpc>
                <a:spcPts val="1400"/>
              </a:lnSpc>
              <a:buNone/>
            </a:pPr>
            <a:r>
              <a:rPr lang="en-US" sz="1200" b="1" dirty="0">
                <a:solidFill>
                  <a:srgbClr val="16222E"/>
                </a:solidFill>
                <a:latin typeface="Calibri" pitchFamily="34" charset="0"/>
                <a:ea typeface="Calibri" pitchFamily="34" charset="-122"/>
                <a:cs typeface="Calibri" pitchFamily="34" charset="-120"/>
              </a:rPr>
              <a:t>Driver — parses the .dmn into an AST, compiles decision tables and FEEL into Spark Column expressions, assembles the DataFrame plan</a:t>
            </a:r>
            <a:endParaRPr lang="en-US" sz="1200" dirty="0"/>
          </a:p>
        </p:txBody>
      </p:sp>
      <p:sp>
        <p:nvSpPr>
          <p:cNvPr id="34" name="Shape 32"/>
          <p:cNvSpPr/>
          <p:nvPr/>
        </p:nvSpPr>
        <p:spPr>
          <a:xfrm>
            <a:off x="5760720" y="4023360"/>
            <a:ext cx="0" cy="201168"/>
          </a:xfrm>
          <a:prstGeom prst="line">
            <a:avLst/>
          </a:prstGeom>
          <a:noFill/>
          <a:ln w="28575">
            <a:solidFill>
              <a:srgbClr val="037D8C"/>
            </a:solidFill>
            <a:prstDash val="solid"/>
            <a:tailEnd type="triangle"/>
          </a:ln>
        </p:spPr>
      </p:sp>
      <p:sp>
        <p:nvSpPr>
          <p:cNvPr id="35" name="Shape 33"/>
          <p:cNvSpPr/>
          <p:nvPr/>
        </p:nvSpPr>
        <p:spPr>
          <a:xfrm>
            <a:off x="822960" y="4224528"/>
            <a:ext cx="2331720" cy="914400"/>
          </a:xfrm>
          <a:prstGeom prst="roundRect">
            <a:avLst>
              <a:gd name="adj" fmla="val 7000"/>
            </a:avLst>
          </a:prstGeom>
          <a:solidFill>
            <a:srgbClr val="1E2E3D"/>
          </a:solidFill>
          <a:ln w="12700">
            <a:solidFill>
              <a:srgbClr val="1E2E3D"/>
            </a:solidFill>
            <a:prstDash val="solid"/>
          </a:ln>
          <a:effectLst>
            <a:outerShdw sx="100000" sy="100000" kx="0" ky="0" algn="bl" rotWithShape="0" blurRad="76200" dist="19050" dir="5400000">
              <a:srgbClr val="16222E">
                <a:alpha val="10000"/>
              </a:srgbClr>
            </a:outerShdw>
          </a:effectLst>
        </p:spPr>
      </p:sp>
      <p:sp>
        <p:nvSpPr>
          <p:cNvPr id="36" name="Text 34"/>
          <p:cNvSpPr txBox="1"/>
          <p:nvPr/>
        </p:nvSpPr>
        <p:spPr>
          <a:xfrm>
            <a:off x="969264" y="4334256"/>
            <a:ext cx="203911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Source Delta table</a:t>
            </a:r>
            <a:endParaRPr lang="en-US" sz="1200" dirty="0"/>
          </a:p>
        </p:txBody>
      </p:sp>
      <p:sp>
        <p:nvSpPr>
          <p:cNvPr id="37" name="Text 35"/>
          <p:cNvSpPr txBox="1"/>
          <p:nvPr/>
        </p:nvSpPr>
        <p:spPr>
          <a:xfrm>
            <a:off x="969264" y="4626864"/>
            <a:ext cx="2039112" cy="384048"/>
          </a:xfrm>
          <a:prstGeom prst="rect">
            <a:avLst/>
          </a:prstGeom>
          <a:noFill/>
          <a:ln/>
        </p:spPr>
        <p:txBody>
          <a:bodyPr wrap="square" lIns="0" tIns="0" rIns="0" bIns="0" rtlCol="0" anchor="t"/>
          <a:lstStyle/>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80 M rows</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Unity Catalog</a:t>
            </a:r>
            <a:endParaRPr lang="en-US" sz="1000" dirty="0"/>
          </a:p>
        </p:txBody>
      </p:sp>
      <p:sp>
        <p:nvSpPr>
          <p:cNvPr id="38" name="Shape 36"/>
          <p:cNvSpPr/>
          <p:nvPr/>
        </p:nvSpPr>
        <p:spPr>
          <a:xfrm>
            <a:off x="3429000" y="4224528"/>
            <a:ext cx="4663440" cy="914400"/>
          </a:xfrm>
          <a:prstGeom prst="roundRect">
            <a:avLst>
              <a:gd name="adj" fmla="val 7000"/>
            </a:avLst>
          </a:prstGeom>
          <a:solidFill>
            <a:srgbClr val="037D8C"/>
          </a:solidFill>
          <a:ln w="12700">
            <a:solidFill>
              <a:srgbClr val="037D8C"/>
            </a:solidFill>
            <a:prstDash val="solid"/>
          </a:ln>
          <a:effectLst>
            <a:outerShdw sx="100000" sy="100000" kx="0" ky="0" algn="bl" rotWithShape="0" blurRad="76200" dist="19050" dir="5400000">
              <a:srgbClr val="16222E">
                <a:alpha val="10000"/>
              </a:srgbClr>
            </a:outerShdw>
          </a:effectLst>
        </p:spPr>
      </p:sp>
      <p:sp>
        <p:nvSpPr>
          <p:cNvPr id="39" name="Text 37"/>
          <p:cNvSpPr txBox="1"/>
          <p:nvPr/>
        </p:nvSpPr>
        <p:spPr>
          <a:xfrm>
            <a:off x="3575304" y="4334256"/>
            <a:ext cx="437083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Catalyst + Photon</a:t>
            </a:r>
            <a:endParaRPr lang="en-US" sz="1200" dirty="0"/>
          </a:p>
        </p:txBody>
      </p:sp>
      <p:sp>
        <p:nvSpPr>
          <p:cNvPr id="40" name="Text 38"/>
          <p:cNvSpPr txBox="1"/>
          <p:nvPr/>
        </p:nvSpPr>
        <p:spPr>
          <a:xfrm>
            <a:off x="3575304" y="4626864"/>
            <a:ext cx="4370832" cy="384048"/>
          </a:xfrm>
          <a:prstGeom prst="rect">
            <a:avLst/>
          </a:prstGeom>
          <a:noFill/>
          <a:ln/>
        </p:spPr>
        <p:txBody>
          <a:bodyPr wrap="square" lIns="0" tIns="0" rIns="0" bIns="0" rtlCol="0" anchor="t"/>
          <a:lstStyle/>
          <a:p>
            <a:pPr indent="0" marL="0">
              <a:lnSpc>
                <a:spcPts val="1250"/>
              </a:lnSpc>
              <a:buNone/>
            </a:pPr>
            <a:r>
              <a:rPr lang="en-US" sz="1000" dirty="0">
                <a:solidFill>
                  <a:srgbClr val="C6E6E8"/>
                </a:solidFill>
                <a:latin typeface="Calibri" pitchFamily="34" charset="0"/>
                <a:ea typeface="Calibri" pitchFamily="34" charset="-122"/>
                <a:cs typeface="Calibri" pitchFamily="34" charset="-120"/>
              </a:rPr>
              <a:t>Vectorised when / otherwise chains, broadcast joins against rule tables, pushdown and pruning — the rules are just columns</a:t>
            </a:r>
            <a:endParaRPr lang="en-US" sz="1000" dirty="0"/>
          </a:p>
        </p:txBody>
      </p:sp>
      <p:sp>
        <p:nvSpPr>
          <p:cNvPr id="41" name="Shape 39"/>
          <p:cNvSpPr/>
          <p:nvPr/>
        </p:nvSpPr>
        <p:spPr>
          <a:xfrm>
            <a:off x="8366760" y="4224528"/>
            <a:ext cx="2697480" cy="914400"/>
          </a:xfrm>
          <a:prstGeom prst="roundRect">
            <a:avLst>
              <a:gd name="adj" fmla="val 7000"/>
            </a:avLst>
          </a:prstGeom>
          <a:solidFill>
            <a:srgbClr val="1E2E3D"/>
          </a:solidFill>
          <a:ln w="12700">
            <a:solidFill>
              <a:srgbClr val="1E2E3D"/>
            </a:solidFill>
            <a:prstDash val="solid"/>
          </a:ln>
          <a:effectLst>
            <a:outerShdw sx="100000" sy="100000" kx="0" ky="0" algn="bl" rotWithShape="0" blurRad="76200" dist="19050" dir="5400000">
              <a:srgbClr val="16222E">
                <a:alpha val="10000"/>
              </a:srgbClr>
            </a:outerShdw>
          </a:effectLst>
        </p:spPr>
      </p:sp>
      <p:sp>
        <p:nvSpPr>
          <p:cNvPr id="42" name="Text 40"/>
          <p:cNvSpPr txBox="1"/>
          <p:nvPr/>
        </p:nvSpPr>
        <p:spPr>
          <a:xfrm>
            <a:off x="8513064" y="4334256"/>
            <a:ext cx="2404872" cy="274320"/>
          </a:xfrm>
          <a:prstGeom prst="rect">
            <a:avLst/>
          </a:prstGeom>
          <a:noFill/>
          <a:ln/>
        </p:spPr>
        <p:txBody>
          <a:bodyPr wrap="square" lIns="0" tIns="0" rIns="0" bIns="0" rtlCol="0" anchor="t"/>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Result Delta table</a:t>
            </a:r>
            <a:endParaRPr lang="en-US" sz="1200" dirty="0"/>
          </a:p>
        </p:txBody>
      </p:sp>
      <p:sp>
        <p:nvSpPr>
          <p:cNvPr id="43" name="Text 41"/>
          <p:cNvSpPr txBox="1"/>
          <p:nvPr/>
        </p:nvSpPr>
        <p:spPr>
          <a:xfrm>
            <a:off x="8513064" y="4626864"/>
            <a:ext cx="2404872" cy="384048"/>
          </a:xfrm>
          <a:prstGeom prst="rect">
            <a:avLst/>
          </a:prstGeom>
          <a:noFill/>
          <a:ln/>
        </p:spPr>
        <p:txBody>
          <a:bodyPr wrap="square" lIns="0" tIns="0" rIns="0" bIns="0" rtlCol="0" anchor="t"/>
          <a:lstStyle/>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Decision outputs +</a:t>
            </a:r>
            <a:endParaRPr lang="en-US" sz="1000" dirty="0"/>
          </a:p>
          <a:p>
            <a:pPr indent="0" marL="0">
              <a:lnSpc>
                <a:spcPts val="1250"/>
              </a:lnSpc>
              <a:buNone/>
            </a:pPr>
            <a:r>
              <a:rPr lang="en-US" sz="1000" dirty="0">
                <a:solidFill>
                  <a:srgbClr val="AEBDC9"/>
                </a:solidFill>
                <a:latin typeface="Calibri" pitchFamily="34" charset="0"/>
                <a:ea typeface="Calibri" pitchFamily="34" charset="-122"/>
                <a:cs typeface="Calibri" pitchFamily="34" charset="-120"/>
              </a:rPr>
              <a:t>model version per row</a:t>
            </a:r>
            <a:endParaRPr lang="en-US" sz="1000" dirty="0"/>
          </a:p>
        </p:txBody>
      </p:sp>
      <p:sp>
        <p:nvSpPr>
          <p:cNvPr id="44" name="Shape 42"/>
          <p:cNvSpPr/>
          <p:nvPr/>
        </p:nvSpPr>
        <p:spPr>
          <a:xfrm>
            <a:off x="3154680" y="4681728"/>
            <a:ext cx="274320" cy="0"/>
          </a:xfrm>
          <a:prstGeom prst="line">
            <a:avLst/>
          </a:prstGeom>
          <a:noFill/>
          <a:ln w="28575">
            <a:solidFill>
              <a:srgbClr val="B0512F"/>
            </a:solidFill>
            <a:prstDash val="solid"/>
            <a:tailEnd type="triangle"/>
          </a:ln>
        </p:spPr>
      </p:sp>
      <p:sp>
        <p:nvSpPr>
          <p:cNvPr id="45" name="Shape 43"/>
          <p:cNvSpPr/>
          <p:nvPr/>
        </p:nvSpPr>
        <p:spPr>
          <a:xfrm>
            <a:off x="8092440" y="4681728"/>
            <a:ext cx="274320" cy="0"/>
          </a:xfrm>
          <a:prstGeom prst="line">
            <a:avLst/>
          </a:prstGeom>
          <a:noFill/>
          <a:ln w="28575">
            <a:solidFill>
              <a:srgbClr val="B0512F"/>
            </a:solidFill>
            <a:prstDash val="solid"/>
            <a:tailEnd type="triangle"/>
          </a:ln>
        </p:spPr>
      </p:sp>
      <p:sp>
        <p:nvSpPr>
          <p:cNvPr id="46" name="Shape 44"/>
          <p:cNvSpPr/>
          <p:nvPr/>
        </p:nvSpPr>
        <p:spPr>
          <a:xfrm>
            <a:off x="548640" y="5532120"/>
            <a:ext cx="256032" cy="256032"/>
          </a:xfrm>
          <a:prstGeom prst="ellipse">
            <a:avLst/>
          </a:prstGeom>
          <a:solidFill>
            <a:srgbClr val="037D8C"/>
          </a:solidFill>
          <a:ln w="12700">
            <a:solidFill>
              <a:srgbClr val="037D8C"/>
            </a:solidFill>
            <a:prstDash val="solid"/>
          </a:ln>
        </p:spPr>
      </p:sp>
      <p:sp>
        <p:nvSpPr>
          <p:cNvPr id="47" name="Text 45"/>
          <p:cNvSpPr txBox="1"/>
          <p:nvPr/>
        </p:nvSpPr>
        <p:spPr>
          <a:xfrm>
            <a:off x="548640"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8" name="Text 46"/>
          <p:cNvSpPr txBox="1"/>
          <p:nvPr/>
        </p:nvSpPr>
        <p:spPr>
          <a:xfrm>
            <a:off x="896112"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The only artefact that crosses is the .dmn file itself, read from a Volume at job start. Nothing is deployed to the cluster.</a:t>
            </a:r>
            <a:endParaRPr lang="en-US" sz="950" dirty="0"/>
          </a:p>
        </p:txBody>
      </p:sp>
      <p:sp>
        <p:nvSpPr>
          <p:cNvPr id="49" name="Shape 47"/>
          <p:cNvSpPr/>
          <p:nvPr/>
        </p:nvSpPr>
        <p:spPr>
          <a:xfrm>
            <a:off x="3364992" y="5532120"/>
            <a:ext cx="256032" cy="256032"/>
          </a:xfrm>
          <a:prstGeom prst="ellipse">
            <a:avLst/>
          </a:prstGeom>
          <a:solidFill>
            <a:srgbClr val="037D8C"/>
          </a:solidFill>
          <a:ln w="12700">
            <a:solidFill>
              <a:srgbClr val="037D8C"/>
            </a:solidFill>
            <a:prstDash val="solid"/>
          </a:ln>
        </p:spPr>
      </p:sp>
      <p:sp>
        <p:nvSpPr>
          <p:cNvPr id="50" name="Text 48"/>
          <p:cNvSpPr txBox="1"/>
          <p:nvPr/>
        </p:nvSpPr>
        <p:spPr>
          <a:xfrm>
            <a:off x="3364992"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1" name="Text 49"/>
          <p:cNvSpPr txBox="1"/>
          <p:nvPr/>
        </p:nvSpPr>
        <p:spPr>
          <a:xfrm>
            <a:off x="3712464"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The compiler runs on the driver in seconds and produces a plan; a model change takes effect on the next run, with no redeploy.</a:t>
            </a:r>
            <a:endParaRPr lang="en-US" sz="950" dirty="0"/>
          </a:p>
        </p:txBody>
      </p:sp>
      <p:sp>
        <p:nvSpPr>
          <p:cNvPr id="52" name="Shape 50"/>
          <p:cNvSpPr/>
          <p:nvPr/>
        </p:nvSpPr>
        <p:spPr>
          <a:xfrm>
            <a:off x="6181344" y="5532120"/>
            <a:ext cx="256032" cy="256032"/>
          </a:xfrm>
          <a:prstGeom prst="ellipse">
            <a:avLst/>
          </a:prstGeom>
          <a:solidFill>
            <a:srgbClr val="B0512F"/>
          </a:solidFill>
          <a:ln w="12700">
            <a:solidFill>
              <a:srgbClr val="B0512F"/>
            </a:solidFill>
            <a:prstDash val="solid"/>
          </a:ln>
        </p:spPr>
      </p:sp>
      <p:sp>
        <p:nvSpPr>
          <p:cNvPr id="53" name="Text 51"/>
          <p:cNvSpPr txBox="1"/>
          <p:nvPr/>
        </p:nvSpPr>
        <p:spPr>
          <a:xfrm>
            <a:off x="6181344"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4" name="Text 52"/>
          <p:cNvSpPr txBox="1"/>
          <p:nvPr/>
        </p:nvSpPr>
        <p:spPr>
          <a:xfrm>
            <a:off x="6528816"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Rows stay in Delta throughout. Execution is column-oriented, so there is no per-row JVM object and no serialisation boundary.</a:t>
            </a:r>
            <a:endParaRPr lang="en-US" sz="950" dirty="0"/>
          </a:p>
        </p:txBody>
      </p:sp>
      <p:sp>
        <p:nvSpPr>
          <p:cNvPr id="55" name="Shape 53"/>
          <p:cNvSpPr/>
          <p:nvPr/>
        </p:nvSpPr>
        <p:spPr>
          <a:xfrm>
            <a:off x="8997696" y="5532120"/>
            <a:ext cx="256032" cy="256032"/>
          </a:xfrm>
          <a:prstGeom prst="ellipse">
            <a:avLst/>
          </a:prstGeom>
          <a:solidFill>
            <a:srgbClr val="5A6672"/>
          </a:solidFill>
          <a:ln w="12700">
            <a:solidFill>
              <a:srgbClr val="5A6672"/>
            </a:solidFill>
            <a:prstDash val="solid"/>
          </a:ln>
        </p:spPr>
      </p:sp>
      <p:sp>
        <p:nvSpPr>
          <p:cNvPr id="56" name="Text 54"/>
          <p:cNvSpPr txBox="1"/>
          <p:nvPr/>
        </p:nvSpPr>
        <p:spPr>
          <a:xfrm>
            <a:off x="8997696" y="5532120"/>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7" name="Text 55"/>
          <p:cNvSpPr txBox="1"/>
          <p:nvPr/>
        </p:nvSpPr>
        <p:spPr>
          <a:xfrm>
            <a:off x="9345168" y="5504688"/>
            <a:ext cx="2258568" cy="868680"/>
          </a:xfrm>
          <a:prstGeom prst="rect">
            <a:avLst/>
          </a:prstGeom>
          <a:noFill/>
          <a:ln/>
        </p:spPr>
        <p:txBody>
          <a:bodyPr wrap="square" lIns="0" tIns="0" rIns="0" bIns="0" rtlCol="0" anchor="t"/>
          <a:lstStyle/>
          <a:p>
            <a:pPr indent="0" marL="0">
              <a:lnSpc>
                <a:spcPts val="1200"/>
              </a:lnSpc>
              <a:buNone/>
            </a:pPr>
            <a:r>
              <a:rPr lang="en-US" sz="950" dirty="0">
                <a:solidFill>
                  <a:srgbClr val="5A6672"/>
                </a:solidFill>
                <a:latin typeface="Calibri" pitchFamily="34" charset="0"/>
                <a:ea typeface="Calibri" pitchFamily="34" charset="-122"/>
                <a:cs typeface="Calibri" pitchFamily="34" charset="-120"/>
              </a:rPr>
              <a:t>Correctness is enforced upstream, in CI: the conformance gate is what replaces the reference engine at runtime.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3 · COVERAGE</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What translates cleanly, what does not, and how you prove it</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The whole risk of this option is semantic drift from the reference engine.</a:t>
            </a:r>
            <a:endParaRPr lang="en-US" sz="1300" dirty="0"/>
          </a:p>
        </p:txBody>
      </p:sp>
      <p:sp>
        <p:nvSpPr>
          <p:cNvPr id="6" name="Shape 4"/>
          <p:cNvSpPr/>
          <p:nvPr/>
        </p:nvSpPr>
        <p:spPr>
          <a:xfrm>
            <a:off x="548640" y="1645920"/>
            <a:ext cx="3566160" cy="4160520"/>
          </a:xfrm>
          <a:prstGeom prst="roundRect">
            <a:avLst>
              <a:gd name="adj" fmla="val 2051"/>
            </a:avLst>
          </a:prstGeom>
          <a:solidFill>
            <a:srgbClr val="E8F2F3"/>
          </a:solidFill>
          <a:ln w="12700">
            <a:solidFill>
              <a:srgbClr val="E8F2F3"/>
            </a:solidFill>
            <a:prstDash val="solid"/>
          </a:ln>
          <a:effectLst>
            <a:outerShdw sx="100000" sy="100000" kx="0" ky="0" algn="bl" rotWithShape="0" blurRad="101600" dist="25400" dir="5400000">
              <a:srgbClr val="16222E">
                <a:alpha val="12000"/>
              </a:srgbClr>
            </a:outerShdw>
          </a:effectLst>
        </p:spPr>
      </p:sp>
      <p:sp>
        <p:nvSpPr>
          <p:cNvPr id="7" name="Text 5"/>
          <p:cNvSpPr txBox="1"/>
          <p:nvPr/>
        </p:nvSpPr>
        <p:spPr>
          <a:xfrm>
            <a:off x="822960" y="1847088"/>
            <a:ext cx="3017520" cy="310896"/>
          </a:xfrm>
          <a:prstGeom prst="rect">
            <a:avLst/>
          </a:prstGeom>
          <a:noFill/>
          <a:ln/>
        </p:spPr>
        <p:txBody>
          <a:bodyPr wrap="square" lIns="0" tIns="0" rIns="0" bIns="0" rtlCol="0" anchor="ctr"/>
          <a:lstStyle/>
          <a:p>
            <a:pPr indent="0" marL="0">
              <a:buNone/>
            </a:pPr>
            <a:r>
              <a:rPr lang="en-US" sz="1700" b="1" dirty="0">
                <a:solidFill>
                  <a:srgbClr val="037D8C"/>
                </a:solidFill>
                <a:latin typeface="Cambria" pitchFamily="34" charset="0"/>
                <a:ea typeface="Cambria" pitchFamily="34" charset="-122"/>
                <a:cs typeface="Cambria" pitchFamily="34" charset="-120"/>
              </a:rPr>
              <a:t>Translates cleanly</a:t>
            </a:r>
            <a:endParaRPr lang="en-US" sz="1700" dirty="0"/>
          </a:p>
        </p:txBody>
      </p:sp>
      <p:sp>
        <p:nvSpPr>
          <p:cNvPr id="8" name="Text 6"/>
          <p:cNvSpPr txBox="1"/>
          <p:nvPr/>
        </p:nvSpPr>
        <p:spPr>
          <a:xfrm>
            <a:off x="822960" y="2377440"/>
            <a:ext cx="3017520" cy="329184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Decision tables, all common hit policies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Comparison, range and arithmetic FEEL expressions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Date, time and duration functions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String and list built-ins with SQL equivalents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Multi-level DRGs with scalar intermediate decisions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Null / empty semantics, with care</a:t>
            </a:r>
            <a:endParaRPr lang="en-US" sz="1200" dirty="0"/>
          </a:p>
        </p:txBody>
      </p:sp>
      <p:sp>
        <p:nvSpPr>
          <p:cNvPr id="9" name="Shape 7"/>
          <p:cNvSpPr/>
          <p:nvPr/>
        </p:nvSpPr>
        <p:spPr>
          <a:xfrm>
            <a:off x="4389120" y="1645920"/>
            <a:ext cx="3566160" cy="4160520"/>
          </a:xfrm>
          <a:prstGeom prst="roundRect">
            <a:avLst>
              <a:gd name="adj" fmla="val 2051"/>
            </a:avLst>
          </a:prstGeom>
          <a:solidFill>
            <a:srgbClr val="F7ECEC"/>
          </a:solidFill>
          <a:ln w="12700">
            <a:solidFill>
              <a:srgbClr val="F7ECEC"/>
            </a:solidFill>
            <a:prstDash val="solid"/>
          </a:ln>
          <a:effectLst>
            <a:outerShdw sx="100000" sy="100000" kx="0" ky="0" algn="bl" rotWithShape="0" blurRad="101600" dist="25400" dir="5400000">
              <a:srgbClr val="16222E">
                <a:alpha val="12000"/>
              </a:srgbClr>
            </a:outerShdw>
          </a:effectLst>
        </p:spPr>
      </p:sp>
      <p:sp>
        <p:nvSpPr>
          <p:cNvPr id="10" name="Text 8"/>
          <p:cNvSpPr txBox="1"/>
          <p:nvPr/>
        </p:nvSpPr>
        <p:spPr>
          <a:xfrm>
            <a:off x="4663440" y="1847088"/>
            <a:ext cx="3017520" cy="457200"/>
          </a:xfrm>
          <a:prstGeom prst="rect">
            <a:avLst/>
          </a:prstGeom>
          <a:noFill/>
          <a:ln/>
        </p:spPr>
        <p:txBody>
          <a:bodyPr wrap="square" lIns="0" tIns="0" rIns="0" bIns="0" rtlCol="0" anchor="ctr"/>
          <a:lstStyle/>
          <a:p>
            <a:pPr indent="0" marL="0">
              <a:lnSpc>
                <a:spcPts val="2000"/>
              </a:lnSpc>
              <a:buNone/>
            </a:pPr>
            <a:r>
              <a:rPr lang="en-US" sz="1700" b="1" dirty="0">
                <a:solidFill>
                  <a:srgbClr val="9B3B3B"/>
                </a:solidFill>
                <a:latin typeface="Cambria" pitchFamily="34" charset="0"/>
                <a:ea typeface="Cambria" pitchFamily="34" charset="-122"/>
                <a:cs typeface="Cambria" pitchFamily="34" charset="-120"/>
              </a:rPr>
              <a:t>Translates badly or not at all</a:t>
            </a:r>
            <a:endParaRPr lang="en-US" sz="1700" dirty="0"/>
          </a:p>
        </p:txBody>
      </p:sp>
      <p:sp>
        <p:nvSpPr>
          <p:cNvPr id="11" name="Text 9"/>
          <p:cNvSpPr txBox="1"/>
          <p:nvPr/>
        </p:nvSpPr>
        <p:spPr>
          <a:xfrm>
            <a:off x="4663440" y="2377440"/>
            <a:ext cx="3017520" cy="329184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6B3030"/>
                </a:solidFill>
                <a:latin typeface="Calibri" pitchFamily="34" charset="0"/>
                <a:ea typeface="Calibri" pitchFamily="34" charset="-122"/>
                <a:cs typeface="Calibri" pitchFamily="34" charset="-120"/>
              </a:rPr>
              <a:t>FEEL iteration (for / every / some) over unbounded collections</a:t>
            </a:r>
            <a:endParaRPr lang="en-US" sz="1200" dirty="0"/>
          </a:p>
          <a:p>
            <a:pPr marL="342900" indent="-342900">
              <a:lnSpc>
                <a:spcPts val="1600"/>
              </a:lnSpc>
              <a:spcAft>
                <a:spcPts val="700"/>
              </a:spcAft>
              <a:buSzPct val="100000"/>
              <a:buChar char="•"/>
            </a:pPr>
            <a:r>
              <a:rPr lang="en-US" sz="1200" dirty="0">
                <a:solidFill>
                  <a:srgbClr val="6B3030"/>
                </a:solidFill>
                <a:latin typeface="Calibri" pitchFamily="34" charset="0"/>
                <a:ea typeface="Calibri" pitchFamily="34" charset="-122"/>
                <a:cs typeface="Calibri" pitchFamily="34" charset="-120"/>
              </a:rPr>
              <a:t>Recursive or self-referential BKMs</a:t>
            </a:r>
            <a:endParaRPr lang="en-US" sz="1200" dirty="0"/>
          </a:p>
          <a:p>
            <a:pPr marL="342900" indent="-342900">
              <a:lnSpc>
                <a:spcPts val="1600"/>
              </a:lnSpc>
              <a:spcAft>
                <a:spcPts val="700"/>
              </a:spcAft>
              <a:buSzPct val="100000"/>
              <a:buChar char="•"/>
            </a:pPr>
            <a:r>
              <a:rPr lang="en-US" sz="1200" dirty="0">
                <a:solidFill>
                  <a:srgbClr val="6B3030"/>
                </a:solidFill>
                <a:latin typeface="Calibri" pitchFamily="34" charset="0"/>
                <a:ea typeface="Calibri" pitchFamily="34" charset="-122"/>
                <a:cs typeface="Calibri" pitchFamily="34" charset="-120"/>
              </a:rPr>
              <a:t>External Java / PMML function invocations</a:t>
            </a:r>
            <a:endParaRPr lang="en-US" sz="1200" dirty="0"/>
          </a:p>
          <a:p>
            <a:pPr marL="342900" indent="-342900">
              <a:lnSpc>
                <a:spcPts val="1600"/>
              </a:lnSpc>
              <a:spcAft>
                <a:spcPts val="700"/>
              </a:spcAft>
              <a:buSzPct val="100000"/>
              <a:buChar char="•"/>
            </a:pPr>
            <a:r>
              <a:rPr lang="en-US" sz="1200" dirty="0">
                <a:solidFill>
                  <a:srgbClr val="6B3030"/>
                </a:solidFill>
                <a:latin typeface="Calibri" pitchFamily="34" charset="0"/>
                <a:ea typeface="Calibri" pitchFamily="34" charset="-122"/>
                <a:cs typeface="Calibri" pitchFamily="34" charset="-120"/>
              </a:rPr>
              <a:t>Deeply nested boxed contexts as intermediate values</a:t>
            </a:r>
            <a:endParaRPr lang="en-US" sz="1200" dirty="0"/>
          </a:p>
          <a:p>
            <a:pPr marL="342900" indent="-342900">
              <a:lnSpc>
                <a:spcPts val="1600"/>
              </a:lnSpc>
              <a:spcAft>
                <a:spcPts val="700"/>
              </a:spcAft>
              <a:buSzPct val="100000"/>
              <a:buChar char="•"/>
            </a:pPr>
            <a:r>
              <a:rPr lang="en-US" sz="1200" dirty="0">
                <a:solidFill>
                  <a:srgbClr val="6B3030"/>
                </a:solidFill>
                <a:latin typeface="Calibri" pitchFamily="34" charset="0"/>
                <a:ea typeface="Calibri" pitchFamily="34" charset="-122"/>
                <a:cs typeface="Calibri" pitchFamily="34" charset="-120"/>
              </a:rPr>
              <a:t>Models relying on engine-specific evaluation order</a:t>
            </a:r>
            <a:endParaRPr lang="en-US" sz="1200" dirty="0"/>
          </a:p>
          <a:p>
            <a:pPr marL="342900" indent="-342900">
              <a:lnSpc>
                <a:spcPts val="1600"/>
              </a:lnSpc>
              <a:spcAft>
                <a:spcPts val="700"/>
              </a:spcAft>
              <a:buSzPct val="100000"/>
              <a:buChar char="•"/>
            </a:pPr>
            <a:r>
              <a:rPr lang="en-US" sz="1200" dirty="0">
                <a:solidFill>
                  <a:srgbClr val="6B3030"/>
                </a:solidFill>
                <a:latin typeface="Calibri" pitchFamily="34" charset="0"/>
                <a:ea typeface="Calibri" pitchFamily="34" charset="-122"/>
                <a:cs typeface="Calibri" pitchFamily="34" charset="-120"/>
              </a:rPr>
              <a:t>Rule-level explainability without extra bookkeeping columns</a:t>
            </a:r>
            <a:endParaRPr lang="en-US" sz="1200" dirty="0"/>
          </a:p>
        </p:txBody>
      </p:sp>
      <p:sp>
        <p:nvSpPr>
          <p:cNvPr id="12" name="Shape 10"/>
          <p:cNvSpPr/>
          <p:nvPr/>
        </p:nvSpPr>
        <p:spPr>
          <a:xfrm>
            <a:off x="8229600" y="1645920"/>
            <a:ext cx="3383280" cy="4160520"/>
          </a:xfrm>
          <a:prstGeom prst="roundRect">
            <a:avLst>
              <a:gd name="adj" fmla="val 2162"/>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3" name="Text 11"/>
          <p:cNvSpPr txBox="1"/>
          <p:nvPr/>
        </p:nvSpPr>
        <p:spPr>
          <a:xfrm>
            <a:off x="8503920" y="1847088"/>
            <a:ext cx="2834640" cy="457200"/>
          </a:xfrm>
          <a:prstGeom prst="rect">
            <a:avLst/>
          </a:prstGeom>
          <a:noFill/>
          <a:ln/>
        </p:spPr>
        <p:txBody>
          <a:bodyPr wrap="square" lIns="0" tIns="0" rIns="0" bIns="0" rtlCol="0" anchor="ctr"/>
          <a:lstStyle/>
          <a:p>
            <a:pPr indent="0" marL="0">
              <a:lnSpc>
                <a:spcPts val="2000"/>
              </a:lnSpc>
              <a:buNone/>
            </a:pPr>
            <a:r>
              <a:rPr lang="en-US" sz="1700" b="1" dirty="0">
                <a:solidFill>
                  <a:srgbClr val="16222E"/>
                </a:solidFill>
                <a:latin typeface="Cambria" pitchFamily="34" charset="0"/>
                <a:ea typeface="Cambria" pitchFamily="34" charset="-122"/>
                <a:cs typeface="Cambria" pitchFamily="34" charset="-120"/>
              </a:rPr>
              <a:t>How you prove correctness</a:t>
            </a:r>
            <a:endParaRPr lang="en-US" sz="1700" dirty="0"/>
          </a:p>
        </p:txBody>
      </p:sp>
      <p:sp>
        <p:nvSpPr>
          <p:cNvPr id="14" name="Text 12"/>
          <p:cNvSpPr txBox="1"/>
          <p:nvPr/>
        </p:nvSpPr>
        <p:spPr>
          <a:xfrm>
            <a:off x="8503920" y="2377440"/>
            <a:ext cx="2834640" cy="329184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Run the DMN TCK against the translator, not just your own models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Dual-run harness: Kogito is the oracle on a stratified sample, Spark output must match row for row</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Fail the build on any divergence; treat a mismatch as a compiler bug</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Escape hatch: any model the compiler cannot fully cover routes to option 1 or 2 automatically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OPTION 3 · ASSESSMENT</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Strengths, costs and the honest objection</a:t>
            </a:r>
            <a:endParaRPr lang="en-US" sz="3000" dirty="0"/>
          </a:p>
        </p:txBody>
      </p:sp>
      <p:sp>
        <p:nvSpPr>
          <p:cNvPr id="5" name="Shape 3"/>
          <p:cNvSpPr/>
          <p:nvPr/>
        </p:nvSpPr>
        <p:spPr>
          <a:xfrm>
            <a:off x="548640" y="1572768"/>
            <a:ext cx="3493008" cy="4206240"/>
          </a:xfrm>
          <a:prstGeom prst="roundRect">
            <a:avLst>
              <a:gd name="adj" fmla="val 2094"/>
            </a:avLst>
          </a:prstGeom>
          <a:solidFill>
            <a:srgbClr val="E8F2F3"/>
          </a:solidFill>
          <a:ln w="12700">
            <a:solidFill>
              <a:srgbClr val="E8F2F3"/>
            </a:solidFill>
            <a:prstDash val="solid"/>
          </a:ln>
          <a:effectLst>
            <a:outerShdw sx="100000" sy="100000" kx="0" ky="0" algn="bl" rotWithShape="0" blurRad="101600" dist="25400" dir="5400000">
              <a:srgbClr val="16222E">
                <a:alpha val="12000"/>
              </a:srgbClr>
            </a:outerShdw>
          </a:effectLst>
        </p:spPr>
      </p:sp>
      <p:sp>
        <p:nvSpPr>
          <p:cNvPr id="6" name="Text 4"/>
          <p:cNvSpPr txBox="1"/>
          <p:nvPr/>
        </p:nvSpPr>
        <p:spPr>
          <a:xfrm>
            <a:off x="822960" y="1783080"/>
            <a:ext cx="2944368" cy="329184"/>
          </a:xfrm>
          <a:prstGeom prst="rect">
            <a:avLst/>
          </a:prstGeom>
          <a:noFill/>
          <a:ln/>
        </p:spPr>
        <p:txBody>
          <a:bodyPr wrap="square" lIns="0" tIns="0" rIns="0" bIns="0" rtlCol="0" anchor="ctr"/>
          <a:lstStyle/>
          <a:p>
            <a:pPr indent="0" marL="0">
              <a:buNone/>
            </a:pPr>
            <a:r>
              <a:rPr lang="en-US" sz="1900" b="1" dirty="0">
                <a:solidFill>
                  <a:srgbClr val="037D8C"/>
                </a:solidFill>
                <a:latin typeface="Cambria" pitchFamily="34" charset="0"/>
                <a:ea typeface="Cambria" pitchFamily="34" charset="-122"/>
                <a:cs typeface="Cambria" pitchFamily="34" charset="-120"/>
              </a:rPr>
              <a:t>Strengths</a:t>
            </a:r>
            <a:endParaRPr lang="en-US" sz="1900" dirty="0"/>
          </a:p>
        </p:txBody>
      </p:sp>
      <p:sp>
        <p:nvSpPr>
          <p:cNvPr id="7" name="Text 5"/>
          <p:cNvSpPr txBox="1"/>
          <p:nvPr/>
        </p:nvSpPr>
        <p:spPr>
          <a:xfrm>
            <a:off x="822960"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By far the best throughput and cost per row at this volume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No data movement, no JVM UDF, no cluster policy exception</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Runs on serverless and standard access mode alike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Advantage compounds if volumes grow past 80 M</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Decision logic becomes inspectable in the Spark plan</a:t>
            </a:r>
            <a:endParaRPr lang="en-US" sz="1200" dirty="0"/>
          </a:p>
        </p:txBody>
      </p:sp>
      <p:sp>
        <p:nvSpPr>
          <p:cNvPr id="8" name="Shape 6"/>
          <p:cNvSpPr/>
          <p:nvPr/>
        </p:nvSpPr>
        <p:spPr>
          <a:xfrm>
            <a:off x="4334256" y="1572768"/>
            <a:ext cx="3493008" cy="4206240"/>
          </a:xfrm>
          <a:prstGeom prst="roundRect">
            <a:avLst>
              <a:gd name="adj" fmla="val 2094"/>
            </a:avLst>
          </a:prstGeom>
          <a:solidFill>
            <a:srgbClr val="F6F1E6"/>
          </a:solidFill>
          <a:ln w="12700">
            <a:solidFill>
              <a:srgbClr val="F6F1E6"/>
            </a:solidFill>
            <a:prstDash val="solid"/>
          </a:ln>
          <a:effectLst>
            <a:outerShdw sx="100000" sy="100000" kx="0" ky="0" algn="bl" rotWithShape="0" blurRad="101600" dist="25400" dir="5400000">
              <a:srgbClr val="16222E">
                <a:alpha val="12000"/>
              </a:srgbClr>
            </a:outerShdw>
          </a:effectLst>
        </p:spPr>
      </p:sp>
      <p:sp>
        <p:nvSpPr>
          <p:cNvPr id="9" name="Text 7"/>
          <p:cNvSpPr txBox="1"/>
          <p:nvPr/>
        </p:nvSpPr>
        <p:spPr>
          <a:xfrm>
            <a:off x="4608576" y="1783080"/>
            <a:ext cx="2944368" cy="329184"/>
          </a:xfrm>
          <a:prstGeom prst="rect">
            <a:avLst/>
          </a:prstGeom>
          <a:noFill/>
          <a:ln/>
        </p:spPr>
        <p:txBody>
          <a:bodyPr wrap="square" lIns="0" tIns="0" rIns="0" bIns="0" rtlCol="0" anchor="ctr"/>
          <a:lstStyle/>
          <a:p>
            <a:pPr indent="0" marL="0">
              <a:buNone/>
            </a:pPr>
            <a:r>
              <a:rPr lang="en-US" sz="1900" b="1" dirty="0">
                <a:solidFill>
                  <a:srgbClr val="B8801A"/>
                </a:solidFill>
                <a:latin typeface="Cambria" pitchFamily="34" charset="0"/>
                <a:ea typeface="Cambria" pitchFamily="34" charset="-122"/>
                <a:cs typeface="Cambria" pitchFamily="34" charset="-120"/>
              </a:rPr>
              <a:t>Costs</a:t>
            </a:r>
            <a:endParaRPr lang="en-US" sz="1900" dirty="0"/>
          </a:p>
        </p:txBody>
      </p:sp>
      <p:sp>
        <p:nvSpPr>
          <p:cNvPr id="10" name="Text 8"/>
          <p:cNvSpPr txBox="1"/>
          <p:nvPr/>
        </p:nvSpPr>
        <p:spPr>
          <a:xfrm>
            <a:off x="4608576"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You are building and owning a compiler — the largest build of the three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Coverage is a permanent obligation as DMN models get more expressive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Requires a conformance harness before it can be trusted in production</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Scarce skills: DMN semantics plus Spark expression internals</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Explainability needs to be engineered in, not inherited</a:t>
            </a:r>
            <a:endParaRPr lang="en-US" sz="1200" dirty="0"/>
          </a:p>
        </p:txBody>
      </p:sp>
      <p:sp>
        <p:nvSpPr>
          <p:cNvPr id="11" name="Shape 9"/>
          <p:cNvSpPr/>
          <p:nvPr/>
        </p:nvSpPr>
        <p:spPr>
          <a:xfrm>
            <a:off x="8119872" y="1572768"/>
            <a:ext cx="3493008" cy="4206240"/>
          </a:xfrm>
          <a:prstGeom prst="roundRect">
            <a:avLst>
              <a:gd name="adj" fmla="val 2094"/>
            </a:avLst>
          </a:prstGeom>
          <a:solidFill>
            <a:srgbClr val="F7ECEC"/>
          </a:solidFill>
          <a:ln w="12700">
            <a:solidFill>
              <a:srgbClr val="F7ECEC"/>
            </a:solidFill>
            <a:prstDash val="solid"/>
          </a:ln>
          <a:effectLst>
            <a:outerShdw sx="100000" sy="100000" kx="0" ky="0" algn="bl" rotWithShape="0" blurRad="101600" dist="25400" dir="5400000">
              <a:srgbClr val="16222E">
                <a:alpha val="12000"/>
              </a:srgbClr>
            </a:outerShdw>
          </a:effectLst>
        </p:spPr>
      </p:sp>
      <p:sp>
        <p:nvSpPr>
          <p:cNvPr id="12" name="Text 10"/>
          <p:cNvSpPr txBox="1"/>
          <p:nvPr/>
        </p:nvSpPr>
        <p:spPr>
          <a:xfrm>
            <a:off x="8394192" y="1783080"/>
            <a:ext cx="2944368" cy="329184"/>
          </a:xfrm>
          <a:prstGeom prst="rect">
            <a:avLst/>
          </a:prstGeom>
          <a:noFill/>
          <a:ln/>
        </p:spPr>
        <p:txBody>
          <a:bodyPr wrap="square" lIns="0" tIns="0" rIns="0" bIns="0" rtlCol="0" anchor="ctr"/>
          <a:lstStyle/>
          <a:p>
            <a:pPr indent="0" marL="0">
              <a:buNone/>
            </a:pPr>
            <a:r>
              <a:rPr lang="en-US" sz="1900" b="1" dirty="0">
                <a:solidFill>
                  <a:srgbClr val="9B3B3B"/>
                </a:solidFill>
                <a:latin typeface="Cambria" pitchFamily="34" charset="0"/>
                <a:ea typeface="Cambria" pitchFamily="34" charset="-122"/>
                <a:cs typeface="Cambria" pitchFamily="34" charset="-120"/>
              </a:rPr>
              <a:t>The objection</a:t>
            </a:r>
            <a:endParaRPr lang="en-US" sz="1900" dirty="0"/>
          </a:p>
        </p:txBody>
      </p:sp>
      <p:sp>
        <p:nvSpPr>
          <p:cNvPr id="13" name="Text 11"/>
          <p:cNvSpPr txBox="1"/>
          <p:nvPr/>
        </p:nvSpPr>
        <p:spPr>
          <a:xfrm>
            <a:off x="8394192" y="2240280"/>
            <a:ext cx="2944368" cy="338328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"We are re-implementing a standards-compliant engine that already exists and is maintained by someone else."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Answer only if the volume genuinely justifies it — at 80 M rows nightly it plausibly does; at 8 M it does not.</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Mitigation: restrict the supported DMN subset by policy, and enforce it in the editor.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AUTHORING</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standalone DMN editor web application</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Required by all three options — this is where the business actually works.</a:t>
            </a:r>
            <a:endParaRPr lang="en-US" sz="1300" dirty="0"/>
          </a:p>
        </p:txBody>
      </p:sp>
      <p:sp>
        <p:nvSpPr>
          <p:cNvPr id="6" name="Shape 4"/>
          <p:cNvSpPr/>
          <p:nvPr/>
        </p:nvSpPr>
        <p:spPr>
          <a:xfrm>
            <a:off x="548640" y="1737360"/>
            <a:ext cx="3474720" cy="4023360"/>
          </a:xfrm>
          <a:prstGeom prst="roundRect">
            <a:avLst>
              <a:gd name="adj" fmla="val 2105"/>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7" name="Shape 5"/>
          <p:cNvSpPr/>
          <p:nvPr/>
        </p:nvSpPr>
        <p:spPr>
          <a:xfrm>
            <a:off x="822960" y="1938528"/>
            <a:ext cx="329184" cy="329184"/>
          </a:xfrm>
          <a:prstGeom prst="ellipse">
            <a:avLst/>
          </a:prstGeom>
          <a:solidFill>
            <a:srgbClr val="1E2E3D"/>
          </a:solidFill>
          <a:ln w="12700">
            <a:solidFill>
              <a:srgbClr val="1E2E3D"/>
            </a:solidFill>
            <a:prstDash val="solid"/>
          </a:ln>
        </p:spPr>
      </p:sp>
      <p:sp>
        <p:nvSpPr>
          <p:cNvPr id="8" name="Text 6"/>
          <p:cNvSpPr txBox="1"/>
          <p:nvPr/>
        </p:nvSpPr>
        <p:spPr>
          <a:xfrm>
            <a:off x="822960" y="19385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61872" y="1938528"/>
            <a:ext cx="2468880" cy="329184"/>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What we embed</a:t>
            </a:r>
            <a:endParaRPr lang="en-US" sz="1700" dirty="0"/>
          </a:p>
        </p:txBody>
      </p:sp>
      <p:sp>
        <p:nvSpPr>
          <p:cNvPr id="10" name="Text 8"/>
          <p:cNvSpPr txBox="1"/>
          <p:nvPr/>
        </p:nvSpPr>
        <p:spPr>
          <a:xfrm>
            <a:off x="822960" y="2450592"/>
            <a:ext cx="2926080" cy="320040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Apache KIE dmn-editor-standalone: the same DMN editor as the KIE Sandbox, published as a JS package.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Embeds into an internal React application with a small API — open a model, subscribe to changes, read the .dmn content back.</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No KIE server, no Business Central: the editor is a component, the surrounding app is ours.</a:t>
            </a:r>
            <a:endParaRPr lang="en-US" sz="1200" dirty="0"/>
          </a:p>
        </p:txBody>
      </p:sp>
      <p:sp>
        <p:nvSpPr>
          <p:cNvPr id="11" name="Shape 9"/>
          <p:cNvSpPr/>
          <p:nvPr/>
        </p:nvSpPr>
        <p:spPr>
          <a:xfrm>
            <a:off x="4343400" y="1737360"/>
            <a:ext cx="3474720" cy="4023360"/>
          </a:xfrm>
          <a:prstGeom prst="roundRect">
            <a:avLst>
              <a:gd name="adj" fmla="val 2105"/>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2" name="Shape 10"/>
          <p:cNvSpPr/>
          <p:nvPr/>
        </p:nvSpPr>
        <p:spPr>
          <a:xfrm>
            <a:off x="4617720" y="1938528"/>
            <a:ext cx="329184" cy="329184"/>
          </a:xfrm>
          <a:prstGeom prst="ellipse">
            <a:avLst/>
          </a:prstGeom>
          <a:solidFill>
            <a:srgbClr val="1E2E3D"/>
          </a:solidFill>
          <a:ln w="12700">
            <a:solidFill>
              <a:srgbClr val="1E2E3D"/>
            </a:solidFill>
            <a:prstDash val="solid"/>
          </a:ln>
        </p:spPr>
      </p:sp>
      <p:sp>
        <p:nvSpPr>
          <p:cNvPr id="13" name="Text 11"/>
          <p:cNvSpPr txBox="1"/>
          <p:nvPr/>
        </p:nvSpPr>
        <p:spPr>
          <a:xfrm>
            <a:off x="4617720" y="19385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056632" y="1938528"/>
            <a:ext cx="2468880" cy="329184"/>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What we build around it</a:t>
            </a:r>
            <a:endParaRPr lang="en-US" sz="1700" dirty="0"/>
          </a:p>
        </p:txBody>
      </p:sp>
      <p:sp>
        <p:nvSpPr>
          <p:cNvPr id="15" name="Text 13"/>
          <p:cNvSpPr txBox="1"/>
          <p:nvPr/>
        </p:nvSpPr>
        <p:spPr>
          <a:xfrm>
            <a:off x="4617720" y="2450592"/>
            <a:ext cx="2926080" cy="320040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Model catalogue with search, ownership and lifecycle state.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Git-backed persistence: every save is a commit, every promotion a reviewed pull request.</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Test-scenario runner so an analyst can validate a change against a sample before requesting promotion.</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Impact preview: run the candidate model over a sampled slice and diff the outcome distribution.</a:t>
            </a:r>
            <a:endParaRPr lang="en-US" sz="1200" dirty="0"/>
          </a:p>
        </p:txBody>
      </p:sp>
      <p:sp>
        <p:nvSpPr>
          <p:cNvPr id="16" name="Shape 14"/>
          <p:cNvSpPr/>
          <p:nvPr/>
        </p:nvSpPr>
        <p:spPr>
          <a:xfrm>
            <a:off x="8138160" y="1737360"/>
            <a:ext cx="3474720" cy="4023360"/>
          </a:xfrm>
          <a:prstGeom prst="roundRect">
            <a:avLst>
              <a:gd name="adj" fmla="val 2105"/>
            </a:avLst>
          </a:prstGeom>
          <a:solidFill>
            <a:srgbClr val="E8F2F3"/>
          </a:solidFill>
          <a:ln w="12700">
            <a:solidFill>
              <a:srgbClr val="E8F2F3"/>
            </a:solidFill>
            <a:prstDash val="solid"/>
          </a:ln>
          <a:effectLst>
            <a:outerShdw sx="100000" sy="100000" kx="0" ky="0" algn="bl" rotWithShape="0" blurRad="101600" dist="25400" dir="5400000">
              <a:srgbClr val="16222E">
                <a:alpha val="12000"/>
              </a:srgbClr>
            </a:outerShdw>
          </a:effectLst>
        </p:spPr>
      </p:sp>
      <p:sp>
        <p:nvSpPr>
          <p:cNvPr id="17" name="Shape 15"/>
          <p:cNvSpPr/>
          <p:nvPr/>
        </p:nvSpPr>
        <p:spPr>
          <a:xfrm>
            <a:off x="8412480" y="1938528"/>
            <a:ext cx="329184" cy="329184"/>
          </a:xfrm>
          <a:prstGeom prst="ellipse">
            <a:avLst/>
          </a:prstGeom>
          <a:solidFill>
            <a:srgbClr val="037D8C"/>
          </a:solidFill>
          <a:ln w="12700">
            <a:solidFill>
              <a:srgbClr val="037D8C"/>
            </a:solidFill>
            <a:prstDash val="solid"/>
          </a:ln>
        </p:spPr>
      </p:sp>
      <p:sp>
        <p:nvSpPr>
          <p:cNvPr id="18" name="Text 16"/>
          <p:cNvSpPr txBox="1"/>
          <p:nvPr/>
        </p:nvSpPr>
        <p:spPr>
          <a:xfrm>
            <a:off x="8412480" y="19385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851392" y="1938528"/>
            <a:ext cx="2468880" cy="329184"/>
          </a:xfrm>
          <a:prstGeom prst="rect">
            <a:avLst/>
          </a:prstGeom>
          <a:noFill/>
          <a:ln/>
        </p:spPr>
        <p:txBody>
          <a:bodyPr wrap="square" lIns="0" tIns="0" rIns="0" bIns="0" rtlCol="0" anchor="ctr"/>
          <a:lstStyle/>
          <a:p>
            <a:pPr indent="0" marL="0">
              <a:buNone/>
            </a:pPr>
            <a:r>
              <a:rPr lang="en-US" sz="1700" b="1" dirty="0">
                <a:solidFill>
                  <a:srgbClr val="037D8C"/>
                </a:solidFill>
                <a:latin typeface="Cambria" pitchFamily="34" charset="0"/>
                <a:ea typeface="Cambria" pitchFamily="34" charset="-122"/>
                <a:cs typeface="Cambria" pitchFamily="34" charset="-120"/>
              </a:rPr>
              <a:t>Governance it enables</a:t>
            </a:r>
            <a:endParaRPr lang="en-US" sz="1700" dirty="0"/>
          </a:p>
        </p:txBody>
      </p:sp>
      <p:sp>
        <p:nvSpPr>
          <p:cNvPr id="20" name="Text 18"/>
          <p:cNvSpPr txBox="1"/>
          <p:nvPr/>
        </p:nvSpPr>
        <p:spPr>
          <a:xfrm>
            <a:off x="8412480" y="2450592"/>
            <a:ext cx="2926080" cy="3200400"/>
          </a:xfrm>
          <a:prstGeom prst="rect">
            <a:avLst/>
          </a:prstGeom>
          <a:noFill/>
          <a:ln/>
        </p:spPr>
        <p:txBody>
          <a:bodyPr wrap="square" rtlCol="0" anchor="t"/>
          <a:lstStyle/>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Four-eyes approval before a model reaches production.</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Immutable, versioned bundles published to the registry — never edited in place.</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Full audit trail: who changed which rule, when, approved by whom.</a:t>
            </a:r>
            <a:endParaRPr lang="en-US" sz="1200" dirty="0"/>
          </a:p>
          <a:p>
            <a:pPr marL="342900" indent="-342900">
              <a:lnSpc>
                <a:spcPts val="1600"/>
              </a:lnSpc>
              <a:spcAft>
                <a:spcPts val="700"/>
              </a:spcAft>
              <a:buSzPct val="100000"/>
              <a:buChar char="•"/>
            </a:pPr>
            <a:r>
              <a:rPr lang="en-US" sz="1200" dirty="0">
                <a:solidFill>
                  <a:srgbClr val="16222E"/>
                </a:solidFill>
                <a:latin typeface="Calibri" pitchFamily="34" charset="0"/>
                <a:ea typeface="Calibri" pitchFamily="34" charset="-122"/>
                <a:cs typeface="Calibri" pitchFamily="34" charset="-120"/>
              </a:rPr>
              <a:t>Policy gate: reject constructs outside the supported DMN subset — the guard-rail option 3 depends on.</a:t>
            </a:r>
            <a:endParaRPr lang="en-US" sz="1200" dirty="0"/>
          </a:p>
        </p:txBody>
      </p:sp>
      <p:sp>
        <p:nvSpPr>
          <p:cNvPr id="21" name="Text 19"/>
          <p:cNvSpPr txBox="1"/>
          <p:nvPr/>
        </p:nvSpPr>
        <p:spPr>
          <a:xfrm>
            <a:off x="548640" y="5925312"/>
            <a:ext cx="11064240" cy="365760"/>
          </a:xfrm>
          <a:prstGeom prst="rect">
            <a:avLst/>
          </a:prstGeom>
          <a:noFill/>
          <a:ln/>
        </p:spPr>
        <p:txBody>
          <a:bodyPr wrap="square" lIns="0" tIns="0" rIns="0" bIns="0" rtlCol="0" anchor="ctr"/>
          <a:lstStyle/>
          <a:p>
            <a:pPr indent="0" marL="0">
              <a:buNone/>
            </a:pPr>
            <a:r>
              <a:rPr lang="en-US" sz="1200" i="1" dirty="0">
                <a:solidFill>
                  <a:srgbClr val="5A6672"/>
                </a:solidFill>
                <a:latin typeface="Calibri" pitchFamily="34" charset="0"/>
                <a:ea typeface="Calibri" pitchFamily="34" charset="-122"/>
                <a:cs typeface="Calibri" pitchFamily="34" charset="-120"/>
              </a:rPr>
              <a:t>The editor is a shared, non-negotiable investment. Building it first also de-risks the execution decision, because it produces the model corpus the PoC will benchmark against.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22E"/>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6FD3C4"/>
                </a:solidFill>
                <a:latin typeface="Calibri" pitchFamily="34" charset="0"/>
                <a:ea typeface="Calibri" pitchFamily="34" charset="-122"/>
                <a:cs typeface="Calibri" pitchFamily="34" charset="-120"/>
              </a:rPr>
              <a:t>COMPARISON</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Side by side against the requirements</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9AA7B2"/>
                </a:solidFill>
                <a:latin typeface="Calibri" pitchFamily="34" charset="0"/>
                <a:ea typeface="Calibri" pitchFamily="34" charset="-122"/>
                <a:cs typeface="Calibri" pitchFamily="34" charset="-120"/>
              </a:rPr>
              <a:t>Ratings are relative to each other for this workload, not absolute.</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743200"/>
                <a:gridCol w="2651760"/>
                <a:gridCol w="2834640"/>
                <a:gridCol w="2834640"/>
              </a:tblGrid>
              <a:tr h="365760">
                <a:tc>
                  <a:txBody>
                    <a:bodyPr/>
                    <a:lstStyle/>
                    <a:p>
                      <a:pPr algn="l" indent="0" marL="0">
                        <a:buNone/>
                      </a:pPr>
                      <a:r>
                        <a:rPr lang="en-US" sz="1150" b="1" dirty="0">
                          <a:solidFill>
                            <a:srgbClr val="6FD3C4"/>
                          </a:solidFill>
                          <a:latin typeface="Calibri" pitchFamily="34" charset="0"/>
                          <a:ea typeface="Calibri" pitchFamily="34" charset="-122"/>
                          <a:cs typeface="Calibri" pitchFamily="34" charset="-120"/>
                        </a:rPr>
                        <a:t>Criterion</a:t>
                      </a:r>
                      <a:endParaRPr lang="en-US" sz="115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24384A"/>
                    </a:solidFill>
                  </a:tcPr>
                </a:tc>
                <a:tc>
                  <a:txBody>
                    <a:bodyPr/>
                    <a:lstStyle/>
                    <a:p>
                      <a:pPr algn="l" indent="0" marL="0">
                        <a:buNone/>
                      </a:pPr>
                      <a:r>
                        <a:rPr lang="en-US" sz="1150" b="1" dirty="0">
                          <a:solidFill>
                            <a:srgbClr val="6FD3C4"/>
                          </a:solidFill>
                          <a:latin typeface="Calibri" pitchFamily="34" charset="0"/>
                          <a:ea typeface="Calibri" pitchFamily="34" charset="-122"/>
                          <a:cs typeface="Calibri" pitchFamily="34" charset="-120"/>
                        </a:rPr>
                        <a:t>1 · Async API</a:t>
                      </a:r>
                      <a:endParaRPr lang="en-US" sz="115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24384A"/>
                    </a:solidFill>
                  </a:tcPr>
                </a:tc>
                <a:tc>
                  <a:txBody>
                    <a:bodyPr/>
                    <a:lstStyle/>
                    <a:p>
                      <a:pPr algn="l" indent="0" marL="0">
                        <a:buNone/>
                      </a:pPr>
                      <a:r>
                        <a:rPr lang="en-US" sz="1150" b="1" dirty="0">
                          <a:solidFill>
                            <a:srgbClr val="6FD3C4"/>
                          </a:solidFill>
                          <a:latin typeface="Calibri" pitchFamily="34" charset="0"/>
                          <a:ea typeface="Calibri" pitchFamily="34" charset="-122"/>
                          <a:cs typeface="Calibri" pitchFamily="34" charset="-120"/>
                        </a:rPr>
                        <a:t>2 · Embedded Kogito</a:t>
                      </a:r>
                      <a:endParaRPr lang="en-US" sz="115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24384A"/>
                    </a:solidFill>
                  </a:tcPr>
                </a:tc>
                <a:tc>
                  <a:txBody>
                    <a:bodyPr/>
                    <a:lstStyle/>
                    <a:p>
                      <a:pPr algn="l" indent="0" marL="0">
                        <a:buNone/>
                      </a:pPr>
                      <a:r>
                        <a:rPr lang="en-US" sz="1150" b="1" dirty="0">
                          <a:solidFill>
                            <a:srgbClr val="6FD3C4"/>
                          </a:solidFill>
                          <a:latin typeface="Calibri" pitchFamily="34" charset="0"/>
                          <a:ea typeface="Calibri" pitchFamily="34" charset="-122"/>
                          <a:cs typeface="Calibri" pitchFamily="34" charset="-120"/>
                        </a:rPr>
                        <a:t>3 · DMN → Spark</a:t>
                      </a:r>
                      <a:endParaRPr lang="en-US" sz="115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24384A"/>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 movement</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 40 GB out + back</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Throughput at 80 M</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Low — I/O bound</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Medium — row-wise JVM</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High — vectorised</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DMN semantic fidelity</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Exact (reference engine)</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Exact (reference engine)</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Needs conformance proof</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Build effort</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Low to medium</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Databricks compute fit</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Any, incl. serverless</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Dedicated access mode only</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Any, incl. serverless</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Operational surface</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Two systems + S3 lifecycle</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One job, one JAR</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One job, one artefact</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Cost profile per run</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High (egress + idle fleet)</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Reuse for online scoring</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Yes — same service</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Rule-change agility</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Service redeploy or hot load</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Bundle / JAR redeploy</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Recompile at job start</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risk</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Wall-clock budget overrun</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Platform policy dependency</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c>
                  <a:txBody>
                    <a:bodyPr/>
                    <a:lstStyle/>
                    <a:p>
                      <a:pPr indent="0" marL="0">
                        <a:buNone/>
                      </a:pPr>
                      <a:r>
                        <a:rPr lang="en-US" sz="1100" dirty="0">
                          <a:solidFill>
                            <a:srgbClr val="9AA7B2"/>
                          </a:solidFill>
                          <a:latin typeface="Calibri" pitchFamily="34" charset="0"/>
                          <a:ea typeface="Calibri" pitchFamily="34" charset="-122"/>
                          <a:cs typeface="Calibri" pitchFamily="34" charset="-120"/>
                        </a:rPr>
                        <a:t>Semantic drift</a:t>
                      </a:r>
                      <a:endParaRPr lang="en-US" sz="1100" dirty="0">
                        <a:latin typeface="Calibri" charset="0"/>
                        <a:ea typeface="Calibri" charset="0"/>
                        <a:cs typeface="Calibri" charset="0"/>
                      </a:endParaRPr>
                    </a:p>
                  </a:txBody>
                  <a:tcPr marL="101600" marR="101600" marT="50800" marB="50800" anchor="ctr">
                    <a:lnL w="12700" cap="flat" cmpd="sng" algn="ctr">
                      <a:solidFill>
                        <a:srgbClr val="2C4256"/>
                      </a:solidFill>
                      <a:prstDash val="solid"/>
                      <a:round/>
                      <a:headEnd type="none" w="med" len="med"/>
                      <a:tailEnd type="none" w="med" len="med"/>
                    </a:lnL>
                    <a:lnR w="12700" cap="flat" cmpd="sng" algn="ctr">
                      <a:solidFill>
                        <a:srgbClr val="2C4256"/>
                      </a:solidFill>
                      <a:prstDash val="solid"/>
                      <a:round/>
                      <a:headEnd type="none" w="med" len="med"/>
                      <a:tailEnd type="none" w="med" len="med"/>
                    </a:lnR>
                    <a:lnT w="12700" cap="flat" cmpd="sng" algn="ctr">
                      <a:solidFill>
                        <a:srgbClr val="2C4256"/>
                      </a:solidFill>
                      <a:prstDash val="solid"/>
                      <a:round/>
                      <a:headEnd type="none" w="med" len="med"/>
                      <a:tailEnd type="none" w="med" len="med"/>
                    </a:lnT>
                    <a:lnB w="12700" cap="flat" cmpd="sng" algn="ctr">
                      <a:solidFill>
                        <a:srgbClr val="2C4256"/>
                      </a:solidFill>
                      <a:prstDash val="solid"/>
                      <a:round/>
                      <a:headEnd type="none" w="med" len="med"/>
                      <a:tailEnd type="none" w="med" len="med"/>
                    </a:lnB>
                    <a:solidFill>
                      <a:srgbClr val="16222E"/>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MODELLED PERFORMANCE</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Estimated end-to-end wall clock for one 80 M-row run</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5A6672"/>
                </a:solidFill>
                <a:latin typeface="Calibri" pitchFamily="34" charset="0"/>
                <a:ea typeface="Calibri" pitchFamily="34" charset="-122"/>
                <a:cs typeface="Calibri" pitchFamily="34" charset="-120"/>
              </a:rPr>
              <a:t>Illustrative model, not a benchmark — these are the numbers the PoC exists to replace.</a:t>
            </a:r>
            <a:endParaRPr lang="en-US" sz="1300" dirty="0"/>
          </a:p>
        </p:txBody>
      </p:sp>
      <p:graphicFrame>
        <p:nvGraphicFramePr>
          <p:cNvPr id="6" name="Chart 0" descr=""/>
          <p:cNvGraphicFramePr/>
          <p:nvPr/>
        </p:nvGraphicFramePr>
        <p:xfrm>
          <a:off x="548640" y="1691640"/>
          <a:ext cx="7589520" cy="4069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458200" y="1828800"/>
            <a:ext cx="3154680" cy="1207008"/>
          </a:xfrm>
          <a:prstGeom prst="roundRect">
            <a:avLst>
              <a:gd name="adj" fmla="val 6061"/>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8" name="Text 5"/>
          <p:cNvSpPr txBox="1"/>
          <p:nvPr/>
        </p:nvSpPr>
        <p:spPr>
          <a:xfrm>
            <a:off x="8732520" y="1956816"/>
            <a:ext cx="2651760" cy="457200"/>
          </a:xfrm>
          <a:prstGeom prst="rect">
            <a:avLst/>
          </a:prstGeom>
          <a:noFill/>
          <a:ln/>
        </p:spPr>
        <p:txBody>
          <a:bodyPr wrap="square" lIns="0" tIns="0" rIns="0" bIns="0" rtlCol="0" anchor="ctr"/>
          <a:lstStyle/>
          <a:p>
            <a:pPr indent="0" marL="0">
              <a:buNone/>
            </a:pPr>
            <a:r>
              <a:rPr lang="en-US" sz="2600" b="1" dirty="0">
                <a:solidFill>
                  <a:srgbClr val="E8A317"/>
                </a:solidFill>
                <a:latin typeface="Cambria" pitchFamily="34" charset="0"/>
                <a:ea typeface="Cambria" pitchFamily="34" charset="-122"/>
                <a:cs typeface="Cambria" pitchFamily="34" charset="-120"/>
              </a:rPr>
              <a:t>≈ 50 min</a:t>
            </a:r>
            <a:endParaRPr lang="en-US" sz="2600" dirty="0"/>
          </a:p>
        </p:txBody>
      </p:sp>
      <p:sp>
        <p:nvSpPr>
          <p:cNvPr id="9" name="Text 6"/>
          <p:cNvSpPr txBox="1"/>
          <p:nvPr/>
        </p:nvSpPr>
        <p:spPr>
          <a:xfrm>
            <a:off x="8732520" y="2432304"/>
            <a:ext cx="2651760" cy="502920"/>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Option 1 — over the 30-minute budget before any contingency</a:t>
            </a:r>
            <a:endParaRPr lang="en-US" sz="1150" dirty="0"/>
          </a:p>
        </p:txBody>
      </p:sp>
      <p:sp>
        <p:nvSpPr>
          <p:cNvPr id="10" name="Shape 7"/>
          <p:cNvSpPr/>
          <p:nvPr/>
        </p:nvSpPr>
        <p:spPr>
          <a:xfrm>
            <a:off x="8458200" y="3163824"/>
            <a:ext cx="3154680" cy="1207008"/>
          </a:xfrm>
          <a:prstGeom prst="roundRect">
            <a:avLst>
              <a:gd name="adj" fmla="val 6061"/>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1" name="Text 8"/>
          <p:cNvSpPr txBox="1"/>
          <p:nvPr/>
        </p:nvSpPr>
        <p:spPr>
          <a:xfrm>
            <a:off x="8732520" y="3291840"/>
            <a:ext cx="2651760" cy="457200"/>
          </a:xfrm>
          <a:prstGeom prst="rect">
            <a:avLst/>
          </a:prstGeom>
          <a:noFill/>
          <a:ln/>
        </p:spPr>
        <p:txBody>
          <a:bodyPr wrap="square" lIns="0" tIns="0" rIns="0" bIns="0" rtlCol="0" anchor="ctr"/>
          <a:lstStyle/>
          <a:p>
            <a:pPr indent="0" marL="0">
              <a:buNone/>
            </a:pPr>
            <a:r>
              <a:rPr lang="en-US" sz="2600" b="1" dirty="0">
                <a:solidFill>
                  <a:srgbClr val="037D8C"/>
                </a:solidFill>
                <a:latin typeface="Cambria" pitchFamily="34" charset="0"/>
                <a:ea typeface="Cambria" pitchFamily="34" charset="-122"/>
                <a:cs typeface="Cambria" pitchFamily="34" charset="-120"/>
              </a:rPr>
              <a:t>≈ 13 min</a:t>
            </a:r>
            <a:endParaRPr lang="en-US" sz="2600" dirty="0"/>
          </a:p>
        </p:txBody>
      </p:sp>
      <p:sp>
        <p:nvSpPr>
          <p:cNvPr id="12" name="Text 9"/>
          <p:cNvSpPr txBox="1"/>
          <p:nvPr/>
        </p:nvSpPr>
        <p:spPr>
          <a:xfrm>
            <a:off x="8732520" y="3767328"/>
            <a:ext cx="2651760" cy="502920"/>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Option 2 — comfortably inside, dominated by row-wise evaluation</a:t>
            </a:r>
            <a:endParaRPr lang="en-US" sz="1150" dirty="0"/>
          </a:p>
        </p:txBody>
      </p:sp>
      <p:sp>
        <p:nvSpPr>
          <p:cNvPr id="13" name="Shape 10"/>
          <p:cNvSpPr/>
          <p:nvPr/>
        </p:nvSpPr>
        <p:spPr>
          <a:xfrm>
            <a:off x="8458200" y="4498848"/>
            <a:ext cx="3154680" cy="1207008"/>
          </a:xfrm>
          <a:prstGeom prst="roundRect">
            <a:avLst>
              <a:gd name="adj" fmla="val 6061"/>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4" name="Text 11"/>
          <p:cNvSpPr txBox="1"/>
          <p:nvPr/>
        </p:nvSpPr>
        <p:spPr>
          <a:xfrm>
            <a:off x="8732520" y="4626864"/>
            <a:ext cx="2651760" cy="457200"/>
          </a:xfrm>
          <a:prstGeom prst="rect">
            <a:avLst/>
          </a:prstGeom>
          <a:noFill/>
          <a:ln/>
        </p:spPr>
        <p:txBody>
          <a:bodyPr wrap="square" lIns="0" tIns="0" rIns="0" bIns="0" rtlCol="0" anchor="ctr"/>
          <a:lstStyle/>
          <a:p>
            <a:pPr indent="0" marL="0">
              <a:buNone/>
            </a:pPr>
            <a:r>
              <a:rPr lang="en-US" sz="2600" b="1" dirty="0">
                <a:solidFill>
                  <a:srgbClr val="00A896"/>
                </a:solidFill>
                <a:latin typeface="Cambria" pitchFamily="34" charset="0"/>
                <a:ea typeface="Cambria" pitchFamily="34" charset="-122"/>
                <a:cs typeface="Cambria" pitchFamily="34" charset="-120"/>
              </a:rPr>
              <a:t>≈ 7 min</a:t>
            </a:r>
            <a:endParaRPr lang="en-US" sz="2600" dirty="0"/>
          </a:p>
        </p:txBody>
      </p:sp>
      <p:sp>
        <p:nvSpPr>
          <p:cNvPr id="15" name="Text 12"/>
          <p:cNvSpPr txBox="1"/>
          <p:nvPr/>
        </p:nvSpPr>
        <p:spPr>
          <a:xfrm>
            <a:off x="8732520" y="5102352"/>
            <a:ext cx="2651760" cy="502920"/>
          </a:xfrm>
          <a:prstGeom prst="rect">
            <a:avLst/>
          </a:prstGeom>
          <a:noFill/>
          <a:ln/>
        </p:spPr>
        <p:txBody>
          <a:bodyPr wrap="square" lIns="0" tIns="0" rIns="0" bIns="0" rtlCol="0" anchor="ctr"/>
          <a:lstStyle/>
          <a:p>
            <a:pPr indent="0" marL="0">
              <a:lnSpc>
                <a:spcPts val="1500"/>
              </a:lnSpc>
              <a:buNone/>
            </a:pPr>
            <a:r>
              <a:rPr lang="en-US" sz="1150" dirty="0">
                <a:solidFill>
                  <a:srgbClr val="5A6672"/>
                </a:solidFill>
                <a:latin typeface="Calibri" pitchFamily="34" charset="0"/>
                <a:ea typeface="Calibri" pitchFamily="34" charset="-122"/>
                <a:cs typeface="Calibri" pitchFamily="34" charset="-120"/>
              </a:rPr>
              <a:t>Option 3 — headroom for volume growth</a:t>
            </a:r>
            <a:endParaRPr lang="en-US" sz="1150" dirty="0"/>
          </a:p>
        </p:txBody>
      </p:sp>
      <p:sp>
        <p:nvSpPr>
          <p:cNvPr id="16" name="Text 13"/>
          <p:cNvSpPr txBox="1"/>
          <p:nvPr/>
        </p:nvSpPr>
        <p:spPr>
          <a:xfrm>
            <a:off x="8458200" y="5870448"/>
            <a:ext cx="3154680" cy="274320"/>
          </a:xfrm>
          <a:prstGeom prst="rect">
            <a:avLst/>
          </a:prstGeom>
          <a:noFill/>
          <a:ln/>
        </p:spPr>
        <p:txBody>
          <a:bodyPr wrap="square" lIns="0" tIns="0" rIns="0" bIns="0" rtlCol="0" anchor="ctr"/>
          <a:lstStyle/>
          <a:p>
            <a:pPr indent="0" marL="0">
              <a:buNone/>
            </a:pPr>
            <a:r>
              <a:rPr lang="en-US" sz="1000" i="1" dirty="0">
                <a:solidFill>
                  <a:srgbClr val="9AA7B2"/>
                </a:solidFill>
                <a:latin typeface="Calibri" pitchFamily="34" charset="0"/>
                <a:ea typeface="Calibri" pitchFamily="34" charset="-122"/>
                <a:cs typeface="Calibri" pitchFamily="34" charset="-120"/>
              </a:rPr>
              <a:t>Assumes 1 Gb/s effective transfer, 32 cores, 10 k decisions/s/core.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SELECTION GUIDE</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Which option wins under which condition</a:t>
            </a:r>
            <a:endParaRPr lang="en-US" sz="3000" dirty="0"/>
          </a:p>
        </p:txBody>
      </p:sp>
      <p:sp>
        <p:nvSpPr>
          <p:cNvPr id="5" name="Shape 3"/>
          <p:cNvSpPr/>
          <p:nvPr/>
        </p:nvSpPr>
        <p:spPr>
          <a:xfrm>
            <a:off x="548640" y="1645920"/>
            <a:ext cx="5372100" cy="1920240"/>
          </a:xfrm>
          <a:prstGeom prst="roundRect">
            <a:avLst>
              <a:gd name="adj" fmla="val 3810"/>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6" name="Shape 4"/>
          <p:cNvSpPr/>
          <p:nvPr/>
        </p:nvSpPr>
        <p:spPr>
          <a:xfrm>
            <a:off x="822960" y="1901952"/>
            <a:ext cx="1463040" cy="292608"/>
          </a:xfrm>
          <a:prstGeom prst="roundRect">
            <a:avLst>
              <a:gd name="adj" fmla="val 50000"/>
            </a:avLst>
          </a:prstGeom>
          <a:solidFill>
            <a:srgbClr val="E8A317"/>
          </a:solidFill>
          <a:ln w="12700">
            <a:solidFill>
              <a:srgbClr val="E8A317"/>
            </a:solidFill>
            <a:prstDash val="solid"/>
          </a:ln>
        </p:spPr>
      </p:sp>
      <p:sp>
        <p:nvSpPr>
          <p:cNvPr id="7" name="Text 5"/>
          <p:cNvSpPr txBox="1"/>
          <p:nvPr/>
        </p:nvSpPr>
        <p:spPr>
          <a:xfrm>
            <a:off x="822960" y="1901952"/>
            <a:ext cx="14630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Option 1</a:t>
            </a:r>
            <a:endParaRPr lang="en-US" sz="1050" dirty="0"/>
          </a:p>
        </p:txBody>
      </p:sp>
      <p:sp>
        <p:nvSpPr>
          <p:cNvPr id="8" name="Text 6"/>
          <p:cNvSpPr txBox="1"/>
          <p:nvPr/>
        </p:nvSpPr>
        <p:spPr>
          <a:xfrm>
            <a:off x="822960" y="2304288"/>
            <a:ext cx="4823460" cy="502920"/>
          </a:xfrm>
          <a:prstGeom prst="rect">
            <a:avLst/>
          </a:prstGeom>
          <a:noFill/>
          <a:ln/>
        </p:spPr>
        <p:txBody>
          <a:bodyPr wrap="square" lIns="0" tIns="0" rIns="0" bIns="0" rtlCol="0" anchor="ctr"/>
          <a:lstStyle/>
          <a:p>
            <a:pPr indent="0" marL="0">
              <a:lnSpc>
                <a:spcPts val="1900"/>
              </a:lnSpc>
              <a:buNone/>
            </a:pPr>
            <a:r>
              <a:rPr lang="en-US" sz="1550" b="1" dirty="0">
                <a:solidFill>
                  <a:srgbClr val="16222E"/>
                </a:solidFill>
                <a:latin typeface="Cambria" pitchFamily="34" charset="0"/>
                <a:ea typeface="Cambria" pitchFamily="34" charset="-122"/>
                <a:cs typeface="Cambria" pitchFamily="34" charset="-120"/>
              </a:rPr>
              <a:t>Is online, per-request decisioning also a funded requirement?</a:t>
            </a:r>
            <a:endParaRPr lang="en-US" sz="1550" dirty="0"/>
          </a:p>
        </p:txBody>
      </p:sp>
      <p:sp>
        <p:nvSpPr>
          <p:cNvPr id="9" name="Text 7"/>
          <p:cNvSpPr txBox="1"/>
          <p:nvPr/>
        </p:nvSpPr>
        <p:spPr>
          <a:xfrm>
            <a:off x="822960" y="2834640"/>
            <a:ext cx="4823460" cy="621792"/>
          </a:xfrm>
          <a:prstGeom prst="rect">
            <a:avLst/>
          </a:prstGeom>
          <a:noFill/>
          <a:ln/>
        </p:spPr>
        <p:txBody>
          <a:bodyPr wrap="square" lIns="0" tIns="0" rIns="0" bIns="0" rtlCol="0" anchor="ctr"/>
          <a:lstStyle/>
          <a:p>
            <a:pPr indent="0" marL="0">
              <a:lnSpc>
                <a:spcPts val="1550"/>
              </a:lnSpc>
              <a:buNone/>
            </a:pPr>
            <a:r>
              <a:rPr lang="en-US" sz="1200" dirty="0">
                <a:solidFill>
                  <a:srgbClr val="5A6672"/>
                </a:solidFill>
                <a:latin typeface="Calibri" pitchFamily="34" charset="0"/>
                <a:ea typeface="Calibri" pitchFamily="34" charset="-122"/>
                <a:cs typeface="Calibri" pitchFamily="34" charset="-120"/>
              </a:rPr>
              <a:t>If yes, the Kogito service exists regardless — option 1 for batch becomes nearly free in build terms, and the case for a second execution path weakens.</a:t>
            </a:r>
            <a:endParaRPr lang="en-US" sz="1200" dirty="0"/>
          </a:p>
        </p:txBody>
      </p:sp>
      <p:sp>
        <p:nvSpPr>
          <p:cNvPr id="10" name="Shape 8"/>
          <p:cNvSpPr/>
          <p:nvPr/>
        </p:nvSpPr>
        <p:spPr>
          <a:xfrm>
            <a:off x="6240780" y="1645920"/>
            <a:ext cx="5372100" cy="1920240"/>
          </a:xfrm>
          <a:prstGeom prst="roundRect">
            <a:avLst>
              <a:gd name="adj" fmla="val 3810"/>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1" name="Shape 9"/>
          <p:cNvSpPr/>
          <p:nvPr/>
        </p:nvSpPr>
        <p:spPr>
          <a:xfrm>
            <a:off x="6515100" y="1901952"/>
            <a:ext cx="1463040" cy="292608"/>
          </a:xfrm>
          <a:prstGeom prst="roundRect">
            <a:avLst>
              <a:gd name="adj" fmla="val 50000"/>
            </a:avLst>
          </a:prstGeom>
          <a:solidFill>
            <a:srgbClr val="037D8C"/>
          </a:solidFill>
          <a:ln w="12700">
            <a:solidFill>
              <a:srgbClr val="037D8C"/>
            </a:solidFill>
            <a:prstDash val="solid"/>
          </a:ln>
        </p:spPr>
      </p:sp>
      <p:sp>
        <p:nvSpPr>
          <p:cNvPr id="12" name="Text 10"/>
          <p:cNvSpPr txBox="1"/>
          <p:nvPr/>
        </p:nvSpPr>
        <p:spPr>
          <a:xfrm>
            <a:off x="6515100" y="1901952"/>
            <a:ext cx="14630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Option 2 gate</a:t>
            </a:r>
            <a:endParaRPr lang="en-US" sz="1050" dirty="0"/>
          </a:p>
        </p:txBody>
      </p:sp>
      <p:sp>
        <p:nvSpPr>
          <p:cNvPr id="13" name="Text 11"/>
          <p:cNvSpPr txBox="1"/>
          <p:nvPr/>
        </p:nvSpPr>
        <p:spPr>
          <a:xfrm>
            <a:off x="6515100" y="2304288"/>
            <a:ext cx="4823460" cy="502920"/>
          </a:xfrm>
          <a:prstGeom prst="rect">
            <a:avLst/>
          </a:prstGeom>
          <a:noFill/>
          <a:ln/>
        </p:spPr>
        <p:txBody>
          <a:bodyPr wrap="square" lIns="0" tIns="0" rIns="0" bIns="0" rtlCol="0" anchor="ctr"/>
          <a:lstStyle/>
          <a:p>
            <a:pPr indent="0" marL="0">
              <a:lnSpc>
                <a:spcPts val="1900"/>
              </a:lnSpc>
              <a:buNone/>
            </a:pPr>
            <a:r>
              <a:rPr lang="en-US" sz="1550" b="1" dirty="0">
                <a:solidFill>
                  <a:srgbClr val="16222E"/>
                </a:solidFill>
                <a:latin typeface="Cambria" pitchFamily="34" charset="0"/>
                <a:ea typeface="Cambria" pitchFamily="34" charset="-122"/>
                <a:cs typeface="Cambria" pitchFamily="34" charset="-120"/>
              </a:rPr>
              <a:t>Will the platform team grant a dedicated-access-mode cluster for this job?</a:t>
            </a:r>
            <a:endParaRPr lang="en-US" sz="1550" dirty="0"/>
          </a:p>
        </p:txBody>
      </p:sp>
      <p:sp>
        <p:nvSpPr>
          <p:cNvPr id="14" name="Text 12"/>
          <p:cNvSpPr txBox="1"/>
          <p:nvPr/>
        </p:nvSpPr>
        <p:spPr>
          <a:xfrm>
            <a:off x="6515100" y="2834640"/>
            <a:ext cx="4823460" cy="621792"/>
          </a:xfrm>
          <a:prstGeom prst="rect">
            <a:avLst/>
          </a:prstGeom>
          <a:noFill/>
          <a:ln/>
        </p:spPr>
        <p:txBody>
          <a:bodyPr wrap="square" lIns="0" tIns="0" rIns="0" bIns="0" rtlCol="0" anchor="ctr"/>
          <a:lstStyle/>
          <a:p>
            <a:pPr indent="0" marL="0">
              <a:lnSpc>
                <a:spcPts val="1550"/>
              </a:lnSpc>
              <a:buNone/>
            </a:pPr>
            <a:r>
              <a:rPr lang="en-US" sz="1200" dirty="0">
                <a:solidFill>
                  <a:srgbClr val="5A6672"/>
                </a:solidFill>
                <a:latin typeface="Calibri" pitchFamily="34" charset="0"/>
                <a:ea typeface="Calibri" pitchFamily="34" charset="-122"/>
                <a:cs typeface="Calibri" pitchFamily="34" charset="-120"/>
              </a:rPr>
              <a:t>If no, option 2 is off the table entirely, whatever its technical merits. Confirm this before any PoC effort.</a:t>
            </a:r>
            <a:endParaRPr lang="en-US" sz="1200" dirty="0"/>
          </a:p>
        </p:txBody>
      </p:sp>
      <p:sp>
        <p:nvSpPr>
          <p:cNvPr id="15" name="Shape 13"/>
          <p:cNvSpPr/>
          <p:nvPr/>
        </p:nvSpPr>
        <p:spPr>
          <a:xfrm>
            <a:off x="548640" y="3794760"/>
            <a:ext cx="5372100" cy="1920240"/>
          </a:xfrm>
          <a:prstGeom prst="roundRect">
            <a:avLst>
              <a:gd name="adj" fmla="val 3810"/>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6" name="Shape 14"/>
          <p:cNvSpPr/>
          <p:nvPr/>
        </p:nvSpPr>
        <p:spPr>
          <a:xfrm>
            <a:off x="822960" y="4050792"/>
            <a:ext cx="1463040" cy="292608"/>
          </a:xfrm>
          <a:prstGeom prst="roundRect">
            <a:avLst>
              <a:gd name="adj" fmla="val 50000"/>
            </a:avLst>
          </a:prstGeom>
          <a:solidFill>
            <a:srgbClr val="00A896"/>
          </a:solidFill>
          <a:ln w="12700">
            <a:solidFill>
              <a:srgbClr val="00A896"/>
            </a:solidFill>
            <a:prstDash val="solid"/>
          </a:ln>
        </p:spPr>
      </p:sp>
      <p:sp>
        <p:nvSpPr>
          <p:cNvPr id="17" name="Text 15"/>
          <p:cNvSpPr txBox="1"/>
          <p:nvPr/>
        </p:nvSpPr>
        <p:spPr>
          <a:xfrm>
            <a:off x="822960" y="4050792"/>
            <a:ext cx="14630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Option 3 gate</a:t>
            </a:r>
            <a:endParaRPr lang="en-US" sz="1050" dirty="0"/>
          </a:p>
        </p:txBody>
      </p:sp>
      <p:sp>
        <p:nvSpPr>
          <p:cNvPr id="18" name="Text 16"/>
          <p:cNvSpPr txBox="1"/>
          <p:nvPr/>
        </p:nvSpPr>
        <p:spPr>
          <a:xfrm>
            <a:off x="822960" y="4453128"/>
            <a:ext cx="4823460" cy="502920"/>
          </a:xfrm>
          <a:prstGeom prst="rect">
            <a:avLst/>
          </a:prstGeom>
          <a:noFill/>
          <a:ln/>
        </p:spPr>
        <p:txBody>
          <a:bodyPr wrap="square" lIns="0" tIns="0" rIns="0" bIns="0" rtlCol="0" anchor="ctr"/>
          <a:lstStyle/>
          <a:p>
            <a:pPr indent="0" marL="0">
              <a:lnSpc>
                <a:spcPts val="1900"/>
              </a:lnSpc>
              <a:buNone/>
            </a:pPr>
            <a:r>
              <a:rPr lang="en-US" sz="1550" b="1" dirty="0">
                <a:solidFill>
                  <a:srgbClr val="16222E"/>
                </a:solidFill>
                <a:latin typeface="Cambria" pitchFamily="34" charset="0"/>
                <a:ea typeface="Cambria" pitchFamily="34" charset="-122"/>
                <a:cs typeface="Cambria" pitchFamily="34" charset="-120"/>
              </a:rPr>
              <a:t>Is the DMN corpus expressive, or is it mostly decision tables?</a:t>
            </a:r>
            <a:endParaRPr lang="en-US" sz="1550" dirty="0"/>
          </a:p>
        </p:txBody>
      </p:sp>
      <p:sp>
        <p:nvSpPr>
          <p:cNvPr id="19" name="Text 17"/>
          <p:cNvSpPr txBox="1"/>
          <p:nvPr/>
        </p:nvSpPr>
        <p:spPr>
          <a:xfrm>
            <a:off x="822960" y="4983480"/>
            <a:ext cx="4823460" cy="621792"/>
          </a:xfrm>
          <a:prstGeom prst="rect">
            <a:avLst/>
          </a:prstGeom>
          <a:noFill/>
          <a:ln/>
        </p:spPr>
        <p:txBody>
          <a:bodyPr wrap="square" lIns="0" tIns="0" rIns="0" bIns="0" rtlCol="0" anchor="ctr"/>
          <a:lstStyle/>
          <a:p>
            <a:pPr indent="0" marL="0">
              <a:lnSpc>
                <a:spcPts val="1550"/>
              </a:lnSpc>
              <a:buNone/>
            </a:pPr>
            <a:r>
              <a:rPr lang="en-US" sz="1200" dirty="0">
                <a:solidFill>
                  <a:srgbClr val="5A6672"/>
                </a:solidFill>
                <a:latin typeface="Calibri" pitchFamily="34" charset="0"/>
                <a:ea typeface="Calibri" pitchFamily="34" charset="-122"/>
                <a:cs typeface="Calibri" pitchFamily="34" charset="-120"/>
              </a:rPr>
              <a:t>Mostly tables and scalar FEEL makes the translator tractable. Heavy iteration, external functions or recursion makes it a research project.</a:t>
            </a:r>
            <a:endParaRPr lang="en-US" sz="1200" dirty="0"/>
          </a:p>
        </p:txBody>
      </p:sp>
      <p:sp>
        <p:nvSpPr>
          <p:cNvPr id="20" name="Shape 18"/>
          <p:cNvSpPr/>
          <p:nvPr/>
        </p:nvSpPr>
        <p:spPr>
          <a:xfrm>
            <a:off x="6240780" y="3794760"/>
            <a:ext cx="5372100" cy="1920240"/>
          </a:xfrm>
          <a:prstGeom prst="roundRect">
            <a:avLst>
              <a:gd name="adj" fmla="val 3810"/>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1" name="Shape 19"/>
          <p:cNvSpPr/>
          <p:nvPr/>
        </p:nvSpPr>
        <p:spPr>
          <a:xfrm>
            <a:off x="6515100" y="4050792"/>
            <a:ext cx="1463040" cy="292608"/>
          </a:xfrm>
          <a:prstGeom prst="roundRect">
            <a:avLst>
              <a:gd name="adj" fmla="val 50000"/>
            </a:avLst>
          </a:prstGeom>
          <a:solidFill>
            <a:srgbClr val="1E2E3D"/>
          </a:solidFill>
          <a:ln w="12700">
            <a:solidFill>
              <a:srgbClr val="1E2E3D"/>
            </a:solidFill>
            <a:prstDash val="solid"/>
          </a:ln>
        </p:spPr>
      </p:sp>
      <p:sp>
        <p:nvSpPr>
          <p:cNvPr id="22" name="Text 20"/>
          <p:cNvSpPr txBox="1"/>
          <p:nvPr/>
        </p:nvSpPr>
        <p:spPr>
          <a:xfrm>
            <a:off x="6515100" y="4050792"/>
            <a:ext cx="14630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Timing</a:t>
            </a:r>
            <a:endParaRPr lang="en-US" sz="1050" dirty="0"/>
          </a:p>
        </p:txBody>
      </p:sp>
      <p:sp>
        <p:nvSpPr>
          <p:cNvPr id="23" name="Text 21"/>
          <p:cNvSpPr txBox="1"/>
          <p:nvPr/>
        </p:nvSpPr>
        <p:spPr>
          <a:xfrm>
            <a:off x="6515100" y="4453128"/>
            <a:ext cx="4823460" cy="502920"/>
          </a:xfrm>
          <a:prstGeom prst="rect">
            <a:avLst/>
          </a:prstGeom>
          <a:noFill/>
          <a:ln/>
        </p:spPr>
        <p:txBody>
          <a:bodyPr wrap="square" lIns="0" tIns="0" rIns="0" bIns="0" rtlCol="0" anchor="ctr"/>
          <a:lstStyle/>
          <a:p>
            <a:pPr indent="0" marL="0">
              <a:lnSpc>
                <a:spcPts val="1900"/>
              </a:lnSpc>
              <a:buNone/>
            </a:pPr>
            <a:r>
              <a:rPr lang="en-US" sz="1550" b="1" dirty="0">
                <a:solidFill>
                  <a:srgbClr val="16222E"/>
                </a:solidFill>
                <a:latin typeface="Cambria" pitchFamily="34" charset="0"/>
                <a:ea typeface="Cambria" pitchFamily="34" charset="-122"/>
                <a:cs typeface="Cambria" pitchFamily="34" charset="-120"/>
              </a:rPr>
              <a:t>Is 80 M the ceiling or the floor?</a:t>
            </a:r>
            <a:endParaRPr lang="en-US" sz="1550" dirty="0"/>
          </a:p>
        </p:txBody>
      </p:sp>
      <p:sp>
        <p:nvSpPr>
          <p:cNvPr id="24" name="Text 22"/>
          <p:cNvSpPr txBox="1"/>
          <p:nvPr/>
        </p:nvSpPr>
        <p:spPr>
          <a:xfrm>
            <a:off x="6515100" y="4983480"/>
            <a:ext cx="4823460" cy="621792"/>
          </a:xfrm>
          <a:prstGeom prst="rect">
            <a:avLst/>
          </a:prstGeom>
          <a:noFill/>
          <a:ln/>
        </p:spPr>
        <p:txBody>
          <a:bodyPr wrap="square" lIns="0" tIns="0" rIns="0" bIns="0" rtlCol="0" anchor="ctr"/>
          <a:lstStyle/>
          <a:p>
            <a:pPr indent="0" marL="0">
              <a:lnSpc>
                <a:spcPts val="1550"/>
              </a:lnSpc>
              <a:buNone/>
            </a:pPr>
            <a:r>
              <a:rPr lang="en-US" sz="1200" dirty="0">
                <a:solidFill>
                  <a:srgbClr val="5A6672"/>
                </a:solidFill>
                <a:latin typeface="Calibri" pitchFamily="34" charset="0"/>
                <a:ea typeface="Calibri" pitchFamily="34" charset="-122"/>
                <a:cs typeface="Calibri" pitchFamily="34" charset="-120"/>
              </a:rPr>
              <a:t>If volumes are growing, the vectorised option's advantage compounds and the build cost amortises. If 80 M is stable and the window is comfortable, it does not.</a:t>
            </a:r>
            <a:endParaRPr lang="en-US" sz="1200" dirty="0"/>
          </a:p>
        </p:txBody>
      </p:sp>
      <p:sp>
        <p:nvSpPr>
          <p:cNvPr id="25" name="Text 23"/>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250" b="1" dirty="0">
                <a:solidFill>
                  <a:srgbClr val="037D8C"/>
                </a:solidFill>
                <a:latin typeface="Calibri" pitchFamily="34" charset="0"/>
                <a:ea typeface="Calibri" pitchFamily="34" charset="-122"/>
                <a:cs typeface="Calibri" pitchFamily="34" charset="-120"/>
              </a:rPr>
              <a:t>A hybrid is a legitimate outcome: translate the high-volume, table-heavy models to Spark and route the expressive minority to a Kogito path.</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037D8C"/>
                </a:solidFill>
                <a:latin typeface="Calibri" pitchFamily="34" charset="0"/>
                <a:ea typeface="Calibri" pitchFamily="34" charset="-122"/>
                <a:cs typeface="Calibri" pitchFamily="34" charset="-120"/>
              </a:rPr>
              <a:t>RISKS</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What could go wrong, and the control for each</a:t>
            </a:r>
            <a:endParaRPr lang="en-US" sz="3000" dirty="0"/>
          </a:p>
        </p:txBody>
      </p:sp>
      <p:sp>
        <p:nvSpPr>
          <p:cNvPr id="5" name="Shape 3"/>
          <p:cNvSpPr/>
          <p:nvPr/>
        </p:nvSpPr>
        <p:spPr>
          <a:xfrm>
            <a:off x="548640" y="1627632"/>
            <a:ext cx="11064240" cy="576072"/>
          </a:xfrm>
          <a:prstGeom prst="roundRect">
            <a:avLst>
              <a:gd name="adj" fmla="val 12698"/>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6" name="Shape 4"/>
          <p:cNvSpPr/>
          <p:nvPr/>
        </p:nvSpPr>
        <p:spPr>
          <a:xfrm>
            <a:off x="768096" y="1783080"/>
            <a:ext cx="310896" cy="274320"/>
          </a:xfrm>
          <a:prstGeom prst="roundRect">
            <a:avLst>
              <a:gd name="adj" fmla="val 20000"/>
            </a:avLst>
          </a:prstGeom>
          <a:solidFill>
            <a:srgbClr val="9B3B3B"/>
          </a:solidFill>
          <a:ln w="12700">
            <a:solidFill>
              <a:srgbClr val="9B3B3B"/>
            </a:solidFill>
            <a:prstDash val="solid"/>
          </a:ln>
        </p:spPr>
      </p:sp>
      <p:sp>
        <p:nvSpPr>
          <p:cNvPr id="7" name="Text 5"/>
          <p:cNvSpPr txBox="1"/>
          <p:nvPr/>
        </p:nvSpPr>
        <p:spPr>
          <a:xfrm>
            <a:off x="768096" y="178308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8" name="Text 6"/>
          <p:cNvSpPr txBox="1"/>
          <p:nvPr/>
        </p:nvSpPr>
        <p:spPr>
          <a:xfrm>
            <a:off x="1207008" y="1746504"/>
            <a:ext cx="4114800" cy="347472"/>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Semantic drift between engine and translator</a:t>
            </a:r>
            <a:endParaRPr lang="en-US" sz="1250" dirty="0"/>
          </a:p>
        </p:txBody>
      </p:sp>
      <p:sp>
        <p:nvSpPr>
          <p:cNvPr id="9" name="Text 7"/>
          <p:cNvSpPr txBox="1"/>
          <p:nvPr/>
        </p:nvSpPr>
        <p:spPr>
          <a:xfrm>
            <a:off x="5486400" y="1746504"/>
            <a:ext cx="5943600" cy="347472"/>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Dual-run harness with Kogito as oracle; DMN TCK in CI; build fails on any divergence.</a:t>
            </a:r>
            <a:endParaRPr lang="en-US" sz="1150" dirty="0"/>
          </a:p>
        </p:txBody>
      </p:sp>
      <p:sp>
        <p:nvSpPr>
          <p:cNvPr id="10" name="Shape 8"/>
          <p:cNvSpPr/>
          <p:nvPr/>
        </p:nvSpPr>
        <p:spPr>
          <a:xfrm>
            <a:off x="548640" y="2276856"/>
            <a:ext cx="11064240" cy="576072"/>
          </a:xfrm>
          <a:prstGeom prst="roundRect">
            <a:avLst>
              <a:gd name="adj" fmla="val 12698"/>
            </a:avLst>
          </a:prstGeom>
          <a:solidFill>
            <a:srgbClr val="FAFBFC"/>
          </a:solidFill>
          <a:ln w="12700">
            <a:solidFill>
              <a:srgbClr val="FAFBFC"/>
            </a:solidFill>
            <a:prstDash val="solid"/>
          </a:ln>
          <a:effectLst>
            <a:outerShdw sx="100000" sy="100000" kx="0" ky="0" algn="bl" rotWithShape="0" blurRad="101600" dist="25400" dir="5400000">
              <a:srgbClr val="16222E">
                <a:alpha val="12000"/>
              </a:srgbClr>
            </a:outerShdw>
          </a:effectLst>
        </p:spPr>
      </p:sp>
      <p:sp>
        <p:nvSpPr>
          <p:cNvPr id="11" name="Shape 9"/>
          <p:cNvSpPr/>
          <p:nvPr/>
        </p:nvSpPr>
        <p:spPr>
          <a:xfrm>
            <a:off x="768096" y="2432304"/>
            <a:ext cx="310896" cy="274320"/>
          </a:xfrm>
          <a:prstGeom prst="roundRect">
            <a:avLst>
              <a:gd name="adj" fmla="val 20000"/>
            </a:avLst>
          </a:prstGeom>
          <a:solidFill>
            <a:srgbClr val="9B3B3B"/>
          </a:solidFill>
          <a:ln w="12700">
            <a:solidFill>
              <a:srgbClr val="9B3B3B"/>
            </a:solidFill>
            <a:prstDash val="solid"/>
          </a:ln>
        </p:spPr>
      </p:sp>
      <p:sp>
        <p:nvSpPr>
          <p:cNvPr id="12" name="Text 10"/>
          <p:cNvSpPr txBox="1"/>
          <p:nvPr/>
        </p:nvSpPr>
        <p:spPr>
          <a:xfrm>
            <a:off x="768096" y="243230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13" name="Text 11"/>
          <p:cNvSpPr txBox="1"/>
          <p:nvPr/>
        </p:nvSpPr>
        <p:spPr>
          <a:xfrm>
            <a:off x="1207008" y="2395728"/>
            <a:ext cx="4114800" cy="347472"/>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Nightly window breached</a:t>
            </a:r>
            <a:endParaRPr lang="en-US" sz="1250" dirty="0"/>
          </a:p>
        </p:txBody>
      </p:sp>
      <p:sp>
        <p:nvSpPr>
          <p:cNvPr id="14" name="Text 12"/>
          <p:cNvSpPr txBox="1"/>
          <p:nvPr/>
        </p:nvSpPr>
        <p:spPr>
          <a:xfrm>
            <a:off x="5486400" y="2395728"/>
            <a:ext cx="5943600" cy="347472"/>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Chunked, resumable design; measure on a 1 M-row slice before committing to an option.</a:t>
            </a:r>
            <a:endParaRPr lang="en-US" sz="1150" dirty="0"/>
          </a:p>
        </p:txBody>
      </p:sp>
      <p:sp>
        <p:nvSpPr>
          <p:cNvPr id="15" name="Shape 13"/>
          <p:cNvSpPr/>
          <p:nvPr/>
        </p:nvSpPr>
        <p:spPr>
          <a:xfrm>
            <a:off x="548640" y="2926080"/>
            <a:ext cx="11064240" cy="576072"/>
          </a:xfrm>
          <a:prstGeom prst="roundRect">
            <a:avLst>
              <a:gd name="adj" fmla="val 12698"/>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16" name="Shape 14"/>
          <p:cNvSpPr/>
          <p:nvPr/>
        </p:nvSpPr>
        <p:spPr>
          <a:xfrm>
            <a:off x="768096" y="3081528"/>
            <a:ext cx="310896" cy="274320"/>
          </a:xfrm>
          <a:prstGeom prst="roundRect">
            <a:avLst>
              <a:gd name="adj" fmla="val 20000"/>
            </a:avLst>
          </a:prstGeom>
          <a:solidFill>
            <a:srgbClr val="B8801A"/>
          </a:solidFill>
          <a:ln w="12700">
            <a:solidFill>
              <a:srgbClr val="B8801A"/>
            </a:solidFill>
            <a:prstDash val="solid"/>
          </a:ln>
        </p:spPr>
      </p:sp>
      <p:sp>
        <p:nvSpPr>
          <p:cNvPr id="17" name="Text 15"/>
          <p:cNvSpPr txBox="1"/>
          <p:nvPr/>
        </p:nvSpPr>
        <p:spPr>
          <a:xfrm>
            <a:off x="768096" y="3081528"/>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
            </a:r>
            <a:endParaRPr lang="en-US" sz="1100" dirty="0"/>
          </a:p>
        </p:txBody>
      </p:sp>
      <p:sp>
        <p:nvSpPr>
          <p:cNvPr id="18" name="Text 16"/>
          <p:cNvSpPr txBox="1"/>
          <p:nvPr/>
        </p:nvSpPr>
        <p:spPr>
          <a:xfrm>
            <a:off x="1207008" y="3044952"/>
            <a:ext cx="4114800" cy="347472"/>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Databricks access-mode policy change</a:t>
            </a:r>
            <a:endParaRPr lang="en-US" sz="1250" dirty="0"/>
          </a:p>
        </p:txBody>
      </p:sp>
      <p:sp>
        <p:nvSpPr>
          <p:cNvPr id="19" name="Text 17"/>
          <p:cNvSpPr txBox="1"/>
          <p:nvPr/>
        </p:nvSpPr>
        <p:spPr>
          <a:xfrm>
            <a:off x="5486400" y="3044952"/>
            <a:ext cx="5943600" cy="347472"/>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Prefer options that run on standard and serverless compute; keep the JAR path behind an interface.</a:t>
            </a:r>
            <a:endParaRPr lang="en-US" sz="1150" dirty="0"/>
          </a:p>
        </p:txBody>
      </p:sp>
      <p:sp>
        <p:nvSpPr>
          <p:cNvPr id="20" name="Shape 18"/>
          <p:cNvSpPr/>
          <p:nvPr/>
        </p:nvSpPr>
        <p:spPr>
          <a:xfrm>
            <a:off x="548640" y="3575304"/>
            <a:ext cx="11064240" cy="576072"/>
          </a:xfrm>
          <a:prstGeom prst="roundRect">
            <a:avLst>
              <a:gd name="adj" fmla="val 12698"/>
            </a:avLst>
          </a:prstGeom>
          <a:solidFill>
            <a:srgbClr val="FAFBFC"/>
          </a:solidFill>
          <a:ln w="12700">
            <a:solidFill>
              <a:srgbClr val="FAFBFC"/>
            </a:solidFill>
            <a:prstDash val="solid"/>
          </a:ln>
          <a:effectLst>
            <a:outerShdw sx="100000" sy="100000" kx="0" ky="0" algn="bl" rotWithShape="0" blurRad="101600" dist="25400" dir="5400000">
              <a:srgbClr val="16222E">
                <a:alpha val="12000"/>
              </a:srgbClr>
            </a:outerShdw>
          </a:effectLst>
        </p:spPr>
      </p:sp>
      <p:sp>
        <p:nvSpPr>
          <p:cNvPr id="21" name="Shape 19"/>
          <p:cNvSpPr/>
          <p:nvPr/>
        </p:nvSpPr>
        <p:spPr>
          <a:xfrm>
            <a:off x="768096" y="3730752"/>
            <a:ext cx="310896" cy="274320"/>
          </a:xfrm>
          <a:prstGeom prst="roundRect">
            <a:avLst>
              <a:gd name="adj" fmla="val 20000"/>
            </a:avLst>
          </a:prstGeom>
          <a:solidFill>
            <a:srgbClr val="9B3B3B"/>
          </a:solidFill>
          <a:ln w="12700">
            <a:solidFill>
              <a:srgbClr val="9B3B3B"/>
            </a:solidFill>
            <a:prstDash val="solid"/>
          </a:ln>
        </p:spPr>
      </p:sp>
      <p:sp>
        <p:nvSpPr>
          <p:cNvPr id="22" name="Text 20"/>
          <p:cNvSpPr txBox="1"/>
          <p:nvPr/>
        </p:nvSpPr>
        <p:spPr>
          <a:xfrm>
            <a:off x="768096" y="3730752"/>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23" name="Text 21"/>
          <p:cNvSpPr txBox="1"/>
          <p:nvPr/>
        </p:nvSpPr>
        <p:spPr>
          <a:xfrm>
            <a:off x="1207008" y="3694176"/>
            <a:ext cx="4114800" cy="347472"/>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Production data at rest outside the perimeter</a:t>
            </a:r>
            <a:endParaRPr lang="en-US" sz="1250" dirty="0"/>
          </a:p>
        </p:txBody>
      </p:sp>
      <p:sp>
        <p:nvSpPr>
          <p:cNvPr id="24" name="Text 22"/>
          <p:cNvSpPr txBox="1"/>
          <p:nvPr/>
        </p:nvSpPr>
        <p:spPr>
          <a:xfrm>
            <a:off x="5486400" y="3694176"/>
            <a:ext cx="5943600" cy="347472"/>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Short-lived presigned URLs, SSE-KMS, bucket policy, aggressive lifecycle expiry; DPIA sign-off.</a:t>
            </a:r>
            <a:endParaRPr lang="en-US" sz="1150" dirty="0"/>
          </a:p>
        </p:txBody>
      </p:sp>
      <p:sp>
        <p:nvSpPr>
          <p:cNvPr id="25" name="Shape 23"/>
          <p:cNvSpPr/>
          <p:nvPr/>
        </p:nvSpPr>
        <p:spPr>
          <a:xfrm>
            <a:off x="548640" y="4224528"/>
            <a:ext cx="11064240" cy="576072"/>
          </a:xfrm>
          <a:prstGeom prst="roundRect">
            <a:avLst>
              <a:gd name="adj" fmla="val 12698"/>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26" name="Shape 24"/>
          <p:cNvSpPr/>
          <p:nvPr/>
        </p:nvSpPr>
        <p:spPr>
          <a:xfrm>
            <a:off x="768096" y="4379976"/>
            <a:ext cx="310896" cy="274320"/>
          </a:xfrm>
          <a:prstGeom prst="roundRect">
            <a:avLst>
              <a:gd name="adj" fmla="val 20000"/>
            </a:avLst>
          </a:prstGeom>
          <a:solidFill>
            <a:srgbClr val="B8801A"/>
          </a:solidFill>
          <a:ln w="12700">
            <a:solidFill>
              <a:srgbClr val="B8801A"/>
            </a:solidFill>
            <a:prstDash val="solid"/>
          </a:ln>
        </p:spPr>
      </p:sp>
      <p:sp>
        <p:nvSpPr>
          <p:cNvPr id="27" name="Text 25"/>
          <p:cNvSpPr txBox="1"/>
          <p:nvPr/>
        </p:nvSpPr>
        <p:spPr>
          <a:xfrm>
            <a:off x="768096" y="4379976"/>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
            </a:r>
            <a:endParaRPr lang="en-US" sz="1100" dirty="0"/>
          </a:p>
        </p:txBody>
      </p:sp>
      <p:sp>
        <p:nvSpPr>
          <p:cNvPr id="28" name="Text 26"/>
          <p:cNvSpPr txBox="1"/>
          <p:nvPr/>
        </p:nvSpPr>
        <p:spPr>
          <a:xfrm>
            <a:off x="1207008" y="4343400"/>
            <a:ext cx="4114800" cy="347472"/>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Unbounded DMN expressiveness</a:t>
            </a:r>
            <a:endParaRPr lang="en-US" sz="1250" dirty="0"/>
          </a:p>
        </p:txBody>
      </p:sp>
      <p:sp>
        <p:nvSpPr>
          <p:cNvPr id="29" name="Text 27"/>
          <p:cNvSpPr txBox="1"/>
          <p:nvPr/>
        </p:nvSpPr>
        <p:spPr>
          <a:xfrm>
            <a:off x="5486400" y="4343400"/>
            <a:ext cx="5943600" cy="347472"/>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Enforce a supported subset in the editor's validation gate, not just in documentation.</a:t>
            </a:r>
            <a:endParaRPr lang="en-US" sz="1150" dirty="0"/>
          </a:p>
        </p:txBody>
      </p:sp>
      <p:sp>
        <p:nvSpPr>
          <p:cNvPr id="30" name="Shape 28"/>
          <p:cNvSpPr/>
          <p:nvPr/>
        </p:nvSpPr>
        <p:spPr>
          <a:xfrm>
            <a:off x="548640" y="4873752"/>
            <a:ext cx="11064240" cy="576072"/>
          </a:xfrm>
          <a:prstGeom prst="roundRect">
            <a:avLst>
              <a:gd name="adj" fmla="val 12698"/>
            </a:avLst>
          </a:prstGeom>
          <a:solidFill>
            <a:srgbClr val="FAFBFC"/>
          </a:solidFill>
          <a:ln w="12700">
            <a:solidFill>
              <a:srgbClr val="FAFBFC"/>
            </a:solidFill>
            <a:prstDash val="solid"/>
          </a:ln>
          <a:effectLst>
            <a:outerShdw sx="100000" sy="100000" kx="0" ky="0" algn="bl" rotWithShape="0" blurRad="101600" dist="25400" dir="5400000">
              <a:srgbClr val="16222E">
                <a:alpha val="12000"/>
              </a:srgbClr>
            </a:outerShdw>
          </a:effectLst>
        </p:spPr>
      </p:sp>
      <p:sp>
        <p:nvSpPr>
          <p:cNvPr id="31" name="Shape 29"/>
          <p:cNvSpPr/>
          <p:nvPr/>
        </p:nvSpPr>
        <p:spPr>
          <a:xfrm>
            <a:off x="768096" y="5029200"/>
            <a:ext cx="310896" cy="274320"/>
          </a:xfrm>
          <a:prstGeom prst="roundRect">
            <a:avLst>
              <a:gd name="adj" fmla="val 20000"/>
            </a:avLst>
          </a:prstGeom>
          <a:solidFill>
            <a:srgbClr val="B8801A"/>
          </a:solidFill>
          <a:ln w="12700">
            <a:solidFill>
              <a:srgbClr val="B8801A"/>
            </a:solidFill>
            <a:prstDash val="solid"/>
          </a:ln>
        </p:spPr>
      </p:sp>
      <p:sp>
        <p:nvSpPr>
          <p:cNvPr id="32" name="Text 30"/>
          <p:cNvSpPr txBox="1"/>
          <p:nvPr/>
        </p:nvSpPr>
        <p:spPr>
          <a:xfrm>
            <a:off x="768096" y="502920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
            </a:r>
            <a:endParaRPr lang="en-US" sz="1100" dirty="0"/>
          </a:p>
        </p:txBody>
      </p:sp>
      <p:sp>
        <p:nvSpPr>
          <p:cNvPr id="33" name="Text 31"/>
          <p:cNvSpPr txBox="1"/>
          <p:nvPr/>
        </p:nvSpPr>
        <p:spPr>
          <a:xfrm>
            <a:off x="1207008" y="4992624"/>
            <a:ext cx="4114800" cy="347472"/>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Key-person dependency on the compiler</a:t>
            </a:r>
            <a:endParaRPr lang="en-US" sz="1250" dirty="0"/>
          </a:p>
        </p:txBody>
      </p:sp>
      <p:sp>
        <p:nvSpPr>
          <p:cNvPr id="34" name="Text 32"/>
          <p:cNvSpPr txBox="1"/>
          <p:nvPr/>
        </p:nvSpPr>
        <p:spPr>
          <a:xfrm>
            <a:off x="5486400" y="4992624"/>
            <a:ext cx="5943600" cy="347472"/>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Two engineers minimum; the conformance suite is the real documentation.</a:t>
            </a:r>
            <a:endParaRPr lang="en-US" sz="1150" dirty="0"/>
          </a:p>
        </p:txBody>
      </p:sp>
      <p:sp>
        <p:nvSpPr>
          <p:cNvPr id="35" name="Shape 33"/>
          <p:cNvSpPr/>
          <p:nvPr/>
        </p:nvSpPr>
        <p:spPr>
          <a:xfrm>
            <a:off x="548640" y="5522976"/>
            <a:ext cx="11064240" cy="576072"/>
          </a:xfrm>
          <a:prstGeom prst="roundRect">
            <a:avLst>
              <a:gd name="adj" fmla="val 12698"/>
            </a:avLst>
          </a:prstGeom>
          <a:solidFill>
            <a:srgbClr val="F2F5F7"/>
          </a:solidFill>
          <a:ln w="12700">
            <a:solidFill>
              <a:srgbClr val="F2F5F7"/>
            </a:solidFill>
            <a:prstDash val="solid"/>
          </a:ln>
          <a:effectLst>
            <a:outerShdw sx="100000" sy="100000" kx="0" ky="0" algn="bl" rotWithShape="0" blurRad="101600" dist="25400" dir="5400000">
              <a:srgbClr val="16222E">
                <a:alpha val="12000"/>
              </a:srgbClr>
            </a:outerShdw>
          </a:effectLst>
        </p:spPr>
      </p:sp>
      <p:sp>
        <p:nvSpPr>
          <p:cNvPr id="36" name="Shape 34"/>
          <p:cNvSpPr/>
          <p:nvPr/>
        </p:nvSpPr>
        <p:spPr>
          <a:xfrm>
            <a:off x="768096" y="5678424"/>
            <a:ext cx="310896" cy="274320"/>
          </a:xfrm>
          <a:prstGeom prst="roundRect">
            <a:avLst>
              <a:gd name="adj" fmla="val 20000"/>
            </a:avLst>
          </a:prstGeom>
          <a:solidFill>
            <a:srgbClr val="B8801A"/>
          </a:solidFill>
          <a:ln w="12700">
            <a:solidFill>
              <a:srgbClr val="B8801A"/>
            </a:solidFill>
            <a:prstDash val="solid"/>
          </a:ln>
        </p:spPr>
      </p:sp>
      <p:sp>
        <p:nvSpPr>
          <p:cNvPr id="37" name="Text 35"/>
          <p:cNvSpPr txBox="1"/>
          <p:nvPr/>
        </p:nvSpPr>
        <p:spPr>
          <a:xfrm>
            <a:off x="768096" y="567842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
            </a:r>
            <a:endParaRPr lang="en-US" sz="1100" dirty="0"/>
          </a:p>
        </p:txBody>
      </p:sp>
      <p:sp>
        <p:nvSpPr>
          <p:cNvPr id="38" name="Text 36"/>
          <p:cNvSpPr txBox="1"/>
          <p:nvPr/>
        </p:nvSpPr>
        <p:spPr>
          <a:xfrm>
            <a:off x="1207008" y="5641848"/>
            <a:ext cx="4114800" cy="347472"/>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Silent data truncation on transfer</a:t>
            </a:r>
            <a:endParaRPr lang="en-US" sz="1250" dirty="0"/>
          </a:p>
        </p:txBody>
      </p:sp>
      <p:sp>
        <p:nvSpPr>
          <p:cNvPr id="39" name="Text 37"/>
          <p:cNvSpPr txBox="1"/>
          <p:nvPr/>
        </p:nvSpPr>
        <p:spPr>
          <a:xfrm>
            <a:off x="5486400" y="5641848"/>
            <a:ext cx="5943600" cy="347472"/>
          </a:xfrm>
          <a:prstGeom prst="rect">
            <a:avLst/>
          </a:prstGeom>
          <a:noFill/>
          <a:ln/>
        </p:spPr>
        <p:txBody>
          <a:bodyPr wrap="square" lIns="0" tIns="0" rIns="0" bIns="0" rtlCol="0" anchor="ctr"/>
          <a:lstStyle/>
          <a:p>
            <a:pPr indent="0" marL="0">
              <a:buNone/>
            </a:pPr>
            <a:r>
              <a:rPr lang="en-US" sz="1150" dirty="0">
                <a:solidFill>
                  <a:srgbClr val="5A6672"/>
                </a:solidFill>
                <a:latin typeface="Calibri" pitchFamily="34" charset="0"/>
                <a:ea typeface="Calibri" pitchFamily="34" charset="-122"/>
                <a:cs typeface="Calibri" pitchFamily="34" charset="-120"/>
              </a:rPr>
              <a:t>Per-chunk checksums and row counts reconciled before the Delta commit.</a:t>
            </a:r>
            <a:endParaRPr lang="en-US" sz="1150" dirty="0"/>
          </a:p>
        </p:txBody>
      </p:sp>
      <p:sp>
        <p:nvSpPr>
          <p:cNvPr id="40" name="Text 38"/>
          <p:cNvSpPr txBox="1"/>
          <p:nvPr/>
        </p:nvSpPr>
        <p:spPr>
          <a:xfrm>
            <a:off x="548640" y="6217920"/>
            <a:ext cx="5486400" cy="256032"/>
          </a:xfrm>
          <a:prstGeom prst="rect">
            <a:avLst/>
          </a:prstGeom>
          <a:noFill/>
          <a:ln/>
        </p:spPr>
        <p:txBody>
          <a:bodyPr wrap="square" lIns="0" tIns="0" rIns="0" bIns="0" rtlCol="0" anchor="ctr"/>
          <a:lstStyle/>
          <a:p>
            <a:pPr indent="0" marL="0">
              <a:buNone/>
            </a:pPr>
            <a:r>
              <a:rPr lang="en-US" sz="1000" i="1" dirty="0">
                <a:solidFill>
                  <a:srgbClr val="9AA7B2"/>
                </a:solidFill>
                <a:latin typeface="Calibri" pitchFamily="34" charset="0"/>
                <a:ea typeface="Calibri" pitchFamily="34" charset="-122"/>
                <a:cs typeface="Calibri" pitchFamily="34" charset="-120"/>
              </a:rPr>
              <a:t>H = high  ·  M = medium.  Severity is scored before mitigation.</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22E"/>
        </a:solidFill>
      </p:bgPr>
    </p:bg>
    <p:spTree>
      <p:nvGrpSpPr>
        <p:cNvPr id="1" name=""/>
        <p:cNvGrpSpPr/>
        <p:nvPr/>
      </p:nvGrpSpPr>
      <p:grpSpPr>
        <a:xfrm>
          <a:off x="0" y="0"/>
          <a:ext cx="0" cy="0"/>
          <a:chOff x="0" y="0"/>
          <a:chExt cx="0" cy="0"/>
        </a:xfrm>
      </p:grpSpPr>
      <p:sp>
        <p:nvSpPr>
          <p:cNvPr id="2" name="Text 0"/>
          <p:cNvSpPr txBox="1"/>
          <p:nvPr/>
        </p:nvSpPr>
        <p:spPr>
          <a:xfrm>
            <a:off x="11384280" y="6355080"/>
            <a:ext cx="365760" cy="274320"/>
          </a:xfrm>
          <a:prstGeom prst="rect">
            <a:avLst/>
          </a:prstGeom>
          <a:noFill/>
          <a:ln/>
        </p:spPr>
        <p:txBody>
          <a:bodyPr wrap="square" lIns="0" tIns="0" rIns="0" bIns="0" rtlCol="0" anchor="ctr"/>
          <a:lstStyle/>
          <a:p>
            <a:pPr algn="r" indent="0" marL="0">
              <a:buNone/>
            </a:pPr>
            <a:r>
              <a:rPr lang="en-US" sz="1000" dirty="0">
                <a:solidFill>
                  <a:srgbClr val="9AA7B2"/>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84048"/>
            <a:ext cx="10058400" cy="228600"/>
          </a:xfrm>
          <a:prstGeom prst="rect">
            <a:avLst/>
          </a:prstGeom>
          <a:noFill/>
          <a:ln/>
        </p:spPr>
        <p:txBody>
          <a:bodyPr wrap="square" lIns="0" tIns="0" rIns="0" bIns="0" rtlCol="0" anchor="ctr"/>
          <a:lstStyle/>
          <a:p>
            <a:pPr indent="0" marL="0">
              <a:buNone/>
            </a:pPr>
            <a:r>
              <a:rPr lang="en-US" sz="1100" b="1" spc="160" kern="0" dirty="0">
                <a:solidFill>
                  <a:srgbClr val="6FD3C4"/>
                </a:solidFill>
                <a:latin typeface="Calibri" pitchFamily="34" charset="0"/>
                <a:ea typeface="Calibri" pitchFamily="34" charset="-122"/>
                <a:cs typeface="Calibri" pitchFamily="34" charset="-120"/>
              </a:rPr>
              <a:t>NEXT STEPS</a:t>
            </a:r>
            <a:endParaRPr lang="en-US" sz="1100" dirty="0"/>
          </a:p>
        </p:txBody>
      </p:sp>
      <p:sp>
        <p:nvSpPr>
          <p:cNvPr id="4" name="Text 2"/>
          <p:cNvSpPr txBox="1"/>
          <p:nvPr/>
        </p:nvSpPr>
        <p:spPr>
          <a:xfrm>
            <a:off x="548640" y="640080"/>
            <a:ext cx="1106424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ten-week path to a defensible decision</a:t>
            </a:r>
            <a:endParaRPr lang="en-US" sz="3000" dirty="0"/>
          </a:p>
        </p:txBody>
      </p:sp>
      <p:sp>
        <p:nvSpPr>
          <p:cNvPr id="5" name="Text 3"/>
          <p:cNvSpPr txBox="1"/>
          <p:nvPr/>
        </p:nvSpPr>
        <p:spPr>
          <a:xfrm>
            <a:off x="548640" y="1225296"/>
            <a:ext cx="11064240" cy="310896"/>
          </a:xfrm>
          <a:prstGeom prst="rect">
            <a:avLst/>
          </a:prstGeom>
          <a:noFill/>
          <a:ln/>
        </p:spPr>
        <p:txBody>
          <a:bodyPr wrap="square" lIns="0" tIns="0" rIns="0" bIns="0" rtlCol="0" anchor="ctr"/>
          <a:lstStyle/>
          <a:p>
            <a:pPr indent="0" marL="0">
              <a:buNone/>
            </a:pPr>
            <a:r>
              <a:rPr lang="en-US" sz="1300" i="1" dirty="0">
                <a:solidFill>
                  <a:srgbClr val="9AA7B2"/>
                </a:solidFill>
                <a:latin typeface="Calibri" pitchFamily="34" charset="0"/>
                <a:ea typeface="Calibri" pitchFamily="34" charset="-122"/>
                <a:cs typeface="Calibri" pitchFamily="34" charset="-120"/>
              </a:rPr>
              <a:t>Deliberately front-loads measurement: every option's case rests on numbers we do not have yet.</a:t>
            </a:r>
            <a:endParaRPr lang="en-US" sz="1300" dirty="0"/>
          </a:p>
        </p:txBody>
      </p:sp>
      <p:sp>
        <p:nvSpPr>
          <p:cNvPr id="6" name="Shape 4"/>
          <p:cNvSpPr/>
          <p:nvPr/>
        </p:nvSpPr>
        <p:spPr>
          <a:xfrm>
            <a:off x="548640" y="1874520"/>
            <a:ext cx="2037283" cy="3246120"/>
          </a:xfrm>
          <a:prstGeom prst="roundRect">
            <a:avLst>
              <a:gd name="adj" fmla="val 3591"/>
            </a:avLst>
          </a:prstGeom>
          <a:solidFill>
            <a:srgbClr val="1E2E3D"/>
          </a:solidFill>
          <a:ln w="12700">
            <a:solidFill>
              <a:srgbClr val="2C4256"/>
            </a:solidFill>
            <a:prstDash val="solid"/>
          </a:ln>
        </p:spPr>
      </p:sp>
      <p:sp>
        <p:nvSpPr>
          <p:cNvPr id="7" name="Shape 5"/>
          <p:cNvSpPr/>
          <p:nvPr/>
        </p:nvSpPr>
        <p:spPr>
          <a:xfrm>
            <a:off x="768096" y="2084832"/>
            <a:ext cx="329184" cy="329184"/>
          </a:xfrm>
          <a:prstGeom prst="ellipse">
            <a:avLst/>
          </a:prstGeom>
          <a:solidFill>
            <a:srgbClr val="6FD3C4"/>
          </a:solidFill>
          <a:ln w="12700">
            <a:solidFill>
              <a:srgbClr val="6FD3C4"/>
            </a:solidFill>
            <a:prstDash val="solid"/>
          </a:ln>
        </p:spPr>
      </p:sp>
      <p:sp>
        <p:nvSpPr>
          <p:cNvPr id="8" name="Text 6"/>
          <p:cNvSpPr txBox="1"/>
          <p:nvPr/>
        </p:nvSpPr>
        <p:spPr>
          <a:xfrm>
            <a:off x="768096" y="2084832"/>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68096" y="2542032"/>
            <a:ext cx="1598371" cy="237744"/>
          </a:xfrm>
          <a:prstGeom prst="rect">
            <a:avLst/>
          </a:prstGeom>
          <a:noFill/>
          <a:ln/>
        </p:spPr>
        <p:txBody>
          <a:bodyPr wrap="square" lIns="0" tIns="0" rIns="0" bIns="0" rtlCol="0" anchor="ctr"/>
          <a:lstStyle/>
          <a:p>
            <a:pPr indent="0" marL="0">
              <a:buNone/>
            </a:pPr>
            <a:r>
              <a:rPr lang="en-US" sz="1050" b="1" spc="120" kern="0" dirty="0">
                <a:solidFill>
                  <a:srgbClr val="6FD3C4"/>
                </a:solidFill>
                <a:latin typeface="Calibri" pitchFamily="34" charset="0"/>
                <a:ea typeface="Calibri" pitchFamily="34" charset="-122"/>
                <a:cs typeface="Calibri" pitchFamily="34" charset="-120"/>
              </a:rPr>
              <a:t>Weeks 1–2</a:t>
            </a:r>
            <a:endParaRPr lang="en-US" sz="1050" dirty="0"/>
          </a:p>
        </p:txBody>
      </p:sp>
      <p:sp>
        <p:nvSpPr>
          <p:cNvPr id="10" name="Text 8"/>
          <p:cNvSpPr txBox="1"/>
          <p:nvPr/>
        </p:nvSpPr>
        <p:spPr>
          <a:xfrm>
            <a:off x="768096" y="2798064"/>
            <a:ext cx="1598371" cy="566928"/>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Benchmark harness</a:t>
            </a:r>
            <a:endParaRPr lang="en-US" sz="1600" dirty="0"/>
          </a:p>
        </p:txBody>
      </p:sp>
      <p:sp>
        <p:nvSpPr>
          <p:cNvPr id="11" name="Text 9"/>
          <p:cNvSpPr txBox="1"/>
          <p:nvPr/>
        </p:nvSpPr>
        <p:spPr>
          <a:xfrm>
            <a:off x="768096" y="3429000"/>
            <a:ext cx="1598371" cy="1554480"/>
          </a:xfrm>
          <a:prstGeom prst="rect">
            <a:avLst/>
          </a:prstGeom>
          <a:noFill/>
          <a:ln/>
        </p:spPr>
        <p:txBody>
          <a:bodyPr wrap="square" rtlCol="0" anchor="t"/>
          <a:lstStyle/>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Golden 1 M-row sample</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Reference outputs from Kogito</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Reproducible timing rig</a:t>
            </a:r>
            <a:endParaRPr lang="en-US" sz="1100" dirty="0"/>
          </a:p>
        </p:txBody>
      </p:sp>
      <p:sp>
        <p:nvSpPr>
          <p:cNvPr id="12" name="Shape 10"/>
          <p:cNvSpPr/>
          <p:nvPr/>
        </p:nvSpPr>
        <p:spPr>
          <a:xfrm>
            <a:off x="2805379" y="1874520"/>
            <a:ext cx="2037283" cy="3246120"/>
          </a:xfrm>
          <a:prstGeom prst="roundRect">
            <a:avLst>
              <a:gd name="adj" fmla="val 3591"/>
            </a:avLst>
          </a:prstGeom>
          <a:solidFill>
            <a:srgbClr val="1E2E3D"/>
          </a:solidFill>
          <a:ln w="12700">
            <a:solidFill>
              <a:srgbClr val="2C4256"/>
            </a:solidFill>
            <a:prstDash val="solid"/>
          </a:ln>
        </p:spPr>
      </p:sp>
      <p:sp>
        <p:nvSpPr>
          <p:cNvPr id="13" name="Shape 11"/>
          <p:cNvSpPr/>
          <p:nvPr/>
        </p:nvSpPr>
        <p:spPr>
          <a:xfrm>
            <a:off x="3024835" y="2084832"/>
            <a:ext cx="329184" cy="329184"/>
          </a:xfrm>
          <a:prstGeom prst="ellipse">
            <a:avLst/>
          </a:prstGeom>
          <a:solidFill>
            <a:srgbClr val="6FD3C4"/>
          </a:solidFill>
          <a:ln w="12700">
            <a:solidFill>
              <a:srgbClr val="6FD3C4"/>
            </a:solidFill>
            <a:prstDash val="solid"/>
          </a:ln>
        </p:spPr>
      </p:sp>
      <p:sp>
        <p:nvSpPr>
          <p:cNvPr id="14" name="Text 12"/>
          <p:cNvSpPr txBox="1"/>
          <p:nvPr/>
        </p:nvSpPr>
        <p:spPr>
          <a:xfrm>
            <a:off x="3024835" y="2084832"/>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024835" y="2542032"/>
            <a:ext cx="1598371" cy="237744"/>
          </a:xfrm>
          <a:prstGeom prst="rect">
            <a:avLst/>
          </a:prstGeom>
          <a:noFill/>
          <a:ln/>
        </p:spPr>
        <p:txBody>
          <a:bodyPr wrap="square" lIns="0" tIns="0" rIns="0" bIns="0" rtlCol="0" anchor="ctr"/>
          <a:lstStyle/>
          <a:p>
            <a:pPr indent="0" marL="0">
              <a:buNone/>
            </a:pPr>
            <a:r>
              <a:rPr lang="en-US" sz="1050" b="1" spc="120" kern="0" dirty="0">
                <a:solidFill>
                  <a:srgbClr val="6FD3C4"/>
                </a:solidFill>
                <a:latin typeface="Calibri" pitchFamily="34" charset="0"/>
                <a:ea typeface="Calibri" pitchFamily="34" charset="-122"/>
                <a:cs typeface="Calibri" pitchFamily="34" charset="-120"/>
              </a:rPr>
              <a:t>Weeks 3–5</a:t>
            </a:r>
            <a:endParaRPr lang="en-US" sz="1050" dirty="0"/>
          </a:p>
        </p:txBody>
      </p:sp>
      <p:sp>
        <p:nvSpPr>
          <p:cNvPr id="16" name="Text 14"/>
          <p:cNvSpPr txBox="1"/>
          <p:nvPr/>
        </p:nvSpPr>
        <p:spPr>
          <a:xfrm>
            <a:off x="3024835" y="2798064"/>
            <a:ext cx="1598371" cy="566928"/>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Option 2 spike</a:t>
            </a:r>
            <a:endParaRPr lang="en-US" sz="1600" dirty="0"/>
          </a:p>
        </p:txBody>
      </p:sp>
      <p:sp>
        <p:nvSpPr>
          <p:cNvPr id="17" name="Text 15"/>
          <p:cNvSpPr txBox="1"/>
          <p:nvPr/>
        </p:nvSpPr>
        <p:spPr>
          <a:xfrm>
            <a:off x="3024835" y="3429000"/>
            <a:ext cx="1598371" cy="1554480"/>
          </a:xfrm>
          <a:prstGeom prst="rect">
            <a:avLst/>
          </a:prstGeom>
          <a:noFill/>
          <a:ln/>
        </p:spPr>
        <p:txBody>
          <a:bodyPr wrap="square" rtlCol="0" anchor="t"/>
          <a:lstStyle/>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Dedicated-mode cluster</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Kogito on mapPartitions</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Measured rows/s/core</a:t>
            </a:r>
            <a:endParaRPr lang="en-US" sz="1100" dirty="0"/>
          </a:p>
        </p:txBody>
      </p:sp>
      <p:sp>
        <p:nvSpPr>
          <p:cNvPr id="18" name="Shape 16"/>
          <p:cNvSpPr/>
          <p:nvPr/>
        </p:nvSpPr>
        <p:spPr>
          <a:xfrm>
            <a:off x="5062118" y="1874520"/>
            <a:ext cx="2037283" cy="3246120"/>
          </a:xfrm>
          <a:prstGeom prst="roundRect">
            <a:avLst>
              <a:gd name="adj" fmla="val 3591"/>
            </a:avLst>
          </a:prstGeom>
          <a:solidFill>
            <a:srgbClr val="1E2E3D"/>
          </a:solidFill>
          <a:ln w="12700">
            <a:solidFill>
              <a:srgbClr val="2C4256"/>
            </a:solidFill>
            <a:prstDash val="solid"/>
          </a:ln>
        </p:spPr>
      </p:sp>
      <p:sp>
        <p:nvSpPr>
          <p:cNvPr id="19" name="Shape 17"/>
          <p:cNvSpPr/>
          <p:nvPr/>
        </p:nvSpPr>
        <p:spPr>
          <a:xfrm>
            <a:off x="5281574" y="2084832"/>
            <a:ext cx="329184" cy="329184"/>
          </a:xfrm>
          <a:prstGeom prst="ellipse">
            <a:avLst/>
          </a:prstGeom>
          <a:solidFill>
            <a:srgbClr val="E8A317"/>
          </a:solidFill>
          <a:ln w="12700">
            <a:solidFill>
              <a:srgbClr val="E8A317"/>
            </a:solidFill>
            <a:prstDash val="solid"/>
          </a:ln>
        </p:spPr>
      </p:sp>
      <p:sp>
        <p:nvSpPr>
          <p:cNvPr id="20" name="Text 18"/>
          <p:cNvSpPr txBox="1"/>
          <p:nvPr/>
        </p:nvSpPr>
        <p:spPr>
          <a:xfrm>
            <a:off x="5281574" y="2084832"/>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5281574" y="2542032"/>
            <a:ext cx="1598371" cy="237744"/>
          </a:xfrm>
          <a:prstGeom prst="rect">
            <a:avLst/>
          </a:prstGeom>
          <a:noFill/>
          <a:ln/>
        </p:spPr>
        <p:txBody>
          <a:bodyPr wrap="square" lIns="0" tIns="0" rIns="0" bIns="0" rtlCol="0" anchor="ctr"/>
          <a:lstStyle/>
          <a:p>
            <a:pPr indent="0" marL="0">
              <a:buNone/>
            </a:pPr>
            <a:r>
              <a:rPr lang="en-US" sz="1050" b="1" spc="120" kern="0" dirty="0">
                <a:solidFill>
                  <a:srgbClr val="E8A317"/>
                </a:solidFill>
                <a:latin typeface="Calibri" pitchFamily="34" charset="0"/>
                <a:ea typeface="Calibri" pitchFamily="34" charset="-122"/>
                <a:cs typeface="Calibri" pitchFamily="34" charset="-120"/>
              </a:rPr>
              <a:t>Weeks 4–8</a:t>
            </a:r>
            <a:endParaRPr lang="en-US" sz="1050" dirty="0"/>
          </a:p>
        </p:txBody>
      </p:sp>
      <p:sp>
        <p:nvSpPr>
          <p:cNvPr id="22" name="Text 20"/>
          <p:cNvSpPr txBox="1"/>
          <p:nvPr/>
        </p:nvSpPr>
        <p:spPr>
          <a:xfrm>
            <a:off x="5281574" y="2798064"/>
            <a:ext cx="1598371" cy="566928"/>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Option 3 spike</a:t>
            </a:r>
            <a:endParaRPr lang="en-US" sz="1600" dirty="0"/>
          </a:p>
        </p:txBody>
      </p:sp>
      <p:sp>
        <p:nvSpPr>
          <p:cNvPr id="23" name="Text 21"/>
          <p:cNvSpPr txBox="1"/>
          <p:nvPr/>
        </p:nvSpPr>
        <p:spPr>
          <a:xfrm>
            <a:off x="5281574" y="3429000"/>
            <a:ext cx="1598371" cy="1554480"/>
          </a:xfrm>
          <a:prstGeom prst="rect">
            <a:avLst/>
          </a:prstGeom>
          <a:noFill/>
          <a:ln/>
        </p:spPr>
        <p:txBody>
          <a:bodyPr wrap="square" rtlCol="0" anchor="t"/>
          <a:lstStyle/>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Translate the 10 busiest models</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Run the DMN TCK subset</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Dual-run divergence report</a:t>
            </a:r>
            <a:endParaRPr lang="en-US" sz="1100" dirty="0"/>
          </a:p>
        </p:txBody>
      </p:sp>
      <p:sp>
        <p:nvSpPr>
          <p:cNvPr id="24" name="Shape 22"/>
          <p:cNvSpPr/>
          <p:nvPr/>
        </p:nvSpPr>
        <p:spPr>
          <a:xfrm>
            <a:off x="7318858" y="1874520"/>
            <a:ext cx="2037283" cy="3246120"/>
          </a:xfrm>
          <a:prstGeom prst="roundRect">
            <a:avLst>
              <a:gd name="adj" fmla="val 3591"/>
            </a:avLst>
          </a:prstGeom>
          <a:solidFill>
            <a:srgbClr val="1E2E3D"/>
          </a:solidFill>
          <a:ln w="12700">
            <a:solidFill>
              <a:srgbClr val="2C4256"/>
            </a:solidFill>
            <a:prstDash val="solid"/>
          </a:ln>
        </p:spPr>
      </p:sp>
      <p:sp>
        <p:nvSpPr>
          <p:cNvPr id="25" name="Shape 23"/>
          <p:cNvSpPr/>
          <p:nvPr/>
        </p:nvSpPr>
        <p:spPr>
          <a:xfrm>
            <a:off x="7538314" y="2084832"/>
            <a:ext cx="329184" cy="329184"/>
          </a:xfrm>
          <a:prstGeom prst="ellipse">
            <a:avLst/>
          </a:prstGeom>
          <a:solidFill>
            <a:srgbClr val="6FD3C4"/>
          </a:solidFill>
          <a:ln w="12700">
            <a:solidFill>
              <a:srgbClr val="6FD3C4"/>
            </a:solidFill>
            <a:prstDash val="solid"/>
          </a:ln>
        </p:spPr>
      </p:sp>
      <p:sp>
        <p:nvSpPr>
          <p:cNvPr id="26" name="Text 24"/>
          <p:cNvSpPr txBox="1"/>
          <p:nvPr/>
        </p:nvSpPr>
        <p:spPr>
          <a:xfrm>
            <a:off x="7538314" y="2084832"/>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7538314" y="2542032"/>
            <a:ext cx="1598371" cy="237744"/>
          </a:xfrm>
          <a:prstGeom prst="rect">
            <a:avLst/>
          </a:prstGeom>
          <a:noFill/>
          <a:ln/>
        </p:spPr>
        <p:txBody>
          <a:bodyPr wrap="square" lIns="0" tIns="0" rIns="0" bIns="0" rtlCol="0" anchor="ctr"/>
          <a:lstStyle/>
          <a:p>
            <a:pPr indent="0" marL="0">
              <a:buNone/>
            </a:pPr>
            <a:r>
              <a:rPr lang="en-US" sz="1050" b="1" spc="120" kern="0" dirty="0">
                <a:solidFill>
                  <a:srgbClr val="6FD3C4"/>
                </a:solidFill>
                <a:latin typeface="Calibri" pitchFamily="34" charset="0"/>
                <a:ea typeface="Calibri" pitchFamily="34" charset="-122"/>
                <a:cs typeface="Calibri" pitchFamily="34" charset="-120"/>
              </a:rPr>
              <a:t>Weeks 6–8</a:t>
            </a:r>
            <a:endParaRPr lang="en-US" sz="1050" dirty="0"/>
          </a:p>
        </p:txBody>
      </p:sp>
      <p:sp>
        <p:nvSpPr>
          <p:cNvPr id="28" name="Text 26"/>
          <p:cNvSpPr txBox="1"/>
          <p:nvPr/>
        </p:nvSpPr>
        <p:spPr>
          <a:xfrm>
            <a:off x="7538314" y="2798064"/>
            <a:ext cx="1598371" cy="566928"/>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Option 1 sizing</a:t>
            </a:r>
            <a:endParaRPr lang="en-US" sz="1600" dirty="0"/>
          </a:p>
        </p:txBody>
      </p:sp>
      <p:sp>
        <p:nvSpPr>
          <p:cNvPr id="29" name="Text 27"/>
          <p:cNvSpPr txBox="1"/>
          <p:nvPr/>
        </p:nvSpPr>
        <p:spPr>
          <a:xfrm>
            <a:off x="7538314" y="3429000"/>
            <a:ext cx="1598371" cy="1554480"/>
          </a:xfrm>
          <a:prstGeom prst="rect">
            <a:avLst/>
          </a:prstGeom>
          <a:noFill/>
          <a:ln/>
        </p:spPr>
        <p:txBody>
          <a:bodyPr wrap="square" rtlCol="0" anchor="t"/>
          <a:lstStyle/>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Transfer throughput test</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Chunking &amp; retry design</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Security review of S3 path</a:t>
            </a:r>
            <a:endParaRPr lang="en-US" sz="1100" dirty="0"/>
          </a:p>
        </p:txBody>
      </p:sp>
      <p:sp>
        <p:nvSpPr>
          <p:cNvPr id="30" name="Shape 28"/>
          <p:cNvSpPr/>
          <p:nvPr/>
        </p:nvSpPr>
        <p:spPr>
          <a:xfrm>
            <a:off x="9575597" y="1874520"/>
            <a:ext cx="2037283" cy="3246120"/>
          </a:xfrm>
          <a:prstGeom prst="roundRect">
            <a:avLst>
              <a:gd name="adj" fmla="val 3591"/>
            </a:avLst>
          </a:prstGeom>
          <a:solidFill>
            <a:srgbClr val="1E2E3D"/>
          </a:solidFill>
          <a:ln w="12700">
            <a:solidFill>
              <a:srgbClr val="2C4256"/>
            </a:solidFill>
            <a:prstDash val="solid"/>
          </a:ln>
        </p:spPr>
      </p:sp>
      <p:sp>
        <p:nvSpPr>
          <p:cNvPr id="31" name="Shape 29"/>
          <p:cNvSpPr/>
          <p:nvPr/>
        </p:nvSpPr>
        <p:spPr>
          <a:xfrm>
            <a:off x="9795053" y="2084832"/>
            <a:ext cx="329184" cy="329184"/>
          </a:xfrm>
          <a:prstGeom prst="ellipse">
            <a:avLst/>
          </a:prstGeom>
          <a:solidFill>
            <a:srgbClr val="6FD3C4"/>
          </a:solidFill>
          <a:ln w="12700">
            <a:solidFill>
              <a:srgbClr val="6FD3C4"/>
            </a:solidFill>
            <a:prstDash val="solid"/>
          </a:ln>
        </p:spPr>
      </p:sp>
      <p:sp>
        <p:nvSpPr>
          <p:cNvPr id="32" name="Text 30"/>
          <p:cNvSpPr txBox="1"/>
          <p:nvPr/>
        </p:nvSpPr>
        <p:spPr>
          <a:xfrm>
            <a:off x="9795053" y="2084832"/>
            <a:ext cx="329184" cy="329184"/>
          </a:xfrm>
          <a:prstGeom prst="rect">
            <a:avLst/>
          </a:prstGeom>
          <a:noFill/>
          <a:ln/>
        </p:spPr>
        <p:txBody>
          <a:bodyPr wrap="square" lIns="0" tIns="0" rIns="0" bIns="0" rtlCol="0" anchor="ctr"/>
          <a:lstStyle/>
          <a:p>
            <a:pPr algn="ctr" indent="0" marL="0">
              <a:buNone/>
            </a:pPr>
            <a:r>
              <a:rPr lang="en-US" sz="1300" b="1" dirty="0">
                <a:solidFill>
                  <a:srgbClr val="16222E"/>
                </a:solidFill>
                <a:latin typeface="Calibri" pitchFamily="34" charset="0"/>
                <a:ea typeface="Calibri" pitchFamily="34" charset="-122"/>
                <a:cs typeface="Calibri" pitchFamily="34" charset="-120"/>
              </a:rPr>
              <a:t>5</a:t>
            </a:r>
            <a:endParaRPr lang="en-US" sz="1300" dirty="0"/>
          </a:p>
        </p:txBody>
      </p:sp>
      <p:sp>
        <p:nvSpPr>
          <p:cNvPr id="33" name="Text 31"/>
          <p:cNvSpPr txBox="1"/>
          <p:nvPr/>
        </p:nvSpPr>
        <p:spPr>
          <a:xfrm>
            <a:off x="9795053" y="2542032"/>
            <a:ext cx="1598371" cy="237744"/>
          </a:xfrm>
          <a:prstGeom prst="rect">
            <a:avLst/>
          </a:prstGeom>
          <a:noFill/>
          <a:ln/>
        </p:spPr>
        <p:txBody>
          <a:bodyPr wrap="square" lIns="0" tIns="0" rIns="0" bIns="0" rtlCol="0" anchor="ctr"/>
          <a:lstStyle/>
          <a:p>
            <a:pPr indent="0" marL="0">
              <a:buNone/>
            </a:pPr>
            <a:r>
              <a:rPr lang="en-US" sz="1050" b="1" spc="120" kern="0" dirty="0">
                <a:solidFill>
                  <a:srgbClr val="6FD3C4"/>
                </a:solidFill>
                <a:latin typeface="Calibri" pitchFamily="34" charset="0"/>
                <a:ea typeface="Calibri" pitchFamily="34" charset="-122"/>
                <a:cs typeface="Calibri" pitchFamily="34" charset="-120"/>
              </a:rPr>
              <a:t>Weeks 9–10</a:t>
            </a:r>
            <a:endParaRPr lang="en-US" sz="1050" dirty="0"/>
          </a:p>
        </p:txBody>
      </p:sp>
      <p:sp>
        <p:nvSpPr>
          <p:cNvPr id="34" name="Text 32"/>
          <p:cNvSpPr txBox="1"/>
          <p:nvPr/>
        </p:nvSpPr>
        <p:spPr>
          <a:xfrm>
            <a:off x="9795053" y="2798064"/>
            <a:ext cx="1598371" cy="566928"/>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Decision</a:t>
            </a:r>
            <a:endParaRPr lang="en-US" sz="1600" dirty="0"/>
          </a:p>
        </p:txBody>
      </p:sp>
      <p:sp>
        <p:nvSpPr>
          <p:cNvPr id="35" name="Text 33"/>
          <p:cNvSpPr txBox="1"/>
          <p:nvPr/>
        </p:nvSpPr>
        <p:spPr>
          <a:xfrm>
            <a:off x="9795053" y="3429000"/>
            <a:ext cx="1598371" cy="1554480"/>
          </a:xfrm>
          <a:prstGeom prst="rect">
            <a:avLst/>
          </a:prstGeom>
          <a:noFill/>
          <a:ln/>
        </p:spPr>
        <p:txBody>
          <a:bodyPr wrap="square" rtlCol="0" anchor="t"/>
          <a:lstStyle/>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Fill this deck's matrix with measured values</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Architecture board sign-off</a:t>
            </a:r>
            <a:endParaRPr lang="en-US" sz="1100" dirty="0"/>
          </a:p>
          <a:p>
            <a:pPr marL="342900" indent="-342900">
              <a:lnSpc>
                <a:spcPts val="1400"/>
              </a:lnSpc>
              <a:spcAft>
                <a:spcPts val="500"/>
              </a:spcAft>
              <a:buSzPct val="100000"/>
              <a:buChar char="•"/>
            </a:pPr>
            <a:r>
              <a:rPr lang="en-US" sz="1100" dirty="0">
                <a:solidFill>
                  <a:srgbClr val="9AA7B2"/>
                </a:solidFill>
                <a:latin typeface="Calibri" pitchFamily="34" charset="0"/>
                <a:ea typeface="Calibri" pitchFamily="34" charset="-122"/>
                <a:cs typeface="Calibri" pitchFamily="34" charset="-120"/>
              </a:rPr>
              <a:t>Editor &amp; registry build starts regardless</a:t>
            </a:r>
            <a:endParaRPr lang="en-US" sz="1100" dirty="0"/>
          </a:p>
        </p:txBody>
      </p:sp>
      <p:sp>
        <p:nvSpPr>
          <p:cNvPr id="36" name="Text 34"/>
          <p:cNvSpPr txBox="1"/>
          <p:nvPr/>
        </p:nvSpPr>
        <p:spPr>
          <a:xfrm>
            <a:off x="548640" y="5394960"/>
            <a:ext cx="11064240" cy="457200"/>
          </a:xfrm>
          <a:prstGeom prst="rect">
            <a:avLst/>
          </a:prstGeom>
          <a:noFill/>
          <a:ln/>
        </p:spPr>
        <p:txBody>
          <a:bodyPr wrap="square" lIns="0" tIns="0" rIns="0" bIns="0" rtlCol="0" anchor="ctr"/>
          <a:lstStyle/>
          <a:p>
            <a:pPr indent="0" marL="0">
              <a:lnSpc>
                <a:spcPts val="1800"/>
              </a:lnSpc>
              <a:buNone/>
            </a:pPr>
            <a:r>
              <a:rPr lang="en-US" sz="1300" dirty="0">
                <a:solidFill>
                  <a:srgbClr val="FFFFFF"/>
                </a:solidFill>
                <a:latin typeface="Calibri" pitchFamily="34" charset="0"/>
                <a:ea typeface="Calibri" pitchFamily="34" charset="-122"/>
                <a:cs typeface="Calibri" pitchFamily="34" charset="-120"/>
              </a:rPr>
              <a:t>Decision gate: no option is selected on architecture alone. It is selected on measured throughput, a proven access-mode policy, and a divergence report of zero.</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DMN Decisioning at 80M Rows</dc:title>
  <dc:subject>PptxGenJS Presentation</dc:subject>
  <dc:creator>Architecture</dc:creator>
  <cp:lastModifiedBy>Architecture</cp:lastModifiedBy>
  <cp:revision>1</cp:revision>
  <dcterms:created xsi:type="dcterms:W3CDTF">2026-09-03T21:13:17Z</dcterms:created>
  <dcterms:modified xsi:type="dcterms:W3CDTF">2026-09-03T21:13:17Z</dcterms:modified>
</cp:coreProperties>
</file>