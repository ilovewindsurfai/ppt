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run the same DMN model, and they differ in what has to be built rather than in what they compute.
A moves the data to the engine. B moves the rules to the data by compiling them to SQL. C moves the engine to the data by running Kogito inside Spark.
The 23x figure comes from the dmn-4-spark project's own README, along with its causes: no whole-stage codegen, serialisation into the engine's input types, and engine startup per executor core. It is their measurement, not our estimate.
The sequence matters more than the ranking. C is cheap and needs no access to the model files, and its outcome is informative whichever way it goes. Running it first buys information before anyone commits to writing a compiler.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actually decide on. The recommendation is not unconditional.
Condition 1 is the important one. A transpiler is only correct over the constructs it was tested against, and the people who will expand that set — the business authors — have no idea where its boundary lies. A whitelist that fails the build converts a silent wrong answer into a broken pipeline, and that is what lets us stop diffing routinely later.
Check 1 is the gate. We have not opened the .dmn yet. If it turns out to use FEEL iterations or nested contexts, the transpiler stops being a week of work and option A — a single streaming pod, 15 to 30 minutes for 80M rows — becomes the pragmatic answer. Half a day of inspection settles it.
Check 2 is cheap now and impossible later. Check 3 may mean the two options are not exclusive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real feasibility question. Spark SQL being the right target is one thing; being able to build and own the translator is another.
The argument for starting is not that it is easy. It is that the risk is bounded and the exit is cheap at every step: the Kogito fallback never goes away, so the worst case is losing the transpiler effort rather than the project.
Be honest about the shape of delivery. Incremental here manages risk, it does not deliver value early — the graph either compiles or it does not. A steering committee that hears “iterative” will assume results in sprint two, and that is not what this is.
Do not let the diff harness slip to the end. It is the instrument that makes every later increment cheap, and building it first is what turns this from a research project into an engineering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for the question that always comes: how does it scale, and is it multithreaded.
It is, but the threading is the least interesting level. Level 1 works because the DMN runtime is stateless — one compiled model, shared, evaluated concurrently. Level 2 is what actually scales beyond one machine. Level 3 is about restarting, not speed.
The important message is the last one: start simple. A single pod streaming straight from the zipped JSONL, with a bounded queue for backpressure, handles 80M rows in well under half an hour and needs none of the distributed machinery. Introduce chunks when a failed run becomes expensive enough to justify them.
The numbers are order-of-magnitude. Decision-table depth and FEEL complexity move per-row cost by an order of magnitude either way, so benchmark before committing to an SLA.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11274552" cy="457200"/>
          </a:xfrm>
          <a:prstGeom prst="rect">
            <a:avLst/>
          </a:prstGeom>
          <a:noFill/>
          <a:ln/>
        </p:spPr>
        <p:txBody>
          <a:bodyPr wrap="square" lIns="0" tIns="0" rIns="0" bIns="0" rtlCol="0" anchor="ctr"/>
          <a:lstStyle/>
          <a:p>
            <a:pPr algn="l" indent="0" marL="0">
              <a:buNone/>
            </a:pPr>
            <a:r>
              <a:rPr lang="en-US" sz="2600" b="1" dirty="0">
                <a:solidFill>
                  <a:srgbClr val="1A2430"/>
                </a:solidFill>
                <a:latin typeface="Cambria" pitchFamily="34" charset="0"/>
                <a:ea typeface="Cambria" pitchFamily="34" charset="-122"/>
                <a:cs typeface="Cambria" pitchFamily="34" charset="-120"/>
              </a:rPr>
              <a:t>DMN at 80M Rows: three ways to execute the same model</a:t>
            </a:r>
            <a:endParaRPr lang="en-US" sz="2600" dirty="0"/>
          </a:p>
        </p:txBody>
      </p:sp>
      <p:sp>
        <p:nvSpPr>
          <p:cNvPr id="3" name="Text 1"/>
          <p:cNvSpPr txBox="1"/>
          <p:nvPr/>
        </p:nvSpPr>
        <p:spPr>
          <a:xfrm>
            <a:off x="457200" y="722376"/>
            <a:ext cx="11274552" cy="274320"/>
          </a:xfrm>
          <a:prstGeom prst="rect">
            <a:avLst/>
          </a:prstGeom>
          <a:noFill/>
          <a:ln/>
        </p:spPr>
        <p:txBody>
          <a:bodyPr wrap="square" lIns="0" tIns="0" rIns="0" bIns="0" rtlCol="0" anchor="ctr"/>
          <a:lstStyle/>
          <a:p>
            <a:pPr algn="l" indent="0" marL="0">
              <a:buNone/>
            </a:pPr>
            <a:r>
              <a:rPr lang="en-US" sz="1150" i="1" dirty="0">
                <a:solidFill>
                  <a:srgbClr val="5A6B78"/>
                </a:solidFill>
                <a:latin typeface="Calibri" pitchFamily="34" charset="0"/>
                <a:ea typeface="Calibri" pitchFamily="34" charset="-122"/>
                <a:cs typeface="Calibri" pitchFamily="34" charset="-120"/>
              </a:rPr>
              <a:t>Feasibility study — the rows already live in Databricks, so the question is where the rules run and what we have to build to get them there</a:t>
            </a:r>
            <a:endParaRPr lang="en-US" sz="1150" dirty="0"/>
          </a:p>
        </p:txBody>
      </p:sp>
      <p:sp>
        <p:nvSpPr>
          <p:cNvPr id="4" name="Shape 2"/>
          <p:cNvSpPr/>
          <p:nvPr/>
        </p:nvSpPr>
        <p:spPr>
          <a:xfrm>
            <a:off x="457200" y="1188720"/>
            <a:ext cx="3557016" cy="4261104"/>
          </a:xfrm>
          <a:prstGeom prst="roundRect">
            <a:avLst>
              <a:gd name="adj" fmla="val 2571"/>
            </a:avLst>
          </a:prstGeom>
          <a:solidFill>
            <a:srgbClr val="F2F6F8"/>
          </a:solidFill>
          <a:ln w="12700">
            <a:solidFill>
              <a:srgbClr val="DDE6EB"/>
            </a:solidFill>
            <a:prstDash val="solid"/>
          </a:ln>
          <a:effectLst>
            <a:outerShdw sx="100000" sy="100000" kx="0" ky="0" algn="bl" rotWithShape="0" blurRad="101600" dist="25400" dir="5400000">
              <a:srgbClr val="8FA3B0">
                <a:alpha val="25000"/>
              </a:srgbClr>
            </a:outerShdw>
          </a:effectLst>
        </p:spPr>
      </p:sp>
      <p:sp>
        <p:nvSpPr>
          <p:cNvPr id="5" name="Shape 3"/>
          <p:cNvSpPr/>
          <p:nvPr/>
        </p:nvSpPr>
        <p:spPr>
          <a:xfrm>
            <a:off x="731520" y="1389888"/>
            <a:ext cx="402336" cy="402336"/>
          </a:xfrm>
          <a:prstGeom prst="ellipse">
            <a:avLst/>
          </a:prstGeom>
          <a:solidFill>
            <a:srgbClr val="065A82"/>
          </a:solidFill>
          <a:ln w="12700">
            <a:solidFill>
              <a:srgbClr val="065A82"/>
            </a:solidFill>
            <a:prstDash val="solid"/>
          </a:ln>
        </p:spPr>
      </p:sp>
      <p:sp>
        <p:nvSpPr>
          <p:cNvPr id="6" name="Text 4"/>
          <p:cNvSpPr txBox="1"/>
          <p:nvPr/>
        </p:nvSpPr>
        <p:spPr>
          <a:xfrm>
            <a:off x="731520" y="13898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731520" y="1865376"/>
            <a:ext cx="3008376" cy="402336"/>
          </a:xfrm>
          <a:prstGeom prst="rect">
            <a:avLst/>
          </a:prstGeom>
          <a:noFill/>
          <a:ln/>
        </p:spPr>
        <p:txBody>
          <a:bodyPr wrap="square" lIns="0" tIns="0" rIns="0" bIns="0" rtlCol="0" anchor="t"/>
          <a:lstStyle/>
          <a:p>
            <a:pPr indent="0" marL="0">
              <a:buNone/>
            </a:pPr>
            <a:r>
              <a:rPr lang="en-US" sz="1350" b="1" dirty="0">
                <a:solidFill>
                  <a:srgbClr val="065A82"/>
                </a:solidFill>
                <a:latin typeface="Cambria" pitchFamily="34" charset="0"/>
                <a:ea typeface="Cambria" pitchFamily="34" charset="-122"/>
                <a:cs typeface="Cambria" pitchFamily="34" charset="-120"/>
              </a:rPr>
              <a:t>Kogito on Spring Boot</a:t>
            </a:r>
            <a:endParaRPr lang="en-US" sz="1350" dirty="0"/>
          </a:p>
        </p:txBody>
      </p:sp>
      <p:sp>
        <p:nvSpPr>
          <p:cNvPr id="8" name="Text 6"/>
          <p:cNvSpPr txBox="1"/>
          <p:nvPr/>
        </p:nvSpPr>
        <p:spPr>
          <a:xfrm>
            <a:off x="731520" y="2267712"/>
            <a:ext cx="3008376" cy="420624"/>
          </a:xfrm>
          <a:prstGeom prst="rect">
            <a:avLst/>
          </a:prstGeom>
          <a:noFill/>
          <a:ln/>
        </p:spPr>
        <p:txBody>
          <a:bodyPr wrap="square" lIns="0" tIns="0" rIns="0" bIns="0" rtlCol="0" anchor="t"/>
          <a:lstStyle/>
          <a:p>
            <a:pPr indent="0" marL="0">
              <a:buNone/>
            </a:pPr>
            <a:r>
              <a:rPr lang="en-US" sz="850" dirty="0">
                <a:solidFill>
                  <a:srgbClr val="5A6B78"/>
                </a:solidFill>
                <a:latin typeface="Calibri" pitchFamily="34" charset="0"/>
                <a:ea typeface="Calibri" pitchFamily="34" charset="-122"/>
                <a:cs typeface="Calibri" pitchFamily="34" charset="-120"/>
              </a:rPr>
              <a:t>Export from Databricks → S3 → streaming Kogito workers → re-ingest</a:t>
            </a:r>
            <a:endParaRPr lang="en-US" sz="850" dirty="0"/>
          </a:p>
        </p:txBody>
      </p:sp>
      <p:sp>
        <p:nvSpPr>
          <p:cNvPr id="9" name="Text 7"/>
          <p:cNvSpPr txBox="1"/>
          <p:nvPr/>
        </p:nvSpPr>
        <p:spPr>
          <a:xfrm>
            <a:off x="731520" y="2743200"/>
            <a:ext cx="3008376" cy="182880"/>
          </a:xfrm>
          <a:prstGeom prst="rect">
            <a:avLst/>
          </a:prstGeom>
          <a:noFill/>
          <a:ln/>
        </p:spPr>
        <p:txBody>
          <a:bodyPr wrap="square" lIns="0" tIns="0" rIns="0" bIns="0" rtlCol="0" anchor="ctr"/>
          <a:lstStyle/>
          <a:p>
            <a:pPr indent="0" marL="0">
              <a:buNone/>
            </a:pPr>
            <a:r>
              <a:rPr lang="en-US" sz="900" b="1" spc="150" kern="0" dirty="0">
                <a:solidFill>
                  <a:srgbClr val="1C7293"/>
                </a:solidFill>
                <a:latin typeface="Calibri" pitchFamily="34" charset="0"/>
                <a:ea typeface="Calibri" pitchFamily="34" charset="-122"/>
                <a:cs typeface="Calibri" pitchFamily="34" charset="-120"/>
              </a:rPr>
              <a:t>STRENGTHS</a:t>
            </a:r>
            <a:endParaRPr lang="en-US" sz="900" dirty="0"/>
          </a:p>
        </p:txBody>
      </p:sp>
      <p:sp>
        <p:nvSpPr>
          <p:cNvPr id="10" name="Text 8"/>
          <p:cNvSpPr txBox="1"/>
          <p:nvPr/>
        </p:nvSpPr>
        <p:spPr>
          <a:xfrm>
            <a:off x="731520" y="2926080"/>
            <a:ext cx="3008376" cy="1115568"/>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The DMN model is the executed artifact — one source of truth, nothing to translate</a:t>
            </a:r>
            <a:endParaRPr lang="en-US" sz="950" dirty="0"/>
          </a:p>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Full FEEL semantics, every hit policy, no coverage gap</a:t>
            </a:r>
            <a:endParaRPr lang="en-US" sz="950" dirty="0"/>
          </a:p>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The same runtime serves real-time single decisions later</a:t>
            </a:r>
            <a:endParaRPr lang="en-US" sz="950" dirty="0"/>
          </a:p>
        </p:txBody>
      </p:sp>
      <p:sp>
        <p:nvSpPr>
          <p:cNvPr id="11" name="Text 9"/>
          <p:cNvSpPr txBox="1"/>
          <p:nvPr/>
        </p:nvSpPr>
        <p:spPr>
          <a:xfrm>
            <a:off x="731520" y="4096512"/>
            <a:ext cx="3008376" cy="182880"/>
          </a:xfrm>
          <a:prstGeom prst="rect">
            <a:avLst/>
          </a:prstGeom>
          <a:noFill/>
          <a:ln/>
        </p:spPr>
        <p:txBody>
          <a:bodyPr wrap="square" lIns="0" tIns="0" rIns="0" bIns="0" rtlCol="0" anchor="ctr"/>
          <a:lstStyle/>
          <a:p>
            <a:pPr indent="0" marL="0">
              <a:buNone/>
            </a:pPr>
            <a:r>
              <a:rPr lang="en-US" sz="900" b="1" spc="150" kern="0" dirty="0">
                <a:solidFill>
                  <a:srgbClr val="A8611F"/>
                </a:solidFill>
                <a:latin typeface="Calibri" pitchFamily="34" charset="0"/>
                <a:ea typeface="Calibri" pitchFamily="34" charset="-122"/>
                <a:cs typeface="Calibri" pitchFamily="34" charset="-120"/>
              </a:rPr>
              <a:t>WATCH-OUTS</a:t>
            </a:r>
            <a:endParaRPr lang="en-US" sz="900" dirty="0"/>
          </a:p>
        </p:txBody>
      </p:sp>
      <p:sp>
        <p:nvSpPr>
          <p:cNvPr id="12" name="Text 10"/>
          <p:cNvSpPr txBox="1"/>
          <p:nvPr/>
        </p:nvSpPr>
        <p:spPr>
          <a:xfrm>
            <a:off x="731520" y="4279392"/>
            <a:ext cx="3008376" cy="10972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The data must leave Databricks and come back — export, score, re-ingest</a:t>
            </a:r>
            <a:endParaRPr lang="en-US" sz="950" dirty="0"/>
          </a:p>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We build and operate the scale-out ourselves</a:t>
            </a:r>
            <a:endParaRPr lang="en-US" sz="950" dirty="0"/>
          </a:p>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No lineage or catalog over the intermediate files</a:t>
            </a:r>
            <a:endParaRPr lang="en-US" sz="950" dirty="0"/>
          </a:p>
        </p:txBody>
      </p:sp>
      <p:sp>
        <p:nvSpPr>
          <p:cNvPr id="13" name="Shape 11"/>
          <p:cNvSpPr/>
          <p:nvPr/>
        </p:nvSpPr>
        <p:spPr>
          <a:xfrm>
            <a:off x="4315968" y="1188720"/>
            <a:ext cx="3557016" cy="4261104"/>
          </a:xfrm>
          <a:prstGeom prst="roundRect">
            <a:avLst>
              <a:gd name="adj" fmla="val 2571"/>
            </a:avLst>
          </a:prstGeom>
          <a:solidFill>
            <a:srgbClr val="F2F6F8"/>
          </a:solidFill>
          <a:ln w="12700">
            <a:solidFill>
              <a:srgbClr val="DDE6EB"/>
            </a:solidFill>
            <a:prstDash val="solid"/>
          </a:ln>
          <a:effectLst>
            <a:outerShdw sx="100000" sy="100000" kx="0" ky="0" algn="bl" rotWithShape="0" blurRad="101600" dist="25400" dir="5400000">
              <a:srgbClr val="8FA3B0">
                <a:alpha val="25000"/>
              </a:srgbClr>
            </a:outerShdw>
          </a:effectLst>
        </p:spPr>
      </p:sp>
      <p:sp>
        <p:nvSpPr>
          <p:cNvPr id="14" name="Shape 12"/>
          <p:cNvSpPr/>
          <p:nvPr/>
        </p:nvSpPr>
        <p:spPr>
          <a:xfrm>
            <a:off x="4590288" y="1389888"/>
            <a:ext cx="402336" cy="402336"/>
          </a:xfrm>
          <a:prstGeom prst="ellipse">
            <a:avLst/>
          </a:prstGeom>
          <a:solidFill>
            <a:srgbClr val="1C7293"/>
          </a:solidFill>
          <a:ln w="12700">
            <a:solidFill>
              <a:srgbClr val="1C7293"/>
            </a:solidFill>
            <a:prstDash val="solid"/>
          </a:ln>
        </p:spPr>
      </p:sp>
      <p:sp>
        <p:nvSpPr>
          <p:cNvPr id="15" name="Text 13"/>
          <p:cNvSpPr txBox="1"/>
          <p:nvPr/>
        </p:nvSpPr>
        <p:spPr>
          <a:xfrm>
            <a:off x="4590288" y="13898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6" name="Text 14"/>
          <p:cNvSpPr txBox="1"/>
          <p:nvPr/>
        </p:nvSpPr>
        <p:spPr>
          <a:xfrm>
            <a:off x="4590288" y="1865376"/>
            <a:ext cx="3008376" cy="402336"/>
          </a:xfrm>
          <a:prstGeom prst="rect">
            <a:avLst/>
          </a:prstGeom>
          <a:noFill/>
          <a:ln/>
        </p:spPr>
        <p:txBody>
          <a:bodyPr wrap="square" lIns="0" tIns="0" rIns="0" bIns="0" rtlCol="0" anchor="t"/>
          <a:lstStyle/>
          <a:p>
            <a:pPr indent="0" marL="0">
              <a:buNone/>
            </a:pPr>
            <a:r>
              <a:rPr lang="en-US" sz="1350" b="1" dirty="0">
                <a:solidFill>
                  <a:srgbClr val="1C7293"/>
                </a:solidFill>
                <a:latin typeface="Cambria" pitchFamily="34" charset="0"/>
                <a:ea typeface="Cambria" pitchFamily="34" charset="-122"/>
                <a:cs typeface="Cambria" pitchFamily="34" charset="-120"/>
              </a:rPr>
              <a:t>DMN transpiled to Spark SQL</a:t>
            </a:r>
            <a:endParaRPr lang="en-US" sz="1350" dirty="0"/>
          </a:p>
        </p:txBody>
      </p:sp>
      <p:sp>
        <p:nvSpPr>
          <p:cNvPr id="17" name="Text 15"/>
          <p:cNvSpPr txBox="1"/>
          <p:nvPr/>
        </p:nvSpPr>
        <p:spPr>
          <a:xfrm>
            <a:off x="4590288" y="2267712"/>
            <a:ext cx="3008376" cy="420624"/>
          </a:xfrm>
          <a:prstGeom prst="rect">
            <a:avLst/>
          </a:prstGeom>
          <a:noFill/>
          <a:ln/>
        </p:spPr>
        <p:txBody>
          <a:bodyPr wrap="square" lIns="0" tIns="0" rIns="0" bIns="0" rtlCol="0" anchor="t"/>
          <a:lstStyle/>
          <a:p>
            <a:pPr indent="0" marL="0">
              <a:buNone/>
            </a:pPr>
            <a:r>
              <a:rPr lang="en-US" sz="850" dirty="0">
                <a:solidFill>
                  <a:srgbClr val="5A6B78"/>
                </a:solidFill>
                <a:latin typeface="Calibri" pitchFamily="34" charset="0"/>
                <a:ea typeface="Calibri" pitchFamily="34" charset="-122"/>
                <a:cs typeface="Calibri" pitchFamily="34" charset="-120"/>
              </a:rPr>
              <a:t>DMN model → generated Spark SQL → runs in place on the Delta tables</a:t>
            </a:r>
            <a:endParaRPr lang="en-US" sz="850" dirty="0"/>
          </a:p>
        </p:txBody>
      </p:sp>
      <p:sp>
        <p:nvSpPr>
          <p:cNvPr id="18" name="Text 16"/>
          <p:cNvSpPr txBox="1"/>
          <p:nvPr/>
        </p:nvSpPr>
        <p:spPr>
          <a:xfrm>
            <a:off x="4590288" y="2743200"/>
            <a:ext cx="3008376" cy="182880"/>
          </a:xfrm>
          <a:prstGeom prst="rect">
            <a:avLst/>
          </a:prstGeom>
          <a:noFill/>
          <a:ln/>
        </p:spPr>
        <p:txBody>
          <a:bodyPr wrap="square" lIns="0" tIns="0" rIns="0" bIns="0" rtlCol="0" anchor="ctr"/>
          <a:lstStyle/>
          <a:p>
            <a:pPr indent="0" marL="0">
              <a:buNone/>
            </a:pPr>
            <a:r>
              <a:rPr lang="en-US" sz="900" b="1" spc="150" kern="0" dirty="0">
                <a:solidFill>
                  <a:srgbClr val="1C7293"/>
                </a:solidFill>
                <a:latin typeface="Calibri" pitchFamily="34" charset="0"/>
                <a:ea typeface="Calibri" pitchFamily="34" charset="-122"/>
                <a:cs typeface="Calibri" pitchFamily="34" charset="-120"/>
              </a:rPr>
              <a:t>STRENGTHS</a:t>
            </a:r>
            <a:endParaRPr lang="en-US" sz="900" dirty="0"/>
          </a:p>
        </p:txBody>
      </p:sp>
      <p:sp>
        <p:nvSpPr>
          <p:cNvPr id="19" name="Text 17"/>
          <p:cNvSpPr txBox="1"/>
          <p:nvPr/>
        </p:nvSpPr>
        <p:spPr>
          <a:xfrm>
            <a:off x="4590288" y="2926080"/>
            <a:ext cx="3008376" cy="1115568"/>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Column-vectorized codegen: a different execution model, not just more machines</a:t>
            </a:r>
            <a:endParaRPr lang="en-US" sz="950" dirty="0"/>
          </a:p>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By far the fastest, and the data never moves</a:t>
            </a:r>
            <a:endParaRPr lang="en-US" sz="950" dirty="0"/>
          </a:p>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Governance, lineage and orchestration come for free</a:t>
            </a:r>
            <a:endParaRPr lang="en-US" sz="950" dirty="0"/>
          </a:p>
        </p:txBody>
      </p:sp>
      <p:sp>
        <p:nvSpPr>
          <p:cNvPr id="20" name="Text 18"/>
          <p:cNvSpPr txBox="1"/>
          <p:nvPr/>
        </p:nvSpPr>
        <p:spPr>
          <a:xfrm>
            <a:off x="4590288" y="4096512"/>
            <a:ext cx="3008376" cy="182880"/>
          </a:xfrm>
          <a:prstGeom prst="rect">
            <a:avLst/>
          </a:prstGeom>
          <a:noFill/>
          <a:ln/>
        </p:spPr>
        <p:txBody>
          <a:bodyPr wrap="square" lIns="0" tIns="0" rIns="0" bIns="0" rtlCol="0" anchor="ctr"/>
          <a:lstStyle/>
          <a:p>
            <a:pPr indent="0" marL="0">
              <a:buNone/>
            </a:pPr>
            <a:r>
              <a:rPr lang="en-US" sz="900" b="1" spc="150" kern="0" dirty="0">
                <a:solidFill>
                  <a:srgbClr val="A8611F"/>
                </a:solidFill>
                <a:latin typeface="Calibri" pitchFamily="34" charset="0"/>
                <a:ea typeface="Calibri" pitchFamily="34" charset="-122"/>
                <a:cs typeface="Calibri" pitchFamily="34" charset="-120"/>
              </a:rPr>
              <a:t>WATCH-OUTS</a:t>
            </a:r>
            <a:endParaRPr lang="en-US" sz="900" dirty="0"/>
          </a:p>
        </p:txBody>
      </p:sp>
      <p:sp>
        <p:nvSpPr>
          <p:cNvPr id="21" name="Text 19"/>
          <p:cNvSpPr txBox="1"/>
          <p:nvPr/>
        </p:nvSpPr>
        <p:spPr>
          <a:xfrm>
            <a:off x="4590288" y="4279392"/>
            <a:ext cx="3008376" cy="10972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The transpiler is ours to build and own — no off-the-shelf equivalent exists</a:t>
            </a:r>
            <a:endParaRPr lang="en-US" sz="950" dirty="0"/>
          </a:p>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FEEL ≠ SQL: nulls, decimals, dates and range bounds need tested mappings</a:t>
            </a:r>
            <a:endParaRPr lang="en-US" sz="950" dirty="0"/>
          </a:p>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FEEL iterations and nested contexts have no plain-SQL form</a:t>
            </a:r>
            <a:endParaRPr lang="en-US" sz="950" dirty="0"/>
          </a:p>
        </p:txBody>
      </p:sp>
      <p:sp>
        <p:nvSpPr>
          <p:cNvPr id="22" name="Shape 20"/>
          <p:cNvSpPr/>
          <p:nvPr/>
        </p:nvSpPr>
        <p:spPr>
          <a:xfrm>
            <a:off x="8174736" y="1188720"/>
            <a:ext cx="3557016" cy="4261104"/>
          </a:xfrm>
          <a:prstGeom prst="roundRect">
            <a:avLst>
              <a:gd name="adj" fmla="val 2571"/>
            </a:avLst>
          </a:prstGeom>
          <a:solidFill>
            <a:srgbClr val="F2F6F8"/>
          </a:solidFill>
          <a:ln w="12700">
            <a:solidFill>
              <a:srgbClr val="DDE6EB"/>
            </a:solidFill>
            <a:prstDash val="solid"/>
          </a:ln>
          <a:effectLst>
            <a:outerShdw sx="100000" sy="100000" kx="0" ky="0" algn="bl" rotWithShape="0" blurRad="101600" dist="25400" dir="5400000">
              <a:srgbClr val="8FA3B0">
                <a:alpha val="25000"/>
              </a:srgbClr>
            </a:outerShdw>
          </a:effectLst>
        </p:spPr>
      </p:sp>
      <p:sp>
        <p:nvSpPr>
          <p:cNvPr id="23" name="Shape 21"/>
          <p:cNvSpPr/>
          <p:nvPr/>
        </p:nvSpPr>
        <p:spPr>
          <a:xfrm>
            <a:off x="8449056" y="1389888"/>
            <a:ext cx="402336" cy="402336"/>
          </a:xfrm>
          <a:prstGeom prst="ellipse">
            <a:avLst/>
          </a:prstGeom>
          <a:solidFill>
            <a:srgbClr val="127C71"/>
          </a:solidFill>
          <a:ln w="12700">
            <a:solidFill>
              <a:srgbClr val="127C71"/>
            </a:solidFill>
            <a:prstDash val="solid"/>
          </a:ln>
        </p:spPr>
      </p:sp>
      <p:sp>
        <p:nvSpPr>
          <p:cNvPr id="24" name="Text 22"/>
          <p:cNvSpPr txBox="1"/>
          <p:nvPr/>
        </p:nvSpPr>
        <p:spPr>
          <a:xfrm>
            <a:off x="8449056" y="13898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25" name="Text 23"/>
          <p:cNvSpPr txBox="1"/>
          <p:nvPr/>
        </p:nvSpPr>
        <p:spPr>
          <a:xfrm>
            <a:off x="8449056" y="1865376"/>
            <a:ext cx="3008376" cy="402336"/>
          </a:xfrm>
          <a:prstGeom prst="rect">
            <a:avLst/>
          </a:prstGeom>
          <a:noFill/>
          <a:ln/>
        </p:spPr>
        <p:txBody>
          <a:bodyPr wrap="square" lIns="0" tIns="0" rIns="0" bIns="0" rtlCol="0" anchor="t"/>
          <a:lstStyle/>
          <a:p>
            <a:pPr indent="0" marL="0">
              <a:buNone/>
            </a:pPr>
            <a:r>
              <a:rPr lang="en-US" sz="1350" b="1" dirty="0">
                <a:solidFill>
                  <a:srgbClr val="127C71"/>
                </a:solidFill>
                <a:latin typeface="Cambria" pitchFamily="34" charset="0"/>
                <a:ea typeface="Cambria" pitchFamily="34" charset="-122"/>
                <a:cs typeface="Cambria" pitchFamily="34" charset="-120"/>
              </a:rPr>
              <a:t>Kogito in a Spark UDF</a:t>
            </a:r>
            <a:endParaRPr lang="en-US" sz="1350" dirty="0"/>
          </a:p>
        </p:txBody>
      </p:sp>
      <p:sp>
        <p:nvSpPr>
          <p:cNvPr id="26" name="Text 24"/>
          <p:cNvSpPr txBox="1"/>
          <p:nvPr/>
        </p:nvSpPr>
        <p:spPr>
          <a:xfrm>
            <a:off x="8449056" y="2267712"/>
            <a:ext cx="3008376" cy="420624"/>
          </a:xfrm>
          <a:prstGeom prst="rect">
            <a:avLst/>
          </a:prstGeom>
          <a:noFill/>
          <a:ln/>
        </p:spPr>
        <p:txBody>
          <a:bodyPr wrap="square" lIns="0" tIns="0" rIns="0" bIns="0" rtlCol="0" anchor="t"/>
          <a:lstStyle/>
          <a:p>
            <a:pPr indent="0" marL="0">
              <a:buNone/>
            </a:pPr>
            <a:r>
              <a:rPr lang="en-US" sz="850" dirty="0">
                <a:solidFill>
                  <a:srgbClr val="5A6B78"/>
                </a:solidFill>
                <a:latin typeface="Calibri" pitchFamily="34" charset="0"/>
                <a:ea typeface="Calibri" pitchFamily="34" charset="-122"/>
                <a:cs typeface="Calibri" pitchFamily="34" charset="-120"/>
              </a:rPr>
              <a:t>dmn-4-spark + kogito-4-spark → Kogito evaluated row-wise inside Spark</a:t>
            </a:r>
            <a:endParaRPr lang="en-US" sz="850" dirty="0"/>
          </a:p>
        </p:txBody>
      </p:sp>
      <p:sp>
        <p:nvSpPr>
          <p:cNvPr id="27" name="Text 25"/>
          <p:cNvSpPr txBox="1"/>
          <p:nvPr/>
        </p:nvSpPr>
        <p:spPr>
          <a:xfrm>
            <a:off x="8449056" y="2743200"/>
            <a:ext cx="3008376" cy="182880"/>
          </a:xfrm>
          <a:prstGeom prst="rect">
            <a:avLst/>
          </a:prstGeom>
          <a:noFill/>
          <a:ln/>
        </p:spPr>
        <p:txBody>
          <a:bodyPr wrap="square" lIns="0" tIns="0" rIns="0" bIns="0" rtlCol="0" anchor="ctr"/>
          <a:lstStyle/>
          <a:p>
            <a:pPr indent="0" marL="0">
              <a:buNone/>
            </a:pPr>
            <a:r>
              <a:rPr lang="en-US" sz="900" b="1" spc="150" kern="0" dirty="0">
                <a:solidFill>
                  <a:srgbClr val="1C7293"/>
                </a:solidFill>
                <a:latin typeface="Calibri" pitchFamily="34" charset="0"/>
                <a:ea typeface="Calibri" pitchFamily="34" charset="-122"/>
                <a:cs typeface="Calibri" pitchFamily="34" charset="-120"/>
              </a:rPr>
              <a:t>STRENGTHS</a:t>
            </a:r>
            <a:endParaRPr lang="en-US" sz="900" dirty="0"/>
          </a:p>
        </p:txBody>
      </p:sp>
      <p:sp>
        <p:nvSpPr>
          <p:cNvPr id="28" name="Text 26"/>
          <p:cNvSpPr txBox="1"/>
          <p:nvPr/>
        </p:nvSpPr>
        <p:spPr>
          <a:xfrm>
            <a:off x="8449056" y="2926080"/>
            <a:ext cx="3008376" cy="1115568"/>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Nothing to write and the data never moves — days of work, not weeks</a:t>
            </a:r>
            <a:endParaRPr lang="en-US" sz="950" dirty="0"/>
          </a:p>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Kogito's exact semantics, so no equivalence risk at all</a:t>
            </a:r>
            <a:endParaRPr lang="en-US" sz="950" dirty="0"/>
          </a:p>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Doubles as the oracle for B: full 80M rows, inside Databricks</a:t>
            </a:r>
            <a:endParaRPr lang="en-US" sz="950" dirty="0"/>
          </a:p>
        </p:txBody>
      </p:sp>
      <p:sp>
        <p:nvSpPr>
          <p:cNvPr id="29" name="Text 27"/>
          <p:cNvSpPr txBox="1"/>
          <p:nvPr/>
        </p:nvSpPr>
        <p:spPr>
          <a:xfrm>
            <a:off x="8449056" y="4096512"/>
            <a:ext cx="3008376" cy="182880"/>
          </a:xfrm>
          <a:prstGeom prst="rect">
            <a:avLst/>
          </a:prstGeom>
          <a:noFill/>
          <a:ln/>
        </p:spPr>
        <p:txBody>
          <a:bodyPr wrap="square" lIns="0" tIns="0" rIns="0" bIns="0" rtlCol="0" anchor="ctr"/>
          <a:lstStyle/>
          <a:p>
            <a:pPr indent="0" marL="0">
              <a:buNone/>
            </a:pPr>
            <a:r>
              <a:rPr lang="en-US" sz="900" b="1" spc="150" kern="0" dirty="0">
                <a:solidFill>
                  <a:srgbClr val="A8611F"/>
                </a:solidFill>
                <a:latin typeface="Calibri" pitchFamily="34" charset="0"/>
                <a:ea typeface="Calibri" pitchFamily="34" charset="-122"/>
                <a:cs typeface="Calibri" pitchFamily="34" charset="-120"/>
              </a:rPr>
              <a:t>WATCH-OUTS</a:t>
            </a:r>
            <a:endParaRPr lang="en-US" sz="900" dirty="0"/>
          </a:p>
        </p:txBody>
      </p:sp>
      <p:sp>
        <p:nvSpPr>
          <p:cNvPr id="30" name="Text 28"/>
          <p:cNvSpPr txBox="1"/>
          <p:nvPr/>
        </p:nvSpPr>
        <p:spPr>
          <a:xfrm>
            <a:off x="8449056" y="4279392"/>
            <a:ext cx="3008376" cy="10972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~23× slower than native Spark rule processing (the project's own figure)</a:t>
            </a:r>
            <a:endParaRPr lang="en-US" sz="950" dirty="0"/>
          </a:p>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Scala/JVM, JDK 17, Spark 3.5 — and cluster policy may forbid JVM UDFs</a:t>
            </a:r>
            <a:endParaRPr lang="en-US" sz="950" dirty="0"/>
          </a:p>
          <a:p>
            <a:pPr marL="342900" indent="-342900">
              <a:spcAft>
                <a:spcPts val="500"/>
              </a:spcAft>
              <a:buSzPct val="100000"/>
              <a:buChar char="●"/>
            </a:pPr>
            <a:r>
              <a:rPr lang="en-US" sz="950" dirty="0">
                <a:solidFill>
                  <a:srgbClr val="1A2430"/>
                </a:solidFill>
                <a:latin typeface="Calibri" pitchFamily="34" charset="0"/>
                <a:ea typeface="Calibri" pitchFamily="34" charset="-122"/>
                <a:cs typeface="Calibri" pitchFamily="34" charset="-120"/>
              </a:rPr>
              <a:t>Niche project: maintenance, licence and DBR compatibility to verify</a:t>
            </a:r>
            <a:endParaRPr lang="en-US" sz="950" dirty="0"/>
          </a:p>
        </p:txBody>
      </p:sp>
      <p:sp>
        <p:nvSpPr>
          <p:cNvPr id="31" name="Shape 29"/>
          <p:cNvSpPr/>
          <p:nvPr/>
        </p:nvSpPr>
        <p:spPr>
          <a:xfrm>
            <a:off x="457200" y="5559552"/>
            <a:ext cx="11274552" cy="1060704"/>
          </a:xfrm>
          <a:prstGeom prst="roundRect">
            <a:avLst>
              <a:gd name="adj" fmla="val 6897"/>
            </a:avLst>
          </a:prstGeom>
          <a:solidFill>
            <a:srgbClr val="21295C"/>
          </a:solidFill>
          <a:ln w="12700">
            <a:solidFill>
              <a:srgbClr val="21295C"/>
            </a:solidFill>
            <a:prstDash val="solid"/>
          </a:ln>
        </p:spPr>
      </p:sp>
      <p:sp>
        <p:nvSpPr>
          <p:cNvPr id="32" name="Shape 30"/>
          <p:cNvSpPr/>
          <p:nvPr/>
        </p:nvSpPr>
        <p:spPr>
          <a:xfrm>
            <a:off x="713232" y="5888736"/>
            <a:ext cx="402336" cy="402336"/>
          </a:xfrm>
          <a:prstGeom prst="ellipse">
            <a:avLst/>
          </a:prstGeom>
          <a:solidFill>
            <a:srgbClr val="127C71"/>
          </a:solidFill>
          <a:ln w="12700">
            <a:solidFill>
              <a:srgbClr val="127C71"/>
            </a:solidFill>
            <a:prstDash val="solid"/>
          </a:ln>
        </p:spPr>
      </p:sp>
      <p:sp>
        <p:nvSpPr>
          <p:cNvPr id="33" name="Text 31"/>
          <p:cNvSpPr txBox="1"/>
          <p:nvPr/>
        </p:nvSpPr>
        <p:spPr>
          <a:xfrm>
            <a:off x="713232" y="58887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34" name="Text 32"/>
          <p:cNvSpPr txBox="1"/>
          <p:nvPr/>
        </p:nvSpPr>
        <p:spPr>
          <a:xfrm>
            <a:off x="1243584" y="5742432"/>
            <a:ext cx="2651760" cy="201168"/>
          </a:xfrm>
          <a:prstGeom prst="rect">
            <a:avLst/>
          </a:prstGeom>
          <a:noFill/>
          <a:ln/>
        </p:spPr>
        <p:txBody>
          <a:bodyPr wrap="square" lIns="0" tIns="0" rIns="0" bIns="0" rtlCol="0" anchor="ctr"/>
          <a:lstStyle/>
          <a:p>
            <a:pPr indent="0" marL="0">
              <a:buNone/>
            </a:pPr>
            <a:r>
              <a:rPr lang="en-US" sz="950" b="1" spc="150" kern="0" dirty="0">
                <a:solidFill>
                  <a:srgbClr val="9FB2D8"/>
                </a:solidFill>
                <a:latin typeface="Calibri" pitchFamily="34" charset="0"/>
                <a:ea typeface="Calibri" pitchFamily="34" charset="-122"/>
                <a:cs typeface="Calibri" pitchFamily="34" charset="-120"/>
              </a:rPr>
              <a:t>RECOMMENDED SEQUENCE</a:t>
            </a:r>
            <a:endParaRPr lang="en-US" sz="950" dirty="0"/>
          </a:p>
        </p:txBody>
      </p:sp>
      <p:sp>
        <p:nvSpPr>
          <p:cNvPr id="35" name="Text 33"/>
          <p:cNvSpPr txBox="1"/>
          <p:nvPr/>
        </p:nvSpPr>
        <p:spPr>
          <a:xfrm>
            <a:off x="1243584" y="5943600"/>
            <a:ext cx="2743200" cy="3840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 first, then B</a:t>
            </a:r>
            <a:endParaRPr lang="en-US" sz="1600" dirty="0"/>
          </a:p>
        </p:txBody>
      </p:sp>
      <p:sp>
        <p:nvSpPr>
          <p:cNvPr id="36" name="Text 34"/>
          <p:cNvSpPr txBox="1"/>
          <p:nvPr/>
        </p:nvSpPr>
        <p:spPr>
          <a:xfrm>
            <a:off x="4160520" y="5687568"/>
            <a:ext cx="7388352" cy="841248"/>
          </a:xfrm>
          <a:prstGeom prst="rect">
            <a:avLst/>
          </a:prstGeom>
          <a:noFill/>
          <a:ln/>
        </p:spPr>
        <p:txBody>
          <a:bodyPr wrap="square" lIns="0" tIns="0" rIns="0" bIns="0" rtlCol="0" anchor="t"/>
          <a:lstStyle/>
          <a:p>
            <a:pPr indent="0" marL="0">
              <a:spcAft>
                <a:spcPts val="400"/>
              </a:spcAft>
              <a:buNone/>
            </a:pPr>
            <a:r>
              <a:rPr lang="en-US" sz="1050" dirty="0">
                <a:solidFill>
                  <a:srgbClr val="FFFFFF"/>
                </a:solidFill>
                <a:latin typeface="Calibri" pitchFamily="34" charset="0"/>
                <a:ea typeface="Calibri" pitchFamily="34" charset="-122"/>
                <a:cs typeface="Calibri" pitchFamily="34" charset="-120"/>
              </a:rPr>
              <a:t>Option C is days of work and needs none of the model files. It either hands us a working Databricks path plus the exact oracle option B needs, or it shows that JVM UDFs are barred by cluster policy — decisive either way, and only then does the transpiler need a decision.</a:t>
            </a:r>
            <a:endParaRPr lang="en-US" sz="1050" dirty="0"/>
          </a:p>
          <a:p>
            <a:pPr indent="0" marL="0">
              <a:buNone/>
            </a:pPr>
            <a:r>
              <a:rPr lang="en-US" sz="1050" i="1" dirty="0">
                <a:solidFill>
                  <a:srgbClr val="B9C6E4"/>
                </a:solidFill>
                <a:latin typeface="Calibri" pitchFamily="34" charset="0"/>
                <a:ea typeface="Calibri" pitchFamily="34" charset="-122"/>
                <a:cs typeface="Calibri" pitchFamily="34" charset="-120"/>
              </a:rPr>
              <a:t>B remains the target if 23× proves too slow or too costly in DBUs. A remains the fallback if Databricks is closed to JVM UDFs and the transpiler turns out too expensive.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11274552" cy="457200"/>
          </a:xfrm>
          <a:prstGeom prst="rect">
            <a:avLst/>
          </a:prstGeom>
          <a:noFill/>
          <a:ln/>
        </p:spPr>
        <p:txBody>
          <a:bodyPr wrap="square" lIns="0" tIns="0" rIns="0" bIns="0" rtlCol="0" anchor="ctr"/>
          <a:lstStyle/>
          <a:p>
            <a:pPr algn="l" indent="0" marL="0">
              <a:buNone/>
            </a:pPr>
            <a:r>
              <a:rPr lang="en-US" sz="2600" b="1" dirty="0">
                <a:solidFill>
                  <a:srgbClr val="1A2430"/>
                </a:solidFill>
                <a:latin typeface="Cambria" pitchFamily="34" charset="0"/>
                <a:ea typeface="Cambria" pitchFamily="34" charset="-122"/>
                <a:cs typeface="Cambria" pitchFamily="34" charset="-120"/>
              </a:rPr>
              <a:t>What makes this safe — and the checks that could still change it</a:t>
            </a:r>
            <a:endParaRPr lang="en-US" sz="2600" dirty="0"/>
          </a:p>
        </p:txBody>
      </p:sp>
      <p:sp>
        <p:nvSpPr>
          <p:cNvPr id="3" name="Text 1"/>
          <p:cNvSpPr txBox="1"/>
          <p:nvPr/>
        </p:nvSpPr>
        <p:spPr>
          <a:xfrm>
            <a:off x="457200" y="722376"/>
            <a:ext cx="11274552" cy="274320"/>
          </a:xfrm>
          <a:prstGeom prst="rect">
            <a:avLst/>
          </a:prstGeom>
          <a:noFill/>
          <a:ln/>
        </p:spPr>
        <p:txBody>
          <a:bodyPr wrap="square" lIns="0" tIns="0" rIns="0" bIns="0" rtlCol="0" anchor="ctr"/>
          <a:lstStyle/>
          <a:p>
            <a:pPr algn="l" indent="0" marL="0">
              <a:buNone/>
            </a:pPr>
            <a:r>
              <a:rPr lang="en-US" sz="1150" i="1" dirty="0">
                <a:solidFill>
                  <a:srgbClr val="5A6B78"/>
                </a:solidFill>
                <a:latin typeface="Calibri" pitchFamily="34" charset="0"/>
                <a:ea typeface="Calibri" pitchFamily="34" charset="-122"/>
                <a:cs typeface="Calibri" pitchFamily="34" charset="-120"/>
              </a:rPr>
              <a:t>Feasibility is conditional: four engineering rules for the transpiler, and four checks that none of us has run yet</a:t>
            </a:r>
            <a:endParaRPr lang="en-US" sz="1150" dirty="0"/>
          </a:p>
        </p:txBody>
      </p:sp>
      <p:sp>
        <p:nvSpPr>
          <p:cNvPr id="4" name="Shape 2"/>
          <p:cNvSpPr/>
          <p:nvPr/>
        </p:nvSpPr>
        <p:spPr>
          <a:xfrm>
            <a:off x="457200" y="1188720"/>
            <a:ext cx="5486400" cy="4261104"/>
          </a:xfrm>
          <a:prstGeom prst="roundRect">
            <a:avLst>
              <a:gd name="adj" fmla="val 2146"/>
            </a:avLst>
          </a:prstGeom>
          <a:solidFill>
            <a:srgbClr val="F2F6F8"/>
          </a:solidFill>
          <a:ln w="12700">
            <a:solidFill>
              <a:srgbClr val="DDE6EB"/>
            </a:solidFill>
            <a:prstDash val="solid"/>
          </a:ln>
          <a:effectLst>
            <a:outerShdw sx="100000" sy="100000" kx="0" ky="0" algn="bl" rotWithShape="0" blurRad="101600" dist="25400" dir="5400000">
              <a:srgbClr val="8FA3B0">
                <a:alpha val="25000"/>
              </a:srgbClr>
            </a:outerShdw>
          </a:effectLst>
        </p:spPr>
      </p:sp>
      <p:sp>
        <p:nvSpPr>
          <p:cNvPr id="5" name="Text 3"/>
          <p:cNvSpPr txBox="1"/>
          <p:nvPr/>
        </p:nvSpPr>
        <p:spPr>
          <a:xfrm>
            <a:off x="731520" y="1463040"/>
            <a:ext cx="4937760" cy="274320"/>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Conditions — non-negotiable</a:t>
            </a:r>
            <a:endParaRPr lang="en-US" sz="1500" dirty="0"/>
          </a:p>
        </p:txBody>
      </p:sp>
      <p:sp>
        <p:nvSpPr>
          <p:cNvPr id="6" name="Shape 4"/>
          <p:cNvSpPr/>
          <p:nvPr/>
        </p:nvSpPr>
        <p:spPr>
          <a:xfrm>
            <a:off x="731520" y="2048256"/>
            <a:ext cx="310896" cy="310896"/>
          </a:xfrm>
          <a:prstGeom prst="ellipse">
            <a:avLst/>
          </a:prstGeom>
          <a:solidFill>
            <a:srgbClr val="065A82"/>
          </a:solidFill>
          <a:ln w="12700">
            <a:solidFill>
              <a:srgbClr val="065A82"/>
            </a:solidFill>
            <a:prstDash val="solid"/>
          </a:ln>
        </p:spPr>
      </p:sp>
      <p:sp>
        <p:nvSpPr>
          <p:cNvPr id="7" name="Text 5"/>
          <p:cNvSpPr txBox="1"/>
          <p:nvPr/>
        </p:nvSpPr>
        <p:spPr>
          <a:xfrm>
            <a:off x="731520" y="20482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8" name="Text 6"/>
          <p:cNvSpPr txBox="1"/>
          <p:nvPr/>
        </p:nvSpPr>
        <p:spPr>
          <a:xfrm>
            <a:off x="1152144" y="2029968"/>
            <a:ext cx="4517136" cy="219456"/>
          </a:xfrm>
          <a:prstGeom prst="rect">
            <a:avLst/>
          </a:prstGeom>
          <a:noFill/>
          <a:ln/>
        </p:spPr>
        <p:txBody>
          <a:bodyPr wrap="square" lIns="0" tIns="0" rIns="0" bIns="0" rtlCol="0" anchor="ctr"/>
          <a:lstStyle/>
          <a:p>
            <a:pPr indent="0" marL="0">
              <a:buNone/>
            </a:pPr>
            <a:r>
              <a:rPr lang="en-US" sz="1050" b="1" dirty="0">
                <a:solidFill>
                  <a:srgbClr val="1A2430"/>
                </a:solidFill>
                <a:latin typeface="Calibri" pitchFamily="34" charset="0"/>
                <a:ea typeface="Calibri" pitchFamily="34" charset="-122"/>
                <a:cs typeface="Calibri" pitchFamily="34" charset="-120"/>
              </a:rPr>
              <a:t>Whitelist transpiler</a:t>
            </a:r>
            <a:endParaRPr lang="en-US" sz="1050" dirty="0"/>
          </a:p>
        </p:txBody>
      </p:sp>
      <p:sp>
        <p:nvSpPr>
          <p:cNvPr id="9" name="Text 7"/>
          <p:cNvSpPr txBox="1"/>
          <p:nvPr/>
        </p:nvSpPr>
        <p:spPr>
          <a:xfrm>
            <a:off x="1152144" y="2267712"/>
            <a:ext cx="4517136" cy="566928"/>
          </a:xfrm>
          <a:prstGeom prst="rect">
            <a:avLst/>
          </a:prstGeom>
          <a:noFill/>
          <a:ln/>
        </p:spPr>
        <p:txBody>
          <a:bodyPr wrap="square" lIns="0" tIns="0" rIns="0" bIns="0" rtlCol="0" anchor="t"/>
          <a:lstStyle/>
          <a:p>
            <a:pPr indent="0" marL="0">
              <a:buNone/>
            </a:pPr>
            <a:r>
              <a:rPr lang="en-US" sz="950" dirty="0">
                <a:solidFill>
                  <a:srgbClr val="5A6B78"/>
                </a:solidFill>
                <a:latin typeface="Calibri" pitchFamily="34" charset="0"/>
                <a:ea typeface="Calibri" pitchFamily="34" charset="-122"/>
                <a:cs typeface="Calibri" pitchFamily="34" charset="-120"/>
              </a:rPr>
              <a:t>It compiles only the FEEL constructs it explicitly supports and fails the build on everything else. This is what turns a silently wrong result into a red pipeline.</a:t>
            </a:r>
            <a:endParaRPr lang="en-US" sz="950" dirty="0"/>
          </a:p>
        </p:txBody>
      </p:sp>
      <p:sp>
        <p:nvSpPr>
          <p:cNvPr id="10" name="Shape 8"/>
          <p:cNvSpPr/>
          <p:nvPr/>
        </p:nvSpPr>
        <p:spPr>
          <a:xfrm>
            <a:off x="731520" y="2898648"/>
            <a:ext cx="310896" cy="310896"/>
          </a:xfrm>
          <a:prstGeom prst="ellipse">
            <a:avLst/>
          </a:prstGeom>
          <a:solidFill>
            <a:srgbClr val="065A82"/>
          </a:solidFill>
          <a:ln w="12700">
            <a:solidFill>
              <a:srgbClr val="065A82"/>
            </a:solidFill>
            <a:prstDash val="solid"/>
          </a:ln>
        </p:spPr>
      </p:sp>
      <p:sp>
        <p:nvSpPr>
          <p:cNvPr id="11" name="Text 9"/>
          <p:cNvSpPr txBox="1"/>
          <p:nvPr/>
        </p:nvSpPr>
        <p:spPr>
          <a:xfrm>
            <a:off x="731520" y="28986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2" name="Text 10"/>
          <p:cNvSpPr txBox="1"/>
          <p:nvPr/>
        </p:nvSpPr>
        <p:spPr>
          <a:xfrm>
            <a:off x="1152144" y="2880360"/>
            <a:ext cx="4517136" cy="219456"/>
          </a:xfrm>
          <a:prstGeom prst="rect">
            <a:avLst/>
          </a:prstGeom>
          <a:noFill/>
          <a:ln/>
        </p:spPr>
        <p:txBody>
          <a:bodyPr wrap="square" lIns="0" tIns="0" rIns="0" bIns="0" rtlCol="0" anchor="ctr"/>
          <a:lstStyle/>
          <a:p>
            <a:pPr indent="0" marL="0">
              <a:buNone/>
            </a:pPr>
            <a:r>
              <a:rPr lang="en-US" sz="1050" b="1" dirty="0">
                <a:solidFill>
                  <a:srgbClr val="1A2430"/>
                </a:solidFill>
                <a:latin typeface="Calibri" pitchFamily="34" charset="0"/>
                <a:ea typeface="Calibri" pitchFamily="34" charset="-122"/>
                <a:cs typeface="Calibri" pitchFamily="34" charset="-120"/>
              </a:rPr>
              <a:t>Generated in CI, never by hand</a:t>
            </a:r>
            <a:endParaRPr lang="en-US" sz="1050" dirty="0"/>
          </a:p>
        </p:txBody>
      </p:sp>
      <p:sp>
        <p:nvSpPr>
          <p:cNvPr id="13" name="Text 11"/>
          <p:cNvSpPr txBox="1"/>
          <p:nvPr/>
        </p:nvSpPr>
        <p:spPr>
          <a:xfrm>
            <a:off x="1152144" y="3118104"/>
            <a:ext cx="4517136" cy="566928"/>
          </a:xfrm>
          <a:prstGeom prst="rect">
            <a:avLst/>
          </a:prstGeom>
          <a:noFill/>
          <a:ln/>
        </p:spPr>
        <p:txBody>
          <a:bodyPr wrap="square" lIns="0" tIns="0" rIns="0" bIns="0" rtlCol="0" anchor="t"/>
          <a:lstStyle/>
          <a:p>
            <a:pPr indent="0" marL="0">
              <a:buNone/>
            </a:pPr>
            <a:r>
              <a:rPr lang="en-US" sz="950" dirty="0">
                <a:solidFill>
                  <a:srgbClr val="5A6B78"/>
                </a:solidFill>
                <a:latin typeface="Calibri" pitchFamily="34" charset="0"/>
                <a:ea typeface="Calibri" pitchFamily="34" charset="-122"/>
                <a:cs typeface="Calibri" pitchFamily="34" charset="-120"/>
              </a:rPr>
              <a:t>The SQL is regenerated from the .dmn on every build. A hand-edited query is the moment the two artifacts begin to diverge.</a:t>
            </a:r>
            <a:endParaRPr lang="en-US" sz="950" dirty="0"/>
          </a:p>
        </p:txBody>
      </p:sp>
      <p:sp>
        <p:nvSpPr>
          <p:cNvPr id="14" name="Shape 12"/>
          <p:cNvSpPr/>
          <p:nvPr/>
        </p:nvSpPr>
        <p:spPr>
          <a:xfrm>
            <a:off x="731520" y="3749040"/>
            <a:ext cx="310896" cy="310896"/>
          </a:xfrm>
          <a:prstGeom prst="ellipse">
            <a:avLst/>
          </a:prstGeom>
          <a:solidFill>
            <a:srgbClr val="065A82"/>
          </a:solidFill>
          <a:ln w="12700">
            <a:solidFill>
              <a:srgbClr val="065A82"/>
            </a:solidFill>
            <a:prstDash val="solid"/>
          </a:ln>
        </p:spPr>
      </p:sp>
      <p:sp>
        <p:nvSpPr>
          <p:cNvPr id="15" name="Text 13"/>
          <p:cNvSpPr txBox="1"/>
          <p:nvPr/>
        </p:nvSpPr>
        <p:spPr>
          <a:xfrm>
            <a:off x="731520" y="37490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6" name="Text 14"/>
          <p:cNvSpPr txBox="1"/>
          <p:nvPr/>
        </p:nvSpPr>
        <p:spPr>
          <a:xfrm>
            <a:off x="1152144" y="3730752"/>
            <a:ext cx="4517136" cy="219456"/>
          </a:xfrm>
          <a:prstGeom prst="rect">
            <a:avLst/>
          </a:prstGeom>
          <a:noFill/>
          <a:ln/>
        </p:spPr>
        <p:txBody>
          <a:bodyPr wrap="square" lIns="0" tIns="0" rIns="0" bIns="0" rtlCol="0" anchor="ctr"/>
          <a:lstStyle/>
          <a:p>
            <a:pPr indent="0" marL="0">
              <a:buNone/>
            </a:pPr>
            <a:r>
              <a:rPr lang="en-US" sz="1050" b="1" dirty="0">
                <a:solidFill>
                  <a:srgbClr val="1A2430"/>
                </a:solidFill>
                <a:latin typeface="Calibri" pitchFamily="34" charset="0"/>
                <a:ea typeface="Calibri" pitchFamily="34" charset="-122"/>
                <a:cs typeface="Calibri" pitchFamily="34" charset="-120"/>
              </a:rPr>
              <a:t>Differential test on model change</a:t>
            </a:r>
            <a:endParaRPr lang="en-US" sz="1050" dirty="0"/>
          </a:p>
        </p:txBody>
      </p:sp>
      <p:sp>
        <p:nvSpPr>
          <p:cNvPr id="17" name="Text 15"/>
          <p:cNvSpPr txBox="1"/>
          <p:nvPr/>
        </p:nvSpPr>
        <p:spPr>
          <a:xfrm>
            <a:off x="1152144" y="3968496"/>
            <a:ext cx="4517136" cy="566928"/>
          </a:xfrm>
          <a:prstGeom prst="rect">
            <a:avLst/>
          </a:prstGeom>
          <a:noFill/>
          <a:ln/>
        </p:spPr>
        <p:txBody>
          <a:bodyPr wrap="square" lIns="0" tIns="0" rIns="0" bIns="0" rtlCol="0" anchor="t"/>
          <a:lstStyle/>
          <a:p>
            <a:pPr indent="0" marL="0">
              <a:buNone/>
            </a:pPr>
            <a:r>
              <a:rPr lang="en-US" sz="950" dirty="0">
                <a:solidFill>
                  <a:srgbClr val="5A6B78"/>
                </a:solidFill>
                <a:latin typeface="Calibri" pitchFamily="34" charset="0"/>
                <a:ea typeface="Calibri" pitchFamily="34" charset="-122"/>
                <a:cs typeface="Calibri" pitchFamily="34" charset="-120"/>
              </a:rPr>
              <a:t>Kogito and Spark SQL diffed on fixtures plus a sample whenever the .dmn changes — not on every run. Kogito stays a jar in CI, not a service to operate.</a:t>
            </a:r>
            <a:endParaRPr lang="en-US" sz="950" dirty="0"/>
          </a:p>
        </p:txBody>
      </p:sp>
      <p:sp>
        <p:nvSpPr>
          <p:cNvPr id="18" name="Shape 16"/>
          <p:cNvSpPr/>
          <p:nvPr/>
        </p:nvSpPr>
        <p:spPr>
          <a:xfrm>
            <a:off x="731520" y="4599432"/>
            <a:ext cx="310896" cy="310896"/>
          </a:xfrm>
          <a:prstGeom prst="ellipse">
            <a:avLst/>
          </a:prstGeom>
          <a:solidFill>
            <a:srgbClr val="065A82"/>
          </a:solidFill>
          <a:ln w="12700">
            <a:solidFill>
              <a:srgbClr val="065A82"/>
            </a:solidFill>
            <a:prstDash val="solid"/>
          </a:ln>
        </p:spPr>
      </p:sp>
      <p:sp>
        <p:nvSpPr>
          <p:cNvPr id="19" name="Text 17"/>
          <p:cNvSpPr txBox="1"/>
          <p:nvPr/>
        </p:nvSpPr>
        <p:spPr>
          <a:xfrm>
            <a:off x="731520" y="45994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20" name="Text 18"/>
          <p:cNvSpPr txBox="1"/>
          <p:nvPr/>
        </p:nvSpPr>
        <p:spPr>
          <a:xfrm>
            <a:off x="1152144" y="4581144"/>
            <a:ext cx="4517136" cy="219456"/>
          </a:xfrm>
          <a:prstGeom prst="rect">
            <a:avLst/>
          </a:prstGeom>
          <a:noFill/>
          <a:ln/>
        </p:spPr>
        <p:txBody>
          <a:bodyPr wrap="square" lIns="0" tIns="0" rIns="0" bIns="0" rtlCol="0" anchor="ctr"/>
          <a:lstStyle/>
          <a:p>
            <a:pPr indent="0" marL="0">
              <a:buNone/>
            </a:pPr>
            <a:r>
              <a:rPr lang="en-US" sz="1050" b="1" dirty="0">
                <a:solidFill>
                  <a:srgbClr val="1A2430"/>
                </a:solidFill>
                <a:latin typeface="Calibri" pitchFamily="34" charset="0"/>
                <a:ea typeface="Calibri" pitchFamily="34" charset="-122"/>
                <a:cs typeface="Calibri" pitchFamily="34" charset="-120"/>
              </a:rPr>
              <a:t>Large tables become joins</a:t>
            </a:r>
            <a:endParaRPr lang="en-US" sz="1050" dirty="0"/>
          </a:p>
        </p:txBody>
      </p:sp>
      <p:sp>
        <p:nvSpPr>
          <p:cNvPr id="21" name="Text 19"/>
          <p:cNvSpPr txBox="1"/>
          <p:nvPr/>
        </p:nvSpPr>
        <p:spPr>
          <a:xfrm>
            <a:off x="1152144" y="4818888"/>
            <a:ext cx="4517136" cy="566928"/>
          </a:xfrm>
          <a:prstGeom prst="rect">
            <a:avLst/>
          </a:prstGeom>
          <a:noFill/>
          <a:ln/>
        </p:spPr>
        <p:txBody>
          <a:bodyPr wrap="square" lIns="0" tIns="0" rIns="0" bIns="0" rtlCol="0" anchor="t"/>
          <a:lstStyle/>
          <a:p>
            <a:pPr indent="0" marL="0">
              <a:buNone/>
            </a:pPr>
            <a:r>
              <a:rPr lang="en-US" sz="950" dirty="0">
                <a:solidFill>
                  <a:srgbClr val="5A6B78"/>
                </a:solidFill>
                <a:latin typeface="Calibri" pitchFamily="34" charset="0"/>
                <a:ea typeface="Calibri" pitchFamily="34" charset="-122"/>
                <a:cs typeface="Calibri" pitchFamily="34" charset="-120"/>
              </a:rPr>
              <a:t>A thousand-branch CASE WHEN silently drops out of whole-stage codegen. Past a few hundred rules, transpile the decision table to Delta and broadcast-join it.</a:t>
            </a:r>
            <a:endParaRPr lang="en-US" sz="950" dirty="0"/>
          </a:p>
        </p:txBody>
      </p:sp>
      <p:sp>
        <p:nvSpPr>
          <p:cNvPr id="22" name="Shape 20"/>
          <p:cNvSpPr/>
          <p:nvPr/>
        </p:nvSpPr>
        <p:spPr>
          <a:xfrm>
            <a:off x="6245352" y="1188720"/>
            <a:ext cx="5486400" cy="4261104"/>
          </a:xfrm>
          <a:prstGeom prst="roundRect">
            <a:avLst>
              <a:gd name="adj" fmla="val 2146"/>
            </a:avLst>
          </a:prstGeom>
          <a:solidFill>
            <a:srgbClr val="F2F6F8"/>
          </a:solidFill>
          <a:ln w="12700">
            <a:solidFill>
              <a:srgbClr val="DDE6EB"/>
            </a:solidFill>
            <a:prstDash val="solid"/>
          </a:ln>
          <a:effectLst>
            <a:outerShdw sx="100000" sy="100000" kx="0" ky="0" algn="bl" rotWithShape="0" blurRad="101600" dist="25400" dir="5400000">
              <a:srgbClr val="8FA3B0">
                <a:alpha val="25000"/>
              </a:srgbClr>
            </a:outerShdw>
          </a:effectLst>
        </p:spPr>
      </p:sp>
      <p:sp>
        <p:nvSpPr>
          <p:cNvPr id="23" name="Text 21"/>
          <p:cNvSpPr txBox="1"/>
          <p:nvPr/>
        </p:nvSpPr>
        <p:spPr>
          <a:xfrm>
            <a:off x="6519672" y="1463040"/>
            <a:ext cx="4937760" cy="274320"/>
          </a:xfrm>
          <a:prstGeom prst="rect">
            <a:avLst/>
          </a:prstGeom>
          <a:noFill/>
          <a:ln/>
        </p:spPr>
        <p:txBody>
          <a:bodyPr wrap="square" lIns="0" tIns="0" rIns="0" bIns="0" rtlCol="0" anchor="ctr"/>
          <a:lstStyle/>
          <a:p>
            <a:pPr indent="0" marL="0">
              <a:buNone/>
            </a:pPr>
            <a:r>
              <a:rPr lang="en-US" sz="1500" b="1" dirty="0">
                <a:solidFill>
                  <a:srgbClr val="A8611F"/>
                </a:solidFill>
                <a:latin typeface="Cambria" pitchFamily="34" charset="0"/>
                <a:ea typeface="Cambria" pitchFamily="34" charset="-122"/>
                <a:cs typeface="Cambria" pitchFamily="34" charset="-120"/>
              </a:rPr>
              <a:t>Before we commit — four checks</a:t>
            </a:r>
            <a:endParaRPr lang="en-US" sz="1500" dirty="0"/>
          </a:p>
        </p:txBody>
      </p:sp>
      <p:sp>
        <p:nvSpPr>
          <p:cNvPr id="24" name="Shape 22"/>
          <p:cNvSpPr/>
          <p:nvPr/>
        </p:nvSpPr>
        <p:spPr>
          <a:xfrm>
            <a:off x="6519672" y="2048256"/>
            <a:ext cx="310896" cy="310896"/>
          </a:xfrm>
          <a:prstGeom prst="ellipse">
            <a:avLst/>
          </a:prstGeom>
          <a:solidFill>
            <a:srgbClr val="065A82"/>
          </a:solidFill>
          <a:ln w="12700">
            <a:solidFill>
              <a:srgbClr val="065A82"/>
            </a:solidFill>
            <a:prstDash val="solid"/>
          </a:ln>
        </p:spPr>
      </p:sp>
      <p:sp>
        <p:nvSpPr>
          <p:cNvPr id="25" name="Text 23"/>
          <p:cNvSpPr txBox="1"/>
          <p:nvPr/>
        </p:nvSpPr>
        <p:spPr>
          <a:xfrm>
            <a:off x="6519672" y="20482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26" name="Text 24"/>
          <p:cNvSpPr txBox="1"/>
          <p:nvPr/>
        </p:nvSpPr>
        <p:spPr>
          <a:xfrm>
            <a:off x="6940296" y="2029968"/>
            <a:ext cx="4517136" cy="219456"/>
          </a:xfrm>
          <a:prstGeom prst="rect">
            <a:avLst/>
          </a:prstGeom>
          <a:noFill/>
          <a:ln/>
        </p:spPr>
        <p:txBody>
          <a:bodyPr wrap="square" lIns="0" tIns="0" rIns="0" bIns="0" rtlCol="0" anchor="ctr"/>
          <a:lstStyle/>
          <a:p>
            <a:pPr indent="0" marL="0">
              <a:buNone/>
            </a:pPr>
            <a:r>
              <a:rPr lang="en-US" sz="1050" b="1" dirty="0">
                <a:solidFill>
                  <a:srgbClr val="1A2430"/>
                </a:solidFill>
                <a:latin typeface="Calibri" pitchFamily="34" charset="0"/>
                <a:ea typeface="Calibri" pitchFamily="34" charset="-122"/>
                <a:cs typeface="Calibri" pitchFamily="34" charset="-120"/>
              </a:rPr>
              <a:t>Can we run JVM UDFs at all?</a:t>
            </a:r>
            <a:endParaRPr lang="en-US" sz="1050" dirty="0"/>
          </a:p>
        </p:txBody>
      </p:sp>
      <p:sp>
        <p:nvSpPr>
          <p:cNvPr id="27" name="Text 25"/>
          <p:cNvSpPr txBox="1"/>
          <p:nvPr/>
        </p:nvSpPr>
        <p:spPr>
          <a:xfrm>
            <a:off x="6940296" y="2267712"/>
            <a:ext cx="4517136" cy="566928"/>
          </a:xfrm>
          <a:prstGeom prst="rect">
            <a:avLst/>
          </a:prstGeom>
          <a:noFill/>
          <a:ln/>
        </p:spPr>
        <p:txBody>
          <a:bodyPr wrap="square" lIns="0" tIns="0" rIns="0" bIns="0" rtlCol="0" anchor="t"/>
          <a:lstStyle/>
          <a:p>
            <a:pPr indent="0" marL="0">
              <a:buNone/>
            </a:pPr>
            <a:r>
              <a:rPr lang="en-US" sz="950" dirty="0">
                <a:solidFill>
                  <a:srgbClr val="5A6B78"/>
                </a:solidFill>
                <a:latin typeface="Calibri" pitchFamily="34" charset="0"/>
                <a:ea typeface="Calibri" pitchFamily="34" charset="-122"/>
                <a:cs typeface="Calibri" pitchFamily="34" charset="-120"/>
              </a:rPr>
              <a:t>Cluster policy on Unity Catalog decides whether option C exists. Days to answer, needs none of the model files — so it goes first.</a:t>
            </a:r>
            <a:endParaRPr lang="en-US" sz="950" dirty="0"/>
          </a:p>
        </p:txBody>
      </p:sp>
      <p:sp>
        <p:nvSpPr>
          <p:cNvPr id="28" name="Shape 26"/>
          <p:cNvSpPr/>
          <p:nvPr/>
        </p:nvSpPr>
        <p:spPr>
          <a:xfrm>
            <a:off x="6519672" y="2898648"/>
            <a:ext cx="310896" cy="310896"/>
          </a:xfrm>
          <a:prstGeom prst="ellipse">
            <a:avLst/>
          </a:prstGeom>
          <a:solidFill>
            <a:srgbClr val="065A82"/>
          </a:solidFill>
          <a:ln w="12700">
            <a:solidFill>
              <a:srgbClr val="065A82"/>
            </a:solidFill>
            <a:prstDash val="solid"/>
          </a:ln>
        </p:spPr>
      </p:sp>
      <p:sp>
        <p:nvSpPr>
          <p:cNvPr id="29" name="Text 27"/>
          <p:cNvSpPr txBox="1"/>
          <p:nvPr/>
        </p:nvSpPr>
        <p:spPr>
          <a:xfrm>
            <a:off x="6519672" y="28986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30" name="Text 28"/>
          <p:cNvSpPr txBox="1"/>
          <p:nvPr/>
        </p:nvSpPr>
        <p:spPr>
          <a:xfrm>
            <a:off x="6940296" y="2880360"/>
            <a:ext cx="4517136" cy="219456"/>
          </a:xfrm>
          <a:prstGeom prst="rect">
            <a:avLst/>
          </a:prstGeom>
          <a:noFill/>
          <a:ln/>
        </p:spPr>
        <p:txBody>
          <a:bodyPr wrap="square" lIns="0" tIns="0" rIns="0" bIns="0" rtlCol="0" anchor="ctr"/>
          <a:lstStyle/>
          <a:p>
            <a:pPr indent="0" marL="0">
              <a:buNone/>
            </a:pPr>
            <a:r>
              <a:rPr lang="en-US" sz="1050" b="1" dirty="0">
                <a:solidFill>
                  <a:srgbClr val="1A2430"/>
                </a:solidFill>
                <a:latin typeface="Calibri" pitchFamily="34" charset="0"/>
                <a:ea typeface="Calibri" pitchFamily="34" charset="-122"/>
                <a:cs typeface="Calibri" pitchFamily="34" charset="-120"/>
              </a:rPr>
              <a:t>Inventory the .dmn — half a day</a:t>
            </a:r>
            <a:endParaRPr lang="en-US" sz="1050" dirty="0"/>
          </a:p>
        </p:txBody>
      </p:sp>
      <p:sp>
        <p:nvSpPr>
          <p:cNvPr id="31" name="Text 29"/>
          <p:cNvSpPr txBox="1"/>
          <p:nvPr/>
        </p:nvSpPr>
        <p:spPr>
          <a:xfrm>
            <a:off x="6940296" y="3118104"/>
            <a:ext cx="4517136" cy="566928"/>
          </a:xfrm>
          <a:prstGeom prst="rect">
            <a:avLst/>
          </a:prstGeom>
          <a:noFill/>
          <a:ln/>
        </p:spPr>
        <p:txBody>
          <a:bodyPr wrap="square" lIns="0" tIns="0" rIns="0" bIns="0" rtlCol="0" anchor="t"/>
          <a:lstStyle/>
          <a:p>
            <a:pPr indent="0" marL="0">
              <a:buNone/>
            </a:pPr>
            <a:r>
              <a:rPr lang="en-US" sz="950" dirty="0">
                <a:solidFill>
                  <a:srgbClr val="5A6B78"/>
                </a:solidFill>
                <a:latin typeface="Calibri" pitchFamily="34" charset="0"/>
                <a:ea typeface="Calibri" pitchFamily="34" charset="-122"/>
                <a:cs typeface="Calibri" pitchFamily="34" charset="-120"/>
              </a:rPr>
              <a:t>Decision tables on numbers, strings and ranges: the transpiler is a week. Iterations, nested contexts or recursive BKMs: an order of magnitude more.</a:t>
            </a:r>
            <a:endParaRPr lang="en-US" sz="950" dirty="0"/>
          </a:p>
        </p:txBody>
      </p:sp>
      <p:sp>
        <p:nvSpPr>
          <p:cNvPr id="32" name="Shape 30"/>
          <p:cNvSpPr/>
          <p:nvPr/>
        </p:nvSpPr>
        <p:spPr>
          <a:xfrm>
            <a:off x="6519672" y="3749040"/>
            <a:ext cx="310896" cy="310896"/>
          </a:xfrm>
          <a:prstGeom prst="ellipse">
            <a:avLst/>
          </a:prstGeom>
          <a:solidFill>
            <a:srgbClr val="065A82"/>
          </a:solidFill>
          <a:ln w="12700">
            <a:solidFill>
              <a:srgbClr val="065A82"/>
            </a:solidFill>
            <a:prstDash val="solid"/>
          </a:ln>
        </p:spPr>
      </p:sp>
      <p:sp>
        <p:nvSpPr>
          <p:cNvPr id="33" name="Text 31"/>
          <p:cNvSpPr txBox="1"/>
          <p:nvPr/>
        </p:nvSpPr>
        <p:spPr>
          <a:xfrm>
            <a:off x="6519672" y="37490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34" name="Text 32"/>
          <p:cNvSpPr txBox="1"/>
          <p:nvPr/>
        </p:nvSpPr>
        <p:spPr>
          <a:xfrm>
            <a:off x="6940296" y="3730752"/>
            <a:ext cx="4517136" cy="219456"/>
          </a:xfrm>
          <a:prstGeom prst="rect">
            <a:avLst/>
          </a:prstGeom>
          <a:noFill/>
          <a:ln/>
        </p:spPr>
        <p:txBody>
          <a:bodyPr wrap="square" lIns="0" tIns="0" rIns="0" bIns="0" rtlCol="0" anchor="ctr"/>
          <a:lstStyle/>
          <a:p>
            <a:pPr indent="0" marL="0">
              <a:buNone/>
            </a:pPr>
            <a:r>
              <a:rPr lang="en-US" sz="1050" b="1" dirty="0">
                <a:solidFill>
                  <a:srgbClr val="1A2430"/>
                </a:solidFill>
                <a:latin typeface="Calibri" pitchFamily="34" charset="0"/>
                <a:ea typeface="Calibri" pitchFamily="34" charset="-122"/>
                <a:cs typeface="Calibri" pitchFamily="34" charset="-120"/>
              </a:rPr>
              <a:t>Traceability of the decision</a:t>
            </a:r>
            <a:endParaRPr lang="en-US" sz="1050" dirty="0"/>
          </a:p>
        </p:txBody>
      </p:sp>
      <p:sp>
        <p:nvSpPr>
          <p:cNvPr id="35" name="Text 33"/>
          <p:cNvSpPr txBox="1"/>
          <p:nvPr/>
        </p:nvSpPr>
        <p:spPr>
          <a:xfrm>
            <a:off x="6940296" y="3968496"/>
            <a:ext cx="4517136" cy="566928"/>
          </a:xfrm>
          <a:prstGeom prst="rect">
            <a:avLst/>
          </a:prstGeom>
          <a:noFill/>
          <a:ln/>
        </p:spPr>
        <p:txBody>
          <a:bodyPr wrap="square" lIns="0" tIns="0" rIns="0" bIns="0" rtlCol="0" anchor="t"/>
          <a:lstStyle/>
          <a:p>
            <a:pPr indent="0" marL="0">
              <a:buNone/>
            </a:pPr>
            <a:r>
              <a:rPr lang="en-US" sz="950" dirty="0">
                <a:solidFill>
                  <a:srgbClr val="5A6B78"/>
                </a:solidFill>
                <a:latin typeface="Calibri" pitchFamily="34" charset="0"/>
                <a:ea typeface="Calibri" pitchFamily="34" charset="-122"/>
                <a:cs typeface="Calibri" pitchFamily="34" charset="-120"/>
              </a:rPr>
              <a:t>Two output columns give the answer, not the reason. A third column carrying the rule that fired cannot be backfilled without replaying the batch.</a:t>
            </a:r>
            <a:endParaRPr lang="en-US" sz="950" dirty="0"/>
          </a:p>
        </p:txBody>
      </p:sp>
      <p:sp>
        <p:nvSpPr>
          <p:cNvPr id="36" name="Shape 34"/>
          <p:cNvSpPr/>
          <p:nvPr/>
        </p:nvSpPr>
        <p:spPr>
          <a:xfrm>
            <a:off x="6519672" y="4599432"/>
            <a:ext cx="310896" cy="310896"/>
          </a:xfrm>
          <a:prstGeom prst="ellipse">
            <a:avLst/>
          </a:prstGeom>
          <a:solidFill>
            <a:srgbClr val="065A82"/>
          </a:solidFill>
          <a:ln w="12700">
            <a:solidFill>
              <a:srgbClr val="065A82"/>
            </a:solidFill>
            <a:prstDash val="solid"/>
          </a:ln>
        </p:spPr>
      </p:sp>
      <p:sp>
        <p:nvSpPr>
          <p:cNvPr id="37" name="Text 35"/>
          <p:cNvSpPr txBox="1"/>
          <p:nvPr/>
        </p:nvSpPr>
        <p:spPr>
          <a:xfrm>
            <a:off x="6519672" y="45994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38" name="Text 36"/>
          <p:cNvSpPr txBox="1"/>
          <p:nvPr/>
        </p:nvSpPr>
        <p:spPr>
          <a:xfrm>
            <a:off x="6940296" y="4581144"/>
            <a:ext cx="4517136" cy="219456"/>
          </a:xfrm>
          <a:prstGeom prst="rect">
            <a:avLst/>
          </a:prstGeom>
          <a:noFill/>
          <a:ln/>
        </p:spPr>
        <p:txBody>
          <a:bodyPr wrap="square" lIns="0" tIns="0" rIns="0" bIns="0" rtlCol="0" anchor="ctr"/>
          <a:lstStyle/>
          <a:p>
            <a:pPr indent="0" marL="0">
              <a:buNone/>
            </a:pPr>
            <a:r>
              <a:rPr lang="en-US" sz="1050" b="1" dirty="0">
                <a:solidFill>
                  <a:srgbClr val="1A2430"/>
                </a:solidFill>
                <a:latin typeface="Calibri" pitchFamily="34" charset="0"/>
                <a:ea typeface="Calibri" pitchFamily="34" charset="-122"/>
                <a:cs typeface="Calibri" pitchFamily="34" charset="-120"/>
              </a:rPr>
              <a:t>What is the upload contract for?</a:t>
            </a:r>
            <a:endParaRPr lang="en-US" sz="1050" dirty="0"/>
          </a:p>
        </p:txBody>
      </p:sp>
      <p:sp>
        <p:nvSpPr>
          <p:cNvPr id="39" name="Text 37"/>
          <p:cNvSpPr txBox="1"/>
          <p:nvPr/>
        </p:nvSpPr>
        <p:spPr>
          <a:xfrm>
            <a:off x="6940296" y="4818888"/>
            <a:ext cx="4517136" cy="566928"/>
          </a:xfrm>
          <a:prstGeom prst="rect">
            <a:avLst/>
          </a:prstGeom>
          <a:noFill/>
          <a:ln/>
        </p:spPr>
        <p:txBody>
          <a:bodyPr wrap="square" lIns="0" tIns="0" rIns="0" bIns="0" rtlCol="0" anchor="t"/>
          <a:lstStyle/>
          <a:p>
            <a:pPr indent="0" marL="0">
              <a:buNone/>
            </a:pPr>
            <a:r>
              <a:rPr lang="en-US" sz="950" dirty="0">
                <a:solidFill>
                  <a:srgbClr val="5A6B78"/>
                </a:solidFill>
                <a:latin typeface="Calibri" pitchFamily="34" charset="0"/>
                <a:ea typeface="Calibri" pitchFamily="34" charset="-122"/>
                <a:cs typeface="Calibri" pitchFamily="34" charset="-120"/>
              </a:rPr>
              <a:t>If the ZIP API exists so external clients can submit their own files, that is a second use case where option A still applies.</a:t>
            </a:r>
            <a:endParaRPr lang="en-US" sz="950" dirty="0"/>
          </a:p>
        </p:txBody>
      </p:sp>
      <p:sp>
        <p:nvSpPr>
          <p:cNvPr id="40" name="Shape 38"/>
          <p:cNvSpPr/>
          <p:nvPr/>
        </p:nvSpPr>
        <p:spPr>
          <a:xfrm>
            <a:off x="457200" y="5559552"/>
            <a:ext cx="11274552" cy="1060704"/>
          </a:xfrm>
          <a:prstGeom prst="roundRect">
            <a:avLst>
              <a:gd name="adj" fmla="val 6897"/>
            </a:avLst>
          </a:prstGeom>
          <a:solidFill>
            <a:srgbClr val="21295C"/>
          </a:solidFill>
          <a:ln w="12700">
            <a:solidFill>
              <a:srgbClr val="21295C"/>
            </a:solidFill>
            <a:prstDash val="solid"/>
          </a:ln>
        </p:spPr>
      </p:sp>
      <p:sp>
        <p:nvSpPr>
          <p:cNvPr id="41" name="Shape 39"/>
          <p:cNvSpPr/>
          <p:nvPr/>
        </p:nvSpPr>
        <p:spPr>
          <a:xfrm>
            <a:off x="713232" y="5888736"/>
            <a:ext cx="402336" cy="402336"/>
          </a:xfrm>
          <a:prstGeom prst="ellipse">
            <a:avLst/>
          </a:prstGeom>
          <a:solidFill>
            <a:srgbClr val="065A82"/>
          </a:solidFill>
          <a:ln w="12700">
            <a:solidFill>
              <a:srgbClr val="065A82"/>
            </a:solidFill>
            <a:prstDash val="solid"/>
          </a:ln>
        </p:spPr>
      </p:sp>
      <p:sp>
        <p:nvSpPr>
          <p:cNvPr id="42" name="Text 40"/>
          <p:cNvSpPr txBox="1"/>
          <p:nvPr/>
        </p:nvSpPr>
        <p:spPr>
          <a:xfrm>
            <a:off x="713232" y="58887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43" name="Text 41"/>
          <p:cNvSpPr txBox="1"/>
          <p:nvPr/>
        </p:nvSpPr>
        <p:spPr>
          <a:xfrm>
            <a:off x="1243584" y="5742432"/>
            <a:ext cx="2651760" cy="201168"/>
          </a:xfrm>
          <a:prstGeom prst="rect">
            <a:avLst/>
          </a:prstGeom>
          <a:noFill/>
          <a:ln/>
        </p:spPr>
        <p:txBody>
          <a:bodyPr wrap="square" lIns="0" tIns="0" rIns="0" bIns="0" rtlCol="0" anchor="ctr"/>
          <a:lstStyle/>
          <a:p>
            <a:pPr indent="0" marL="0">
              <a:buNone/>
            </a:pPr>
            <a:r>
              <a:rPr lang="en-US" sz="950" b="1" spc="150" kern="0" dirty="0">
                <a:solidFill>
                  <a:srgbClr val="9FB2D8"/>
                </a:solidFill>
                <a:latin typeface="Calibri" pitchFamily="34" charset="0"/>
                <a:ea typeface="Calibri" pitchFamily="34" charset="-122"/>
                <a:cs typeface="Calibri" pitchFamily="34" charset="-120"/>
              </a:rPr>
              <a:t>ESTABLISHED</a:t>
            </a:r>
            <a:endParaRPr lang="en-US" sz="950" dirty="0"/>
          </a:p>
        </p:txBody>
      </p:sp>
      <p:sp>
        <p:nvSpPr>
          <p:cNvPr id="44" name="Text 42"/>
          <p:cNvSpPr txBox="1"/>
          <p:nvPr/>
        </p:nvSpPr>
        <p:spPr>
          <a:xfrm>
            <a:off x="1243584" y="5943600"/>
            <a:ext cx="2743200" cy="3840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Premises</a:t>
            </a:r>
            <a:endParaRPr lang="en-US" sz="1600" dirty="0"/>
          </a:p>
        </p:txBody>
      </p:sp>
      <p:sp>
        <p:nvSpPr>
          <p:cNvPr id="45" name="Text 43"/>
          <p:cNvSpPr txBox="1"/>
          <p:nvPr/>
        </p:nvSpPr>
        <p:spPr>
          <a:xfrm>
            <a:off x="4160520" y="5687568"/>
            <a:ext cx="7388352" cy="841248"/>
          </a:xfrm>
          <a:prstGeom prst="rect">
            <a:avLst/>
          </a:prstGeom>
          <a:noFill/>
          <a:ln/>
        </p:spPr>
        <p:txBody>
          <a:bodyPr wrap="square" lIns="0" tIns="0" rIns="0" bIns="0" rtlCol="0" anchor="t"/>
          <a:lstStyle/>
          <a:p>
            <a:pPr indent="0" marL="0">
              <a:spcAft>
                <a:spcPts val="400"/>
              </a:spcAft>
              <a:buNone/>
            </a:pPr>
            <a:r>
              <a:rPr lang="en-US" sz="1050" dirty="0">
                <a:solidFill>
                  <a:srgbClr val="FFFFFF"/>
                </a:solidFill>
                <a:latin typeface="Calibri" pitchFamily="34" charset="0"/>
                <a:ea typeface="Calibri" pitchFamily="34" charset="-122"/>
                <a:cs typeface="Calibri" pitchFamily="34" charset="-120"/>
              </a:rPr>
              <a:t>The 80M rows already live in Databricks. Every row is self-sufficient and the model is deterministic — no now() or today(). Rules are authored by the business: decision tables on simple unary tests.</a:t>
            </a:r>
            <a:endParaRPr lang="en-US" sz="1050" dirty="0"/>
          </a:p>
          <a:p>
            <a:pPr indent="0" marL="0">
              <a:buNone/>
            </a:pPr>
            <a:r>
              <a:rPr lang="en-US" sz="1050" i="1" dirty="0">
                <a:solidFill>
                  <a:srgbClr val="B9C6E4"/>
                </a:solidFill>
                <a:latin typeface="Calibri" pitchFamily="34" charset="0"/>
                <a:ea typeface="Calibri" pitchFamily="34" charset="-122"/>
                <a:cs typeface="Calibri" pitchFamily="34" charset="-120"/>
              </a:rPr>
              <a:t>Input is one ZIP containing a single JSONL file; output is two columns, an identifier and the decision. The recommendation rests on these — if one moves, it is worth re-opening.</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11274552" cy="457200"/>
          </a:xfrm>
          <a:prstGeom prst="rect">
            <a:avLst/>
          </a:prstGeom>
          <a:noFill/>
          <a:ln/>
        </p:spPr>
        <p:txBody>
          <a:bodyPr wrap="square" lIns="0" tIns="0" rIns="0" bIns="0" rtlCol="0" anchor="ctr"/>
          <a:lstStyle/>
          <a:p>
            <a:pPr algn="l" indent="0" marL="0">
              <a:buNone/>
            </a:pPr>
            <a:r>
              <a:rPr lang="en-US" sz="2600" b="1" dirty="0">
                <a:solidFill>
                  <a:srgbClr val="1A2430"/>
                </a:solidFill>
                <a:latin typeface="Cambria" pitchFamily="34" charset="0"/>
                <a:ea typeface="Cambria" pitchFamily="34" charset="-122"/>
                <a:cs typeface="Cambria" pitchFamily="34" charset="-120"/>
              </a:rPr>
              <a:t>Building the transpiler: feasible incrementally, with an exit at every step</a:t>
            </a:r>
            <a:endParaRPr lang="en-US" sz="2600" dirty="0"/>
          </a:p>
        </p:txBody>
      </p:sp>
      <p:sp>
        <p:nvSpPr>
          <p:cNvPr id="3" name="Text 1"/>
          <p:cNvSpPr txBox="1"/>
          <p:nvPr/>
        </p:nvSpPr>
        <p:spPr>
          <a:xfrm>
            <a:off x="457200" y="722376"/>
            <a:ext cx="11274552" cy="274320"/>
          </a:xfrm>
          <a:prstGeom prst="rect">
            <a:avLst/>
          </a:prstGeom>
          <a:noFill/>
          <a:ln/>
        </p:spPr>
        <p:txBody>
          <a:bodyPr wrap="square" lIns="0" tIns="0" rIns="0" bIns="0" rtlCol="0" anchor="ctr"/>
          <a:lstStyle/>
          <a:p>
            <a:pPr algn="l" indent="0" marL="0">
              <a:buNone/>
            </a:pPr>
            <a:r>
              <a:rPr lang="en-US" sz="1150" i="1" dirty="0">
                <a:solidFill>
                  <a:srgbClr val="5A6B78"/>
                </a:solidFill>
                <a:latin typeface="Calibri" pitchFamily="34" charset="0"/>
                <a:ea typeface="Calibri" pitchFamily="34" charset="-122"/>
                <a:cs typeface="Calibri" pitchFamily="34" charset="-120"/>
              </a:rPr>
              <a:t>The component does not exist off the shelf — so the question is not only whether it works, but whether it can be stopped cheaply</a:t>
            </a:r>
            <a:endParaRPr lang="en-US" sz="1150" dirty="0"/>
          </a:p>
        </p:txBody>
      </p:sp>
      <p:sp>
        <p:nvSpPr>
          <p:cNvPr id="4" name="Shape 2"/>
          <p:cNvSpPr/>
          <p:nvPr/>
        </p:nvSpPr>
        <p:spPr>
          <a:xfrm>
            <a:off x="457200" y="1188720"/>
            <a:ext cx="5486400" cy="3310128"/>
          </a:xfrm>
          <a:prstGeom prst="roundRect">
            <a:avLst>
              <a:gd name="adj" fmla="val 2762"/>
            </a:avLst>
          </a:prstGeom>
          <a:solidFill>
            <a:srgbClr val="F2F6F8"/>
          </a:solidFill>
          <a:ln w="12700">
            <a:solidFill>
              <a:srgbClr val="DDE6EB"/>
            </a:solidFill>
            <a:prstDash val="solid"/>
          </a:ln>
          <a:effectLst>
            <a:outerShdw sx="100000" sy="100000" kx="0" ky="0" algn="bl" rotWithShape="0" blurRad="101600" dist="25400" dir="5400000">
              <a:srgbClr val="8FA3B0">
                <a:alpha val="25000"/>
              </a:srgbClr>
            </a:outerShdw>
          </a:effectLst>
        </p:spPr>
      </p:sp>
      <p:sp>
        <p:nvSpPr>
          <p:cNvPr id="5" name="Text 3"/>
          <p:cNvSpPr txBox="1"/>
          <p:nvPr/>
        </p:nvSpPr>
        <p:spPr>
          <a:xfrm>
            <a:off x="731520" y="1463040"/>
            <a:ext cx="4937760" cy="274320"/>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Why incremental works here</a:t>
            </a:r>
            <a:endParaRPr lang="en-US" sz="1500" dirty="0"/>
          </a:p>
        </p:txBody>
      </p:sp>
      <p:sp>
        <p:nvSpPr>
          <p:cNvPr id="6" name="Shape 4"/>
          <p:cNvSpPr/>
          <p:nvPr/>
        </p:nvSpPr>
        <p:spPr>
          <a:xfrm>
            <a:off x="731520" y="1993392"/>
            <a:ext cx="310896" cy="310896"/>
          </a:xfrm>
          <a:prstGeom prst="ellipse">
            <a:avLst/>
          </a:prstGeom>
          <a:solidFill>
            <a:srgbClr val="065A82"/>
          </a:solidFill>
          <a:ln w="12700">
            <a:solidFill>
              <a:srgbClr val="065A82"/>
            </a:solidFill>
            <a:prstDash val="solid"/>
          </a:ln>
        </p:spPr>
      </p:sp>
      <p:sp>
        <p:nvSpPr>
          <p:cNvPr id="7" name="Text 5"/>
          <p:cNvSpPr txBox="1"/>
          <p:nvPr/>
        </p:nvSpPr>
        <p:spPr>
          <a:xfrm>
            <a:off x="731520" y="19933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8" name="Text 6"/>
          <p:cNvSpPr txBox="1"/>
          <p:nvPr/>
        </p:nvSpPr>
        <p:spPr>
          <a:xfrm>
            <a:off x="1152144" y="1975104"/>
            <a:ext cx="4517136" cy="219456"/>
          </a:xfrm>
          <a:prstGeom prst="rect">
            <a:avLst/>
          </a:prstGeom>
          <a:noFill/>
          <a:ln/>
        </p:spPr>
        <p:txBody>
          <a:bodyPr wrap="square" lIns="0" tIns="0" rIns="0" bIns="0" rtlCol="0" anchor="ctr"/>
          <a:lstStyle/>
          <a:p>
            <a:pPr indent="0" marL="0">
              <a:buNone/>
            </a:pPr>
            <a:r>
              <a:rPr lang="en-US" sz="1050" b="1" dirty="0">
                <a:solidFill>
                  <a:srgbClr val="1A2430"/>
                </a:solidFill>
                <a:latin typeface="Calibri" pitchFamily="34" charset="0"/>
                <a:ea typeface="Calibri" pitchFamily="34" charset="-122"/>
                <a:cs typeface="Calibri" pitchFamily="34" charset="-120"/>
              </a:rPr>
              <a:t>A whitelist makes partial coverage safe</a:t>
            </a:r>
            <a:endParaRPr lang="en-US" sz="1050" dirty="0"/>
          </a:p>
        </p:txBody>
      </p:sp>
      <p:sp>
        <p:nvSpPr>
          <p:cNvPr id="9" name="Text 7"/>
          <p:cNvSpPr txBox="1"/>
          <p:nvPr/>
        </p:nvSpPr>
        <p:spPr>
          <a:xfrm>
            <a:off x="1152144" y="2212848"/>
            <a:ext cx="4517136" cy="566928"/>
          </a:xfrm>
          <a:prstGeom prst="rect">
            <a:avLst/>
          </a:prstGeom>
          <a:noFill/>
          <a:ln/>
        </p:spPr>
        <p:txBody>
          <a:bodyPr wrap="square" lIns="0" tIns="0" rIns="0" bIns="0" rtlCol="0" anchor="t"/>
          <a:lstStyle/>
          <a:p>
            <a:pPr indent="0" marL="0">
              <a:buNone/>
            </a:pPr>
            <a:r>
              <a:rPr lang="en-US" sz="950" dirty="0">
                <a:solidFill>
                  <a:srgbClr val="5A6B78"/>
                </a:solidFill>
                <a:latin typeface="Calibri" pitchFamily="34" charset="0"/>
                <a:ea typeface="Calibri" pitchFamily="34" charset="-122"/>
                <a:cs typeface="Calibri" pitchFamily="34" charset="-120"/>
              </a:rPr>
              <a:t>A transpiler that refuses what it does not know is correct over a smaller domain, not half-broken. The failure mode is a red build, never a wrong decision in production.</a:t>
            </a:r>
            <a:endParaRPr lang="en-US" sz="950" dirty="0"/>
          </a:p>
        </p:txBody>
      </p:sp>
      <p:sp>
        <p:nvSpPr>
          <p:cNvPr id="10" name="Shape 8"/>
          <p:cNvSpPr/>
          <p:nvPr/>
        </p:nvSpPr>
        <p:spPr>
          <a:xfrm>
            <a:off x="731520" y="2798064"/>
            <a:ext cx="310896" cy="310896"/>
          </a:xfrm>
          <a:prstGeom prst="ellipse">
            <a:avLst/>
          </a:prstGeom>
          <a:solidFill>
            <a:srgbClr val="065A82"/>
          </a:solidFill>
          <a:ln w="12700">
            <a:solidFill>
              <a:srgbClr val="065A82"/>
            </a:solidFill>
            <a:prstDash val="solid"/>
          </a:ln>
        </p:spPr>
      </p:sp>
      <p:sp>
        <p:nvSpPr>
          <p:cNvPr id="11" name="Text 9"/>
          <p:cNvSpPr txBox="1"/>
          <p:nvPr/>
        </p:nvSpPr>
        <p:spPr>
          <a:xfrm>
            <a:off x="731520" y="27980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2" name="Text 10"/>
          <p:cNvSpPr txBox="1"/>
          <p:nvPr/>
        </p:nvSpPr>
        <p:spPr>
          <a:xfrm>
            <a:off x="1152144" y="2779776"/>
            <a:ext cx="4517136" cy="219456"/>
          </a:xfrm>
          <a:prstGeom prst="rect">
            <a:avLst/>
          </a:prstGeom>
          <a:noFill/>
          <a:ln/>
        </p:spPr>
        <p:txBody>
          <a:bodyPr wrap="square" lIns="0" tIns="0" rIns="0" bIns="0" rtlCol="0" anchor="ctr"/>
          <a:lstStyle/>
          <a:p>
            <a:pPr indent="0" marL="0">
              <a:buNone/>
            </a:pPr>
            <a:r>
              <a:rPr lang="en-US" sz="1050" b="1" dirty="0">
                <a:solidFill>
                  <a:srgbClr val="1A2430"/>
                </a:solidFill>
                <a:latin typeface="Calibri" pitchFamily="34" charset="0"/>
                <a:ea typeface="Calibri" pitchFamily="34" charset="-122"/>
                <a:cs typeface="Calibri" pitchFamily="34" charset="-120"/>
              </a:rPr>
              <a:t>The decomposed model supplies the increments</a:t>
            </a:r>
            <a:endParaRPr lang="en-US" sz="1050" dirty="0"/>
          </a:p>
        </p:txBody>
      </p:sp>
      <p:sp>
        <p:nvSpPr>
          <p:cNvPr id="13" name="Text 11"/>
          <p:cNvSpPr txBox="1"/>
          <p:nvPr/>
        </p:nvSpPr>
        <p:spPr>
          <a:xfrm>
            <a:off x="1152144" y="3017520"/>
            <a:ext cx="4517136" cy="566928"/>
          </a:xfrm>
          <a:prstGeom prst="rect">
            <a:avLst/>
          </a:prstGeom>
          <a:noFill/>
          <a:ln/>
        </p:spPr>
        <p:txBody>
          <a:bodyPr wrap="square" lIns="0" tIns="0" rIns="0" bIns="0" rtlCol="0" anchor="t"/>
          <a:lstStyle/>
          <a:p>
            <a:pPr indent="0" marL="0">
              <a:buNone/>
            </a:pPr>
            <a:r>
              <a:rPr lang="en-US" sz="950" dirty="0">
                <a:solidFill>
                  <a:srgbClr val="5A6B78"/>
                </a:solidFill>
                <a:latin typeface="Calibri" pitchFamily="34" charset="0"/>
                <a:ea typeface="Calibri" pitchFamily="34" charset="-122"/>
                <a:cs typeface="Calibri" pitchFamily="34" charset="-120"/>
              </a:rPr>
              <a:t>One sub-model at a time, and the topological order is also the order of difficulty: the leaves are plain decision tables, the parent is only composition.</a:t>
            </a:r>
            <a:endParaRPr lang="en-US" sz="950" dirty="0"/>
          </a:p>
        </p:txBody>
      </p:sp>
      <p:sp>
        <p:nvSpPr>
          <p:cNvPr id="14" name="Shape 12"/>
          <p:cNvSpPr/>
          <p:nvPr/>
        </p:nvSpPr>
        <p:spPr>
          <a:xfrm>
            <a:off x="731520" y="3602736"/>
            <a:ext cx="310896" cy="310896"/>
          </a:xfrm>
          <a:prstGeom prst="ellipse">
            <a:avLst/>
          </a:prstGeom>
          <a:solidFill>
            <a:srgbClr val="065A82"/>
          </a:solidFill>
          <a:ln w="12700">
            <a:solidFill>
              <a:srgbClr val="065A82"/>
            </a:solidFill>
            <a:prstDash val="solid"/>
          </a:ln>
        </p:spPr>
      </p:sp>
      <p:sp>
        <p:nvSpPr>
          <p:cNvPr id="15" name="Text 13"/>
          <p:cNvSpPr txBox="1"/>
          <p:nvPr/>
        </p:nvSpPr>
        <p:spPr>
          <a:xfrm>
            <a:off x="731520" y="36027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6" name="Text 14"/>
          <p:cNvSpPr txBox="1"/>
          <p:nvPr/>
        </p:nvSpPr>
        <p:spPr>
          <a:xfrm>
            <a:off x="1152144" y="3584448"/>
            <a:ext cx="4517136" cy="219456"/>
          </a:xfrm>
          <a:prstGeom prst="rect">
            <a:avLst/>
          </a:prstGeom>
          <a:noFill/>
          <a:ln/>
        </p:spPr>
        <p:txBody>
          <a:bodyPr wrap="square" lIns="0" tIns="0" rIns="0" bIns="0" rtlCol="0" anchor="ctr"/>
          <a:lstStyle/>
          <a:p>
            <a:pPr indent="0" marL="0">
              <a:buNone/>
            </a:pPr>
            <a:r>
              <a:rPr lang="en-US" sz="1050" b="1" dirty="0">
                <a:solidFill>
                  <a:srgbClr val="1A2430"/>
                </a:solidFill>
                <a:latin typeface="Calibri" pitchFamily="34" charset="0"/>
                <a:ea typeface="Calibri" pitchFamily="34" charset="-122"/>
                <a:cs typeface="Calibri" pitchFamily="34" charset="-120"/>
              </a:rPr>
              <a:t>The reference engine defines “done”</a:t>
            </a:r>
            <a:endParaRPr lang="en-US" sz="1050" dirty="0"/>
          </a:p>
        </p:txBody>
      </p:sp>
      <p:sp>
        <p:nvSpPr>
          <p:cNvPr id="17" name="Text 15"/>
          <p:cNvSpPr txBox="1"/>
          <p:nvPr/>
        </p:nvSpPr>
        <p:spPr>
          <a:xfrm>
            <a:off x="1152144" y="3822192"/>
            <a:ext cx="4517136" cy="566928"/>
          </a:xfrm>
          <a:prstGeom prst="rect">
            <a:avLst/>
          </a:prstGeom>
          <a:noFill/>
          <a:ln/>
        </p:spPr>
        <p:txBody>
          <a:bodyPr wrap="square" lIns="0" tIns="0" rIns="0" bIns="0" rtlCol="0" anchor="t"/>
          <a:lstStyle/>
          <a:p>
            <a:pPr indent="0" marL="0">
              <a:buNone/>
            </a:pPr>
            <a:r>
              <a:rPr lang="en-US" sz="950" dirty="0">
                <a:solidFill>
                  <a:srgbClr val="5A6B78"/>
                </a:solidFill>
                <a:latin typeface="Calibri" pitchFamily="34" charset="0"/>
                <a:ea typeface="Calibri" pitchFamily="34" charset="-122"/>
                <a:cs typeface="Calibri" pitchFamily="34" charset="-120"/>
              </a:rPr>
              <a:t>Every newly supported construct is diffed against Kogito before it counts — and via option C that diff can run on the full 80M rows inside Databricks.</a:t>
            </a:r>
            <a:endParaRPr lang="en-US" sz="950" dirty="0"/>
          </a:p>
        </p:txBody>
      </p:sp>
      <p:sp>
        <p:nvSpPr>
          <p:cNvPr id="18" name="Shape 16"/>
          <p:cNvSpPr/>
          <p:nvPr/>
        </p:nvSpPr>
        <p:spPr>
          <a:xfrm>
            <a:off x="6245352" y="1188720"/>
            <a:ext cx="5486400" cy="3310128"/>
          </a:xfrm>
          <a:prstGeom prst="roundRect">
            <a:avLst>
              <a:gd name="adj" fmla="val 2762"/>
            </a:avLst>
          </a:prstGeom>
          <a:solidFill>
            <a:srgbClr val="F2F6F8"/>
          </a:solidFill>
          <a:ln w="12700">
            <a:solidFill>
              <a:srgbClr val="DDE6EB"/>
            </a:solidFill>
            <a:prstDash val="solid"/>
          </a:ln>
          <a:effectLst>
            <a:outerShdw sx="100000" sy="100000" kx="0" ky="0" algn="bl" rotWithShape="0" blurRad="101600" dist="25400" dir="5400000">
              <a:srgbClr val="8FA3B0">
                <a:alpha val="25000"/>
              </a:srgbClr>
            </a:outerShdw>
          </a:effectLst>
        </p:spPr>
      </p:sp>
      <p:sp>
        <p:nvSpPr>
          <p:cNvPr id="19" name="Text 17"/>
          <p:cNvSpPr txBox="1"/>
          <p:nvPr/>
        </p:nvSpPr>
        <p:spPr>
          <a:xfrm>
            <a:off x="6519672" y="1463040"/>
            <a:ext cx="4937760" cy="274320"/>
          </a:xfrm>
          <a:prstGeom prst="rect">
            <a:avLst/>
          </a:prstGeom>
          <a:noFill/>
          <a:ln/>
        </p:spPr>
        <p:txBody>
          <a:bodyPr wrap="square" lIns="0" tIns="0" rIns="0" bIns="0" rtlCol="0" anchor="ctr"/>
          <a:lstStyle/>
          <a:p>
            <a:pPr indent="0" marL="0">
              <a:buNone/>
            </a:pPr>
            <a:r>
              <a:rPr lang="en-US" sz="1500" b="1" dirty="0">
                <a:solidFill>
                  <a:srgbClr val="A8611F"/>
                </a:solidFill>
                <a:latin typeface="Cambria" pitchFamily="34" charset="0"/>
                <a:ea typeface="Cambria" pitchFamily="34" charset="-122"/>
                <a:cs typeface="Cambria" pitchFamily="34" charset="-120"/>
              </a:rPr>
              <a:t>What we would report</a:t>
            </a:r>
            <a:endParaRPr lang="en-US" sz="1500" dirty="0"/>
          </a:p>
        </p:txBody>
      </p:sp>
      <p:sp>
        <p:nvSpPr>
          <p:cNvPr id="20" name="Shape 18"/>
          <p:cNvSpPr/>
          <p:nvPr/>
        </p:nvSpPr>
        <p:spPr>
          <a:xfrm>
            <a:off x="6519672" y="1993392"/>
            <a:ext cx="310896" cy="310896"/>
          </a:xfrm>
          <a:prstGeom prst="ellipse">
            <a:avLst/>
          </a:prstGeom>
          <a:solidFill>
            <a:srgbClr val="065A82"/>
          </a:solidFill>
          <a:ln w="12700">
            <a:solidFill>
              <a:srgbClr val="065A82"/>
            </a:solidFill>
            <a:prstDash val="solid"/>
          </a:ln>
        </p:spPr>
      </p:sp>
      <p:sp>
        <p:nvSpPr>
          <p:cNvPr id="21" name="Text 19"/>
          <p:cNvSpPr txBox="1"/>
          <p:nvPr/>
        </p:nvSpPr>
        <p:spPr>
          <a:xfrm>
            <a:off x="6519672" y="19933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22" name="Text 20"/>
          <p:cNvSpPr txBox="1"/>
          <p:nvPr/>
        </p:nvSpPr>
        <p:spPr>
          <a:xfrm>
            <a:off x="6940296" y="1975104"/>
            <a:ext cx="4517136" cy="219456"/>
          </a:xfrm>
          <a:prstGeom prst="rect">
            <a:avLst/>
          </a:prstGeom>
          <a:noFill/>
          <a:ln/>
        </p:spPr>
        <p:txBody>
          <a:bodyPr wrap="square" lIns="0" tIns="0" rIns="0" bIns="0" rtlCol="0" anchor="ctr"/>
          <a:lstStyle/>
          <a:p>
            <a:pPr indent="0" marL="0">
              <a:buNone/>
            </a:pPr>
            <a:r>
              <a:rPr lang="en-US" sz="1050" b="1" dirty="0">
                <a:solidFill>
                  <a:srgbClr val="1A2430"/>
                </a:solidFill>
                <a:latin typeface="Calibri" pitchFamily="34" charset="0"/>
                <a:ea typeface="Calibri" pitchFamily="34" charset="-122"/>
                <a:cs typeface="Calibri" pitchFamily="34" charset="-120"/>
              </a:rPr>
              <a:t>A burn-down of unsupported constructs</a:t>
            </a:r>
            <a:endParaRPr lang="en-US" sz="1050" dirty="0"/>
          </a:p>
        </p:txBody>
      </p:sp>
      <p:sp>
        <p:nvSpPr>
          <p:cNvPr id="23" name="Text 21"/>
          <p:cNvSpPr txBox="1"/>
          <p:nvPr/>
        </p:nvSpPr>
        <p:spPr>
          <a:xfrm>
            <a:off x="6940296" y="2212848"/>
            <a:ext cx="4517136" cy="566928"/>
          </a:xfrm>
          <a:prstGeom prst="rect">
            <a:avLst/>
          </a:prstGeom>
          <a:noFill/>
          <a:ln/>
        </p:spPr>
        <p:txBody>
          <a:bodyPr wrap="square" lIns="0" tIns="0" rIns="0" bIns="0" rtlCol="0" anchor="t"/>
          <a:lstStyle/>
          <a:p>
            <a:pPr indent="0" marL="0">
              <a:buNone/>
            </a:pPr>
            <a:r>
              <a:rPr lang="en-US" sz="950" dirty="0">
                <a:solidFill>
                  <a:srgbClr val="5A6B78"/>
                </a:solidFill>
                <a:latin typeface="Calibri" pitchFamily="34" charset="0"/>
                <a:ea typeface="Calibri" pitchFamily="34" charset="-122"/>
                <a:cs typeface="Calibri" pitchFamily="34" charset="-120"/>
              </a:rPr>
              <a:t>Not a percentage of value delivered — the count of distinct constructs still refused, falling monotonically.</a:t>
            </a:r>
            <a:endParaRPr lang="en-US" sz="950" dirty="0"/>
          </a:p>
        </p:txBody>
      </p:sp>
      <p:sp>
        <p:nvSpPr>
          <p:cNvPr id="24" name="Shape 22"/>
          <p:cNvSpPr/>
          <p:nvPr/>
        </p:nvSpPr>
        <p:spPr>
          <a:xfrm>
            <a:off x="6519672" y="2798064"/>
            <a:ext cx="310896" cy="310896"/>
          </a:xfrm>
          <a:prstGeom prst="ellipse">
            <a:avLst/>
          </a:prstGeom>
          <a:solidFill>
            <a:srgbClr val="065A82"/>
          </a:solidFill>
          <a:ln w="12700">
            <a:solidFill>
              <a:srgbClr val="065A82"/>
            </a:solidFill>
            <a:prstDash val="solid"/>
          </a:ln>
        </p:spPr>
      </p:sp>
      <p:sp>
        <p:nvSpPr>
          <p:cNvPr id="25" name="Text 23"/>
          <p:cNvSpPr txBox="1"/>
          <p:nvPr/>
        </p:nvSpPr>
        <p:spPr>
          <a:xfrm>
            <a:off x="6519672" y="27980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26" name="Text 24"/>
          <p:cNvSpPr txBox="1"/>
          <p:nvPr/>
        </p:nvSpPr>
        <p:spPr>
          <a:xfrm>
            <a:off x="6940296" y="2779776"/>
            <a:ext cx="4517136" cy="219456"/>
          </a:xfrm>
          <a:prstGeom prst="rect">
            <a:avLst/>
          </a:prstGeom>
          <a:noFill/>
          <a:ln/>
        </p:spPr>
        <p:txBody>
          <a:bodyPr wrap="square" lIns="0" tIns="0" rIns="0" bIns="0" rtlCol="0" anchor="ctr"/>
          <a:lstStyle/>
          <a:p>
            <a:pPr indent="0" marL="0">
              <a:buNone/>
            </a:pPr>
            <a:r>
              <a:rPr lang="en-US" sz="1050" b="1" dirty="0">
                <a:solidFill>
                  <a:srgbClr val="1A2430"/>
                </a:solidFill>
                <a:latin typeface="Calibri" pitchFamily="34" charset="0"/>
                <a:ea typeface="Calibri" pitchFamily="34" charset="-122"/>
                <a:cs typeface="Calibri" pitchFamily="34" charset="-120"/>
              </a:rPr>
              <a:t>The milestone is binary, and it sits at the end</a:t>
            </a:r>
            <a:endParaRPr lang="en-US" sz="1050" dirty="0"/>
          </a:p>
        </p:txBody>
      </p:sp>
      <p:sp>
        <p:nvSpPr>
          <p:cNvPr id="27" name="Text 25"/>
          <p:cNvSpPr txBox="1"/>
          <p:nvPr/>
        </p:nvSpPr>
        <p:spPr>
          <a:xfrm>
            <a:off x="6940296" y="3017520"/>
            <a:ext cx="4517136" cy="566928"/>
          </a:xfrm>
          <a:prstGeom prst="rect">
            <a:avLst/>
          </a:prstGeom>
          <a:noFill/>
          <a:ln/>
        </p:spPr>
        <p:txBody>
          <a:bodyPr wrap="square" lIns="0" tIns="0" rIns="0" bIns="0" rtlCol="0" anchor="t"/>
          <a:lstStyle/>
          <a:p>
            <a:pPr indent="0" marL="0">
              <a:buNone/>
            </a:pPr>
            <a:r>
              <a:rPr lang="en-US" sz="950" dirty="0">
                <a:solidFill>
                  <a:srgbClr val="5A6B78"/>
                </a:solidFill>
                <a:latin typeface="Calibri" pitchFamily="34" charset="0"/>
                <a:ea typeface="Calibri" pitchFamily="34" charset="-122"/>
                <a:cs typeface="Calibri" pitchFamily="34" charset="-120"/>
              </a:rPr>
              <a:t>Half the graph in Spark and half in Kogito is worse than either alone. Value arrives when the parent graph compiles clean, not before.</a:t>
            </a:r>
            <a:endParaRPr lang="en-US" sz="950" dirty="0"/>
          </a:p>
        </p:txBody>
      </p:sp>
      <p:sp>
        <p:nvSpPr>
          <p:cNvPr id="28" name="Shape 26"/>
          <p:cNvSpPr/>
          <p:nvPr/>
        </p:nvSpPr>
        <p:spPr>
          <a:xfrm>
            <a:off x="6519672" y="3602736"/>
            <a:ext cx="310896" cy="310896"/>
          </a:xfrm>
          <a:prstGeom prst="ellipse">
            <a:avLst/>
          </a:prstGeom>
          <a:solidFill>
            <a:srgbClr val="065A82"/>
          </a:solidFill>
          <a:ln w="12700">
            <a:solidFill>
              <a:srgbClr val="065A82"/>
            </a:solidFill>
            <a:prstDash val="solid"/>
          </a:ln>
        </p:spPr>
      </p:sp>
      <p:sp>
        <p:nvSpPr>
          <p:cNvPr id="29" name="Text 27"/>
          <p:cNvSpPr txBox="1"/>
          <p:nvPr/>
        </p:nvSpPr>
        <p:spPr>
          <a:xfrm>
            <a:off x="6519672" y="36027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30" name="Text 28"/>
          <p:cNvSpPr txBox="1"/>
          <p:nvPr/>
        </p:nvSpPr>
        <p:spPr>
          <a:xfrm>
            <a:off x="6940296" y="3584448"/>
            <a:ext cx="4517136" cy="219456"/>
          </a:xfrm>
          <a:prstGeom prst="rect">
            <a:avLst/>
          </a:prstGeom>
          <a:noFill/>
          <a:ln/>
        </p:spPr>
        <p:txBody>
          <a:bodyPr wrap="square" lIns="0" tIns="0" rIns="0" bIns="0" rtlCol="0" anchor="ctr"/>
          <a:lstStyle/>
          <a:p>
            <a:pPr indent="0" marL="0">
              <a:buNone/>
            </a:pPr>
            <a:r>
              <a:rPr lang="en-US" sz="1050" b="1" dirty="0">
                <a:solidFill>
                  <a:srgbClr val="1A2430"/>
                </a:solidFill>
                <a:latin typeface="Calibri" pitchFamily="34" charset="0"/>
                <a:ea typeface="Calibri" pitchFamily="34" charset="-122"/>
                <a:cs typeface="Calibri" pitchFamily="34" charset="-120"/>
              </a:rPr>
              <a:t>The cheapest fix is often not code</a:t>
            </a:r>
            <a:endParaRPr lang="en-US" sz="1050" dirty="0"/>
          </a:p>
        </p:txBody>
      </p:sp>
      <p:sp>
        <p:nvSpPr>
          <p:cNvPr id="31" name="Text 29"/>
          <p:cNvSpPr txBox="1"/>
          <p:nvPr/>
        </p:nvSpPr>
        <p:spPr>
          <a:xfrm>
            <a:off x="6940296" y="3822192"/>
            <a:ext cx="4517136" cy="566928"/>
          </a:xfrm>
          <a:prstGeom prst="rect">
            <a:avLst/>
          </a:prstGeom>
          <a:noFill/>
          <a:ln/>
        </p:spPr>
        <p:txBody>
          <a:bodyPr wrap="square" lIns="0" tIns="0" rIns="0" bIns="0" rtlCol="0" anchor="t"/>
          <a:lstStyle/>
          <a:p>
            <a:pPr indent="0" marL="0">
              <a:buNone/>
            </a:pPr>
            <a:r>
              <a:rPr lang="en-US" sz="950" dirty="0">
                <a:solidFill>
                  <a:srgbClr val="5A6B78"/>
                </a:solidFill>
                <a:latin typeface="Calibri" pitchFamily="34" charset="0"/>
                <a:ea typeface="Calibri" pitchFamily="34" charset="-122"/>
                <a:cs typeface="Calibri" pitchFamily="34" charset="-120"/>
              </a:rPr>
              <a:t>Re-expressing two or three rules with their authors usually costs less than implementing FEEL iteration in SQL.</a:t>
            </a:r>
            <a:endParaRPr lang="en-US" sz="950" dirty="0"/>
          </a:p>
        </p:txBody>
      </p:sp>
      <p:sp>
        <p:nvSpPr>
          <p:cNvPr id="32" name="Shape 30"/>
          <p:cNvSpPr/>
          <p:nvPr/>
        </p:nvSpPr>
        <p:spPr>
          <a:xfrm>
            <a:off x="457200" y="4663440"/>
            <a:ext cx="11274552" cy="457200"/>
          </a:xfrm>
          <a:prstGeom prst="roundRect">
            <a:avLst>
              <a:gd name="adj" fmla="val 16000"/>
            </a:avLst>
          </a:prstGeom>
          <a:solidFill>
            <a:srgbClr val="EAF1F5"/>
          </a:solidFill>
          <a:ln w="12700">
            <a:solidFill>
              <a:srgbClr val="D7E4EB"/>
            </a:solidFill>
            <a:prstDash val="solid"/>
          </a:ln>
        </p:spPr>
      </p:sp>
      <p:sp>
        <p:nvSpPr>
          <p:cNvPr id="33" name="Text 31"/>
          <p:cNvSpPr txBox="1"/>
          <p:nvPr/>
        </p:nvSpPr>
        <p:spPr>
          <a:xfrm>
            <a:off x="457200" y="4663440"/>
            <a:ext cx="11274552" cy="457200"/>
          </a:xfrm>
          <a:prstGeom prst="rect">
            <a:avLst/>
          </a:prstGeom>
          <a:noFill/>
          <a:ln/>
        </p:spPr>
        <p:txBody>
          <a:bodyPr wrap="square" lIns="0" tIns="0" rIns="0" bIns="0" rtlCol="0" anchor="ctr"/>
          <a:lstStyle/>
          <a:p>
            <a:pPr algn="ctr" indent="0" marL="0">
              <a:buNone/>
            </a:pPr>
            <a:r>
              <a:rPr lang="en-US" sz="1050" dirty="0">
                <a:solidFill>
                  <a:srgbClr val="1A2430"/>
                </a:solidFill>
                <a:latin typeface="Calibri" pitchFamily="34" charset="0"/>
                <a:ea typeface="Calibri" pitchFamily="34" charset="-122"/>
                <a:cs typeface="Calibri" pitchFamily="34" charset="-120"/>
              </a:rPr>
              <a:t>inventory</a:t>
            </a:r>
            <a:pPr algn="ctr" indent="0" marL="0">
              <a:buNone/>
            </a:pPr>
            <a:r>
              <a:rPr lang="en-US" sz="1050" b="1" dirty="0">
                <a:solidFill>
                  <a:srgbClr val="065A82"/>
                </a:solidFill>
                <a:latin typeface="Calibri" pitchFamily="34" charset="0"/>
                <a:ea typeface="Calibri" pitchFamily="34" charset="-122"/>
                <a:cs typeface="Calibri" pitchFamily="34" charset="-120"/>
              </a:rPr>
              <a:t>  →  </a:t>
            </a:r>
            <a:pPr algn="ctr" indent="0" marL="0">
              <a:buNone/>
            </a:pPr>
            <a:r>
              <a:rPr lang="en-US" sz="1050" dirty="0">
                <a:solidFill>
                  <a:srgbClr val="1A2430"/>
                </a:solidFill>
                <a:latin typeface="Calibri" pitchFamily="34" charset="0"/>
                <a:ea typeface="Calibri" pitchFamily="34" charset="-122"/>
                <a:cs typeface="Calibri" pitchFamily="34" charset="-120"/>
              </a:rPr>
              <a:t>graph &amp; CTE skeleton</a:t>
            </a:r>
            <a:pPr algn="ctr" indent="0" marL="0">
              <a:buNone/>
            </a:pPr>
            <a:r>
              <a:rPr lang="en-US" sz="1050" b="1" dirty="0">
                <a:solidFill>
                  <a:srgbClr val="065A82"/>
                </a:solidFill>
                <a:latin typeface="Calibri" pitchFamily="34" charset="0"/>
                <a:ea typeface="Calibri" pitchFamily="34" charset="-122"/>
                <a:cs typeface="Calibri" pitchFamily="34" charset="-120"/>
              </a:rPr>
              <a:t>  →  </a:t>
            </a:r>
            <a:pPr algn="ctr" indent="0" marL="0">
              <a:buNone/>
            </a:pPr>
            <a:r>
              <a:rPr lang="en-US" sz="1050" dirty="0">
                <a:solidFill>
                  <a:srgbClr val="1A2430"/>
                </a:solidFill>
                <a:latin typeface="Calibri" pitchFamily="34" charset="0"/>
                <a:ea typeface="Calibri" pitchFamily="34" charset="-122"/>
                <a:cs typeface="Calibri" pitchFamily="34" charset="-120"/>
              </a:rPr>
              <a:t>decision tables, UNIQUE / FIRST</a:t>
            </a:r>
            <a:pPr algn="ctr" indent="0" marL="0">
              <a:buNone/>
            </a:pPr>
            <a:r>
              <a:rPr lang="en-US" sz="1050" b="1" dirty="0">
                <a:solidFill>
                  <a:srgbClr val="065A82"/>
                </a:solidFill>
                <a:latin typeface="Calibri" pitchFamily="34" charset="0"/>
                <a:ea typeface="Calibri" pitchFamily="34" charset="-122"/>
                <a:cs typeface="Calibri" pitchFamily="34" charset="-120"/>
              </a:rPr>
              <a:t>  →  </a:t>
            </a:r>
            <a:pPr algn="ctr" indent="0" marL="0">
              <a:buNone/>
            </a:pPr>
            <a:r>
              <a:rPr lang="en-US" sz="1050" dirty="0">
                <a:solidFill>
                  <a:srgbClr val="1A2430"/>
                </a:solidFill>
                <a:latin typeface="Calibri" pitchFamily="34" charset="0"/>
                <a:ea typeface="Calibri" pitchFamily="34" charset="-122"/>
                <a:cs typeface="Calibri" pitchFamily="34" charset="-120"/>
              </a:rPr>
              <a:t>diff harness (early)</a:t>
            </a:r>
            <a:pPr algn="ctr" indent="0" marL="0">
              <a:buNone/>
            </a:pPr>
            <a:r>
              <a:rPr lang="en-US" sz="1050" b="1" dirty="0">
                <a:solidFill>
                  <a:srgbClr val="065A82"/>
                </a:solidFill>
                <a:latin typeface="Calibri" pitchFamily="34" charset="0"/>
                <a:ea typeface="Calibri" pitchFamily="34" charset="-122"/>
                <a:cs typeface="Calibri" pitchFamily="34" charset="-120"/>
              </a:rPr>
              <a:t>  →  </a:t>
            </a:r>
            <a:pPr algn="ctr" indent="0" marL="0">
              <a:buNone/>
            </a:pPr>
            <a:r>
              <a:rPr lang="en-US" sz="1050" dirty="0">
                <a:solidFill>
                  <a:srgbClr val="1A2430"/>
                </a:solidFill>
                <a:latin typeface="Calibri" pitchFamily="34" charset="0"/>
                <a:ea typeface="Calibri" pitchFamily="34" charset="-122"/>
                <a:cs typeface="Calibri" pitchFamily="34" charset="-120"/>
              </a:rPr>
              <a:t>remaining constructs, one at a time</a:t>
            </a:r>
            <a:pPr algn="ctr" indent="0" marL="0">
              <a:buNone/>
            </a:pPr>
            <a:r>
              <a:rPr lang="en-US" sz="1050" b="1" dirty="0">
                <a:solidFill>
                  <a:srgbClr val="065A82"/>
                </a:solidFill>
                <a:latin typeface="Calibri" pitchFamily="34" charset="0"/>
                <a:ea typeface="Calibri" pitchFamily="34" charset="-122"/>
                <a:cs typeface="Calibri" pitchFamily="34" charset="-120"/>
              </a:rPr>
              <a:t>  →  </a:t>
            </a:r>
            <a:pPr algn="ctr" indent="0" marL="0">
              <a:buNone/>
            </a:pPr>
            <a:r>
              <a:rPr lang="en-US" sz="1050" dirty="0">
                <a:solidFill>
                  <a:srgbClr val="1A2430"/>
                </a:solidFill>
                <a:latin typeface="Calibri" pitchFamily="34" charset="0"/>
                <a:ea typeface="Calibri" pitchFamily="34" charset="-122"/>
                <a:cs typeface="Calibri" pitchFamily="34" charset="-120"/>
              </a:rPr>
              <a:t>parent compiles clean</a:t>
            </a:r>
            <a:endParaRPr lang="en-US" sz="1050" dirty="0"/>
          </a:p>
        </p:txBody>
      </p:sp>
      <p:sp>
        <p:nvSpPr>
          <p:cNvPr id="34" name="Shape 32"/>
          <p:cNvSpPr/>
          <p:nvPr/>
        </p:nvSpPr>
        <p:spPr>
          <a:xfrm>
            <a:off x="457200" y="5257800"/>
            <a:ext cx="11274552" cy="1325880"/>
          </a:xfrm>
          <a:prstGeom prst="roundRect">
            <a:avLst>
              <a:gd name="adj" fmla="val 5517"/>
            </a:avLst>
          </a:prstGeom>
          <a:solidFill>
            <a:srgbClr val="21295C"/>
          </a:solidFill>
          <a:ln w="12700">
            <a:solidFill>
              <a:srgbClr val="21295C"/>
            </a:solidFill>
            <a:prstDash val="solid"/>
          </a:ln>
        </p:spPr>
      </p:sp>
      <p:sp>
        <p:nvSpPr>
          <p:cNvPr id="35" name="Shape 33"/>
          <p:cNvSpPr/>
          <p:nvPr/>
        </p:nvSpPr>
        <p:spPr>
          <a:xfrm>
            <a:off x="713232" y="5719572"/>
            <a:ext cx="402336" cy="402336"/>
          </a:xfrm>
          <a:prstGeom prst="ellipse">
            <a:avLst/>
          </a:prstGeom>
          <a:solidFill>
            <a:srgbClr val="065A82"/>
          </a:solidFill>
          <a:ln w="12700">
            <a:solidFill>
              <a:srgbClr val="065A82"/>
            </a:solidFill>
            <a:prstDash val="solid"/>
          </a:ln>
        </p:spPr>
      </p:sp>
      <p:sp>
        <p:nvSpPr>
          <p:cNvPr id="36" name="Text 34"/>
          <p:cNvSpPr txBox="1"/>
          <p:nvPr/>
        </p:nvSpPr>
        <p:spPr>
          <a:xfrm>
            <a:off x="713232" y="57195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37" name="Text 35"/>
          <p:cNvSpPr txBox="1"/>
          <p:nvPr/>
        </p:nvSpPr>
        <p:spPr>
          <a:xfrm>
            <a:off x="1243584" y="5573268"/>
            <a:ext cx="2651760" cy="201168"/>
          </a:xfrm>
          <a:prstGeom prst="rect">
            <a:avLst/>
          </a:prstGeom>
          <a:noFill/>
          <a:ln/>
        </p:spPr>
        <p:txBody>
          <a:bodyPr wrap="square" lIns="0" tIns="0" rIns="0" bIns="0" rtlCol="0" anchor="ctr"/>
          <a:lstStyle/>
          <a:p>
            <a:pPr indent="0" marL="0">
              <a:buNone/>
            </a:pPr>
            <a:r>
              <a:rPr lang="en-US" sz="950" b="1" spc="150" kern="0" dirty="0">
                <a:solidFill>
                  <a:srgbClr val="9FB2D8"/>
                </a:solidFill>
                <a:latin typeface="Calibri" pitchFamily="34" charset="0"/>
                <a:ea typeface="Calibri" pitchFamily="34" charset="-122"/>
                <a:cs typeface="Calibri" pitchFamily="34" charset="-120"/>
              </a:rPr>
              <a:t>WHY IT IS WORTH STARTING</a:t>
            </a:r>
            <a:endParaRPr lang="en-US" sz="950" dirty="0"/>
          </a:p>
        </p:txBody>
      </p:sp>
      <p:sp>
        <p:nvSpPr>
          <p:cNvPr id="38" name="Text 36"/>
          <p:cNvSpPr txBox="1"/>
          <p:nvPr/>
        </p:nvSpPr>
        <p:spPr>
          <a:xfrm>
            <a:off x="1243584" y="5774436"/>
            <a:ext cx="2743200" cy="3840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Bounded risk</a:t>
            </a:r>
            <a:endParaRPr lang="en-US" sz="1600" dirty="0"/>
          </a:p>
        </p:txBody>
      </p:sp>
      <p:sp>
        <p:nvSpPr>
          <p:cNvPr id="39" name="Text 37"/>
          <p:cNvSpPr txBox="1"/>
          <p:nvPr/>
        </p:nvSpPr>
        <p:spPr>
          <a:xfrm>
            <a:off x="4160520" y="5385816"/>
            <a:ext cx="7388352" cy="1106424"/>
          </a:xfrm>
          <a:prstGeom prst="rect">
            <a:avLst/>
          </a:prstGeom>
          <a:noFill/>
          <a:ln/>
        </p:spPr>
        <p:txBody>
          <a:bodyPr wrap="square" lIns="0" tIns="0" rIns="0" bIns="0" rtlCol="0" anchor="t"/>
          <a:lstStyle/>
          <a:p>
            <a:pPr indent="0" marL="0">
              <a:spcAft>
                <a:spcPts val="400"/>
              </a:spcAft>
              <a:buNone/>
            </a:pPr>
            <a:r>
              <a:rPr lang="en-US" sz="1050" dirty="0">
                <a:solidFill>
                  <a:srgbClr val="FFFFFF"/>
                </a:solidFill>
                <a:latin typeface="Calibri" pitchFamily="34" charset="0"/>
                <a:ea typeface="Calibri" pitchFamily="34" charset="-122"/>
                <a:cs typeface="Calibri" pitchFamily="34" charset="-120"/>
              </a:rPr>
              <a:t>At any iteration, if what remains costs more than it is worth, options A and C are still there. We lose the transpiler effort, not the project — and we discover that cost progressively instead of at the end.</a:t>
            </a:r>
            <a:endParaRPr lang="en-US" sz="1050" dirty="0"/>
          </a:p>
          <a:p>
            <a:pPr indent="0" marL="0">
              <a:buNone/>
            </a:pPr>
            <a:r>
              <a:rPr lang="en-US" sz="1050" i="1" dirty="0">
                <a:solidFill>
                  <a:srgbClr val="B9C6E4"/>
                </a:solidFill>
                <a:latin typeface="Calibri" pitchFamily="34" charset="0"/>
                <a:ea typeface="Calibri" pitchFamily="34" charset="-122"/>
                <a:cs typeface="Calibri" pitchFamily="34" charset="-120"/>
              </a:rPr>
              <a:t>Build the diff harness early rather than last. If option C runs on our clusters it is the harness — same engine, same data, no export — which is reason enough to test it before writing any transpiler.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11274552" cy="457200"/>
          </a:xfrm>
          <a:prstGeom prst="rect">
            <a:avLst/>
          </a:prstGeom>
          <a:noFill/>
          <a:ln/>
        </p:spPr>
        <p:txBody>
          <a:bodyPr wrap="square" lIns="0" tIns="0" rIns="0" bIns="0" rtlCol="0" anchor="ctr"/>
          <a:lstStyle/>
          <a:p>
            <a:pPr algn="l" indent="0" marL="0">
              <a:buNone/>
            </a:pPr>
            <a:r>
              <a:rPr lang="en-US" sz="2600" b="1" dirty="0">
                <a:solidFill>
                  <a:srgbClr val="1A2430"/>
                </a:solidFill>
                <a:latin typeface="Cambria" pitchFamily="34" charset="0"/>
                <a:ea typeface="Cambria" pitchFamily="34" charset="-122"/>
                <a:cs typeface="Cambria" pitchFamily="34" charset="-120"/>
              </a:rPr>
              <a:t>Fallback: option A at scale, and how the parallelism works</a:t>
            </a:r>
            <a:endParaRPr lang="en-US" sz="2600" dirty="0"/>
          </a:p>
        </p:txBody>
      </p:sp>
      <p:sp>
        <p:nvSpPr>
          <p:cNvPr id="3" name="Text 1"/>
          <p:cNvSpPr txBox="1"/>
          <p:nvPr/>
        </p:nvSpPr>
        <p:spPr>
          <a:xfrm>
            <a:off x="457200" y="722376"/>
            <a:ext cx="11274552" cy="274320"/>
          </a:xfrm>
          <a:prstGeom prst="rect">
            <a:avLst/>
          </a:prstGeom>
          <a:noFill/>
          <a:ln/>
        </p:spPr>
        <p:txBody>
          <a:bodyPr wrap="square" lIns="0" tIns="0" rIns="0" bIns="0" rtlCol="0" anchor="ctr"/>
          <a:lstStyle/>
          <a:p>
            <a:pPr algn="l" indent="0" marL="0">
              <a:buNone/>
            </a:pPr>
            <a:r>
              <a:rPr lang="en-US" sz="1150" i="1" dirty="0">
                <a:solidFill>
                  <a:srgbClr val="5A6B78"/>
                </a:solidFill>
                <a:latin typeface="Calibri" pitchFamily="34" charset="0"/>
                <a:ea typeface="Calibri" pitchFamily="34" charset="-122"/>
                <a:cs typeface="Calibri" pitchFamily="34" charset="-120"/>
              </a:rPr>
              <a:t>The path if the DMN inventory rules out transpilation — multithreaded on three levels, and only the outer two take you past one machine</a:t>
            </a:r>
            <a:endParaRPr lang="en-US" sz="1150" dirty="0"/>
          </a:p>
        </p:txBody>
      </p:sp>
      <p:sp>
        <p:nvSpPr>
          <p:cNvPr id="4" name="Shape 2"/>
          <p:cNvSpPr/>
          <p:nvPr/>
        </p:nvSpPr>
        <p:spPr>
          <a:xfrm>
            <a:off x="457200" y="1207008"/>
            <a:ext cx="3557016" cy="3310128"/>
          </a:xfrm>
          <a:prstGeom prst="roundRect">
            <a:avLst>
              <a:gd name="adj" fmla="val 2762"/>
            </a:avLst>
          </a:prstGeom>
          <a:solidFill>
            <a:srgbClr val="F2F6F8"/>
          </a:solidFill>
          <a:ln w="12700">
            <a:solidFill>
              <a:srgbClr val="DDE6EB"/>
            </a:solidFill>
            <a:prstDash val="solid"/>
          </a:ln>
          <a:effectLst>
            <a:outerShdw sx="100000" sy="100000" kx="0" ky="0" algn="bl" rotWithShape="0" blurRad="101600" dist="25400" dir="5400000">
              <a:srgbClr val="8FA3B0">
                <a:alpha val="25000"/>
              </a:srgbClr>
            </a:outerShdw>
          </a:effectLst>
        </p:spPr>
      </p:sp>
      <p:sp>
        <p:nvSpPr>
          <p:cNvPr id="5" name="Shape 3"/>
          <p:cNvSpPr/>
          <p:nvPr/>
        </p:nvSpPr>
        <p:spPr>
          <a:xfrm>
            <a:off x="713232" y="1444752"/>
            <a:ext cx="420624" cy="420624"/>
          </a:xfrm>
          <a:prstGeom prst="ellipse">
            <a:avLst/>
          </a:prstGeom>
          <a:solidFill>
            <a:srgbClr val="065A82"/>
          </a:solidFill>
          <a:ln w="12700">
            <a:solidFill>
              <a:srgbClr val="065A82"/>
            </a:solidFill>
            <a:prstDash val="solid"/>
          </a:ln>
        </p:spPr>
      </p:sp>
      <p:sp>
        <p:nvSpPr>
          <p:cNvPr id="6" name="Text 4"/>
          <p:cNvSpPr txBox="1"/>
          <p:nvPr/>
        </p:nvSpPr>
        <p:spPr>
          <a:xfrm>
            <a:off x="713232" y="14447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713232" y="1975104"/>
            <a:ext cx="3044952" cy="457200"/>
          </a:xfrm>
          <a:prstGeom prst="rect">
            <a:avLst/>
          </a:prstGeom>
          <a:noFill/>
          <a:ln/>
        </p:spPr>
        <p:txBody>
          <a:bodyPr wrap="square" lIns="0" tIns="0" rIns="0" bIns="0" rtlCol="0" anchor="t"/>
          <a:lstStyle/>
          <a:p>
            <a:pPr indent="0" marL="0">
              <a:buNone/>
            </a:pPr>
            <a:r>
              <a:rPr lang="en-US" sz="1350" b="1" dirty="0">
                <a:solidFill>
                  <a:srgbClr val="065A82"/>
                </a:solidFill>
                <a:latin typeface="Cambria" pitchFamily="34" charset="0"/>
                <a:ea typeface="Cambria" pitchFamily="34" charset="-122"/>
                <a:cs typeface="Cambria" pitchFamily="34" charset="-120"/>
              </a:rPr>
              <a:t>Inside the JVM — threads</a:t>
            </a:r>
            <a:endParaRPr lang="en-US" sz="1350" dirty="0"/>
          </a:p>
        </p:txBody>
      </p:sp>
      <p:sp>
        <p:nvSpPr>
          <p:cNvPr id="8" name="Text 6"/>
          <p:cNvSpPr txBox="1"/>
          <p:nvPr/>
        </p:nvSpPr>
        <p:spPr>
          <a:xfrm>
            <a:off x="713232" y="2395728"/>
            <a:ext cx="3044952" cy="1207008"/>
          </a:xfrm>
          <a:prstGeom prst="rect">
            <a:avLst/>
          </a:prstGeom>
          <a:noFill/>
          <a:ln/>
        </p:spPr>
        <p:txBody>
          <a:bodyPr wrap="square" lIns="0" tIns="0" rIns="0" bIns="0" rtlCol="0" anchor="t"/>
          <a:lstStyle/>
          <a:p>
            <a:pPr indent="0" marL="0">
              <a:buNone/>
            </a:pPr>
            <a:r>
              <a:rPr lang="en-US" sz="1000" dirty="0">
                <a:solidFill>
                  <a:srgbClr val="1A2430"/>
                </a:solidFill>
                <a:latin typeface="Calibri" pitchFamily="34" charset="0"/>
                <a:ea typeface="Calibri" pitchFamily="34" charset="-122"/>
                <a:cs typeface="Calibri" pitchFamily="34" charset="-120"/>
              </a:rPr>
              <a:t>One compiled DMNRuntime is shared by every thread: it keeps no state between evaluations, so concurrent calls are safe. A single reader inflates the ZIP and parses JSONL into a bounded queue, C worker threads (C ≈ cores) evaluate, a writer drains.</a:t>
            </a:r>
            <a:endParaRPr lang="en-US" sz="1000" dirty="0"/>
          </a:p>
        </p:txBody>
      </p:sp>
      <p:sp>
        <p:nvSpPr>
          <p:cNvPr id="9" name="Text 7"/>
          <p:cNvSpPr txBox="1"/>
          <p:nvPr/>
        </p:nvSpPr>
        <p:spPr>
          <a:xfrm>
            <a:off x="713232" y="3602736"/>
            <a:ext cx="3044952" cy="804672"/>
          </a:xfrm>
          <a:prstGeom prst="rect">
            <a:avLst/>
          </a:prstGeom>
          <a:noFill/>
          <a:ln/>
        </p:spPr>
        <p:txBody>
          <a:bodyPr wrap="square" lIns="0" tIns="0" rIns="0" bIns="0" rtlCol="0" anchor="t"/>
          <a:lstStyle/>
          <a:p>
            <a:pPr indent="0" marL="0">
              <a:buNone/>
            </a:pPr>
            <a:r>
              <a:rPr lang="en-US" sz="950" b="1" dirty="0">
                <a:solidFill>
                  <a:srgbClr val="1C7293"/>
                </a:solidFill>
                <a:latin typeface="Calibri" pitchFamily="34" charset="0"/>
                <a:ea typeface="Calibri" pitchFamily="34" charset="-122"/>
                <a:cs typeface="Calibri" pitchFamily="34" charset="-120"/>
              </a:rPr>
              <a:t>The bounded queue is the backpressure, and it reaches all the way back to the S3 socket — nothing accumulates, the heap stays flat whatever the file size.</a:t>
            </a:r>
            <a:endParaRPr lang="en-US" sz="950" dirty="0"/>
          </a:p>
        </p:txBody>
      </p:sp>
      <p:sp>
        <p:nvSpPr>
          <p:cNvPr id="10" name="Shape 8"/>
          <p:cNvSpPr/>
          <p:nvPr/>
        </p:nvSpPr>
        <p:spPr>
          <a:xfrm>
            <a:off x="4315968" y="1207008"/>
            <a:ext cx="3557016" cy="3310128"/>
          </a:xfrm>
          <a:prstGeom prst="roundRect">
            <a:avLst>
              <a:gd name="adj" fmla="val 2762"/>
            </a:avLst>
          </a:prstGeom>
          <a:solidFill>
            <a:srgbClr val="F2F6F8"/>
          </a:solidFill>
          <a:ln w="12700">
            <a:solidFill>
              <a:srgbClr val="DDE6EB"/>
            </a:solidFill>
            <a:prstDash val="solid"/>
          </a:ln>
          <a:effectLst>
            <a:outerShdw sx="100000" sy="100000" kx="0" ky="0" algn="bl" rotWithShape="0" blurRad="101600" dist="25400" dir="5400000">
              <a:srgbClr val="8FA3B0">
                <a:alpha val="25000"/>
              </a:srgbClr>
            </a:outerShdw>
          </a:effectLst>
        </p:spPr>
      </p:sp>
      <p:sp>
        <p:nvSpPr>
          <p:cNvPr id="11" name="Shape 9"/>
          <p:cNvSpPr/>
          <p:nvPr/>
        </p:nvSpPr>
        <p:spPr>
          <a:xfrm>
            <a:off x="4572000" y="1444752"/>
            <a:ext cx="420624" cy="420624"/>
          </a:xfrm>
          <a:prstGeom prst="ellipse">
            <a:avLst/>
          </a:prstGeom>
          <a:solidFill>
            <a:srgbClr val="065A82"/>
          </a:solidFill>
          <a:ln w="12700">
            <a:solidFill>
              <a:srgbClr val="065A82"/>
            </a:solidFill>
            <a:prstDash val="solid"/>
          </a:ln>
        </p:spPr>
      </p:sp>
      <p:sp>
        <p:nvSpPr>
          <p:cNvPr id="12" name="Text 10"/>
          <p:cNvSpPr txBox="1"/>
          <p:nvPr/>
        </p:nvSpPr>
        <p:spPr>
          <a:xfrm>
            <a:off x="4572000" y="14447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4572000" y="1975104"/>
            <a:ext cx="3044952" cy="457200"/>
          </a:xfrm>
          <a:prstGeom prst="rect">
            <a:avLst/>
          </a:prstGeom>
          <a:noFill/>
          <a:ln/>
        </p:spPr>
        <p:txBody>
          <a:bodyPr wrap="square" lIns="0" tIns="0" rIns="0" bIns="0" rtlCol="0" anchor="t"/>
          <a:lstStyle/>
          <a:p>
            <a:pPr indent="0" marL="0">
              <a:buNone/>
            </a:pPr>
            <a:r>
              <a:rPr lang="en-US" sz="1350" b="1" dirty="0">
                <a:solidFill>
                  <a:srgbClr val="065A82"/>
                </a:solidFill>
                <a:latin typeface="Cambria" pitchFamily="34" charset="0"/>
                <a:ea typeface="Cambria" pitchFamily="34" charset="-122"/>
                <a:cs typeface="Cambria" pitchFamily="34" charset="-120"/>
              </a:rPr>
              <a:t>Across pods — replicas</a:t>
            </a:r>
            <a:endParaRPr lang="en-US" sz="1350" dirty="0"/>
          </a:p>
        </p:txBody>
      </p:sp>
      <p:sp>
        <p:nvSpPr>
          <p:cNvPr id="14" name="Text 12"/>
          <p:cNvSpPr txBox="1"/>
          <p:nvPr/>
        </p:nvSpPr>
        <p:spPr>
          <a:xfrm>
            <a:off x="4572000" y="2395728"/>
            <a:ext cx="3044952" cy="1207008"/>
          </a:xfrm>
          <a:prstGeom prst="rect">
            <a:avLst/>
          </a:prstGeom>
          <a:noFill/>
          <a:ln/>
        </p:spPr>
        <p:txBody>
          <a:bodyPr wrap="square" lIns="0" tIns="0" rIns="0" bIns="0" rtlCol="0" anchor="t"/>
          <a:lstStyle/>
          <a:p>
            <a:pPr indent="0" marL="0">
              <a:buNone/>
            </a:pPr>
            <a:r>
              <a:rPr lang="en-US" sz="1000" dirty="0">
                <a:solidFill>
                  <a:srgbClr val="1A2430"/>
                </a:solidFill>
                <a:latin typeface="Calibri" pitchFamily="34" charset="0"/>
                <a:ea typeface="Calibri" pitchFamily="34" charset="-122"/>
                <a:cs typeface="Calibri" pitchFamily="34" charset="-120"/>
              </a:rPr>
              <a:t>The same container image runs as R replicas behind the API. Each one claims the next chunk from a shared queue (SQS, or a job table with SELECT … FOR UPDATE SKIP LOCKED) and shares nothing else with its peers.</a:t>
            </a:r>
            <a:endParaRPr lang="en-US" sz="1000" dirty="0"/>
          </a:p>
        </p:txBody>
      </p:sp>
      <p:sp>
        <p:nvSpPr>
          <p:cNvPr id="15" name="Text 13"/>
          <p:cNvSpPr txBox="1"/>
          <p:nvPr/>
        </p:nvSpPr>
        <p:spPr>
          <a:xfrm>
            <a:off x="4572000" y="3602736"/>
            <a:ext cx="3044952" cy="804672"/>
          </a:xfrm>
          <a:prstGeom prst="rect">
            <a:avLst/>
          </a:prstGeom>
          <a:noFill/>
          <a:ln/>
        </p:spPr>
        <p:txBody>
          <a:bodyPr wrap="square" lIns="0" tIns="0" rIns="0" bIns="0" rtlCol="0" anchor="t"/>
          <a:lstStyle/>
          <a:p>
            <a:pPr indent="0" marL="0">
              <a:buNone/>
            </a:pPr>
            <a:r>
              <a:rPr lang="en-US" sz="950" b="1" dirty="0">
                <a:solidFill>
                  <a:srgbClr val="1C7293"/>
                </a:solidFill>
                <a:latin typeface="Calibri" pitchFamily="34" charset="0"/>
                <a:ea typeface="Calibri" pitchFamily="34" charset="-122"/>
                <a:cs typeface="Calibri" pitchFamily="34" charset="-120"/>
              </a:rPr>
              <a:t>Scaling is linear: total parallelism = R × C. More throughput means more pods, not more thread tuning.</a:t>
            </a:r>
            <a:endParaRPr lang="en-US" sz="950" dirty="0"/>
          </a:p>
        </p:txBody>
      </p:sp>
      <p:sp>
        <p:nvSpPr>
          <p:cNvPr id="16" name="Shape 14"/>
          <p:cNvSpPr/>
          <p:nvPr/>
        </p:nvSpPr>
        <p:spPr>
          <a:xfrm>
            <a:off x="8174736" y="1207008"/>
            <a:ext cx="3557016" cy="3310128"/>
          </a:xfrm>
          <a:prstGeom prst="roundRect">
            <a:avLst>
              <a:gd name="adj" fmla="val 2762"/>
            </a:avLst>
          </a:prstGeom>
          <a:solidFill>
            <a:srgbClr val="F2F6F8"/>
          </a:solidFill>
          <a:ln w="12700">
            <a:solidFill>
              <a:srgbClr val="DDE6EB"/>
            </a:solidFill>
            <a:prstDash val="solid"/>
          </a:ln>
          <a:effectLst>
            <a:outerShdw sx="100000" sy="100000" kx="0" ky="0" algn="bl" rotWithShape="0" blurRad="101600" dist="25400" dir="5400000">
              <a:srgbClr val="8FA3B0">
                <a:alpha val="25000"/>
              </a:srgbClr>
            </a:outerShdw>
          </a:effectLst>
        </p:spPr>
      </p:sp>
      <p:sp>
        <p:nvSpPr>
          <p:cNvPr id="17" name="Shape 15"/>
          <p:cNvSpPr/>
          <p:nvPr/>
        </p:nvSpPr>
        <p:spPr>
          <a:xfrm>
            <a:off x="8430768" y="1444752"/>
            <a:ext cx="420624" cy="420624"/>
          </a:xfrm>
          <a:prstGeom prst="ellipse">
            <a:avLst/>
          </a:prstGeom>
          <a:solidFill>
            <a:srgbClr val="065A82"/>
          </a:solidFill>
          <a:ln w="12700">
            <a:solidFill>
              <a:srgbClr val="065A82"/>
            </a:solidFill>
            <a:prstDash val="solid"/>
          </a:ln>
        </p:spPr>
      </p:sp>
      <p:sp>
        <p:nvSpPr>
          <p:cNvPr id="18" name="Text 16"/>
          <p:cNvSpPr txBox="1"/>
          <p:nvPr/>
        </p:nvSpPr>
        <p:spPr>
          <a:xfrm>
            <a:off x="8430768" y="14447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txBox="1"/>
          <p:nvPr/>
        </p:nvSpPr>
        <p:spPr>
          <a:xfrm>
            <a:off x="8430768" y="1975104"/>
            <a:ext cx="3044952" cy="457200"/>
          </a:xfrm>
          <a:prstGeom prst="rect">
            <a:avLst/>
          </a:prstGeom>
          <a:noFill/>
          <a:ln/>
        </p:spPr>
        <p:txBody>
          <a:bodyPr wrap="square" lIns="0" tIns="0" rIns="0" bIns="0" rtlCol="0" anchor="t"/>
          <a:lstStyle/>
          <a:p>
            <a:pPr indent="0" marL="0">
              <a:buNone/>
            </a:pPr>
            <a:r>
              <a:rPr lang="en-US" sz="1350" b="1" dirty="0">
                <a:solidFill>
                  <a:srgbClr val="065A82"/>
                </a:solidFill>
                <a:latin typeface="Cambria" pitchFamily="34" charset="0"/>
                <a:ea typeface="Cambria" pitchFamily="34" charset="-122"/>
                <a:cs typeface="Cambria" pitchFamily="34" charset="-120"/>
              </a:rPr>
              <a:t>The unit of work — chunks</a:t>
            </a:r>
            <a:endParaRPr lang="en-US" sz="1350" dirty="0"/>
          </a:p>
        </p:txBody>
      </p:sp>
      <p:sp>
        <p:nvSpPr>
          <p:cNvPr id="20" name="Text 18"/>
          <p:cNvSpPr txBox="1"/>
          <p:nvPr/>
        </p:nvSpPr>
        <p:spPr>
          <a:xfrm>
            <a:off x="8430768" y="2395728"/>
            <a:ext cx="3044952" cy="1207008"/>
          </a:xfrm>
          <a:prstGeom prst="rect">
            <a:avLst/>
          </a:prstGeom>
          <a:noFill/>
          <a:ln/>
        </p:spPr>
        <p:txBody>
          <a:bodyPr wrap="square" lIns="0" tIns="0" rIns="0" bIns="0" rtlCol="0" anchor="t"/>
          <a:lstStyle/>
          <a:p>
            <a:pPr indent="0" marL="0">
              <a:buNone/>
            </a:pPr>
            <a:r>
              <a:rPr lang="en-US" sz="1000" dirty="0">
                <a:solidFill>
                  <a:srgbClr val="1A2430"/>
                </a:solidFill>
                <a:latin typeface="Calibri" pitchFamily="34" charset="0"/>
                <a:ea typeface="Calibri" pitchFamily="34" charset="-122"/>
                <a:cs typeface="Calibri" pitchFamily="34" charset="-120"/>
              </a:rPr>
              <a:t>Splitting the input into ~500k-row parts on S3 makes each part an independent, idempotent unit: its output overwrites part-NNNN.out, so a retry after any failure is safe, and progress is simply chunks done over chunks total.</a:t>
            </a:r>
            <a:endParaRPr lang="en-US" sz="1000" dirty="0"/>
          </a:p>
        </p:txBody>
      </p:sp>
      <p:sp>
        <p:nvSpPr>
          <p:cNvPr id="21" name="Text 19"/>
          <p:cNvSpPr txBox="1"/>
          <p:nvPr/>
        </p:nvSpPr>
        <p:spPr>
          <a:xfrm>
            <a:off x="8430768" y="3602736"/>
            <a:ext cx="3044952" cy="804672"/>
          </a:xfrm>
          <a:prstGeom prst="rect">
            <a:avLst/>
          </a:prstGeom>
          <a:noFill/>
          <a:ln/>
        </p:spPr>
        <p:txBody>
          <a:bodyPr wrap="square" lIns="0" tIns="0" rIns="0" bIns="0" rtlCol="0" anchor="t"/>
          <a:lstStyle/>
          <a:p>
            <a:pPr indent="0" marL="0">
              <a:buNone/>
            </a:pPr>
            <a:r>
              <a:rPr lang="en-US" sz="950" b="1" dirty="0">
                <a:solidFill>
                  <a:srgbClr val="1C7293"/>
                </a:solidFill>
                <a:latin typeface="Calibri" pitchFamily="34" charset="0"/>
                <a:ea typeface="Calibri" pitchFamily="34" charset="-122"/>
                <a:cs typeface="Calibri" pitchFamily="34" charset="-120"/>
              </a:rPr>
              <a:t>Chunks buy restartability far more than speed. Add them when a failed 25-minute run becomes expensive — not before.</a:t>
            </a:r>
            <a:endParaRPr lang="en-US" sz="950" dirty="0"/>
          </a:p>
        </p:txBody>
      </p:sp>
      <p:sp>
        <p:nvSpPr>
          <p:cNvPr id="22" name="Shape 20"/>
          <p:cNvSpPr/>
          <p:nvPr/>
        </p:nvSpPr>
        <p:spPr>
          <a:xfrm>
            <a:off x="457200" y="4663440"/>
            <a:ext cx="11274552" cy="457200"/>
          </a:xfrm>
          <a:prstGeom prst="roundRect">
            <a:avLst>
              <a:gd name="adj" fmla="val 16000"/>
            </a:avLst>
          </a:prstGeom>
          <a:solidFill>
            <a:srgbClr val="EAF1F5"/>
          </a:solidFill>
          <a:ln w="12700">
            <a:solidFill>
              <a:srgbClr val="D7E4EB"/>
            </a:solidFill>
            <a:prstDash val="solid"/>
          </a:ln>
        </p:spPr>
      </p:sp>
      <p:sp>
        <p:nvSpPr>
          <p:cNvPr id="23" name="Text 21"/>
          <p:cNvSpPr txBox="1"/>
          <p:nvPr/>
        </p:nvSpPr>
        <p:spPr>
          <a:xfrm>
            <a:off x="457200" y="4663440"/>
            <a:ext cx="11274552" cy="457200"/>
          </a:xfrm>
          <a:prstGeom prst="rect">
            <a:avLst/>
          </a:prstGeom>
          <a:noFill/>
          <a:ln/>
        </p:spPr>
        <p:txBody>
          <a:bodyPr wrap="square" lIns="0" tIns="0" rIns="0" bIns="0" rtlCol="0" anchor="ctr"/>
          <a:lstStyle/>
          <a:p>
            <a:pPr algn="ctr" indent="0" marL="0">
              <a:buNone/>
            </a:pPr>
            <a:r>
              <a:rPr lang="en-US" sz="1050" dirty="0">
                <a:solidFill>
                  <a:srgbClr val="1A2430"/>
                </a:solidFill>
                <a:latin typeface="Calibri" pitchFamily="34" charset="0"/>
                <a:ea typeface="Calibri" pitchFamily="34" charset="-122"/>
                <a:cs typeface="Calibri" pitchFamily="34" charset="-120"/>
              </a:rPr>
              <a:t>GET zip (streamed)</a:t>
            </a:r>
            <a:pPr algn="ctr" indent="0" marL="0">
              <a:buNone/>
            </a:pPr>
            <a:r>
              <a:rPr lang="en-US" sz="1050" b="1" dirty="0">
                <a:solidFill>
                  <a:srgbClr val="065A82"/>
                </a:solidFill>
                <a:latin typeface="Calibri" pitchFamily="34" charset="0"/>
                <a:ea typeface="Calibri" pitchFamily="34" charset="-122"/>
                <a:cs typeface="Calibri" pitchFamily="34" charset="-120"/>
              </a:rPr>
              <a:t>  →  </a:t>
            </a:r>
            <a:pPr algn="ctr" indent="0" marL="0">
              <a:buNone/>
            </a:pPr>
            <a:r>
              <a:rPr lang="en-US" sz="1050" dirty="0">
                <a:solidFill>
                  <a:srgbClr val="1A2430"/>
                </a:solidFill>
                <a:latin typeface="Calibri" pitchFamily="34" charset="0"/>
                <a:ea typeface="Calibri" pitchFamily="34" charset="-122"/>
                <a:cs typeface="Calibri" pitchFamily="34" charset="-120"/>
              </a:rPr>
              <a:t>inflate</a:t>
            </a:r>
            <a:pPr algn="ctr" indent="0" marL="0">
              <a:buNone/>
            </a:pPr>
            <a:r>
              <a:rPr lang="en-US" sz="1050" b="1" dirty="0">
                <a:solidFill>
                  <a:srgbClr val="065A82"/>
                </a:solidFill>
                <a:latin typeface="Calibri" pitchFamily="34" charset="0"/>
                <a:ea typeface="Calibri" pitchFamily="34" charset="-122"/>
                <a:cs typeface="Calibri" pitchFamily="34" charset="-120"/>
              </a:rPr>
              <a:t>  →  </a:t>
            </a:r>
            <a:pPr algn="ctr" indent="0" marL="0">
              <a:buNone/>
            </a:pPr>
            <a:r>
              <a:rPr lang="en-US" sz="1050" dirty="0">
                <a:solidFill>
                  <a:srgbClr val="1A2430"/>
                </a:solidFill>
                <a:latin typeface="Calibri" pitchFamily="34" charset="0"/>
                <a:ea typeface="Calibri" pitchFamily="34" charset="-122"/>
                <a:cs typeface="Calibri" pitchFamily="34" charset="-120"/>
              </a:rPr>
              <a:t>parse JSONL</a:t>
            </a:r>
            <a:pPr algn="ctr" indent="0" marL="0">
              <a:buNone/>
            </a:pPr>
            <a:r>
              <a:rPr lang="en-US" sz="1050" b="1" dirty="0">
                <a:solidFill>
                  <a:srgbClr val="065A82"/>
                </a:solidFill>
                <a:latin typeface="Calibri" pitchFamily="34" charset="0"/>
                <a:ea typeface="Calibri" pitchFamily="34" charset="-122"/>
                <a:cs typeface="Calibri" pitchFamily="34" charset="-120"/>
              </a:rPr>
              <a:t>  →  </a:t>
            </a:r>
            <a:pPr algn="ctr" indent="0" marL="0">
              <a:buNone/>
            </a:pPr>
            <a:r>
              <a:rPr lang="en-US" sz="1050" dirty="0">
                <a:solidFill>
                  <a:srgbClr val="1A2430"/>
                </a:solidFill>
                <a:latin typeface="Calibri" pitchFamily="34" charset="0"/>
                <a:ea typeface="Calibri" pitchFamily="34" charset="-122"/>
                <a:cs typeface="Calibri" pitchFamily="34" charset="-120"/>
              </a:rPr>
              <a:t>bounded queue</a:t>
            </a:r>
            <a:pPr algn="ctr" indent="0" marL="0">
              <a:buNone/>
            </a:pPr>
            <a:r>
              <a:rPr lang="en-US" sz="1050" b="1" dirty="0">
                <a:solidFill>
                  <a:srgbClr val="065A82"/>
                </a:solidFill>
                <a:latin typeface="Calibri" pitchFamily="34" charset="0"/>
                <a:ea typeface="Calibri" pitchFamily="34" charset="-122"/>
                <a:cs typeface="Calibri" pitchFamily="34" charset="-120"/>
              </a:rPr>
              <a:t>  →  </a:t>
            </a:r>
            <a:pPr algn="ctr" indent="0" marL="0">
              <a:buNone/>
            </a:pPr>
            <a:r>
              <a:rPr lang="en-US" sz="1050" dirty="0">
                <a:solidFill>
                  <a:srgbClr val="1A2430"/>
                </a:solidFill>
                <a:latin typeface="Calibri" pitchFamily="34" charset="0"/>
                <a:ea typeface="Calibri" pitchFamily="34" charset="-122"/>
                <a:cs typeface="Calibri" pitchFamily="34" charset="-120"/>
              </a:rPr>
              <a:t>C workers evaluate</a:t>
            </a:r>
            <a:pPr algn="ctr" indent="0" marL="0">
              <a:buNone/>
            </a:pPr>
            <a:r>
              <a:rPr lang="en-US" sz="1050" b="1" dirty="0">
                <a:solidFill>
                  <a:srgbClr val="065A82"/>
                </a:solidFill>
                <a:latin typeface="Calibri" pitchFamily="34" charset="0"/>
                <a:ea typeface="Calibri" pitchFamily="34" charset="-122"/>
                <a:cs typeface="Calibri" pitchFamily="34" charset="-120"/>
              </a:rPr>
              <a:t>  →  </a:t>
            </a:r>
            <a:pPr algn="ctr" indent="0" marL="0">
              <a:buNone/>
            </a:pPr>
            <a:r>
              <a:rPr lang="en-US" sz="1050" dirty="0">
                <a:solidFill>
                  <a:srgbClr val="1A2430"/>
                </a:solidFill>
                <a:latin typeface="Calibri" pitchFamily="34" charset="0"/>
                <a:ea typeface="Calibri" pitchFamily="34" charset="-122"/>
                <a:cs typeface="Calibri" pitchFamily="34" charset="-120"/>
              </a:rPr>
              <a:t>stream out</a:t>
            </a:r>
            <a:pPr algn="ctr" indent="0" marL="0">
              <a:buNone/>
            </a:pPr>
            <a:r>
              <a:rPr lang="en-US" sz="1050" b="1" dirty="0">
                <a:solidFill>
                  <a:srgbClr val="065A82"/>
                </a:solidFill>
                <a:latin typeface="Calibri" pitchFamily="34" charset="0"/>
                <a:ea typeface="Calibri" pitchFamily="34" charset="-122"/>
                <a:cs typeface="Calibri" pitchFamily="34" charset="-120"/>
              </a:rPr>
              <a:t>  →  </a:t>
            </a:r>
            <a:pPr algn="ctr" indent="0" marL="0">
              <a:buNone/>
            </a:pPr>
            <a:r>
              <a:rPr lang="en-US" sz="1050" dirty="0">
                <a:solidFill>
                  <a:srgbClr val="1A2430"/>
                </a:solidFill>
                <a:latin typeface="Calibri" pitchFamily="34" charset="0"/>
                <a:ea typeface="Calibri" pitchFamily="34" charset="-122"/>
                <a:cs typeface="Calibri" pitchFamily="34" charset="-120"/>
              </a:rPr>
              <a:t>zip</a:t>
            </a:r>
            <a:pPr algn="ctr" indent="0" marL="0">
              <a:buNone/>
            </a:pPr>
            <a:r>
              <a:rPr lang="en-US" sz="1050" b="1" dirty="0">
                <a:solidFill>
                  <a:srgbClr val="065A82"/>
                </a:solidFill>
                <a:latin typeface="Calibri" pitchFamily="34" charset="0"/>
                <a:ea typeface="Calibri" pitchFamily="34" charset="-122"/>
                <a:cs typeface="Calibri" pitchFamily="34" charset="-120"/>
              </a:rPr>
              <a:t>  →  </a:t>
            </a:r>
            <a:pPr algn="ctr" indent="0" marL="0">
              <a:buNone/>
            </a:pPr>
            <a:r>
              <a:rPr lang="en-US" sz="1050" dirty="0">
                <a:solidFill>
                  <a:srgbClr val="1A2430"/>
                </a:solidFill>
                <a:latin typeface="Calibri" pitchFamily="34" charset="0"/>
                <a:ea typeface="Calibri" pitchFamily="34" charset="-122"/>
                <a:cs typeface="Calibri" pitchFamily="34" charset="-120"/>
              </a:rPr>
              <a:t>presigned GET</a:t>
            </a:r>
            <a:endParaRPr lang="en-US" sz="1050" dirty="0"/>
          </a:p>
        </p:txBody>
      </p:sp>
      <p:sp>
        <p:nvSpPr>
          <p:cNvPr id="24" name="Shape 22"/>
          <p:cNvSpPr/>
          <p:nvPr/>
        </p:nvSpPr>
        <p:spPr>
          <a:xfrm>
            <a:off x="457200" y="5257800"/>
            <a:ext cx="11274552" cy="1325880"/>
          </a:xfrm>
          <a:prstGeom prst="roundRect">
            <a:avLst>
              <a:gd name="adj" fmla="val 5517"/>
            </a:avLst>
          </a:prstGeom>
          <a:solidFill>
            <a:srgbClr val="21295C"/>
          </a:solidFill>
          <a:ln w="12700">
            <a:solidFill>
              <a:srgbClr val="21295C"/>
            </a:solidFill>
            <a:prstDash val="solid"/>
          </a:ln>
        </p:spPr>
      </p:sp>
      <p:sp>
        <p:nvSpPr>
          <p:cNvPr id="25" name="Text 23"/>
          <p:cNvSpPr txBox="1"/>
          <p:nvPr/>
        </p:nvSpPr>
        <p:spPr>
          <a:xfrm>
            <a:off x="777240" y="5458968"/>
            <a:ext cx="1737360" cy="4572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~10k</a:t>
            </a:r>
            <a:endParaRPr lang="en-US" sz="3000" dirty="0"/>
          </a:p>
        </p:txBody>
      </p:sp>
      <p:sp>
        <p:nvSpPr>
          <p:cNvPr id="26" name="Text 24"/>
          <p:cNvSpPr txBox="1"/>
          <p:nvPr/>
        </p:nvSpPr>
        <p:spPr>
          <a:xfrm>
            <a:off x="777240" y="5934456"/>
            <a:ext cx="1828800" cy="457200"/>
          </a:xfrm>
          <a:prstGeom prst="rect">
            <a:avLst/>
          </a:prstGeom>
          <a:noFill/>
          <a:ln/>
        </p:spPr>
        <p:txBody>
          <a:bodyPr wrap="square" lIns="0" tIns="0" rIns="0" bIns="0" rtlCol="0" anchor="t"/>
          <a:lstStyle/>
          <a:p>
            <a:pPr indent="0" marL="0">
              <a:buNone/>
            </a:pPr>
            <a:r>
              <a:rPr lang="en-US" sz="950" dirty="0">
                <a:solidFill>
                  <a:srgbClr val="9FB2D8"/>
                </a:solidFill>
                <a:latin typeface="Calibri" pitchFamily="34" charset="0"/>
                <a:ea typeface="Calibri" pitchFamily="34" charset="-122"/>
                <a:cs typeface="Calibri" pitchFamily="34" charset="-120"/>
              </a:rPr>
              <a:t>rows/s per core, at ~100 µs per decision</a:t>
            </a:r>
            <a:endParaRPr lang="en-US" sz="950" dirty="0"/>
          </a:p>
        </p:txBody>
      </p:sp>
      <p:sp>
        <p:nvSpPr>
          <p:cNvPr id="27" name="Text 25"/>
          <p:cNvSpPr txBox="1"/>
          <p:nvPr/>
        </p:nvSpPr>
        <p:spPr>
          <a:xfrm>
            <a:off x="2880360" y="5458968"/>
            <a:ext cx="2194560" cy="4572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15-30 min</a:t>
            </a:r>
            <a:endParaRPr lang="en-US" sz="3000" dirty="0"/>
          </a:p>
        </p:txBody>
      </p:sp>
      <p:sp>
        <p:nvSpPr>
          <p:cNvPr id="28" name="Text 26"/>
          <p:cNvSpPr txBox="1"/>
          <p:nvPr/>
        </p:nvSpPr>
        <p:spPr>
          <a:xfrm>
            <a:off x="2880360" y="5934456"/>
            <a:ext cx="2103120" cy="457200"/>
          </a:xfrm>
          <a:prstGeom prst="rect">
            <a:avLst/>
          </a:prstGeom>
          <a:noFill/>
          <a:ln/>
        </p:spPr>
        <p:txBody>
          <a:bodyPr wrap="square" lIns="0" tIns="0" rIns="0" bIns="0" rtlCol="0" anchor="t"/>
          <a:lstStyle/>
          <a:p>
            <a:pPr indent="0" marL="0">
              <a:buNone/>
            </a:pPr>
            <a:r>
              <a:rPr lang="en-US" sz="950" dirty="0">
                <a:solidFill>
                  <a:srgbClr val="9FB2D8"/>
                </a:solidFill>
                <a:latin typeface="Calibri" pitchFamily="34" charset="0"/>
                <a:ea typeface="Calibri" pitchFamily="34" charset="-122"/>
                <a:cs typeface="Calibri" pitchFamily="34" charset="-120"/>
              </a:rPr>
              <a:t>80M rows on a single 16-32 core pod</a:t>
            </a:r>
            <a:endParaRPr lang="en-US" sz="950" dirty="0"/>
          </a:p>
        </p:txBody>
      </p:sp>
      <p:sp>
        <p:nvSpPr>
          <p:cNvPr id="29" name="Text 27"/>
          <p:cNvSpPr txBox="1"/>
          <p:nvPr/>
        </p:nvSpPr>
        <p:spPr>
          <a:xfrm>
            <a:off x="5394960" y="5458968"/>
            <a:ext cx="6172200" cy="960120"/>
          </a:xfrm>
          <a:prstGeom prst="rect">
            <a:avLst/>
          </a:prstGeom>
          <a:noFill/>
          <a:ln/>
        </p:spPr>
        <p:txBody>
          <a:bodyPr wrap="square" lIns="0" tIns="0" rIns="0" bIns="0" rtlCol="0" anchor="t"/>
          <a:lstStyle/>
          <a:p>
            <a:pPr indent="0" marL="0">
              <a:spcAft>
                <a:spcPts val="400"/>
              </a:spcAft>
              <a:buNone/>
            </a:pPr>
            <a:r>
              <a:rPr lang="en-US" sz="1050" dirty="0">
                <a:solidFill>
                  <a:srgbClr val="FFFFFF"/>
                </a:solidFill>
                <a:latin typeface="Calibri" pitchFamily="34" charset="0"/>
                <a:ea typeface="Calibri" pitchFamily="34" charset="-122"/>
                <a:cs typeface="Calibri" pitchFamily="34" charset="-120"/>
              </a:rPr>
              <a:t>Inflating the ZIP is single-threaded by nature — around 3 minutes — but it overlaps with evaluation, so it never governs the total.</a:t>
            </a:r>
            <a:endParaRPr lang="en-US" sz="1050" dirty="0"/>
          </a:p>
          <a:p>
            <a:pPr indent="0" marL="0">
              <a:buNone/>
            </a:pPr>
            <a:r>
              <a:rPr lang="en-US" sz="1050" i="1" dirty="0">
                <a:solidFill>
                  <a:srgbClr val="B9C6E4"/>
                </a:solidFill>
                <a:latin typeface="Calibri" pitchFamily="34" charset="0"/>
                <a:ea typeface="Calibri" pitchFamily="34" charset="-122"/>
                <a:cs typeface="Calibri" pitchFamily="34" charset="-120"/>
              </a:rPr>
              <a:t>Start with the single-pod streaming pipeline: no intermediate storage, no work queue, no assembly step. The bottleneck is GC and JSON parsing rather than the rule engine. Every figure here is order-of-magnitude until the real model is measured on a 1M-row sample.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DMN at 80M rows — Kogito vs Spark SQL</dc:title>
  <dc:subject>PptxGenJS Presentation</dc:subject>
  <dc:creator>Dk</dc:creator>
  <cp:lastModifiedBy>Dk</cp:lastModifiedBy>
  <cp:revision>1</cp:revision>
  <dcterms:created xsi:type="dcterms:W3CDTF">2026-09-09T22:40:07Z</dcterms:created>
  <dcterms:modified xsi:type="dcterms:W3CDTF">2026-09-09T22:40:07Z</dcterms:modified>
</cp:coreProperties>
</file>